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9"/>
  </p:notesMasterIdLst>
  <p:sldIdLst>
    <p:sldId id="1826" r:id="rId2"/>
    <p:sldId id="1830" r:id="rId3"/>
    <p:sldId id="1921" r:id="rId4"/>
    <p:sldId id="1922" r:id="rId5"/>
    <p:sldId id="1924" r:id="rId6"/>
    <p:sldId id="1843" r:id="rId7"/>
    <p:sldId id="1897" r:id="rId8"/>
    <p:sldId id="1898" r:id="rId9"/>
    <p:sldId id="1923" r:id="rId10"/>
    <p:sldId id="1850" r:id="rId11"/>
    <p:sldId id="1852" r:id="rId12"/>
    <p:sldId id="1853" r:id="rId13"/>
    <p:sldId id="1917" r:id="rId14"/>
    <p:sldId id="1918" r:id="rId15"/>
    <p:sldId id="1888" r:id="rId16"/>
    <p:sldId id="1933" r:id="rId17"/>
    <p:sldId id="1941" r:id="rId18"/>
    <p:sldId id="1942" r:id="rId19"/>
    <p:sldId id="1943" r:id="rId20"/>
    <p:sldId id="1944" r:id="rId21"/>
    <p:sldId id="1945" r:id="rId22"/>
    <p:sldId id="1946" r:id="rId23"/>
    <p:sldId id="1948" r:id="rId24"/>
    <p:sldId id="1949" r:id="rId25"/>
    <p:sldId id="1947" r:id="rId26"/>
    <p:sldId id="1940" r:id="rId27"/>
    <p:sldId id="1950" r:id="rId28"/>
    <p:sldId id="1895" r:id="rId29"/>
    <p:sldId id="1896" r:id="rId30"/>
    <p:sldId id="1894" r:id="rId31"/>
    <p:sldId id="1934" r:id="rId32"/>
    <p:sldId id="1937" r:id="rId33"/>
    <p:sldId id="1938" r:id="rId34"/>
    <p:sldId id="1939" r:id="rId35"/>
    <p:sldId id="1935" r:id="rId36"/>
    <p:sldId id="1920" r:id="rId37"/>
    <p:sldId id="1845" r:id="rId38"/>
    <p:sldId id="1854" r:id="rId39"/>
    <p:sldId id="1844" r:id="rId40"/>
    <p:sldId id="1848" r:id="rId41"/>
    <p:sldId id="1849" r:id="rId42"/>
    <p:sldId id="1847" r:id="rId43"/>
    <p:sldId id="1873" r:id="rId44"/>
    <p:sldId id="1874" r:id="rId45"/>
    <p:sldId id="1919" r:id="rId46"/>
    <p:sldId id="1876" r:id="rId47"/>
    <p:sldId id="1926" r:id="rId48"/>
    <p:sldId id="1875" r:id="rId49"/>
    <p:sldId id="1927" r:id="rId50"/>
    <p:sldId id="1877" r:id="rId51"/>
    <p:sldId id="1880" r:id="rId52"/>
    <p:sldId id="1881" r:id="rId53"/>
    <p:sldId id="1882" r:id="rId54"/>
    <p:sldId id="1883" r:id="rId55"/>
    <p:sldId id="1884" r:id="rId56"/>
    <p:sldId id="1951" r:id="rId57"/>
    <p:sldId id="1952" r:id="rId58"/>
    <p:sldId id="1953" r:id="rId59"/>
    <p:sldId id="1962" r:id="rId60"/>
    <p:sldId id="1954" r:id="rId61"/>
    <p:sldId id="1956" r:id="rId62"/>
    <p:sldId id="1957" r:id="rId63"/>
    <p:sldId id="1958" r:id="rId64"/>
    <p:sldId id="1959" r:id="rId65"/>
    <p:sldId id="1960" r:id="rId66"/>
    <p:sldId id="1961" r:id="rId67"/>
    <p:sldId id="1885" r:id="rId68"/>
    <p:sldId id="1963" r:id="rId69"/>
    <p:sldId id="1964" r:id="rId70"/>
    <p:sldId id="1965" r:id="rId71"/>
    <p:sldId id="1966" r:id="rId72"/>
    <p:sldId id="1967" r:id="rId73"/>
    <p:sldId id="1886" r:id="rId74"/>
    <p:sldId id="1968" r:id="rId75"/>
    <p:sldId id="1969" r:id="rId76"/>
    <p:sldId id="1970" r:id="rId77"/>
    <p:sldId id="1971" r:id="rId78"/>
    <p:sldId id="1972" r:id="rId79"/>
    <p:sldId id="1973" r:id="rId80"/>
    <p:sldId id="1899" r:id="rId81"/>
    <p:sldId id="1900" r:id="rId82"/>
    <p:sldId id="1906" r:id="rId83"/>
    <p:sldId id="1901" r:id="rId84"/>
    <p:sldId id="1974" r:id="rId85"/>
    <p:sldId id="1975" r:id="rId86"/>
    <p:sldId id="1976" r:id="rId87"/>
    <p:sldId id="1902" r:id="rId88"/>
    <p:sldId id="1977" r:id="rId89"/>
    <p:sldId id="1978" r:id="rId90"/>
    <p:sldId id="1903" r:id="rId91"/>
    <p:sldId id="1910" r:id="rId92"/>
    <p:sldId id="1909" r:id="rId93"/>
    <p:sldId id="1911" r:id="rId94"/>
    <p:sldId id="1904" r:id="rId95"/>
    <p:sldId id="1913" r:id="rId96"/>
    <p:sldId id="1925" r:id="rId97"/>
    <p:sldId id="1916" r:id="rId98"/>
    <p:sldId id="1928" r:id="rId99"/>
    <p:sldId id="1929" r:id="rId100"/>
    <p:sldId id="1930" r:id="rId101"/>
    <p:sldId id="1931" r:id="rId102"/>
    <p:sldId id="1932" r:id="rId103"/>
    <p:sldId id="1979" r:id="rId104"/>
    <p:sldId id="1980" r:id="rId105"/>
    <p:sldId id="1981" r:id="rId106"/>
    <p:sldId id="1982" r:id="rId107"/>
    <p:sldId id="1905" r:id="rId108"/>
    <p:sldId id="1914" r:id="rId109"/>
    <p:sldId id="1983" r:id="rId110"/>
    <p:sldId id="1984" r:id="rId111"/>
    <p:sldId id="1985" r:id="rId112"/>
    <p:sldId id="1986" r:id="rId113"/>
    <p:sldId id="1987" r:id="rId114"/>
    <p:sldId id="1988" r:id="rId115"/>
    <p:sldId id="1989" r:id="rId116"/>
    <p:sldId id="1990" r:id="rId117"/>
    <p:sldId id="1915"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04" autoAdjust="0"/>
    <p:restoredTop sz="96652" autoAdjust="0"/>
  </p:normalViewPr>
  <p:slideViewPr>
    <p:cSldViewPr snapToGrid="0">
      <p:cViewPr varScale="1">
        <p:scale>
          <a:sx n="124" d="100"/>
          <a:sy n="124" d="100"/>
        </p:scale>
        <p:origin x="3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1AFD8E-A4B4-4004-B4DC-AC4975A4F892}"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0A4903-7EF3-44C4-B3A5-356E0A49B13F}" type="slidenum">
              <a:rPr lang="en-US" smtClean="0"/>
              <a:t>‹#›</a:t>
            </a:fld>
            <a:endParaRPr lang="en-US"/>
          </a:p>
        </p:txBody>
      </p:sp>
    </p:spTree>
    <p:extLst>
      <p:ext uri="{BB962C8B-B14F-4D97-AF65-F5344CB8AC3E}">
        <p14:creationId xmlns:p14="http://schemas.microsoft.com/office/powerpoint/2010/main" val="1946314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effectLst/>
              </a:rPr>
              <a:t>Một ECU hoạt động bên trong như thế nào?</a:t>
            </a:r>
            <a:endParaRPr lang="vi-VN">
              <a:effectLst/>
            </a:endParaRPr>
          </a:p>
          <a:p>
            <a:r>
              <a:rPr lang="vi-VN">
                <a:effectLst/>
              </a:rPr>
              <a:t>ECU (Electronic Control Unit) được ví như </a:t>
            </a:r>
            <a:r>
              <a:rPr lang="vi-VN" b="1">
                <a:effectLst/>
              </a:rPr>
              <a:t>“bộ não”</a:t>
            </a:r>
            <a:r>
              <a:rPr lang="vi-VN">
                <a:effectLst/>
              </a:rPr>
              <a:t> của một hệ thống trên xe. Bên trong nó là một máy tính nhỏ chuyên dụng, hoạt động theo chu kỳ liên tục: </a:t>
            </a:r>
            <a:r>
              <a:rPr lang="vi-VN" b="1">
                <a:effectLst/>
              </a:rPr>
              <a:t>Nhận dữ liệu → Xử lý → Ra quyết định → Điều khiển</a:t>
            </a:r>
            <a:r>
              <a:rPr lang="vi-VN">
                <a:effectLst/>
              </a:rPr>
              <a:t>.</a:t>
            </a:r>
          </a:p>
          <a:p>
            <a:r>
              <a:rPr lang="vi-VN" b="1"/>
              <a:t>Cấu tạo chính bên trong ECU</a:t>
            </a:r>
          </a:p>
          <a:p>
            <a:r>
              <a:rPr lang="vi-VN">
                <a:effectLst/>
              </a:rPr>
              <a:t>Một ECU điển hình gồm các khối sau:</a:t>
            </a:r>
          </a:p>
          <a:p>
            <a:pPr>
              <a:buFont typeface="+mj-lt"/>
              <a:buAutoNum type="arabicPeriod"/>
            </a:pPr>
            <a:r>
              <a:rPr lang="vi-VN" b="1"/>
              <a:t>Microcontroller (MCU)</a:t>
            </a:r>
            <a:r>
              <a:rPr lang="vi-VN"/>
              <a:t> – </a:t>
            </a:r>
            <a:r>
              <a:rPr lang="vi-VN" b="1"/>
              <a:t>Bộ não chính</a:t>
            </a:r>
            <a:endParaRPr lang="vi-VN"/>
          </a:p>
          <a:p>
            <a:pPr marL="742950" lvl="1" indent="-285750">
              <a:buFont typeface="+mj-lt"/>
              <a:buAutoNum type="arabicPeriod"/>
            </a:pPr>
            <a:r>
              <a:rPr lang="vi-VN"/>
              <a:t>Là vi xử lý (thường là 32-bit, ví dụ: Infineon, NXP, Renesas, STM32…).</a:t>
            </a:r>
          </a:p>
          <a:p>
            <a:pPr marL="742950" lvl="1" indent="-285750">
              <a:buFont typeface="+mj-lt"/>
              <a:buAutoNum type="arabicPeriod"/>
            </a:pPr>
            <a:r>
              <a:rPr lang="vi-VN"/>
              <a:t>Chạy chương trình (firmware) đã được lập trình sẵn.</a:t>
            </a:r>
          </a:p>
          <a:p>
            <a:pPr marL="742950" lvl="1" indent="-285750">
              <a:buFont typeface="+mj-lt"/>
              <a:buAutoNum type="arabicPeriod"/>
            </a:pPr>
            <a:r>
              <a:rPr lang="vi-VN"/>
              <a:t>Thực hiện tính toán, so sánh, điều khiển logic.</a:t>
            </a:r>
          </a:p>
          <a:p>
            <a:pPr>
              <a:buFont typeface="+mj-lt"/>
              <a:buAutoNum type="arabicPeriod"/>
            </a:pPr>
            <a:r>
              <a:rPr lang="vi-VN" b="1"/>
              <a:t>Bộ nhớ</a:t>
            </a:r>
            <a:endParaRPr lang="vi-VN"/>
          </a:p>
          <a:p>
            <a:pPr marL="742950" lvl="1" indent="-285750">
              <a:buFont typeface="+mj-lt"/>
              <a:buAutoNum type="arabicPeriod"/>
            </a:pPr>
            <a:r>
              <a:rPr lang="vi-VN" b="1"/>
              <a:t>ROM / Flash</a:t>
            </a:r>
            <a:r>
              <a:rPr lang="vi-VN"/>
              <a:t>: Lưu chương trình điều khiển và bảng tra (lookup tables – bản đồ nhiên liệu, đánh lửa…).</a:t>
            </a:r>
          </a:p>
          <a:p>
            <a:pPr marL="742950" lvl="1" indent="-285750">
              <a:buFont typeface="+mj-lt"/>
              <a:buAutoNum type="arabicPeriod"/>
            </a:pPr>
            <a:r>
              <a:rPr lang="vi-VN" b="1"/>
              <a:t>RAM</a:t>
            </a:r>
            <a:r>
              <a:rPr lang="vi-VN"/>
              <a:t>: Lưu dữ liệu tạm thời (giá trị cảm biến hiện tại, biến tính toán).</a:t>
            </a:r>
          </a:p>
          <a:p>
            <a:pPr marL="742950" lvl="1" indent="-285750">
              <a:buFont typeface="+mj-lt"/>
              <a:buAutoNum type="arabicPeriod"/>
            </a:pPr>
            <a:r>
              <a:rPr lang="vi-VN" b="1"/>
              <a:t>EEPROM</a:t>
            </a:r>
            <a:r>
              <a:rPr lang="vi-VN"/>
              <a:t>: Lưu dữ liệu không mất khi tắt máy (học thích nghi, lỗi DTC…).</a:t>
            </a:r>
          </a:p>
          <a:p>
            <a:pPr>
              <a:buFont typeface="+mj-lt"/>
              <a:buAutoNum type="arabicPeriod"/>
            </a:pPr>
            <a:r>
              <a:rPr lang="vi-VN" b="1"/>
              <a:t>CAN Controller</a:t>
            </a:r>
            <a:r>
              <a:rPr lang="vi-VN"/>
              <a:t> (thường tích hợp trong MCU)</a:t>
            </a:r>
          </a:p>
          <a:p>
            <a:pPr marL="742950" lvl="1" indent="-285750">
              <a:buFont typeface="+mj-lt"/>
              <a:buAutoNum type="arabicPeriod"/>
            </a:pPr>
            <a:r>
              <a:rPr lang="vi-VN"/>
              <a:t>Xử lý giao thức CAN: đóng gói message, arbitration, bit stuffing, error detection, ACK…</a:t>
            </a:r>
          </a:p>
          <a:p>
            <a:pPr>
              <a:buFont typeface="+mj-lt"/>
              <a:buAutoNum type="arabicPeriod"/>
            </a:pPr>
            <a:r>
              <a:rPr lang="vi-VN" b="1"/>
              <a:t>CAN Transceiver</a:t>
            </a:r>
            <a:endParaRPr lang="vi-VN"/>
          </a:p>
          <a:p>
            <a:pPr marL="742950" lvl="1" indent="-285750">
              <a:buFont typeface="+mj-lt"/>
              <a:buAutoNum type="arabicPeriod"/>
            </a:pPr>
            <a:r>
              <a:rPr lang="vi-VN"/>
              <a:t>Chuyển đổi tín hiệu số từ MCU thành tín hiệu vi sai (differential) trên 2 dây CAN-H và CAN-L, và ngược lại.</a:t>
            </a:r>
          </a:p>
          <a:p>
            <a:pPr>
              <a:buFont typeface="+mj-lt"/>
              <a:buAutoNum type="arabicPeriod"/>
            </a:pPr>
            <a:r>
              <a:rPr lang="vi-VN" b="1"/>
              <a:t>Input Interface (Phần nhận vào)</a:t>
            </a:r>
            <a:endParaRPr lang="vi-VN"/>
          </a:p>
          <a:p>
            <a:pPr marL="742950" lvl="1" indent="-285750">
              <a:buFont typeface="+mj-lt"/>
              <a:buAutoNum type="arabicPeriod"/>
            </a:pPr>
            <a:r>
              <a:rPr lang="vi-VN" b="1"/>
              <a:t>ADC (Analog to Digital Converter)</a:t>
            </a:r>
            <a:r>
              <a:rPr lang="vi-VN"/>
              <a:t>: Chuyển tín hiệu analog từ cảm biến (nhiệt độ, áp suất, vị trí ga…) thành số.</a:t>
            </a:r>
          </a:p>
          <a:p>
            <a:pPr marL="742950" lvl="1" indent="-285750">
              <a:buFont typeface="+mj-lt"/>
              <a:buAutoNum type="arabicPeriod"/>
            </a:pPr>
            <a:r>
              <a:rPr lang="vi-VN" b="1"/>
              <a:t>Digital Input</a:t>
            </a:r>
            <a:r>
              <a:rPr lang="vi-VN"/>
              <a:t>: Tín hiệu On/Off (công tắc, cảm biến Hall…).</a:t>
            </a:r>
          </a:p>
          <a:p>
            <a:pPr marL="742950" lvl="1" indent="-285750">
              <a:buFont typeface="+mj-lt"/>
              <a:buAutoNum type="arabicPeriod"/>
            </a:pPr>
            <a:r>
              <a:rPr lang="vi-VN" b="1"/>
              <a:t>Frequency Input</a:t>
            </a:r>
            <a:r>
              <a:rPr lang="vi-VN"/>
              <a:t>: Tín hiệu tốc độ (từ cảm biến trục khuỷu, bánh xe…).</a:t>
            </a:r>
          </a:p>
          <a:p>
            <a:pPr>
              <a:buFont typeface="+mj-lt"/>
              <a:buAutoNum type="arabicPeriod"/>
            </a:pPr>
            <a:r>
              <a:rPr lang="vi-VN" b="1"/>
              <a:t>Output Interface (Phần ra)</a:t>
            </a:r>
            <a:endParaRPr lang="vi-VN"/>
          </a:p>
          <a:p>
            <a:pPr marL="742950" lvl="1" indent="-285750">
              <a:buFont typeface="+mj-lt"/>
              <a:buAutoNum type="arabicPeriod"/>
            </a:pPr>
            <a:r>
              <a:rPr lang="vi-VN" b="1"/>
              <a:t>Driver circuits</a:t>
            </a:r>
            <a:r>
              <a:rPr lang="vi-VN"/>
              <a:t>: Kích hoạt actuator (kim phun, cuộn đánh lửa, van solenoid, motor…).</a:t>
            </a:r>
          </a:p>
          <a:p>
            <a:pPr marL="742950" lvl="1" indent="-285750">
              <a:buFont typeface="+mj-lt"/>
              <a:buAutoNum type="arabicPeriod"/>
            </a:pPr>
            <a:r>
              <a:rPr lang="vi-VN" b="1"/>
              <a:t>PWM Output</a:t>
            </a:r>
            <a:r>
              <a:rPr lang="vi-VN"/>
              <a:t>: Điều khiển độ mở van, tốc độ motor…</a:t>
            </a:r>
          </a:p>
          <a:p>
            <a:pPr marL="742950" lvl="1" indent="-285750">
              <a:buFont typeface="+mj-lt"/>
              <a:buAutoNum type="arabicPeriod"/>
            </a:pPr>
            <a:r>
              <a:rPr lang="vi-VN" b="1"/>
              <a:t>Power drivers</a:t>
            </a:r>
            <a:r>
              <a:rPr lang="vi-VN"/>
              <a:t>: Có khả năng chịu dòng lớn và bảo vệ ngắn mạch.</a:t>
            </a:r>
          </a:p>
          <a:p>
            <a:pPr>
              <a:buFont typeface="+mj-lt"/>
              <a:buAutoNum type="arabicPeriod"/>
            </a:pPr>
            <a:r>
              <a:rPr lang="vi-VN" b="1"/>
              <a:t>Nguồn điện (Power Supply)</a:t>
            </a:r>
            <a:endParaRPr lang="vi-VN"/>
          </a:p>
          <a:p>
            <a:pPr marL="742950" lvl="1" indent="-285750">
              <a:buFont typeface="+mj-lt"/>
              <a:buAutoNum type="arabicPeriod"/>
            </a:pPr>
            <a:r>
              <a:rPr lang="vi-VN"/>
              <a:t>Chuyển điện áp từ acquy (12V/24V) xuống 5V hoặc 3.3V ổn định cho MCU.</a:t>
            </a:r>
          </a:p>
          <a:p>
            <a:pPr marL="742950" lvl="1" indent="-285750">
              <a:buFont typeface="+mj-lt"/>
              <a:buAutoNum type="arabicPeriod"/>
            </a:pPr>
            <a:r>
              <a:rPr lang="vi-VN"/>
              <a:t>Có mạch bảo vệ chống nhiễu, sụt áp, quá áp.</a:t>
            </a:r>
          </a:p>
          <a:p>
            <a:r>
              <a:rPr lang="vi-VN" b="1"/>
              <a:t>Quy trình hoạt động bên trong ECU (chu kỳ lặp lại rất nhanh)</a:t>
            </a:r>
          </a:p>
          <a:p>
            <a:pPr>
              <a:buFont typeface="+mj-lt"/>
              <a:buAutoNum type="arabicPeriod"/>
            </a:pPr>
            <a:r>
              <a:rPr lang="vi-VN" b="1"/>
              <a:t>Thu thập dữ liệu (Input)</a:t>
            </a:r>
            <a:r>
              <a:rPr lang="vi-VN"/>
              <a:t> ECU liên tục đọc tín hiệu từ hàng chục cảm biến (nhiệt độ nước, nhiệt độ khí nạp, áp suất đường ống nạp, vị trí trục khuỷu, oxy trong khí thải, tốc độ xe…).</a:t>
            </a:r>
          </a:p>
          <a:p>
            <a:pPr>
              <a:buFont typeface="+mj-lt"/>
              <a:buAutoNum type="arabicPeriod"/>
            </a:pPr>
            <a:r>
              <a:rPr lang="vi-VN" b="1"/>
              <a:t>Xử lý và tính toán</a:t>
            </a:r>
            <a:endParaRPr lang="vi-VN"/>
          </a:p>
          <a:p>
            <a:pPr marL="742950" lvl="1" indent="-285750">
              <a:buFont typeface="+mj-lt"/>
              <a:buAutoNum type="arabicPeriod"/>
            </a:pPr>
            <a:r>
              <a:rPr lang="vi-VN"/>
              <a:t>Microcontroller đọc dữ liệu.</a:t>
            </a:r>
          </a:p>
          <a:p>
            <a:pPr marL="742950" lvl="1" indent="-285750">
              <a:buFont typeface="+mj-lt"/>
              <a:buAutoNum type="arabicPeriod"/>
            </a:pPr>
            <a:r>
              <a:rPr lang="vi-VN"/>
              <a:t>Dùng các công thức toán học + bảng tra (map) đã lập trình sẵn để tính ra giá trị cần thiết. Ví dụ: Tính lượng nhiên liệu phun, góc đánh lửa, thời điểm mở van EGR…</a:t>
            </a:r>
          </a:p>
          <a:p>
            <a:pPr>
              <a:buFont typeface="+mj-lt"/>
              <a:buAutoNum type="arabicPeriod"/>
            </a:pPr>
            <a:r>
              <a:rPr lang="vi-VN" b="1"/>
              <a:t>Ra quyết định và điều khiển (Output)</a:t>
            </a:r>
            <a:r>
              <a:rPr lang="vi-VN"/>
              <a:t> Gửi tín hiệu điều khiển đến các cơ cấu chấp hành (actuators):</a:t>
            </a:r>
          </a:p>
          <a:p>
            <a:pPr marL="742950" lvl="1" indent="-285750">
              <a:buFont typeface="+mj-lt"/>
              <a:buAutoNum type="arabicPeriod"/>
            </a:pPr>
            <a:r>
              <a:rPr lang="vi-VN"/>
              <a:t>Mở kim phun đúng thời gian và lượng.</a:t>
            </a:r>
          </a:p>
          <a:p>
            <a:pPr marL="742950" lvl="1" indent="-285750">
              <a:buFont typeface="+mj-lt"/>
              <a:buAutoNum type="arabicPeriod"/>
            </a:pPr>
            <a:r>
              <a:rPr lang="vi-VN"/>
              <a:t>Đánh lửa ở góc tối ưu.</a:t>
            </a:r>
          </a:p>
          <a:p>
            <a:pPr marL="742950" lvl="1" indent="-285750">
              <a:buFont typeface="+mj-lt"/>
              <a:buAutoNum type="arabicPeriod"/>
            </a:pPr>
            <a:r>
              <a:rPr lang="vi-VN"/>
              <a:t>Điều chỉnh ga điện tử…</a:t>
            </a:r>
          </a:p>
          <a:p>
            <a:pPr>
              <a:buFont typeface="+mj-lt"/>
              <a:buAutoNum type="arabicPeriod"/>
            </a:pPr>
            <a:r>
              <a:rPr lang="vi-VN" b="1"/>
              <a:t>Giao tiếp với các ECU khác qua CAN</a:t>
            </a:r>
            <a:endParaRPr lang="vi-VN"/>
          </a:p>
          <a:p>
            <a:pPr marL="742950" lvl="1" indent="-285750">
              <a:buFont typeface="+mj-lt"/>
              <a:buAutoNum type="arabicPeriod"/>
            </a:pPr>
            <a:r>
              <a:rPr lang="vi-VN"/>
              <a:t>Gửi thông tin ra bus CAN (ví dụ: “tốc độ động cơ hiện tại là 2500 rpm”).</a:t>
            </a:r>
          </a:p>
          <a:p>
            <a:pPr marL="742950" lvl="1" indent="-285750">
              <a:buFont typeface="+mj-lt"/>
              <a:buAutoNum type="arabicPeriod"/>
            </a:pPr>
            <a:r>
              <a:rPr lang="vi-VN"/>
              <a:t>Nhận thông tin từ các ECU khác (ví dụ: ECU hộp số yêu cầu giảm mô-men xoắn khi sang số).</a:t>
            </a:r>
          </a:p>
          <a:p>
            <a:pPr>
              <a:buFont typeface="+mj-lt"/>
              <a:buAutoNum type="arabicPeriod"/>
            </a:pPr>
            <a:r>
              <a:rPr lang="vi-VN" b="1"/>
              <a:t>Chẩn đoán và bảo vệ</a:t>
            </a:r>
            <a:endParaRPr lang="vi-VN"/>
          </a:p>
          <a:p>
            <a:pPr marL="742950" lvl="1" indent="-285750">
              <a:buFont typeface="+mj-lt"/>
              <a:buAutoNum type="arabicPeriod"/>
            </a:pPr>
            <a:r>
              <a:rPr lang="vi-VN"/>
              <a:t>Liên tục tự kiểm tra lỗi (self-diagnosis).</a:t>
            </a:r>
          </a:p>
          <a:p>
            <a:pPr marL="742950" lvl="1" indent="-285750">
              <a:buFont typeface="+mj-lt"/>
              <a:buAutoNum type="arabicPeriod"/>
            </a:pPr>
            <a:r>
              <a:rPr lang="vi-VN"/>
              <a:t>Lưu mã lỗi (DTC) vào bộ nhớ.</a:t>
            </a:r>
          </a:p>
          <a:p>
            <a:pPr marL="742950" lvl="1" indent="-285750">
              <a:buFont typeface="+mj-lt"/>
              <a:buAutoNum type="arabicPeriod"/>
            </a:pPr>
            <a:r>
              <a:rPr lang="vi-VN"/>
              <a:t>Nếu phát hiện lỗi nghiêm trọng → chuyển sang chế độ khẩn cấp (limp mode).</a:t>
            </a:r>
          </a:p>
          <a:p>
            <a:r>
              <a:rPr lang="vi-VN" b="1"/>
              <a:t>Tóm tắt đơn giản nhất</a:t>
            </a:r>
          </a:p>
          <a:p>
            <a:r>
              <a:rPr lang="vi-VN" b="1">
                <a:effectLst/>
              </a:rPr>
              <a:t>ECU hoạt động như một vòng lặp kín</a:t>
            </a:r>
            <a:r>
              <a:rPr lang="vi-VN">
                <a:effectLst/>
              </a:rPr>
              <a:t>:</a:t>
            </a:r>
          </a:p>
          <a:p>
            <a:pPr>
              <a:buFont typeface="Arial" panose="020B0604020202020204" pitchFamily="34" charset="0"/>
              <a:buChar char="•"/>
            </a:pPr>
            <a:r>
              <a:rPr lang="vi-VN" b="1"/>
              <a:t>Cảm biến</a:t>
            </a:r>
            <a:r>
              <a:rPr lang="vi-VN"/>
              <a:t> → đưa dữ liệu vào ECU</a:t>
            </a:r>
          </a:p>
          <a:p>
            <a:pPr>
              <a:buFont typeface="Arial" panose="020B0604020202020204" pitchFamily="34" charset="0"/>
              <a:buChar char="•"/>
            </a:pPr>
            <a:r>
              <a:rPr lang="vi-VN" b="1"/>
              <a:t>MCU xử lý</a:t>
            </a:r>
            <a:r>
              <a:rPr lang="vi-VN"/>
              <a:t> theo phần mềm đã lập trình</a:t>
            </a:r>
          </a:p>
          <a:p>
            <a:pPr>
              <a:buFont typeface="Arial" panose="020B0604020202020204" pitchFamily="34" charset="0"/>
              <a:buChar char="•"/>
            </a:pPr>
            <a:r>
              <a:rPr lang="vi-VN" b="1"/>
              <a:t>Ra lệnh</a:t>
            </a:r>
            <a:r>
              <a:rPr lang="vi-VN"/>
              <a:t> cho </a:t>
            </a:r>
            <a:r>
              <a:rPr lang="vi-VN" b="1"/>
              <a:t>actuator</a:t>
            </a:r>
            <a:r>
              <a:rPr lang="vi-VN"/>
              <a:t> thực hiện</a:t>
            </a:r>
          </a:p>
          <a:p>
            <a:pPr>
              <a:buFont typeface="Arial" panose="020B0604020202020204" pitchFamily="34" charset="0"/>
              <a:buChar char="•"/>
            </a:pPr>
            <a:r>
              <a:rPr lang="vi-VN" b="1"/>
              <a:t>Giao tiếp</a:t>
            </a:r>
            <a:r>
              <a:rPr lang="vi-VN"/>
              <a:t> với các ECU khác qua </a:t>
            </a:r>
            <a:r>
              <a:rPr lang="vi-VN" b="1"/>
              <a:t>CAN bus</a:t>
            </a:r>
            <a:endParaRPr lang="vi-VN"/>
          </a:p>
          <a:p>
            <a:pPr>
              <a:buFont typeface="Arial" panose="020B0604020202020204" pitchFamily="34" charset="0"/>
              <a:buChar char="•"/>
            </a:pPr>
            <a:r>
              <a:rPr lang="vi-VN" b="1"/>
              <a:t>Lặp lại hàng nghìn lần mỗi giây</a:t>
            </a:r>
            <a:endParaRPr lang="vi-VN"/>
          </a:p>
          <a:p>
            <a:r>
              <a:rPr lang="vi-VN">
                <a:effectLst/>
              </a:rPr>
              <a:t>Nhờ đó, động cơ (hoặc hệ thống khác) luôn được điều khiển tối ưu về hiệu suất, tiết kiệm nhiên liệu, an toàn và thân thiện với môi trường.</a:t>
            </a:r>
          </a:p>
          <a:p>
            <a:endParaRPr lang="vi-VN"/>
          </a:p>
        </p:txBody>
      </p:sp>
      <p:sp>
        <p:nvSpPr>
          <p:cNvPr id="4" name="Slide Number Placeholder 3"/>
          <p:cNvSpPr>
            <a:spLocks noGrp="1"/>
          </p:cNvSpPr>
          <p:nvPr>
            <p:ph type="sldNum" sz="quarter" idx="5"/>
          </p:nvPr>
        </p:nvSpPr>
        <p:spPr/>
        <p:txBody>
          <a:bodyPr/>
          <a:lstStyle/>
          <a:p>
            <a:fld id="{E80A4903-7EF3-44C4-B3A5-356E0A49B13F}" type="slidenum">
              <a:rPr lang="en-US" smtClean="0"/>
              <a:t>5</a:t>
            </a:fld>
            <a:endParaRPr lang="en-US"/>
          </a:p>
        </p:txBody>
      </p:sp>
    </p:spTree>
    <p:extLst>
      <p:ext uri="{BB962C8B-B14F-4D97-AF65-F5344CB8AC3E}">
        <p14:creationId xmlns:p14="http://schemas.microsoft.com/office/powerpoint/2010/main" val="4002382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Mạng khu vực điều khiển (CAN) được Bosch phát triển cho các ứng dụng ô tô vào đầu những năm 1980 và phát hành vào năm 1986. Nó đã trở thành tiêu chuẩn ISO (ISO 11898) vào năm 1993 và được mở rộng vào năm 1995. CAN là giao thức đa hướng, đa chủ, nối tiếp cho phép bất kỳ nút nào gửi tin nhắn khi bus rảnh, với các tin nhắn được ưu tiên thông qua trọng tài.</a:t>
            </a:r>
          </a:p>
          <a:p>
            <a:endParaRPr lang="vi-VN" dirty="0"/>
          </a:p>
          <a:p>
            <a:r>
              <a:rPr lang="vi-VN" dirty="0"/>
              <a:t>Mạng CAN thường sử dụng cáp xoắn đôi hai dây và có thể đạt tốc độ bit lên tới 1 Mbit/giây trên khoảng cách ngắn (≤ 40 m). Tin nhắn có thể mang tới 8 byte dữ liệu và các mã định danh tin nhắn được sử dụng để xác định nội dung dữ liệu.</a:t>
            </a:r>
          </a:p>
          <a:p>
            <a:endParaRPr lang="vi-VN" dirty="0"/>
          </a:p>
          <a:p>
            <a:r>
              <a:rPr lang="vi-VN" dirty="0"/>
              <a:t>Thông số kỹ thuật CAN của Bosch đã trở thành tiêu chuẩn ISO (ISO 11898) vào năm 1993 (CAN 2.0A) và được mở rộng vào năm 1995 để cho phép các mã định danh thiết bị dài hơn (CAN 2.0B)</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6</a:t>
            </a:fld>
            <a:endParaRPr lang="en-US"/>
          </a:p>
        </p:txBody>
      </p:sp>
    </p:spTree>
    <p:extLst>
      <p:ext uri="{BB962C8B-B14F-4D97-AF65-F5344CB8AC3E}">
        <p14:creationId xmlns:p14="http://schemas.microsoft.com/office/powerpoint/2010/main" val="894962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Mạng khu vực điều khiển (CAN) được Bosch phát triển cho các ứng dụng ô tô vào đầu những năm 1980 và phát hành vào năm 1986. Nó đã trở thành tiêu chuẩn ISO (ISO 11898) vào năm 1993 và được mở rộng vào năm 1995. CAN là giao thức đa hướng, đa chủ, nối tiếp cho phép bất kỳ nút nào gửi tin nhắn khi bus rảnh, với các tin nhắn được ưu tiên thông qua trọng tài.</a:t>
            </a:r>
          </a:p>
          <a:p>
            <a:endParaRPr lang="vi-VN" dirty="0"/>
          </a:p>
          <a:p>
            <a:r>
              <a:rPr lang="vi-VN" dirty="0"/>
              <a:t>Mạng CAN thường sử dụng cáp xoắn đôi hai dây và có thể đạt tốc độ bit lên tới 1 Mbit/giây trên khoảng cách ngắn (≤ 40 m). Tin nhắn có thể mang tới 8 byte dữ liệu và các mã định danh tin nhắn được sử dụng để xác định nội dung dữ liệu.</a:t>
            </a:r>
          </a:p>
          <a:p>
            <a:endParaRPr lang="vi-VN" dirty="0"/>
          </a:p>
          <a:p>
            <a:r>
              <a:rPr lang="vi-VN" dirty="0"/>
              <a:t>Thông số kỹ thuật CAN của Bosch đã trở thành tiêu chuẩn ISO (ISO 11898) vào năm 1993 (CAN 2.0A) và được mở rộng vào năm 1995 để cho phép các mã định danh thiết bị dài hơn (CAN 2.0B)</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7</a:t>
            </a:fld>
            <a:endParaRPr lang="en-US"/>
          </a:p>
        </p:txBody>
      </p:sp>
    </p:spTree>
    <p:extLst>
      <p:ext uri="{BB962C8B-B14F-4D97-AF65-F5344CB8AC3E}">
        <p14:creationId xmlns:p14="http://schemas.microsoft.com/office/powerpoint/2010/main" val="390595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Mạng khu vực điều khiển (CAN) được Bosch phát triển cho các ứng dụng ô tô vào đầu những năm 1980 và phát hành vào năm 1986. Nó đã trở thành tiêu chuẩn ISO (ISO 11898) vào năm 1993 và được mở rộng vào năm 1995. CAN là giao thức đa hướng, đa chủ, nối tiếp cho phép bất kỳ nút nào gửi tin nhắn khi bus rảnh, với các tin nhắn được ưu tiên thông qua trọng tài.</a:t>
            </a:r>
          </a:p>
          <a:p>
            <a:endParaRPr lang="vi-VN" dirty="0"/>
          </a:p>
          <a:p>
            <a:r>
              <a:rPr lang="vi-VN" dirty="0"/>
              <a:t>Mạng CAN thường sử dụng cáp xoắn đôi hai dây và có thể đạt tốc độ bit lên tới 1 Mbit/giây trên khoảng cách ngắn (≤ 40 m). Tin nhắn có thể mang tới 8 byte dữ liệu và các mã định danh tin nhắn được sử dụng để xác định nội dung dữ liệu.</a:t>
            </a:r>
          </a:p>
          <a:p>
            <a:endParaRPr lang="vi-VN" dirty="0"/>
          </a:p>
          <a:p>
            <a:r>
              <a:rPr lang="vi-VN" dirty="0"/>
              <a:t>Thông số kỹ thuật CAN của Bosch đã trở thành tiêu chuẩn ISO (ISO 11898) vào năm 1993 (CAN 2.0A) và được mở rộng vào năm 1995 để cho phép các mã định danh thiết bị dài hơn (CAN 2.0B)</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8</a:t>
            </a:fld>
            <a:endParaRPr lang="en-US"/>
          </a:p>
        </p:txBody>
      </p:sp>
    </p:spTree>
    <p:extLst>
      <p:ext uri="{BB962C8B-B14F-4D97-AF65-F5344CB8AC3E}">
        <p14:creationId xmlns:p14="http://schemas.microsoft.com/office/powerpoint/2010/main" val="3090572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https://www.youtube.com/watch?v=EsZFgm3wGOc&amp;t=146s</a:t>
            </a:r>
            <a:endParaRPr lang="en-US"/>
          </a:p>
          <a:p>
            <a:endParaRPr lang="en-US"/>
          </a:p>
          <a:p>
            <a:endParaRPr lang="en-US"/>
          </a:p>
          <a:p>
            <a:r>
              <a:rPr lang="vi-VN" b="1"/>
              <a:t>1. Ý tưởng cốt lõi của CAN</a:t>
            </a:r>
          </a:p>
          <a:p>
            <a:r>
              <a:rPr lang="vi-VN">
                <a:effectLst/>
              </a:rPr>
              <a:t>CAN là giao thức </a:t>
            </a:r>
            <a:r>
              <a:rPr lang="vi-VN" b="1">
                <a:effectLst/>
              </a:rPr>
              <a:t>bus chung đa chủ</a:t>
            </a:r>
            <a:r>
              <a:rPr lang="vi-VN">
                <a:effectLst/>
              </a:rPr>
              <a:t> (multi-master), cho phép nhiều ECU (node) giao tiếp với nhau qua </a:t>
            </a:r>
            <a:r>
              <a:rPr lang="vi-VN" b="1">
                <a:effectLst/>
              </a:rPr>
              <a:t>chỉ 2 dây</a:t>
            </a:r>
            <a:r>
              <a:rPr lang="vi-VN">
                <a:effectLst/>
              </a:rPr>
              <a:t> (CAN-H và CAN-L). Mọi node đều </a:t>
            </a:r>
            <a:r>
              <a:rPr lang="vi-VN" b="1">
                <a:effectLst/>
              </a:rPr>
              <a:t>nghe chung một đường truyền</a:t>
            </a:r>
            <a:r>
              <a:rPr lang="vi-VN">
                <a:effectLst/>
              </a:rPr>
              <a:t>, và ai cũng có quyền truyền bất cứ lúc nào (không cần chủ tớ).</a:t>
            </a:r>
          </a:p>
          <a:p>
            <a:r>
              <a:rPr lang="vi-VN" b="1"/>
              <a:t>2. Cách CAN hoạt động theo từng bước (chu kỳ truyền một message)</a:t>
            </a:r>
          </a:p>
          <a:p>
            <a:pPr>
              <a:buFont typeface="+mj-lt"/>
              <a:buAutoNum type="arabicPeriod"/>
            </a:pPr>
            <a:r>
              <a:rPr lang="vi-VN" b="1"/>
              <a:t>Bus Idle</a:t>
            </a:r>
            <a:r>
              <a:rPr lang="vi-VN"/>
              <a:t> (đường truyền rảnh)</a:t>
            </a:r>
          </a:p>
          <a:p>
            <a:pPr marL="742950" lvl="1" indent="-285750">
              <a:buFont typeface="+mj-lt"/>
              <a:buAutoNum type="arabicPeriod"/>
            </a:pPr>
            <a:r>
              <a:rPr lang="vi-VN"/>
              <a:t>Bus ở mức </a:t>
            </a:r>
            <a:r>
              <a:rPr lang="vi-VN" b="1"/>
              <a:t>Recessive</a:t>
            </a:r>
            <a:r>
              <a:rPr lang="vi-VN"/>
              <a:t> (logic 1) trong ít nhất </a:t>
            </a:r>
            <a:r>
              <a:rPr lang="vi-VN" b="1"/>
              <a:t>11 bit</a:t>
            </a:r>
            <a:r>
              <a:rPr lang="vi-VN"/>
              <a:t> liên tiếp.</a:t>
            </a:r>
          </a:p>
          <a:p>
            <a:pPr>
              <a:buFont typeface="+mj-lt"/>
              <a:buAutoNum type="arabicPeriod"/>
            </a:pPr>
            <a:r>
              <a:rPr lang="vi-VN" b="1"/>
              <a:t>Bắt đầu truyền (SOF)</a:t>
            </a:r>
            <a:endParaRPr lang="vi-VN"/>
          </a:p>
          <a:p>
            <a:pPr marL="742950" lvl="1" indent="-285750">
              <a:buFont typeface="+mj-lt"/>
              <a:buAutoNum type="arabicPeriod"/>
            </a:pPr>
            <a:r>
              <a:rPr lang="vi-VN"/>
              <a:t>Node muốn truyền sẽ gửi </a:t>
            </a:r>
            <a:r>
              <a:rPr lang="vi-VN" b="1"/>
              <a:t>1 bit Dominant (0)</a:t>
            </a:r>
            <a:r>
              <a:rPr lang="vi-VN"/>
              <a:t> → gọi là </a:t>
            </a:r>
            <a:r>
              <a:rPr lang="vi-VN" b="1"/>
              <a:t>Start of Frame</a:t>
            </a:r>
            <a:r>
              <a:rPr lang="vi-VN"/>
              <a:t>.</a:t>
            </a:r>
          </a:p>
          <a:p>
            <a:pPr marL="742950" lvl="1" indent="-285750">
              <a:buFont typeface="+mj-lt"/>
              <a:buAutoNum type="arabicPeriod"/>
            </a:pPr>
            <a:r>
              <a:rPr lang="vi-VN"/>
              <a:t>Tất cả node khác nhận ra bus bắt đầu có dữ liệu.</a:t>
            </a:r>
          </a:p>
          <a:p>
            <a:pPr>
              <a:buFont typeface="+mj-lt"/>
              <a:buAutoNum type="arabicPeriod"/>
            </a:pPr>
            <a:r>
              <a:rPr lang="vi-VN" b="1"/>
              <a:t>Arbitration (Giải quyết tranh chấp) – Phần quan trọng nhất</a:t>
            </a:r>
            <a:endParaRPr lang="vi-VN"/>
          </a:p>
          <a:p>
            <a:pPr marL="742950" lvl="1" indent="-285750">
              <a:buFont typeface="+mj-lt"/>
              <a:buAutoNum type="arabicPeriod"/>
            </a:pPr>
            <a:r>
              <a:rPr lang="vi-VN"/>
              <a:t>Node truyền </a:t>
            </a:r>
            <a:r>
              <a:rPr lang="vi-VN" b="1"/>
              <a:t>ID</a:t>
            </a:r>
            <a:r>
              <a:rPr lang="vi-VN"/>
              <a:t> (11 bit hoặc 29 bit).</a:t>
            </a:r>
          </a:p>
          <a:p>
            <a:pPr marL="742950" lvl="1" indent="-285750">
              <a:buFont typeface="+mj-lt"/>
              <a:buAutoNum type="arabicPeriod"/>
            </a:pPr>
            <a:r>
              <a:rPr lang="vi-VN"/>
              <a:t>ID càng nhỏ → ưu tiên càng cao.</a:t>
            </a:r>
          </a:p>
          <a:p>
            <a:pPr marL="742950" lvl="1" indent="-285750">
              <a:buFont typeface="+mj-lt"/>
              <a:buAutoNum type="arabicPeriod"/>
            </a:pPr>
            <a:r>
              <a:rPr lang="vi-VN"/>
              <a:t>Các node truyền bit-by-bit. Bit </a:t>
            </a:r>
            <a:r>
              <a:rPr lang="vi-VN" b="1"/>
              <a:t>Dominant (0)</a:t>
            </a:r>
            <a:r>
              <a:rPr lang="vi-VN"/>
              <a:t> thắng bit </a:t>
            </a:r>
            <a:r>
              <a:rPr lang="vi-VN" b="1"/>
              <a:t>Recessive (1)</a:t>
            </a:r>
            <a:r>
              <a:rPr lang="vi-VN"/>
              <a:t>.</a:t>
            </a:r>
          </a:p>
          <a:p>
            <a:pPr marL="742950" lvl="1" indent="-285750">
              <a:buFont typeface="+mj-lt"/>
              <a:buAutoNum type="arabicPeriod"/>
            </a:pPr>
            <a:r>
              <a:rPr lang="vi-VN"/>
              <a:t>Node nào thua (gửi 1 nhưng thấy bus là 0) sẽ </a:t>
            </a:r>
            <a:r>
              <a:rPr lang="vi-VN" b="1"/>
              <a:t>tự động dừng truyền</a:t>
            </a:r>
            <a:r>
              <a:rPr lang="vi-VN"/>
              <a:t> và chuyển sang chế độ nghe.</a:t>
            </a:r>
          </a:p>
          <a:p>
            <a:pPr marL="742950" lvl="1" indent="-285750">
              <a:buFont typeface="+mj-lt"/>
              <a:buAutoNum type="arabicPeriod"/>
            </a:pPr>
            <a:r>
              <a:rPr lang="vi-VN"/>
              <a:t>Chỉ còn </a:t>
            </a:r>
            <a:r>
              <a:rPr lang="vi-VN" b="1"/>
              <a:t>một node thắng</a:t>
            </a:r>
            <a:r>
              <a:rPr lang="vi-VN"/>
              <a:t> (có ID nhỏ nhất) tiếp tục truyền.</a:t>
            </a:r>
          </a:p>
          <a:p>
            <a:pPr>
              <a:buFont typeface="+mj-lt"/>
              <a:buAutoNum type="arabicPeriod"/>
            </a:pPr>
            <a:r>
              <a:rPr lang="vi-VN" b="1"/>
              <a:t>Truyền dữ liệu</a:t>
            </a:r>
            <a:endParaRPr lang="vi-VN"/>
          </a:p>
          <a:p>
            <a:pPr marL="742950" lvl="1" indent="-285750">
              <a:buFont typeface="+mj-lt"/>
              <a:buAutoNum type="arabicPeriod"/>
            </a:pPr>
            <a:r>
              <a:rPr lang="vi-VN"/>
              <a:t>Sau ID là Control Field (cho biết độ dài dữ liệu), rồi </a:t>
            </a:r>
            <a:r>
              <a:rPr lang="vi-VN" b="1"/>
              <a:t>Data Field</a:t>
            </a:r>
            <a:r>
              <a:rPr lang="vi-VN"/>
              <a:t> (0 đến 8 byte ở Classical CAN, dài hơn ở CAN FD).</a:t>
            </a:r>
          </a:p>
          <a:p>
            <a:pPr marL="742950" lvl="1" indent="-285750">
              <a:buFont typeface="+mj-lt"/>
              <a:buAutoNum type="arabicPeriod"/>
            </a:pPr>
            <a:r>
              <a:rPr lang="vi-VN"/>
              <a:t>Tiếp theo là CRC (kiểm tra lỗi), CRC Delimiter, ACK slot, ACK Delimiter, EOF (7 recessive).</a:t>
            </a:r>
          </a:p>
          <a:p>
            <a:pPr>
              <a:buFont typeface="+mj-lt"/>
              <a:buAutoNum type="arabicPeriod"/>
            </a:pPr>
            <a:r>
              <a:rPr lang="vi-VN" b="1"/>
              <a:t>Xác nhận (ACK)</a:t>
            </a:r>
            <a:endParaRPr lang="vi-VN"/>
          </a:p>
          <a:p>
            <a:pPr marL="742950" lvl="1" indent="-285750">
              <a:buFont typeface="+mj-lt"/>
              <a:buAutoNum type="arabicPeriod"/>
            </a:pPr>
            <a:r>
              <a:rPr lang="vi-VN"/>
              <a:t>Tất cả node nhận đúng frame sẽ kéo bus xuống </a:t>
            </a:r>
            <a:r>
              <a:rPr lang="vi-VN" b="1"/>
              <a:t>Dominant</a:t>
            </a:r>
            <a:r>
              <a:rPr lang="vi-VN"/>
              <a:t> ở vị trí ACK slot để báo “Tôi nhận được rồi”.</a:t>
            </a:r>
          </a:p>
          <a:p>
            <a:pPr>
              <a:buFont typeface="+mj-lt"/>
              <a:buAutoNum type="arabicPeriod"/>
            </a:pPr>
            <a:r>
              <a:rPr lang="vi-VN" b="1"/>
              <a:t>Kết thúc frame</a:t>
            </a:r>
            <a:endParaRPr lang="vi-VN"/>
          </a:p>
          <a:p>
            <a:pPr marL="742950" lvl="1" indent="-285750">
              <a:buFont typeface="+mj-lt"/>
              <a:buAutoNum type="arabicPeriod"/>
            </a:pPr>
            <a:r>
              <a:rPr lang="vi-VN" b="1"/>
              <a:t>EOF</a:t>
            </a:r>
            <a:r>
              <a:rPr lang="vi-VN"/>
              <a:t> (7 bit recessive) → đánh dấu kết thúc frame.</a:t>
            </a:r>
          </a:p>
          <a:p>
            <a:pPr marL="742950" lvl="1" indent="-285750">
              <a:buFont typeface="+mj-lt"/>
              <a:buAutoNum type="arabicPeriod"/>
            </a:pPr>
            <a:r>
              <a:rPr lang="vi-VN" b="1"/>
              <a:t>Intermission (IFS)</a:t>
            </a:r>
            <a:r>
              <a:rPr lang="vi-VN"/>
              <a:t> (3 bit recessive) → khoảng nghỉ giữa các frame.</a:t>
            </a:r>
          </a:p>
          <a:p>
            <a:pPr>
              <a:buFont typeface="+mj-lt"/>
              <a:buAutoNum type="arabicPeriod"/>
            </a:pPr>
            <a:r>
              <a:rPr lang="vi-VN" b="1"/>
              <a:t>Xử lý lỗi (nếu có)</a:t>
            </a:r>
            <a:endParaRPr lang="vi-VN"/>
          </a:p>
          <a:p>
            <a:pPr marL="742950" lvl="1" indent="-285750">
              <a:buFont typeface="+mj-lt"/>
              <a:buAutoNum type="arabicPeriod"/>
            </a:pPr>
            <a:r>
              <a:rPr lang="vi-VN"/>
              <a:t>Nếu bất kỳ node nào phát hiện lỗi (Bit, Stuff, Form, ACK, CRC), nó sẽ truyền </a:t>
            </a:r>
            <a:r>
              <a:rPr lang="vi-VN" b="1"/>
              <a:t>Error Frame</a:t>
            </a:r>
            <a:r>
              <a:rPr lang="vi-VN"/>
              <a:t> ngay lập tức để </a:t>
            </a:r>
            <a:r>
              <a:rPr lang="vi-VN" b="1"/>
              <a:t>phá hủy</a:t>
            </a:r>
            <a:r>
              <a:rPr lang="vi-VN"/>
              <a:t> frame đang truyền.</a:t>
            </a:r>
          </a:p>
          <a:p>
            <a:pPr marL="742950" lvl="1" indent="-285750">
              <a:buFont typeface="+mj-lt"/>
              <a:buAutoNum type="arabicPeriod"/>
            </a:pPr>
            <a:r>
              <a:rPr lang="vi-VN"/>
              <a:t>Node truyền sẽ tự động gửi lại message sau.</a:t>
            </a:r>
          </a:p>
          <a:p>
            <a:r>
              <a:rPr lang="vi-VN" b="1"/>
              <a:t>3. Các cơ chế quan trọng giúp CAN rất đáng tin cậy</a:t>
            </a:r>
          </a:p>
          <a:p>
            <a:pPr>
              <a:buFont typeface="Arial" panose="020B0604020202020204" pitchFamily="34" charset="0"/>
              <a:buChar char="•"/>
            </a:pPr>
            <a:r>
              <a:rPr lang="vi-VN" b="1"/>
              <a:t>Bit Stuffing</a:t>
            </a:r>
            <a:r>
              <a:rPr lang="vi-VN"/>
              <a:t>: Sau 5 bit giống nhau thì chèn 1 bit ngược lại để giữ đồng bộ clock.</a:t>
            </a:r>
          </a:p>
          <a:p>
            <a:pPr>
              <a:buFont typeface="Arial" panose="020B0604020202020204" pitchFamily="34" charset="0"/>
              <a:buChar char="•"/>
            </a:pPr>
            <a:r>
              <a:rPr lang="vi-VN" b="1"/>
              <a:t>Error Detection</a:t>
            </a:r>
            <a:r>
              <a:rPr lang="vi-VN"/>
              <a:t>: 5 loại lỗi khác nhau.</a:t>
            </a:r>
          </a:p>
          <a:p>
            <a:pPr>
              <a:buFont typeface="Arial" panose="020B0604020202020204" pitchFamily="34" charset="0"/>
              <a:buChar char="•"/>
            </a:pPr>
            <a:r>
              <a:rPr lang="vi-VN" b="1"/>
              <a:t>Fault Confinement</a:t>
            </a:r>
            <a:r>
              <a:rPr lang="vi-VN"/>
              <a:t>: Dùng TEC và REC để quản lý node lỗi (Error Active → Error Passive → Bus Off).</a:t>
            </a:r>
          </a:p>
          <a:p>
            <a:pPr>
              <a:buFont typeface="Arial" panose="020B0604020202020204" pitchFamily="34" charset="0"/>
              <a:buChar char="•"/>
            </a:pPr>
            <a:r>
              <a:rPr lang="vi-VN" b="1"/>
              <a:t>Non-destructive arbitration</a:t>
            </a:r>
            <a:r>
              <a:rPr lang="vi-VN"/>
              <a:t>: Node thua không mất dữ liệu, chỉ chờ lượt sau.</a:t>
            </a:r>
          </a:p>
          <a:p>
            <a:pPr>
              <a:buFont typeface="Arial" panose="020B0604020202020204" pitchFamily="34" charset="0"/>
              <a:buChar char="•"/>
            </a:pPr>
            <a:r>
              <a:rPr lang="vi-VN" b="1"/>
              <a:t>Broadcast</a:t>
            </a:r>
            <a:r>
              <a:rPr lang="vi-VN"/>
              <a:t>: Mọi node đều nhận được message, node nào cần thì filter theo ID.</a:t>
            </a:r>
          </a:p>
          <a:p>
            <a:r>
              <a:rPr lang="vi-VN" b="1"/>
              <a:t>4. Tóm tắt siêu ngắn (1 câu)</a:t>
            </a:r>
          </a:p>
          <a:p>
            <a:r>
              <a:rPr lang="vi-VN" b="1">
                <a:effectLst/>
              </a:rPr>
              <a:t>CAN hoạt động theo nguyên tắc “Ai có quyền ưu tiên cao hơn thì nói trước, ai sai thì tự động phá và gửi lại, ai chậm thì xin nghỉ thêm”.</a:t>
            </a:r>
            <a:endParaRPr lang="vi-VN">
              <a:effectLst/>
            </a:endParaRPr>
          </a:p>
          <a:p>
            <a:r>
              <a:rPr lang="vi-VN">
                <a:effectLst/>
              </a:rPr>
              <a:t>Toàn bộ quá trình diễn ra rất nhanh, không cần clock chung, chịu nhiễu tốt, và có cơ chế tự sửa lỗi mạnh mẽ → rất phù hợp với môi trường ô tô và công nghiệp khắc nghiệt.</a:t>
            </a:r>
          </a:p>
          <a:p>
            <a:endParaRPr lang="vi-VN"/>
          </a:p>
        </p:txBody>
      </p:sp>
      <p:sp>
        <p:nvSpPr>
          <p:cNvPr id="4" name="Slide Number Placeholder 3"/>
          <p:cNvSpPr>
            <a:spLocks noGrp="1"/>
          </p:cNvSpPr>
          <p:nvPr>
            <p:ph type="sldNum" sz="quarter" idx="5"/>
          </p:nvPr>
        </p:nvSpPr>
        <p:spPr/>
        <p:txBody>
          <a:bodyPr/>
          <a:lstStyle/>
          <a:p>
            <a:fld id="{E80A4903-7EF3-44C4-B3A5-356E0A49B13F}" type="slidenum">
              <a:rPr lang="en-US" smtClean="0"/>
              <a:t>9</a:t>
            </a:fld>
            <a:endParaRPr lang="en-US"/>
          </a:p>
        </p:txBody>
      </p:sp>
    </p:spTree>
    <p:extLst>
      <p:ext uri="{BB962C8B-B14F-4D97-AF65-F5344CB8AC3E}">
        <p14:creationId xmlns:p14="http://schemas.microsoft.com/office/powerpoint/2010/main" val="2569869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effectLst/>
              </a:rPr>
              <a:t>Tín hiệu vi sai (Differential Signaling)</a:t>
            </a:r>
            <a:r>
              <a:rPr lang="vi-VN">
                <a:effectLst/>
              </a:rPr>
              <a:t> là một cách truyền tín hiệu rất quan trọng trong giao thức </a:t>
            </a:r>
            <a:r>
              <a:rPr lang="vi-VN" b="1">
                <a:effectLst/>
              </a:rPr>
              <a:t>CAN</a:t>
            </a:r>
            <a:r>
              <a:rPr lang="vi-VN">
                <a:effectLst/>
              </a:rPr>
              <a:t>, và cũng được dùng rộng rãi trong nhiều hệ thống điện tử khác (USB, Ethernet, LVDS…).</a:t>
            </a:r>
          </a:p>
          <a:p>
            <a:r>
              <a:rPr lang="vi-VN" b="1"/>
              <a:t>1. Tín hiệu vi sai là gì? (Giải thích dễ hiểu)</a:t>
            </a:r>
          </a:p>
          <a:p>
            <a:r>
              <a:rPr lang="vi-VN" b="1">
                <a:effectLst/>
              </a:rPr>
              <a:t>Tín hiệu vi sai</a:t>
            </a:r>
            <a:r>
              <a:rPr lang="vi-VN">
                <a:effectLst/>
              </a:rPr>
              <a:t> là cách truyền dữ liệu bằng </a:t>
            </a:r>
            <a:r>
              <a:rPr lang="vi-VN" b="1">
                <a:effectLst/>
              </a:rPr>
              <a:t>hai dây</a:t>
            </a:r>
            <a:r>
              <a:rPr lang="vi-VN">
                <a:effectLst/>
              </a:rPr>
              <a:t> cùng mang tín hiệu, nhưng </a:t>
            </a:r>
            <a:r>
              <a:rPr lang="vi-VN" b="1">
                <a:effectLst/>
              </a:rPr>
              <a:t>ngược pha</a:t>
            </a:r>
            <a:r>
              <a:rPr lang="vi-VN">
                <a:effectLst/>
              </a:rPr>
              <a:t> với nhau.</a:t>
            </a:r>
          </a:p>
          <a:p>
            <a:r>
              <a:rPr lang="vi-VN">
                <a:effectLst/>
              </a:rPr>
              <a:t>Thay vì dùng một dây để truyền tín hiệu (single-ended), CAN dùng </a:t>
            </a:r>
            <a:r>
              <a:rPr lang="vi-VN" b="1">
                <a:effectLst/>
              </a:rPr>
              <a:t>hai dây</a:t>
            </a:r>
            <a:r>
              <a:rPr lang="vi-VN">
                <a:effectLst/>
              </a:rPr>
              <a:t>:</a:t>
            </a:r>
          </a:p>
          <a:p>
            <a:pPr>
              <a:buFont typeface="Arial" panose="020B0604020202020204" pitchFamily="34" charset="0"/>
              <a:buChar char="•"/>
            </a:pPr>
            <a:r>
              <a:rPr lang="vi-VN" b="1"/>
              <a:t>CAN-H</a:t>
            </a:r>
            <a:r>
              <a:rPr lang="vi-VN"/>
              <a:t> (CAN High)</a:t>
            </a:r>
          </a:p>
          <a:p>
            <a:pPr>
              <a:buFont typeface="Arial" panose="020B0604020202020204" pitchFamily="34" charset="0"/>
              <a:buChar char="•"/>
            </a:pPr>
            <a:r>
              <a:rPr lang="vi-VN" b="1"/>
              <a:t>CAN-L</a:t>
            </a:r>
            <a:r>
              <a:rPr lang="vi-VN"/>
              <a:t> (CAN Low)</a:t>
            </a:r>
          </a:p>
          <a:p>
            <a:r>
              <a:rPr lang="vi-VN">
                <a:effectLst/>
              </a:rPr>
              <a:t>Khi truyền bit </a:t>
            </a:r>
            <a:r>
              <a:rPr lang="vi-VN" b="1">
                <a:effectLst/>
              </a:rPr>
              <a:t>Dominant (0)</a:t>
            </a:r>
            <a:r>
              <a:rPr lang="vi-VN">
                <a:effectLst/>
              </a:rPr>
              <a:t>:</a:t>
            </a:r>
          </a:p>
          <a:p>
            <a:pPr>
              <a:buFont typeface="Arial" panose="020B0604020202020204" pitchFamily="34" charset="0"/>
              <a:buChar char="•"/>
            </a:pPr>
            <a:r>
              <a:rPr lang="vi-VN"/>
              <a:t>CAN-H được nâng lên điện áp cao hơn (thường ~3.5V)</a:t>
            </a:r>
          </a:p>
          <a:p>
            <a:pPr>
              <a:buFont typeface="Arial" panose="020B0604020202020204" pitchFamily="34" charset="0"/>
              <a:buChar char="•"/>
            </a:pPr>
            <a:r>
              <a:rPr lang="vi-VN"/>
              <a:t>CAN-L được kéo xuống điện áp thấp hơn (thường ~1.5V)</a:t>
            </a:r>
          </a:p>
          <a:p>
            <a:r>
              <a:rPr lang="vi-VN">
                <a:effectLst/>
              </a:rPr>
              <a:t>Khi truyền bit </a:t>
            </a:r>
            <a:r>
              <a:rPr lang="vi-VN" b="1">
                <a:effectLst/>
              </a:rPr>
              <a:t>Recessive (1)</a:t>
            </a:r>
            <a:r>
              <a:rPr lang="vi-VN">
                <a:effectLst/>
              </a:rPr>
              <a:t>:</a:t>
            </a:r>
          </a:p>
          <a:p>
            <a:pPr>
              <a:buFont typeface="Arial" panose="020B0604020202020204" pitchFamily="34" charset="0"/>
              <a:buChar char="•"/>
            </a:pPr>
            <a:r>
              <a:rPr lang="vi-VN"/>
              <a:t>Cả CAN-H và CAN-L đều ở mức điện áp gần như nhau (khoảng 2.5V)</a:t>
            </a:r>
          </a:p>
          <a:p>
            <a:r>
              <a:rPr lang="vi-VN">
                <a:effectLst/>
              </a:rPr>
              <a:t>→ </a:t>
            </a:r>
            <a:r>
              <a:rPr lang="vi-VN" b="1">
                <a:effectLst/>
              </a:rPr>
              <a:t>Bộ thu (receiver)</a:t>
            </a:r>
            <a:r>
              <a:rPr lang="vi-VN">
                <a:effectLst/>
              </a:rPr>
              <a:t> không quan tâm đến điện áp tuyệt đối, mà chỉ quan tâm đến </a:t>
            </a:r>
            <a:r>
              <a:rPr lang="vi-VN" b="1">
                <a:effectLst/>
              </a:rPr>
              <a:t>sự chênh lệch điện áp</a:t>
            </a:r>
            <a:r>
              <a:rPr lang="vi-VN">
                <a:effectLst/>
              </a:rPr>
              <a:t> giữa CAN-H và CAN-L.</a:t>
            </a:r>
          </a:p>
          <a:p>
            <a:r>
              <a:rPr lang="vi-VN" b="1"/>
              <a:t>2. Tại sao phải dùng tín hiệu vi sai?</a:t>
            </a:r>
          </a:p>
          <a:p>
            <a:r>
              <a:rPr lang="vi-VN">
                <a:effectLst/>
              </a:rPr>
              <a:t>Đây là lý do quan trọng nhất:</a:t>
            </a:r>
          </a:p>
          <a:p>
            <a:pPr>
              <a:buFont typeface="Arial" panose="020B0604020202020204" pitchFamily="34" charset="0"/>
              <a:buChar char="•"/>
            </a:pPr>
            <a:r>
              <a:rPr lang="vi-VN" b="1"/>
              <a:t>Chống nhiễu cực tốt</a:t>
            </a:r>
            <a:r>
              <a:rPr lang="vi-VN"/>
              <a:t> Nhiễu điện từ (EMI) từ động cơ, bugi, motor… thường ảnh hưởng </a:t>
            </a:r>
            <a:r>
              <a:rPr lang="vi-VN" b="1"/>
              <a:t>như nhau</a:t>
            </a:r>
            <a:r>
              <a:rPr lang="vi-VN"/>
              <a:t> lên cả hai dây CAN-H và CAN-L (gọi là nhiễu chung – common mode noise). Vì bộ thu chỉ đo </a:t>
            </a:r>
            <a:r>
              <a:rPr lang="vi-VN" b="1"/>
              <a:t>chênh lệch</a:t>
            </a:r>
            <a:r>
              <a:rPr lang="vi-VN"/>
              <a:t> giữa hai dây, nên nhiễu chung bị </a:t>
            </a:r>
            <a:r>
              <a:rPr lang="vi-VN" b="1"/>
              <a:t>triệt tiêu</a:t>
            </a:r>
            <a:r>
              <a:rPr lang="vi-VN"/>
              <a:t> gần như hoàn toàn.</a:t>
            </a:r>
          </a:p>
          <a:p>
            <a:pPr>
              <a:buFont typeface="Arial" panose="020B0604020202020204" pitchFamily="34" charset="0"/>
              <a:buChar char="•"/>
            </a:pPr>
            <a:r>
              <a:rPr lang="vi-VN" b="1"/>
              <a:t>Khoảng cách truyền xa hơn</a:t>
            </a:r>
            <a:r>
              <a:rPr lang="vi-VN"/>
              <a:t> Nhờ chống nhiễu tốt, CAN có thể truyền được hàng chục mét (thậm chí 500m ở tốc độ thấp).</a:t>
            </a:r>
          </a:p>
          <a:p>
            <a:pPr>
              <a:buFont typeface="Arial" panose="020B0604020202020204" pitchFamily="34" charset="0"/>
              <a:buChar char="•"/>
            </a:pPr>
            <a:r>
              <a:rPr lang="vi-VN" b="1"/>
              <a:t>Độ tin cậy cao</a:t>
            </a:r>
            <a:r>
              <a:rPr lang="vi-VN"/>
              <a:t> Dễ phát hiện lỗi hơn vì tín hiệu luôn có hai phiên bản ngược nhau.</a:t>
            </a:r>
          </a:p>
          <a:p>
            <a:r>
              <a:rPr lang="vi-VN" b="1"/>
              <a:t>3. Minh họa dễ hình dung</a:t>
            </a:r>
          </a:p>
          <a:p>
            <a:r>
              <a:rPr lang="vi-VN">
                <a:effectLst/>
              </a:rPr>
              <a:t>Giả sử truyền bit </a:t>
            </a:r>
            <a:r>
              <a:rPr lang="vi-VN" b="1">
                <a:effectLst/>
              </a:rPr>
              <a:t>0 (Dominant)</a:t>
            </a:r>
            <a:r>
              <a:rPr lang="vi-VN">
                <a:effectLst/>
              </a:rPr>
              <a:t>:</a:t>
            </a:r>
          </a:p>
          <a:p>
            <a:r>
              <a:rPr lang="vi-VN"/>
              <a:t>Thời điểmCAN-HCAN-LChênh lệch (CAN-H – CAN-L)</a:t>
            </a:r>
            <a:r>
              <a:rPr lang="vi-VN">
                <a:effectLst/>
              </a:rPr>
              <a:t>Bình thường2.5V2.5V0VTruyền Dominant3.5V1.5V</a:t>
            </a:r>
            <a:r>
              <a:rPr lang="vi-VN" b="1">
                <a:effectLst/>
              </a:rPr>
              <a:t>2.0V</a:t>
            </a:r>
            <a:endParaRPr lang="vi-VN">
              <a:effectLst/>
            </a:endParaRPr>
          </a:p>
          <a:p>
            <a:r>
              <a:rPr lang="vi-VN">
                <a:effectLst/>
              </a:rPr>
              <a:t>→ Bộ thu thấy chênh lệch ≈ 2V → nhận là </a:t>
            </a:r>
            <a:r>
              <a:rPr lang="vi-VN" b="1">
                <a:effectLst/>
              </a:rPr>
              <a:t>bit 0</a:t>
            </a:r>
            <a:r>
              <a:rPr lang="vi-VN">
                <a:effectLst/>
              </a:rPr>
              <a:t>.</a:t>
            </a:r>
          </a:p>
          <a:p>
            <a:r>
              <a:rPr lang="vi-VN">
                <a:effectLst/>
              </a:rPr>
              <a:t>Khi truyền bit </a:t>
            </a:r>
            <a:r>
              <a:rPr lang="vi-VN" b="1">
                <a:effectLst/>
              </a:rPr>
              <a:t>1 (Recessive)</a:t>
            </a:r>
            <a:r>
              <a:rPr lang="vi-VN">
                <a:effectLst/>
              </a:rPr>
              <a:t>:</a:t>
            </a:r>
          </a:p>
          <a:p>
            <a:pPr>
              <a:buFont typeface="Arial" panose="020B0604020202020204" pitchFamily="34" charset="0"/>
              <a:buChar char="•"/>
            </a:pPr>
            <a:r>
              <a:rPr lang="vi-VN"/>
              <a:t>CAN-H ≈ 2.5V, CAN-L ≈ 2.5V → chênh lệch ≈ 0V → nhận là </a:t>
            </a:r>
            <a:r>
              <a:rPr lang="vi-VN" b="1"/>
              <a:t>bit 1</a:t>
            </a:r>
            <a:r>
              <a:rPr lang="vi-VN"/>
              <a:t>.</a:t>
            </a:r>
          </a:p>
          <a:p>
            <a:r>
              <a:rPr lang="vi-VN">
                <a:effectLst/>
              </a:rPr>
              <a:t>Nếu có nhiễu (ví dụ cả hai dây bị cộng thêm +1V nhiễu):</a:t>
            </a:r>
          </a:p>
          <a:p>
            <a:pPr>
              <a:buFont typeface="Arial" panose="020B0604020202020204" pitchFamily="34" charset="0"/>
              <a:buChar char="•"/>
            </a:pPr>
            <a:r>
              <a:rPr lang="vi-VN"/>
              <a:t>CAN-H thành 4.5V, CAN-L thành 2.5V → chênh lệch vẫn là </a:t>
            </a:r>
            <a:r>
              <a:rPr lang="vi-VN" b="1"/>
              <a:t>2.0V</a:t>
            </a:r>
            <a:r>
              <a:rPr lang="vi-VN"/>
              <a:t> → vẫn nhận đúng bit 0.</a:t>
            </a:r>
          </a:p>
          <a:p>
            <a:r>
              <a:rPr lang="vi-VN" b="1"/>
              <a:t>4. So sánh với truyền đơn (Single-ended)</a:t>
            </a:r>
          </a:p>
          <a:p>
            <a:r>
              <a:rPr lang="vi-VN"/>
              <a:t>Đặc điểmTruyền đơn (Single-ended)Truyền vi sai (Differential)</a:t>
            </a:r>
            <a:r>
              <a:rPr lang="vi-VN">
                <a:effectLst/>
              </a:rPr>
              <a:t>Số dây1 dây + GND2 dây (CAN-H + CAN-L)Chống nhiễuKémRất tốtKhoảng cáchNgắnDài hơn nhiềuMôi trường sử dụngTrên cùng boardÔ tô, công nghiệp, nhiễu mạnhVí dụUART, I2C, SPICAN, USB, Ethernet, RS-485</a:t>
            </a:r>
          </a:p>
          <a:p>
            <a:r>
              <a:rPr lang="vi-VN" b="1"/>
              <a:t>Tóm tắt ngắn gọn:</a:t>
            </a:r>
          </a:p>
          <a:p>
            <a:r>
              <a:rPr lang="vi-VN" b="1">
                <a:effectLst/>
              </a:rPr>
              <a:t>Tín hiệu vi sai</a:t>
            </a:r>
            <a:r>
              <a:rPr lang="vi-VN">
                <a:effectLst/>
              </a:rPr>
              <a:t> là cách truyền dữ liệu bằng </a:t>
            </a:r>
            <a:r>
              <a:rPr lang="vi-VN" b="1">
                <a:effectLst/>
              </a:rPr>
              <a:t>hai dây mang tín hiệu ngược pha</a:t>
            </a:r>
            <a:r>
              <a:rPr lang="vi-VN">
                <a:effectLst/>
              </a:rPr>
              <a:t>. Bộ thu chỉ quan tâm đến </a:t>
            </a:r>
            <a:r>
              <a:rPr lang="vi-VN" b="1">
                <a:effectLst/>
              </a:rPr>
              <a:t>chênh lệch điện áp</a:t>
            </a:r>
            <a:r>
              <a:rPr lang="vi-VN">
                <a:effectLst/>
              </a:rPr>
              <a:t> giữa hai dây, nên nhiễu chung bị triệt tiêu rất hiệu quả.</a:t>
            </a:r>
          </a:p>
          <a:p>
            <a:r>
              <a:rPr lang="vi-VN">
                <a:effectLst/>
              </a:rPr>
              <a:t>Đây chính là lý do </a:t>
            </a:r>
            <a:r>
              <a:rPr lang="vi-VN" b="1">
                <a:effectLst/>
              </a:rPr>
              <a:t>CAN</a:t>
            </a:r>
            <a:r>
              <a:rPr lang="vi-VN">
                <a:effectLst/>
              </a:rPr>
              <a:t> chịu được môi trường nhiễu mạnh của ô tô, truyền xa và rất đáng tin cậy.</a:t>
            </a:r>
          </a:p>
          <a:p>
            <a:endParaRPr lang="vi-VN"/>
          </a:p>
        </p:txBody>
      </p:sp>
      <p:sp>
        <p:nvSpPr>
          <p:cNvPr id="4" name="Slide Number Placeholder 3"/>
          <p:cNvSpPr>
            <a:spLocks noGrp="1"/>
          </p:cNvSpPr>
          <p:nvPr>
            <p:ph type="sldNum" sz="quarter" idx="5"/>
          </p:nvPr>
        </p:nvSpPr>
        <p:spPr/>
        <p:txBody>
          <a:bodyPr/>
          <a:lstStyle/>
          <a:p>
            <a:fld id="{E80A4903-7EF3-44C4-B3A5-356E0A49B13F}" type="slidenum">
              <a:rPr lang="en-US" smtClean="0"/>
              <a:t>11</a:t>
            </a:fld>
            <a:endParaRPr lang="en-US"/>
          </a:p>
        </p:txBody>
      </p:sp>
    </p:spTree>
    <p:extLst>
      <p:ext uri="{BB962C8B-B14F-4D97-AF65-F5344CB8AC3E}">
        <p14:creationId xmlns:p14="http://schemas.microsoft.com/office/powerpoint/2010/main" val="2198756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 2. Cách CAN biểu diễn bit</a:t>
            </a:r>
          </a:p>
          <a:p>
            <a:r>
              <a:rPr lang="vi-VN" b="1"/>
              <a:t>🔹 Bit 1 (Recessive)</a:t>
            </a:r>
          </a:p>
          <a:p>
            <a:pPr rtl="0"/>
            <a:r>
              <a:rPr lang="vi-VN"/>
              <a:t>CAN_H ≈ 2.5V </a:t>
            </a:r>
            <a:br>
              <a:rPr lang="vi-VN"/>
            </a:br>
            <a:r>
              <a:rPr lang="vi-VN"/>
              <a:t>CAN_L ≈ 2.5V </a:t>
            </a:r>
            <a:br>
              <a:rPr lang="vi-VN"/>
            </a:br>
            <a:r>
              <a:rPr lang="vi-VN"/>
              <a:t>→ Vdiff ≈ 0</a:t>
            </a:r>
          </a:p>
          <a:p>
            <a:r>
              <a:rPr lang="vi-VN"/>
              <a:t>👉 Không có chênh lệch → logic = 1</a:t>
            </a:r>
          </a:p>
          <a:p>
            <a:r>
              <a:rPr lang="vi-VN" b="1"/>
              <a:t>🔹 Bit 0 (Dominant)</a:t>
            </a:r>
          </a:p>
          <a:p>
            <a:pPr rtl="0"/>
            <a:r>
              <a:rPr lang="vi-VN"/>
              <a:t>CAN_H ≈ 3.5V </a:t>
            </a:r>
            <a:br>
              <a:rPr lang="vi-VN"/>
            </a:br>
            <a:r>
              <a:rPr lang="vi-VN"/>
              <a:t>CAN_L ≈ 1.5V </a:t>
            </a:r>
            <a:br>
              <a:rPr lang="vi-VN"/>
            </a:br>
            <a:r>
              <a:rPr lang="vi-VN"/>
              <a:t>→ Vdiff ≈ 2V</a:t>
            </a:r>
          </a:p>
          <a:p>
            <a:r>
              <a:rPr lang="vi-VN"/>
              <a:t>👉 Có chênh lệch rõ → logic = 0</a:t>
            </a:r>
          </a:p>
          <a:p>
            <a:endParaRPr lang="en-US"/>
          </a:p>
          <a:p>
            <a:r>
              <a:rPr lang="vi-VN" b="1"/>
              <a:t>🔥 3. Vì sao dùng vi sai? (cực kỳ quan trọng)</a:t>
            </a:r>
          </a:p>
          <a:p>
            <a:r>
              <a:rPr lang="vi-VN" b="1"/>
              <a:t>🎯 Chống nhiễu (EMI)</a:t>
            </a:r>
          </a:p>
          <a:p>
            <a:r>
              <a:rPr lang="vi-VN"/>
              <a:t>👉 Giả sử có nhiễu +1V:</a:t>
            </a:r>
          </a:p>
          <a:p>
            <a:r>
              <a:rPr lang="vi-VN"/>
              <a:t>CAN_HCAN_LTrước nhiễu3.5V1.5VSau nhiễu4.5V2.5V</a:t>
            </a:r>
          </a:p>
          <a:p>
            <a:r>
              <a:rPr lang="vi-VN"/>
              <a:t>👉 Hiệu điện áp:</a:t>
            </a:r>
          </a:p>
          <a:p>
            <a:pPr rtl="0"/>
            <a:r>
              <a:rPr lang="vi-VN"/>
              <a:t>4.5 - 2.5 = 2V (KHÔNG ĐỔI)</a:t>
            </a:r>
          </a:p>
          <a:p>
            <a:r>
              <a:rPr lang="vi-VN"/>
              <a:t>👉 Vẫn đọc đúng bit = 0</a:t>
            </a:r>
          </a:p>
          <a:p>
            <a:endParaRPr lang="en-US"/>
          </a:p>
          <a:p>
            <a:endParaRPr lang="en-US"/>
          </a:p>
          <a:p>
            <a:pPr algn="l"/>
            <a:r>
              <a:rPr lang="vi-VN" b="0" i="0">
                <a:solidFill>
                  <a:srgbClr val="0F1115"/>
                </a:solidFill>
                <a:effectLst/>
                <a:latin typeface="quote-cjk-patch"/>
              </a:rPr>
              <a:t>Dựa vào giá trị chênh lệch này, bus CAN định nghĩa hai trạng thái logic :</a:t>
            </a:r>
          </a:p>
          <a:p>
            <a:pPr algn="l">
              <a:buFont typeface="Arial" panose="020B0604020202020204" pitchFamily="34" charset="0"/>
              <a:buChar char="•"/>
            </a:pPr>
            <a:r>
              <a:rPr lang="vi-VN" b="1" i="0">
                <a:solidFill>
                  <a:srgbClr val="0F1115"/>
                </a:solidFill>
                <a:effectLst/>
                <a:latin typeface="quote-cjk-patch"/>
              </a:rPr>
              <a:t>Trạng thái Dominant (logic 0)</a:t>
            </a:r>
            <a:r>
              <a:rPr lang="vi-VN" b="0" i="0">
                <a:solidFill>
                  <a:srgbClr val="0F1115"/>
                </a:solidFill>
                <a:effectLst/>
                <a:latin typeface="quote-cjk-patch"/>
              </a:rPr>
              <a:t>: Là trạng thái chủ động.</a:t>
            </a:r>
          </a:p>
          <a:p>
            <a:pPr marL="742950" lvl="1" indent="-285750" algn="l">
              <a:buFont typeface="Arial" panose="020B0604020202020204" pitchFamily="34" charset="0"/>
              <a:buChar char="•"/>
            </a:pPr>
            <a:r>
              <a:rPr lang="vi-VN" b="1" i="0">
                <a:solidFill>
                  <a:srgbClr val="0F1115"/>
                </a:solidFill>
                <a:effectLst/>
                <a:latin typeface="quote-cjk-patch"/>
              </a:rPr>
              <a:t>Đặc điểm điện áp</a:t>
            </a:r>
            <a:r>
              <a:rPr lang="vi-VN" b="0" i="0">
                <a:solidFill>
                  <a:srgbClr val="0F1115"/>
                </a:solidFill>
                <a:effectLst/>
                <a:latin typeface="quote-cjk-patch"/>
              </a:rPr>
              <a:t>: V_CANH được đẩy lên cao (thường ~3.5V), V_CANL được kéo xuống thấp (thường ~1.5V) .</a:t>
            </a:r>
          </a:p>
          <a:p>
            <a:pPr marL="742950" lvl="1" indent="-285750" algn="l">
              <a:buFont typeface="Arial" panose="020B0604020202020204" pitchFamily="34" charset="0"/>
              <a:buChar char="•"/>
            </a:pPr>
            <a:r>
              <a:rPr lang="vi-VN" b="1" i="0">
                <a:solidFill>
                  <a:srgbClr val="0F1115"/>
                </a:solidFill>
                <a:effectLst/>
                <a:latin typeface="quote-cjk-patch"/>
              </a:rPr>
              <a:t>Điện áp vi sai</a:t>
            </a:r>
            <a:r>
              <a:rPr lang="vi-VN" b="0" i="0">
                <a:solidFill>
                  <a:srgbClr val="0F1115"/>
                </a:solidFill>
                <a:effectLst/>
                <a:latin typeface="quote-cjk-patch"/>
              </a:rPr>
              <a:t>: </a:t>
            </a:r>
            <a:r>
              <a:rPr lang="vi-VN" b="1" i="0">
                <a:solidFill>
                  <a:srgbClr val="0F1115"/>
                </a:solidFill>
                <a:effectLst/>
                <a:latin typeface="quote-cjk-patch"/>
              </a:rPr>
              <a:t>V_diff &gt; 0.9V</a:t>
            </a:r>
            <a:r>
              <a:rPr lang="vi-VN" b="0" i="0">
                <a:solidFill>
                  <a:srgbClr val="0F1115"/>
                </a:solidFill>
                <a:effectLst/>
                <a:latin typeface="quote-cjk-patch"/>
              </a:rPr>
              <a:t> .</a:t>
            </a:r>
          </a:p>
          <a:p>
            <a:pPr algn="l">
              <a:buFont typeface="Arial" panose="020B0604020202020204" pitchFamily="34" charset="0"/>
              <a:buChar char="•"/>
            </a:pPr>
            <a:r>
              <a:rPr lang="vi-VN" b="1" i="0">
                <a:solidFill>
                  <a:srgbClr val="0F1115"/>
                </a:solidFill>
                <a:effectLst/>
                <a:latin typeface="quote-cjk-patch"/>
              </a:rPr>
              <a:t>Trạng thái Recessive (logic 1)</a:t>
            </a:r>
            <a:r>
              <a:rPr lang="vi-VN" b="0" i="0">
                <a:solidFill>
                  <a:srgbClr val="0F1115"/>
                </a:solidFill>
                <a:effectLst/>
                <a:latin typeface="quote-cjk-patch"/>
              </a:rPr>
              <a:t>: Là trạng thái thụ động.</a:t>
            </a:r>
          </a:p>
          <a:p>
            <a:pPr marL="742950" lvl="1" indent="-285750" algn="l">
              <a:buFont typeface="Arial" panose="020B0604020202020204" pitchFamily="34" charset="0"/>
              <a:buChar char="•"/>
            </a:pPr>
            <a:r>
              <a:rPr lang="vi-VN" b="1" i="0">
                <a:solidFill>
                  <a:srgbClr val="0F1115"/>
                </a:solidFill>
                <a:effectLst/>
                <a:latin typeface="quote-cjk-patch"/>
              </a:rPr>
              <a:t>Đặc điểm điện áp</a:t>
            </a:r>
            <a:r>
              <a:rPr lang="vi-VN" b="0" i="0">
                <a:solidFill>
                  <a:srgbClr val="0F1115"/>
                </a:solidFill>
                <a:effectLst/>
                <a:latin typeface="quote-cjk-patch"/>
              </a:rPr>
              <a:t>: Cả hai dây CANH và CANL được giữ ở mức trung tính (thường ~2.5V) nhờ điện trở kết cuối .</a:t>
            </a:r>
          </a:p>
          <a:p>
            <a:pPr marL="742950" lvl="1" indent="-285750" algn="l">
              <a:buFont typeface="Arial" panose="020B0604020202020204" pitchFamily="34" charset="0"/>
              <a:buChar char="•"/>
            </a:pPr>
            <a:r>
              <a:rPr lang="vi-VN" b="1" i="0">
                <a:solidFill>
                  <a:srgbClr val="0F1115"/>
                </a:solidFill>
                <a:effectLst/>
                <a:latin typeface="quote-cjk-patch"/>
              </a:rPr>
              <a:t>Điện áp vi sai</a:t>
            </a:r>
            <a:r>
              <a:rPr lang="vi-VN" b="0" i="0">
                <a:solidFill>
                  <a:srgbClr val="0F1115"/>
                </a:solidFill>
                <a:effectLst/>
                <a:latin typeface="quote-cjk-patch"/>
              </a:rPr>
              <a:t>: </a:t>
            </a:r>
            <a:r>
              <a:rPr lang="vi-VN" b="1" i="0">
                <a:solidFill>
                  <a:srgbClr val="0F1115"/>
                </a:solidFill>
                <a:effectLst/>
                <a:latin typeface="quote-cjk-patch"/>
              </a:rPr>
              <a:t>V_diff &lt; 0.5V</a:t>
            </a:r>
            <a:r>
              <a:rPr lang="vi-VN" b="0" i="0">
                <a:solidFill>
                  <a:srgbClr val="0F1115"/>
                </a:solidFill>
                <a:effectLst/>
                <a:latin typeface="quote-cjk-patch"/>
              </a:rPr>
              <a:t> </a:t>
            </a:r>
          </a:p>
          <a:p>
            <a:endParaRPr lang="vi-VN"/>
          </a:p>
        </p:txBody>
      </p:sp>
      <p:sp>
        <p:nvSpPr>
          <p:cNvPr id="4" name="Slide Number Placeholder 3"/>
          <p:cNvSpPr>
            <a:spLocks noGrp="1"/>
          </p:cNvSpPr>
          <p:nvPr>
            <p:ph type="sldNum" sz="quarter" idx="5"/>
          </p:nvPr>
        </p:nvSpPr>
        <p:spPr/>
        <p:txBody>
          <a:bodyPr/>
          <a:lstStyle/>
          <a:p>
            <a:fld id="{E80A4903-7EF3-44C4-B3A5-356E0A49B13F}" type="slidenum">
              <a:rPr lang="en-US" smtClean="0"/>
              <a:t>12</a:t>
            </a:fld>
            <a:endParaRPr lang="en-US"/>
          </a:p>
        </p:txBody>
      </p:sp>
    </p:spTree>
    <p:extLst>
      <p:ext uri="{BB962C8B-B14F-4D97-AF65-F5344CB8AC3E}">
        <p14:creationId xmlns:p14="http://schemas.microsoft.com/office/powerpoint/2010/main" val="345310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p>
        </p:txBody>
      </p:sp>
      <p:sp>
        <p:nvSpPr>
          <p:cNvPr id="4" name="Slide Number Placeholder 3"/>
          <p:cNvSpPr>
            <a:spLocks noGrp="1"/>
          </p:cNvSpPr>
          <p:nvPr>
            <p:ph type="sldNum" sz="quarter" idx="5"/>
          </p:nvPr>
        </p:nvSpPr>
        <p:spPr/>
        <p:txBody>
          <a:bodyPr/>
          <a:lstStyle/>
          <a:p>
            <a:fld id="{E80A4903-7EF3-44C4-B3A5-356E0A49B13F}" type="slidenum">
              <a:rPr lang="en-US" smtClean="0"/>
              <a:t>13</a:t>
            </a:fld>
            <a:endParaRPr lang="en-US"/>
          </a:p>
        </p:txBody>
      </p:sp>
    </p:spTree>
    <p:extLst>
      <p:ext uri="{BB962C8B-B14F-4D97-AF65-F5344CB8AC3E}">
        <p14:creationId xmlns:p14="http://schemas.microsoft.com/office/powerpoint/2010/main" val="432362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https://www.youtube.com/watch?v=y35H3zrKUbc</a:t>
            </a:r>
          </a:p>
        </p:txBody>
      </p:sp>
      <p:sp>
        <p:nvSpPr>
          <p:cNvPr id="4" name="Slide Number Placeholder 3"/>
          <p:cNvSpPr>
            <a:spLocks noGrp="1"/>
          </p:cNvSpPr>
          <p:nvPr>
            <p:ph type="sldNum" sz="quarter" idx="5"/>
          </p:nvPr>
        </p:nvSpPr>
        <p:spPr/>
        <p:txBody>
          <a:bodyPr/>
          <a:lstStyle/>
          <a:p>
            <a:fld id="{E80A4903-7EF3-44C4-B3A5-356E0A49B13F}" type="slidenum">
              <a:rPr lang="en-US" smtClean="0"/>
              <a:t>14</a:t>
            </a:fld>
            <a:endParaRPr lang="en-US"/>
          </a:p>
        </p:txBody>
      </p:sp>
    </p:spTree>
    <p:extLst>
      <p:ext uri="{BB962C8B-B14F-4D97-AF65-F5344CB8AC3E}">
        <p14:creationId xmlns:p14="http://schemas.microsoft.com/office/powerpoint/2010/main" val="3354374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1. Phù hợp với trở kháng đặc tính (Characteristic Impedance) của cáp</a:t>
            </a:r>
          </a:p>
          <a:p>
            <a:pPr algn="l"/>
            <a:r>
              <a:rPr lang="vi-VN" b="0" i="0">
                <a:solidFill>
                  <a:srgbClr val="0F1115"/>
                </a:solidFill>
                <a:effectLst/>
                <a:latin typeface="quote-cjk-patch"/>
              </a:rPr>
              <a:t>Yếu tố quan trọng nhất: </a:t>
            </a:r>
            <a:r>
              <a:rPr lang="vi-VN" b="1" i="0">
                <a:solidFill>
                  <a:srgbClr val="0F1115"/>
                </a:solidFill>
                <a:effectLst/>
                <a:latin typeface="quote-cjk-patch"/>
              </a:rPr>
              <a:t>Cáp xoắn đôi được sử dụng trong mạng CAN có trở kháng đặc tính danh định là 120 </a:t>
            </a:r>
            <a:r>
              <a:rPr lang="el-GR" b="1" i="0">
                <a:solidFill>
                  <a:srgbClr val="0F1115"/>
                </a:solidFill>
                <a:effectLst/>
                <a:latin typeface="quote-cjk-patch"/>
              </a:rPr>
              <a:t>Ω</a:t>
            </a:r>
            <a:r>
              <a:rPr lang="el-GR" b="0" i="0">
                <a:solidFill>
                  <a:srgbClr val="0F1115"/>
                </a:solidFill>
                <a:effectLst/>
                <a:latin typeface="quote-cjk-patch"/>
              </a:rPr>
              <a:t>.</a:t>
            </a:r>
          </a:p>
          <a:p>
            <a:pPr algn="l">
              <a:buFont typeface="Arial" panose="020B0604020202020204" pitchFamily="34" charset="0"/>
              <a:buChar char="•"/>
            </a:pPr>
            <a:r>
              <a:rPr lang="vi-VN" b="1" i="0">
                <a:solidFill>
                  <a:srgbClr val="0F1115"/>
                </a:solidFill>
                <a:effectLst/>
                <a:latin typeface="quote-cjk-patch"/>
              </a:rPr>
              <a:t>Trở kháng đặc tính ($Z_0$)</a:t>
            </a:r>
            <a:r>
              <a:rPr lang="vi-VN" b="0" i="0">
                <a:solidFill>
                  <a:srgbClr val="0F1115"/>
                </a:solidFill>
                <a:effectLst/>
                <a:latin typeface="quote-cjk-patch"/>
              </a:rPr>
              <a:t> là một thông số vật lý của dây cáp, phụ thuộc vào đường kính dây, khoảng cách giữa hai lõi, và chất liệu cách điện.</a:t>
            </a:r>
          </a:p>
          <a:p>
            <a:pPr algn="l">
              <a:buFont typeface="Arial" panose="020B0604020202020204" pitchFamily="34" charset="0"/>
              <a:buChar char="•"/>
            </a:pPr>
            <a:r>
              <a:rPr lang="vi-VN" b="0" i="0">
                <a:solidFill>
                  <a:srgbClr val="0F1115"/>
                </a:solidFill>
                <a:effectLst/>
                <a:latin typeface="quote-cjk-patch"/>
              </a:rPr>
              <a:t>Đối với các loại cáp xoắn đôi tiêu chuẩn dùng trong công nghiệp ô tô và tự động hóa (như cáp LiYCY, cáp dành cho CAN bus), các nhà sản xuất thiết kế để đạt trở kháng $Z_0 = 120 \pm 10 \ \Omega$ (thường là 120 </a:t>
            </a:r>
            <a:r>
              <a:rPr lang="el-GR" b="0" i="0">
                <a:solidFill>
                  <a:srgbClr val="0F1115"/>
                </a:solidFill>
                <a:effectLst/>
                <a:latin typeface="quote-cjk-patch"/>
              </a:rPr>
              <a:t>Ω).</a:t>
            </a:r>
          </a:p>
          <a:p>
            <a:pPr algn="l"/>
            <a:r>
              <a:rPr lang="vi-VN" b="1" i="0">
                <a:solidFill>
                  <a:srgbClr val="0F1115"/>
                </a:solidFill>
                <a:effectLst/>
                <a:latin typeface="quote-cjk-patch"/>
              </a:rPr>
              <a:t>Nguyên lý kết cuối (Impedance Matching):</a:t>
            </a:r>
            <a:r>
              <a:rPr lang="vi-VN" b="0" i="0">
                <a:solidFill>
                  <a:srgbClr val="0F1115"/>
                </a:solidFill>
                <a:effectLst/>
                <a:latin typeface="quote-cjk-patch"/>
              </a:rPr>
              <a:t> Để truyền tín hiệu tần số cao (CAN hoạt động ở tốc độ lên tới 1 Mbit/s hoặc 5 Mbit/s trong CAN FD) mà không bị phản xạ, điện trở kết cuối phải bằng đúng trở kháng đặc tính của dây cáp ($R_{term} = Z_0$).</a:t>
            </a:r>
          </a:p>
          <a:p>
            <a:pPr algn="l"/>
            <a:r>
              <a:rPr lang="vi-VN" b="1">
                <a:solidFill>
                  <a:srgbClr val="0F1115"/>
                </a:solidFill>
                <a:effectLst/>
                <a:latin typeface="quote-cjk-patch"/>
              </a:rPr>
              <a:t>2. Ngăn chặn phản xạ tín hiệu (Signal Reflection)</a:t>
            </a:r>
          </a:p>
          <a:p>
            <a:pPr algn="l"/>
            <a:r>
              <a:rPr lang="vi-VN" b="0" i="0">
                <a:solidFill>
                  <a:srgbClr val="0F1115"/>
                </a:solidFill>
                <a:effectLst/>
                <a:latin typeface="quote-cjk-patch"/>
              </a:rPr>
              <a:t>Nếu điện trở kết cuối </a:t>
            </a:r>
            <a:r>
              <a:rPr lang="vi-VN" b="1" i="0">
                <a:solidFill>
                  <a:srgbClr val="0F1115"/>
                </a:solidFill>
                <a:effectLst/>
                <a:latin typeface="quote-cjk-patch"/>
              </a:rPr>
              <a:t>không khớp</a:t>
            </a:r>
            <a:r>
              <a:rPr lang="vi-VN" b="0" i="0">
                <a:solidFill>
                  <a:srgbClr val="0F1115"/>
                </a:solidFill>
                <a:effectLst/>
                <a:latin typeface="quote-cjk-patch"/>
              </a:rPr>
              <a:t> với trở kháng của cáp:</a:t>
            </a:r>
          </a:p>
          <a:p>
            <a:pPr algn="l">
              <a:buFont typeface="Arial" panose="020B0604020202020204" pitchFamily="34" charset="0"/>
              <a:buChar char="•"/>
            </a:pPr>
            <a:r>
              <a:rPr lang="vi-VN" b="1" i="0">
                <a:solidFill>
                  <a:srgbClr val="0F1115"/>
                </a:solidFill>
                <a:effectLst/>
                <a:latin typeface="quote-cjk-patch"/>
              </a:rPr>
              <a:t>Khi tín hiệu truyền đến cuối bus</a:t>
            </a:r>
            <a:r>
              <a:rPr lang="vi-VN" b="0" i="0">
                <a:solidFill>
                  <a:srgbClr val="0F1115"/>
                </a:solidFill>
                <a:effectLst/>
                <a:latin typeface="quote-cjk-patch"/>
              </a:rPr>
              <a:t>, thay vì bị hấp thụ, nó sẽ </a:t>
            </a:r>
            <a:r>
              <a:rPr lang="vi-VN" b="1" i="0">
                <a:solidFill>
                  <a:srgbClr val="0F1115"/>
                </a:solidFill>
                <a:effectLst/>
                <a:latin typeface="quote-cjk-patch"/>
              </a:rPr>
              <a:t>bật ngược trở lại</a:t>
            </a:r>
            <a:r>
              <a:rPr lang="vi-VN" b="0" i="0">
                <a:solidFill>
                  <a:srgbClr val="0F1115"/>
                </a:solidFill>
                <a:effectLst/>
                <a:latin typeface="quote-cjk-patch"/>
              </a:rPr>
              <a:t> (giống như tiếng vang).</a:t>
            </a:r>
          </a:p>
          <a:p>
            <a:pPr algn="l">
              <a:buFont typeface="Arial" panose="020B0604020202020204" pitchFamily="34" charset="0"/>
              <a:buChar char="•"/>
            </a:pPr>
            <a:r>
              <a:rPr lang="vi-VN" b="0" i="0">
                <a:solidFill>
                  <a:srgbClr val="0F1115"/>
                </a:solidFill>
                <a:effectLst/>
                <a:latin typeface="quote-cjk-patch"/>
              </a:rPr>
              <a:t>Sự phản xạ này sẽ va chạm với tín hiệu đang được truyền trên bus, gây ra:</a:t>
            </a:r>
          </a:p>
          <a:p>
            <a:pPr marL="742950" lvl="1" indent="-285750" algn="l">
              <a:buFont typeface="Arial" panose="020B0604020202020204" pitchFamily="34" charset="0"/>
              <a:buChar char="•"/>
            </a:pPr>
            <a:r>
              <a:rPr lang="vi-VN" b="1" i="0">
                <a:solidFill>
                  <a:srgbClr val="0F1115"/>
                </a:solidFill>
                <a:effectLst/>
                <a:latin typeface="quote-cjk-patch"/>
              </a:rPr>
              <a:t>Gợn sóng (ringing)</a:t>
            </a:r>
            <a:endParaRPr lang="vi-VN" b="0" i="0">
              <a:solidFill>
                <a:srgbClr val="0F1115"/>
              </a:solidFill>
              <a:effectLst/>
              <a:latin typeface="quote-cjk-patch"/>
            </a:endParaRPr>
          </a:p>
          <a:p>
            <a:pPr marL="742950" lvl="1" indent="-285750" algn="l">
              <a:buFont typeface="Arial" panose="020B0604020202020204" pitchFamily="34" charset="0"/>
              <a:buChar char="•"/>
            </a:pPr>
            <a:r>
              <a:rPr lang="vi-VN" b="1" i="0">
                <a:solidFill>
                  <a:srgbClr val="0F1115"/>
                </a:solidFill>
                <a:effectLst/>
                <a:latin typeface="quote-cjk-patch"/>
              </a:rPr>
              <a:t>Overshoot / Undershoot</a:t>
            </a:r>
            <a:r>
              <a:rPr lang="vi-VN" b="0" i="0">
                <a:solidFill>
                  <a:srgbClr val="0F1115"/>
                </a:solidFill>
                <a:effectLst/>
                <a:latin typeface="quote-cjk-patch"/>
              </a:rPr>
              <a:t> (vọt lố)</a:t>
            </a:r>
          </a:p>
          <a:p>
            <a:pPr marL="742950" lvl="1" indent="-285750" algn="l">
              <a:buFont typeface="Arial" panose="020B0604020202020204" pitchFamily="34" charset="0"/>
              <a:buChar char="•"/>
            </a:pPr>
            <a:r>
              <a:rPr lang="vi-VN" b="0" i="0">
                <a:solidFill>
                  <a:srgbClr val="0F1115"/>
                </a:solidFill>
                <a:effectLst/>
                <a:latin typeface="quote-cjk-patch"/>
              </a:rPr>
              <a:t>Làm méo dạng sóng, dẫn đến lỗi bit (bit error) hoặc hỏng khung dữ liệu.</a:t>
            </a:r>
          </a:p>
          <a:p>
            <a:pPr algn="l"/>
            <a:r>
              <a:rPr lang="vi-VN" b="0" i="0">
                <a:solidFill>
                  <a:srgbClr val="0F1115"/>
                </a:solidFill>
                <a:effectLst/>
                <a:latin typeface="quote-cjk-patch"/>
              </a:rPr>
              <a:t>Bằng cách sử dụng điện trở 120 </a:t>
            </a:r>
            <a:r>
              <a:rPr lang="el-GR" b="0" i="0">
                <a:solidFill>
                  <a:srgbClr val="0F1115"/>
                </a:solidFill>
                <a:effectLst/>
                <a:latin typeface="quote-cjk-patch"/>
              </a:rPr>
              <a:t>Ω </a:t>
            </a:r>
            <a:r>
              <a:rPr lang="vi-VN" b="0" i="0">
                <a:solidFill>
                  <a:srgbClr val="0F1115"/>
                </a:solidFill>
                <a:effectLst/>
                <a:latin typeface="quote-cjk-patch"/>
              </a:rPr>
              <a:t>ở </a:t>
            </a:r>
            <a:r>
              <a:rPr lang="vi-VN" b="1" i="0">
                <a:solidFill>
                  <a:srgbClr val="0F1115"/>
                </a:solidFill>
                <a:effectLst/>
                <a:latin typeface="quote-cjk-patch"/>
              </a:rPr>
              <a:t>hai đầu tận cùng</a:t>
            </a:r>
            <a:r>
              <a:rPr lang="vi-VN" b="0" i="0">
                <a:solidFill>
                  <a:srgbClr val="0F1115"/>
                </a:solidFill>
                <a:effectLst/>
                <a:latin typeface="quote-cjk-patch"/>
              </a:rPr>
              <a:t> của bus (không phải ở mọi node), năng lượng tín hiệu sẽ bị triệt tiêu hoàn toàn khi đến cuối đường truyền, giống như một "điểm chết" cho sóng.</a:t>
            </a:r>
          </a:p>
          <a:p>
            <a:pPr algn="l"/>
            <a:r>
              <a:rPr lang="vi-VN" b="1">
                <a:solidFill>
                  <a:srgbClr val="0F1115"/>
                </a:solidFill>
                <a:effectLst/>
                <a:latin typeface="quote-cjk-patch"/>
              </a:rPr>
              <a:t>3. Đảm bảo mức điện áp Recessive chính xác</a:t>
            </a:r>
          </a:p>
          <a:p>
            <a:pPr algn="l"/>
            <a:r>
              <a:rPr lang="vi-VN" b="0" i="0">
                <a:solidFill>
                  <a:srgbClr val="0F1115"/>
                </a:solidFill>
                <a:effectLst/>
                <a:latin typeface="quote-cjk-patch"/>
              </a:rPr>
              <a:t>Trong trạng thái </a:t>
            </a:r>
            <a:r>
              <a:rPr lang="vi-VN" b="1" i="0">
                <a:solidFill>
                  <a:srgbClr val="0F1115"/>
                </a:solidFill>
                <a:effectLst/>
                <a:latin typeface="quote-cjk-patch"/>
              </a:rPr>
              <a:t>Recessive (logic 1)</a:t>
            </a:r>
            <a:r>
              <a:rPr lang="vi-VN" b="0" i="0">
                <a:solidFill>
                  <a:srgbClr val="0F1115"/>
                </a:solidFill>
                <a:effectLst/>
                <a:latin typeface="quote-cjk-patch"/>
              </a:rPr>
              <a:t>, bộ thu phát (transceiver) ở các node không kéo điện áp. Lúc này, </a:t>
            </a:r>
            <a:r>
              <a:rPr lang="vi-VN" b="1" i="0">
                <a:solidFill>
                  <a:srgbClr val="0F1115"/>
                </a:solidFill>
                <a:effectLst/>
                <a:latin typeface="quote-cjk-patch"/>
              </a:rPr>
              <a:t>chỉ có các điện trở kết cuối</a:t>
            </a:r>
            <a:r>
              <a:rPr lang="vi-VN" b="0" i="0">
                <a:solidFill>
                  <a:srgbClr val="0F1115"/>
                </a:solidFill>
                <a:effectLst/>
                <a:latin typeface="quote-cjk-patch"/>
              </a:rPr>
              <a:t> mới tạo ra điện áp trên bus.</a:t>
            </a:r>
          </a:p>
          <a:p>
            <a:pPr algn="l">
              <a:buFont typeface="Arial" panose="020B0604020202020204" pitchFamily="34" charset="0"/>
              <a:buChar char="•"/>
            </a:pPr>
            <a:r>
              <a:rPr lang="vi-VN" b="0" i="0">
                <a:solidFill>
                  <a:srgbClr val="0F1115"/>
                </a:solidFill>
                <a:effectLst/>
                <a:latin typeface="quote-cjk-patch"/>
              </a:rPr>
              <a:t>Với nguồn cung cấp thường là 5V (hoặc 3.3V đối với một số transceiver hiện đại), cấu trúc mạch bên trong của transceiver tạo ra một bộ chia áp.</a:t>
            </a:r>
          </a:p>
          <a:p>
            <a:pPr algn="l">
              <a:buFont typeface="Arial" panose="020B0604020202020204" pitchFamily="34" charset="0"/>
              <a:buChar char="•"/>
            </a:pPr>
            <a:r>
              <a:rPr lang="vi-VN" b="0" i="0">
                <a:solidFill>
                  <a:srgbClr val="0F1115"/>
                </a:solidFill>
                <a:effectLst/>
                <a:latin typeface="quote-cjk-patch"/>
              </a:rPr>
              <a:t>Giá trị 120 </a:t>
            </a:r>
            <a:r>
              <a:rPr lang="el-GR" b="0" i="0">
                <a:solidFill>
                  <a:srgbClr val="0F1115"/>
                </a:solidFill>
                <a:effectLst/>
                <a:latin typeface="quote-cjk-patch"/>
              </a:rPr>
              <a:t>Ω </a:t>
            </a:r>
            <a:r>
              <a:rPr lang="vi-VN" b="0" i="0">
                <a:solidFill>
                  <a:srgbClr val="0F1115"/>
                </a:solidFill>
                <a:effectLst/>
                <a:latin typeface="quote-cjk-patch"/>
              </a:rPr>
              <a:t>được chọn vì nó tạo ra mức điện áp chuẩn khoảng </a:t>
            </a:r>
            <a:r>
              <a:rPr lang="vi-VN" b="1" i="0">
                <a:solidFill>
                  <a:srgbClr val="0F1115"/>
                </a:solidFill>
                <a:effectLst/>
                <a:latin typeface="quote-cjk-patch"/>
              </a:rPr>
              <a:t>2.5V</a:t>
            </a:r>
            <a:r>
              <a:rPr lang="vi-VN" b="0" i="0">
                <a:solidFill>
                  <a:srgbClr val="0F1115"/>
                </a:solidFill>
                <a:effectLst/>
                <a:latin typeface="quote-cjk-patch"/>
              </a:rPr>
              <a:t> trên mỗi dây (CANH và CANL) khi ở trạng thái nghỉ.</a:t>
            </a:r>
          </a:p>
          <a:p>
            <a:pPr algn="l">
              <a:buFont typeface="Arial" panose="020B0604020202020204" pitchFamily="34" charset="0"/>
              <a:buChar char="•"/>
            </a:pPr>
            <a:r>
              <a:rPr lang="vi-VN" b="0" i="0">
                <a:solidFill>
                  <a:srgbClr val="0F1115"/>
                </a:solidFill>
                <a:effectLst/>
                <a:latin typeface="quote-cjk-patch"/>
              </a:rPr>
              <a:t>Nếu giá trị điện trở quá cao hoặc quá thấp, mức điện áp trung tính này sẽ bị sai lệch, làm giảm biên độ tín hiệu vi sai hoặc khiến cho việc phát hiện bit bị lỗi.</a:t>
            </a:r>
          </a:p>
          <a:p>
            <a:pPr algn="l"/>
            <a:r>
              <a:rPr lang="vi-VN" b="1">
                <a:solidFill>
                  <a:srgbClr val="0F1115"/>
                </a:solidFill>
                <a:effectLst/>
                <a:latin typeface="quote-cjk-patch"/>
              </a:rPr>
              <a:t>4. Công suất và tải bus</a:t>
            </a:r>
          </a:p>
          <a:p>
            <a:pPr algn="l"/>
            <a:r>
              <a:rPr lang="vi-VN" b="0" i="0">
                <a:solidFill>
                  <a:srgbClr val="0F1115"/>
                </a:solidFill>
                <a:effectLst/>
                <a:latin typeface="quote-cjk-patch"/>
              </a:rPr>
              <a:t>Khi ở trạng thái </a:t>
            </a:r>
            <a:r>
              <a:rPr lang="vi-VN" b="1" i="0">
                <a:solidFill>
                  <a:srgbClr val="0F1115"/>
                </a:solidFill>
                <a:effectLst/>
                <a:latin typeface="quote-cjk-patch"/>
              </a:rPr>
              <a:t>Dominant (logic 0)</a:t>
            </a:r>
            <a:r>
              <a:rPr lang="vi-VN" b="0" i="0">
                <a:solidFill>
                  <a:srgbClr val="0F1115"/>
                </a:solidFill>
                <a:effectLst/>
                <a:latin typeface="quote-cjk-patch"/>
              </a:rPr>
              <a:t>, các node phải kéo một dòng điện qua hai điện trở 120 </a:t>
            </a:r>
            <a:r>
              <a:rPr lang="el-GR" b="0" i="0">
                <a:solidFill>
                  <a:srgbClr val="0F1115"/>
                </a:solidFill>
                <a:effectLst/>
                <a:latin typeface="quote-cjk-patch"/>
              </a:rPr>
              <a:t>Ω </a:t>
            </a:r>
            <a:r>
              <a:rPr lang="vi-VN" b="0" i="0">
                <a:solidFill>
                  <a:srgbClr val="0F1115"/>
                </a:solidFill>
                <a:effectLst/>
                <a:latin typeface="quote-cjk-patch"/>
              </a:rPr>
              <a:t>mắc song song (tổng cộng 60 </a:t>
            </a:r>
            <a:r>
              <a:rPr lang="el-GR" b="0" i="0">
                <a:solidFill>
                  <a:srgbClr val="0F1115"/>
                </a:solidFill>
                <a:effectLst/>
                <a:latin typeface="quote-cjk-patch"/>
              </a:rPr>
              <a:t>Ω) </a:t>
            </a:r>
            <a:r>
              <a:rPr lang="vi-VN" b="0" i="0">
                <a:solidFill>
                  <a:srgbClr val="0F1115"/>
                </a:solidFill>
                <a:effectLst/>
                <a:latin typeface="quote-cjk-patch"/>
              </a:rPr>
              <a:t>để tạo ra điện áp chênh lệch.</a:t>
            </a:r>
          </a:p>
          <a:p>
            <a:pPr algn="l">
              <a:buFont typeface="Arial" panose="020B0604020202020204" pitchFamily="34" charset="0"/>
              <a:buChar char="•"/>
            </a:pPr>
            <a:r>
              <a:rPr lang="vi-VN" b="1" i="0">
                <a:solidFill>
                  <a:srgbClr val="0F1115"/>
                </a:solidFill>
                <a:effectLst/>
                <a:latin typeface="quote-cjk-patch"/>
              </a:rPr>
              <a:t>Điện trở tương đương:</a:t>
            </a:r>
            <a:r>
              <a:rPr lang="vi-VN" b="0" i="0">
                <a:solidFill>
                  <a:srgbClr val="0F1115"/>
                </a:solidFill>
                <a:effectLst/>
                <a:latin typeface="quote-cjk-patch"/>
              </a:rPr>
              <a:t> Hai điện trở 120 </a:t>
            </a:r>
            <a:r>
              <a:rPr lang="el-GR" b="0" i="0">
                <a:solidFill>
                  <a:srgbClr val="0F1115"/>
                </a:solidFill>
                <a:effectLst/>
                <a:latin typeface="quote-cjk-patch"/>
              </a:rPr>
              <a:t>Ω </a:t>
            </a:r>
            <a:r>
              <a:rPr lang="vi-VN" b="0" i="0">
                <a:solidFill>
                  <a:srgbClr val="0F1115"/>
                </a:solidFill>
                <a:effectLst/>
                <a:latin typeface="quote-cjk-patch"/>
              </a:rPr>
              <a:t>mắc song song cho ra </a:t>
            </a:r>
            <a:r>
              <a:rPr lang="vi-VN" b="1" i="0">
                <a:solidFill>
                  <a:srgbClr val="0F1115"/>
                </a:solidFill>
                <a:effectLst/>
                <a:latin typeface="quote-cjk-patch"/>
              </a:rPr>
              <a:t>60 </a:t>
            </a:r>
            <a:r>
              <a:rPr lang="el-GR" b="1" i="0">
                <a:solidFill>
                  <a:srgbClr val="0F1115"/>
                </a:solidFill>
                <a:effectLst/>
                <a:latin typeface="quote-cjk-patch"/>
              </a:rPr>
              <a:t>Ω</a:t>
            </a:r>
            <a:r>
              <a:rPr lang="el-GR" b="0" i="0">
                <a:solidFill>
                  <a:srgbClr val="0F1115"/>
                </a:solidFill>
                <a:effectLst/>
                <a:latin typeface="quote-cjk-patch"/>
              </a:rPr>
              <a:t>.</a:t>
            </a:r>
          </a:p>
          <a:p>
            <a:pPr algn="l">
              <a:buFont typeface="Arial" panose="020B0604020202020204" pitchFamily="34" charset="0"/>
              <a:buChar char="•"/>
            </a:pPr>
            <a:r>
              <a:rPr lang="vi-VN" b="1" i="0">
                <a:solidFill>
                  <a:srgbClr val="0F1115"/>
                </a:solidFill>
                <a:effectLst/>
                <a:latin typeface="quote-cjk-patch"/>
              </a:rPr>
              <a:t>Dòng điện tiêu thụ:</a:t>
            </a:r>
            <a:r>
              <a:rPr lang="vi-VN" b="0" i="0">
                <a:solidFill>
                  <a:srgbClr val="0F1115"/>
                </a:solidFill>
                <a:effectLst/>
                <a:latin typeface="quote-cjk-patch"/>
              </a:rPr>
              <a:t> Với điện áp vi sai khoảng 2V (3.5V - 1.5V), dòng điện tiêu thụ khi có nhiều node truyền là: $I = \frac{2V}{60\Omega} \approx 33mA$.</a:t>
            </a:r>
          </a:p>
          <a:p>
            <a:pPr algn="l">
              <a:buFont typeface="Arial" panose="020B0604020202020204" pitchFamily="34" charset="0"/>
              <a:buChar char="•"/>
            </a:pPr>
            <a:r>
              <a:rPr lang="vi-VN" b="0" i="0">
                <a:solidFill>
                  <a:srgbClr val="0F1115"/>
                </a:solidFill>
                <a:effectLst/>
                <a:latin typeface="quote-cjk-patch"/>
              </a:rPr>
              <a:t>Đây là mức dòng điện phù hợp để các bộ thu phát (transceiver) hoạt động ổn định mà không bị quá nóng, đồng thời đảm bảo đủ mạnh để "ghi đè" (override) nhiễu.</a:t>
            </a:r>
          </a:p>
          <a:p>
            <a:pPr algn="l"/>
            <a:r>
              <a:rPr lang="vi-VN" b="1">
                <a:solidFill>
                  <a:srgbClr val="0F1115"/>
                </a:solidFill>
                <a:effectLst/>
                <a:latin typeface="quote-cjk-patch"/>
              </a:rPr>
              <a:t>5. Tiêu chuẩn ngành (ISO 11898)</a:t>
            </a:r>
          </a:p>
          <a:p>
            <a:pPr algn="l"/>
            <a:r>
              <a:rPr lang="vi-VN" b="0" i="0">
                <a:solidFill>
                  <a:srgbClr val="0F1115"/>
                </a:solidFill>
                <a:effectLst/>
                <a:latin typeface="quote-cjk-patch"/>
              </a:rPr>
              <a:t>Cuối cùng, tiêu chuẩn </a:t>
            </a:r>
            <a:r>
              <a:rPr lang="vi-VN" b="1" i="0">
                <a:solidFill>
                  <a:srgbClr val="0F1115"/>
                </a:solidFill>
                <a:effectLst/>
                <a:latin typeface="quote-cjk-patch"/>
              </a:rPr>
              <a:t>ISO 11898</a:t>
            </a:r>
            <a:r>
              <a:rPr lang="vi-VN" b="0" i="0">
                <a:solidFill>
                  <a:srgbClr val="0F1115"/>
                </a:solidFill>
                <a:effectLst/>
                <a:latin typeface="quote-cjk-patch"/>
              </a:rPr>
              <a:t> (tiêu chuẩn quốc tế cho CAN bus) đã định nghĩa rõ rằng:</a:t>
            </a:r>
          </a:p>
          <a:p>
            <a:pPr algn="l">
              <a:buFont typeface="Arial" panose="020B0604020202020204" pitchFamily="34" charset="0"/>
              <a:buChar char="•"/>
            </a:pPr>
            <a:r>
              <a:rPr lang="vi-VN" b="0" i="0">
                <a:solidFill>
                  <a:srgbClr val="0F1115"/>
                </a:solidFill>
                <a:effectLst/>
                <a:latin typeface="quote-cjk-patch"/>
              </a:rPr>
              <a:t>Cáp phải có trở kháng danh định $120 \Omega$.</a:t>
            </a:r>
          </a:p>
          <a:p>
            <a:pPr algn="l">
              <a:buFont typeface="Arial" panose="020B0604020202020204" pitchFamily="34" charset="0"/>
              <a:buChar char="•"/>
            </a:pPr>
            <a:r>
              <a:rPr lang="vi-VN" b="0" i="0">
                <a:solidFill>
                  <a:srgbClr val="0F1115"/>
                </a:solidFill>
                <a:effectLst/>
                <a:latin typeface="quote-cjk-patch"/>
              </a:rPr>
              <a:t>Điện trở kết cuối phải là $120 \Omega$ lắp ở hai đầu của bus.</a:t>
            </a:r>
          </a:p>
          <a:p>
            <a:pPr algn="l"/>
            <a:r>
              <a:rPr lang="vi-VN" b="0" i="0">
                <a:solidFill>
                  <a:srgbClr val="0F1115"/>
                </a:solidFill>
                <a:effectLst/>
                <a:latin typeface="quote-cjk-patch"/>
              </a:rPr>
              <a:t>Việc tuân thủ tiêu chuẩn này đảm bảo tính tương thích giữa các thiết bị của các nhà sản xuất khác nhau (Bosch, TI, NXP, v.v.) mà không gặp vấn đề về vật lý.</a:t>
            </a:r>
          </a:p>
          <a:p>
            <a:endParaRPr lang="vi-VN"/>
          </a:p>
        </p:txBody>
      </p:sp>
      <p:sp>
        <p:nvSpPr>
          <p:cNvPr id="4" name="Slide Number Placeholder 3"/>
          <p:cNvSpPr>
            <a:spLocks noGrp="1"/>
          </p:cNvSpPr>
          <p:nvPr>
            <p:ph type="sldNum" sz="quarter" idx="5"/>
          </p:nvPr>
        </p:nvSpPr>
        <p:spPr/>
        <p:txBody>
          <a:bodyPr/>
          <a:lstStyle/>
          <a:p>
            <a:fld id="{E80A4903-7EF3-44C4-B3A5-356E0A49B13F}" type="slidenum">
              <a:rPr lang="en-US" smtClean="0"/>
              <a:t>15</a:t>
            </a:fld>
            <a:endParaRPr lang="en-US"/>
          </a:p>
        </p:txBody>
      </p:sp>
    </p:spTree>
    <p:extLst>
      <p:ext uri="{BB962C8B-B14F-4D97-AF65-F5344CB8AC3E}">
        <p14:creationId xmlns:p14="http://schemas.microsoft.com/office/powerpoint/2010/main" val="3993331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16</a:t>
            </a:fld>
            <a:endParaRPr lang="en-US"/>
          </a:p>
        </p:txBody>
      </p:sp>
    </p:spTree>
    <p:extLst>
      <p:ext uri="{BB962C8B-B14F-4D97-AF65-F5344CB8AC3E}">
        <p14:creationId xmlns:p14="http://schemas.microsoft.com/office/powerpoint/2010/main" val="2074057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17</a:t>
            </a:fld>
            <a:endParaRPr lang="en-US"/>
          </a:p>
        </p:txBody>
      </p:sp>
    </p:spTree>
    <p:extLst>
      <p:ext uri="{BB962C8B-B14F-4D97-AF65-F5344CB8AC3E}">
        <p14:creationId xmlns:p14="http://schemas.microsoft.com/office/powerpoint/2010/main" val="1985651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18</a:t>
            </a:fld>
            <a:endParaRPr lang="en-US"/>
          </a:p>
        </p:txBody>
      </p:sp>
    </p:spTree>
    <p:extLst>
      <p:ext uri="{BB962C8B-B14F-4D97-AF65-F5344CB8AC3E}">
        <p14:creationId xmlns:p14="http://schemas.microsoft.com/office/powerpoint/2010/main" val="1481923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19</a:t>
            </a:fld>
            <a:endParaRPr lang="en-US"/>
          </a:p>
        </p:txBody>
      </p:sp>
    </p:spTree>
    <p:extLst>
      <p:ext uri="{BB962C8B-B14F-4D97-AF65-F5344CB8AC3E}">
        <p14:creationId xmlns:p14="http://schemas.microsoft.com/office/powerpoint/2010/main" val="982087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20</a:t>
            </a:fld>
            <a:endParaRPr lang="en-US"/>
          </a:p>
        </p:txBody>
      </p:sp>
    </p:spTree>
    <p:extLst>
      <p:ext uri="{BB962C8B-B14F-4D97-AF65-F5344CB8AC3E}">
        <p14:creationId xmlns:p14="http://schemas.microsoft.com/office/powerpoint/2010/main" val="1061043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21</a:t>
            </a:fld>
            <a:endParaRPr lang="en-US"/>
          </a:p>
        </p:txBody>
      </p:sp>
    </p:spTree>
    <p:extLst>
      <p:ext uri="{BB962C8B-B14F-4D97-AF65-F5344CB8AC3E}">
        <p14:creationId xmlns:p14="http://schemas.microsoft.com/office/powerpoint/2010/main" val="4236440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effectLst/>
                <a:latin typeface="Google Sans Text"/>
              </a:rPr>
              <a:t>Dòng điện lớn:</a:t>
            </a:r>
            <a:r>
              <a:rPr lang="vi-VN">
                <a:effectLst/>
                <a:latin typeface="Google Sans Text"/>
              </a:rPr>
              <a:t> Theo định luật Ohm $I = U / R$, khi $R_{total}$ giảm xuống (ví dụ còn $20\Omega$ thay vì $60\Omega$), Transceiver phải bơm một dòng điện lớn gấp 3 lần bình thường để duy trì mức điện áp Dominant ($2V$ chênh lệch).</a:t>
            </a:r>
          </a:p>
          <a:p>
            <a:r>
              <a:rPr lang="vi-VN" b="1">
                <a:effectLst/>
                <a:latin typeface="Google Sans Text"/>
              </a:rPr>
              <a:t>Sụt áp:</a:t>
            </a:r>
            <a:r>
              <a:rPr lang="vi-VN">
                <a:effectLst/>
                <a:latin typeface="Google Sans Text"/>
              </a:rPr>
              <a:t> Hầu hết các chip Transceiver đều có giới hạn dòng đầu ra. Khi bị "vắt kiệt" dòng, mức điện áp Dominant sẽ bị sụt xuống (không giữ được mức $2V$), làm cho tín hiệu trở nên yếu ớt và dễ bị nhiễu đè bẹp.</a:t>
            </a:r>
          </a:p>
          <a:p>
            <a:r>
              <a:rPr lang="vi-VN" b="1">
                <a:effectLst/>
                <a:latin typeface="Google Sans Text"/>
              </a:rPr>
              <a:t>Nhiệt năng:</a:t>
            </a:r>
            <a:r>
              <a:rPr lang="vi-VN">
                <a:effectLst/>
                <a:latin typeface="Google Sans Text"/>
              </a:rPr>
              <a:t> $P = I^{2}R$. Dòng tăng khiến chip nóng lên nhanh chóng, có thể kích hoạt chế độ bảo vệ quá nhiệt và ngắt toàn bộ giao tiếp.</a:t>
            </a:r>
            <a:endParaRPr lang="en-US">
              <a:effectLst/>
              <a:latin typeface="Google Sans Text"/>
            </a:endParaRPr>
          </a:p>
          <a:p>
            <a:endParaRPr lang="en-US">
              <a:effectLst/>
              <a:latin typeface="Google Sans Text"/>
            </a:endParaRPr>
          </a:p>
          <a:p>
            <a:pPr>
              <a:buFont typeface="Arial" panose="020B0604020202020204" pitchFamily="34" charset="0"/>
              <a:buChar char="•"/>
            </a:pPr>
            <a:r>
              <a:rPr lang="vi-VN"/>
              <a:t>Điện trở kết thúc càng nhỏ (tải càng nặng, ví dụ chỉ 50 </a:t>
            </a:r>
            <a:r>
              <a:rPr lang="el-GR"/>
              <a:t>Ω </a:t>
            </a:r>
            <a:r>
              <a:rPr lang="vi-VN"/>
              <a:t>hoặc 1 điện trở 60 </a:t>
            </a:r>
            <a:r>
              <a:rPr lang="el-GR"/>
              <a:t>Ω </a:t>
            </a:r>
            <a:r>
              <a:rPr lang="vi-VN"/>
              <a:t>ở giữa), dòng điện mà transceiver phải cung cấp càng lớn (theo định luật Ohm: I = V / R). Hậu quả: Transceiver tiêu thụ công suất lớn hơn → chip nóng lên nhanh, đặc biệt khi bus dài hoặc nhiều bit dominant liên tục.</a:t>
            </a:r>
          </a:p>
          <a:p>
            <a:pPr>
              <a:buFont typeface="Arial" panose="020B0604020202020204" pitchFamily="34" charset="0"/>
              <a:buChar char="•"/>
            </a:pPr>
            <a:r>
              <a:rPr lang="vi-VN"/>
              <a:t>Điện áp dominant có thể bị kéo xuống yếu hơn mức chuẩn → các node khác khó nhận biết dominant rõ ràng.</a:t>
            </a:r>
          </a:p>
          <a:p>
            <a:pPr>
              <a:buFont typeface="Arial" panose="020B0604020202020204" pitchFamily="34" charset="0"/>
              <a:buChar char="•"/>
            </a:pPr>
            <a:r>
              <a:rPr lang="vi-VN"/>
              <a:t>Giảm tuổi thọ transceiver, tăng nguy cơ hỏng hóc.</a:t>
            </a:r>
          </a:p>
          <a:p>
            <a:endParaRPr lang="vi-VN">
              <a:effectLst/>
              <a:latin typeface="Google Sans Tex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22</a:t>
            </a:fld>
            <a:endParaRPr lang="en-US"/>
          </a:p>
        </p:txBody>
      </p:sp>
    </p:spTree>
    <p:extLst>
      <p:ext uri="{BB962C8B-B14F-4D97-AF65-F5344CB8AC3E}">
        <p14:creationId xmlns:p14="http://schemas.microsoft.com/office/powerpoint/2010/main" val="3476487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effectLst/>
                <a:latin typeface="Google Sans Text"/>
              </a:rPr>
              <a:t>Đường dây CAN luôn có điện dung ký sinh ($C_{bus}$). Khi Transceiver ngắt dòng (để về Recessive), mạch điện lúc này trở thành một mạch xả $RC$.</a:t>
            </a:r>
          </a:p>
          <a:p>
            <a:pPr>
              <a:buFont typeface="Arial" panose="020B0604020202020204" pitchFamily="34" charset="0"/>
              <a:buChar char="•"/>
            </a:pPr>
            <a:r>
              <a:rPr lang="vi-VN">
                <a:effectLst/>
                <a:latin typeface="Google Sans Text"/>
              </a:rPr>
              <a:t>Thời gian xả điện áp tỷ lệ thuận với $R \times C$.</a:t>
            </a:r>
          </a:p>
          <a:p>
            <a:pPr>
              <a:buFont typeface="Arial" panose="020B0604020202020204" pitchFamily="34" charset="0"/>
              <a:buChar char="•"/>
            </a:pPr>
            <a:r>
              <a:rPr lang="vi-VN">
                <a:effectLst/>
                <a:latin typeface="Google Sans Text"/>
              </a:rPr>
              <a:t>Nếu $R$ quá lớn, điện tích "thoát" ra rất chậm. Dạng sóng thay vì là hình vuông sắc nét sẽ bị "bo tròn" ở góc xuống.</a:t>
            </a:r>
          </a:p>
          <a:p>
            <a:r>
              <a:rPr lang="vi-VN" b="1">
                <a:effectLst/>
                <a:latin typeface="Google Sans Text"/>
              </a:rPr>
              <a:t>Hậu quả:</a:t>
            </a:r>
            <a:r>
              <a:rPr lang="vi-VN">
                <a:effectLst/>
                <a:latin typeface="Google Sans Text"/>
              </a:rPr>
              <a:t> Ở tốc độ cao (như 1Mbps), bit tiếp theo sẽ đến trước khi điện áp kịp giảm xuống, gây ra lỗi đọc sai bit (Bit Error).</a:t>
            </a:r>
          </a:p>
        </p:txBody>
      </p:sp>
      <p:sp>
        <p:nvSpPr>
          <p:cNvPr id="4" name="Slide Number Placeholder 3"/>
          <p:cNvSpPr>
            <a:spLocks noGrp="1"/>
          </p:cNvSpPr>
          <p:nvPr>
            <p:ph type="sldNum" sz="quarter" idx="5"/>
          </p:nvPr>
        </p:nvSpPr>
        <p:spPr/>
        <p:txBody>
          <a:bodyPr/>
          <a:lstStyle/>
          <a:p>
            <a:fld id="{E80A4903-7EF3-44C4-B3A5-356E0A49B13F}" type="slidenum">
              <a:rPr lang="en-US" smtClean="0"/>
              <a:t>23</a:t>
            </a:fld>
            <a:endParaRPr lang="en-US"/>
          </a:p>
        </p:txBody>
      </p:sp>
    </p:spTree>
    <p:extLst>
      <p:ext uri="{BB962C8B-B14F-4D97-AF65-F5344CB8AC3E}">
        <p14:creationId xmlns:p14="http://schemas.microsoft.com/office/powerpoint/2010/main" val="26750938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effectLst/>
                <a:latin typeface="Google Sans Text"/>
              </a:rPr>
              <a:t>Đường dây CAN luôn có điện dung ký sinh ($C_{bus}$). Khi Transceiver ngắt dòng (để về Recessive), mạch điện lúc này trở thành một mạch xả $RC$.</a:t>
            </a:r>
          </a:p>
          <a:p>
            <a:pPr>
              <a:buFont typeface="Arial" panose="020B0604020202020204" pitchFamily="34" charset="0"/>
              <a:buChar char="•"/>
            </a:pPr>
            <a:r>
              <a:rPr lang="vi-VN">
                <a:effectLst/>
                <a:latin typeface="Google Sans Text"/>
              </a:rPr>
              <a:t>Thời gian xả điện áp tỷ lệ thuận với $R \times C$.</a:t>
            </a:r>
          </a:p>
          <a:p>
            <a:pPr>
              <a:buFont typeface="Arial" panose="020B0604020202020204" pitchFamily="34" charset="0"/>
              <a:buChar char="•"/>
            </a:pPr>
            <a:r>
              <a:rPr lang="vi-VN">
                <a:effectLst/>
                <a:latin typeface="Google Sans Text"/>
              </a:rPr>
              <a:t>Nếu $R$ quá lớn, điện tích "thoát" ra rất chậm. Dạng sóng thay vì là hình vuông sắc nét sẽ bị "bo tròn" ở góc xuống.</a:t>
            </a:r>
          </a:p>
          <a:p>
            <a:r>
              <a:rPr lang="vi-VN" b="1">
                <a:effectLst/>
                <a:latin typeface="Google Sans Text"/>
              </a:rPr>
              <a:t>Hậu quả:</a:t>
            </a:r>
            <a:r>
              <a:rPr lang="vi-VN">
                <a:effectLst/>
                <a:latin typeface="Google Sans Text"/>
              </a:rPr>
              <a:t> Ở tốc độ cao (như 1Mbps), bit tiếp theo sẽ đến trước khi điện áp kịp giảm xuống, gây ra lỗi đọc sai bit (Bit Error).</a:t>
            </a:r>
          </a:p>
        </p:txBody>
      </p:sp>
      <p:sp>
        <p:nvSpPr>
          <p:cNvPr id="4" name="Slide Number Placeholder 3"/>
          <p:cNvSpPr>
            <a:spLocks noGrp="1"/>
          </p:cNvSpPr>
          <p:nvPr>
            <p:ph type="sldNum" sz="quarter" idx="5"/>
          </p:nvPr>
        </p:nvSpPr>
        <p:spPr/>
        <p:txBody>
          <a:bodyPr/>
          <a:lstStyle/>
          <a:p>
            <a:fld id="{E80A4903-7EF3-44C4-B3A5-356E0A49B13F}" type="slidenum">
              <a:rPr lang="en-US" smtClean="0"/>
              <a:t>24</a:t>
            </a:fld>
            <a:endParaRPr lang="en-US"/>
          </a:p>
        </p:txBody>
      </p:sp>
    </p:spTree>
    <p:extLst>
      <p:ext uri="{BB962C8B-B14F-4D97-AF65-F5344CB8AC3E}">
        <p14:creationId xmlns:p14="http://schemas.microsoft.com/office/powerpoint/2010/main" val="2646002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effectLst/>
                <a:latin typeface="Google Sans Text"/>
              </a:rPr>
              <a:t>Dòng điện lớn:</a:t>
            </a:r>
            <a:r>
              <a:rPr lang="vi-VN">
                <a:effectLst/>
                <a:latin typeface="Google Sans Text"/>
              </a:rPr>
              <a:t> Theo định luật Ohm $I = U / R$, khi $R_{total}$ giảm xuống (ví dụ còn $20\Omega$ thay vì $60\Omega$), Transceiver phải bơm một dòng điện lớn gấp 3 lần bình thường để duy trì mức điện áp Dominant ($2V$ chênh lệch).</a:t>
            </a:r>
          </a:p>
          <a:p>
            <a:r>
              <a:rPr lang="vi-VN" b="1">
                <a:effectLst/>
                <a:latin typeface="Google Sans Text"/>
              </a:rPr>
              <a:t>Sụt áp:</a:t>
            </a:r>
            <a:r>
              <a:rPr lang="vi-VN">
                <a:effectLst/>
                <a:latin typeface="Google Sans Text"/>
              </a:rPr>
              <a:t> Hầu hết các chip Transceiver đều có giới hạn dòng đầu ra. Khi bị "vắt kiệt" dòng, mức điện áp Dominant sẽ bị sụt xuống (không giữ được mức $2V$), làm cho tín hiệu trở nên yếu ớt và dễ bị nhiễu đè bẹp.</a:t>
            </a:r>
          </a:p>
          <a:p>
            <a:r>
              <a:rPr lang="vi-VN" b="1">
                <a:effectLst/>
                <a:latin typeface="Google Sans Text"/>
              </a:rPr>
              <a:t>Nhiệt năng:</a:t>
            </a:r>
            <a:r>
              <a:rPr lang="vi-VN">
                <a:effectLst/>
                <a:latin typeface="Google Sans Text"/>
              </a:rPr>
              <a:t> $P = I^{2}R$. Dòng tăng khiến chip nóng lên nhanh chóng, có thể kích hoạt chế độ bảo vệ quá nhiệt và ngắt toàn bộ giao tiếp.</a:t>
            </a:r>
            <a:endParaRPr lang="en-US">
              <a:effectLst/>
              <a:latin typeface="Google Sans Text"/>
            </a:endParaRPr>
          </a:p>
          <a:p>
            <a:endParaRPr lang="en-US">
              <a:effectLst/>
              <a:latin typeface="Google Sans Text"/>
            </a:endParaRPr>
          </a:p>
          <a:p>
            <a:pPr>
              <a:buFont typeface="Arial" panose="020B0604020202020204" pitchFamily="34" charset="0"/>
              <a:buChar char="•"/>
            </a:pPr>
            <a:r>
              <a:rPr lang="vi-VN"/>
              <a:t>Điện trở kết thúc càng nhỏ (tải càng nặng, ví dụ chỉ 50 </a:t>
            </a:r>
            <a:r>
              <a:rPr lang="el-GR"/>
              <a:t>Ω </a:t>
            </a:r>
            <a:r>
              <a:rPr lang="vi-VN"/>
              <a:t>hoặc 1 điện trở 60 </a:t>
            </a:r>
            <a:r>
              <a:rPr lang="el-GR"/>
              <a:t>Ω </a:t>
            </a:r>
            <a:r>
              <a:rPr lang="vi-VN"/>
              <a:t>ở giữa), dòng điện mà transceiver phải cung cấp càng lớn (theo định luật Ohm: I = V / R). Hậu quả: Transceiver tiêu thụ công suất lớn hơn → chip nóng lên nhanh, đặc biệt khi bus dài hoặc nhiều bit dominant liên tục.</a:t>
            </a:r>
          </a:p>
          <a:p>
            <a:pPr>
              <a:buFont typeface="Arial" panose="020B0604020202020204" pitchFamily="34" charset="0"/>
              <a:buChar char="•"/>
            </a:pPr>
            <a:r>
              <a:rPr lang="vi-VN"/>
              <a:t>Điện áp dominant có thể bị kéo xuống yếu hơn mức chuẩn → các node khác khó nhận biết dominant rõ ràng.</a:t>
            </a:r>
          </a:p>
          <a:p>
            <a:pPr>
              <a:buFont typeface="Arial" panose="020B0604020202020204" pitchFamily="34" charset="0"/>
              <a:buChar char="•"/>
            </a:pPr>
            <a:r>
              <a:rPr lang="vi-VN"/>
              <a:t>Giảm tuổi thọ transceiver, tăng nguy cơ hỏng hóc.</a:t>
            </a:r>
          </a:p>
          <a:p>
            <a:endParaRPr lang="vi-VN">
              <a:effectLst/>
              <a:latin typeface="Google Sans Tex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25</a:t>
            </a:fld>
            <a:endParaRPr lang="en-US"/>
          </a:p>
        </p:txBody>
      </p:sp>
    </p:spTree>
    <p:extLst>
      <p:ext uri="{BB962C8B-B14F-4D97-AF65-F5344CB8AC3E}">
        <p14:creationId xmlns:p14="http://schemas.microsoft.com/office/powerpoint/2010/main" val="34927885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26</a:t>
            </a:fld>
            <a:endParaRPr lang="en-US"/>
          </a:p>
        </p:txBody>
      </p:sp>
    </p:spTree>
    <p:extLst>
      <p:ext uri="{BB962C8B-B14F-4D97-AF65-F5344CB8AC3E}">
        <p14:creationId xmlns:p14="http://schemas.microsoft.com/office/powerpoint/2010/main" val="2812293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a:solidFill>
                  <a:srgbClr val="0F1115"/>
                </a:solidFill>
                <a:effectLst/>
                <a:latin typeface="quote-cjk-patch"/>
              </a:rPr>
              <a:t>2. Quá trình truyền tín hiệu</a:t>
            </a:r>
          </a:p>
          <a:p>
            <a:pPr algn="l"/>
            <a:r>
              <a:rPr lang="vi-VN" b="0" i="0">
                <a:solidFill>
                  <a:srgbClr val="0F1115"/>
                </a:solidFill>
                <a:effectLst/>
                <a:latin typeface="quote-cjk-patch"/>
              </a:rPr>
              <a:t>Quá trình này được điều khiển bởi bộ thu phát CAN (CAN Transceiver) :</a:t>
            </a:r>
          </a:p>
          <a:p>
            <a:pPr algn="l">
              <a:buFont typeface="Arial" panose="020B0604020202020204" pitchFamily="34" charset="0"/>
              <a:buChar char="•"/>
            </a:pPr>
            <a:r>
              <a:rPr lang="vi-VN" b="1" i="0">
                <a:solidFill>
                  <a:srgbClr val="0F1115"/>
                </a:solidFill>
                <a:effectLst/>
                <a:latin typeface="quote-cjk-patch"/>
              </a:rPr>
              <a:t>Khi truyền bit Recessive (1)</a:t>
            </a:r>
            <a:r>
              <a:rPr lang="vi-VN" b="0" i="0">
                <a:solidFill>
                  <a:srgbClr val="0F1115"/>
                </a:solidFill>
                <a:effectLst/>
                <a:latin typeface="quote-cjk-patch"/>
              </a:rPr>
              <a:t>: Mạch phát ở chế độ thụ động. Điện trở kết cuối (Termination Resistor, thường 120</a:t>
            </a:r>
            <a:r>
              <a:rPr lang="el-GR" b="0" i="0">
                <a:solidFill>
                  <a:srgbClr val="0F1115"/>
                </a:solidFill>
                <a:effectLst/>
                <a:latin typeface="quote-cjk-patch"/>
              </a:rPr>
              <a:t>Ω </a:t>
            </a:r>
            <a:r>
              <a:rPr lang="vi-VN" b="0" i="0">
                <a:solidFill>
                  <a:srgbClr val="0F1115"/>
                </a:solidFill>
                <a:effectLst/>
                <a:latin typeface="quote-cjk-patch"/>
              </a:rPr>
              <a:t>ở hai đầu bus) kéo điện áp trên CANH và CANL về mức trung tính (2.5V). Sự chênh lệch giữa chúng gần như bằng 0, biểu thị bit 1 .</a:t>
            </a:r>
          </a:p>
          <a:p>
            <a:pPr algn="l">
              <a:buFont typeface="Arial" panose="020B0604020202020204" pitchFamily="34" charset="0"/>
              <a:buChar char="•"/>
            </a:pPr>
            <a:r>
              <a:rPr lang="vi-VN" b="1" i="0">
                <a:solidFill>
                  <a:srgbClr val="0F1115"/>
                </a:solidFill>
                <a:effectLst/>
                <a:latin typeface="quote-cjk-patch"/>
              </a:rPr>
              <a:t>Khi truyền bit Dominant (0)</a:t>
            </a:r>
            <a:r>
              <a:rPr lang="vi-VN" b="0" i="0">
                <a:solidFill>
                  <a:srgbClr val="0F1115"/>
                </a:solidFill>
                <a:effectLst/>
                <a:latin typeface="quote-cjk-patch"/>
              </a:rPr>
              <a:t>: Mạch phát được kích hoạt. Nó đẩy điện áp trên dây CANH lên cao và kéo dây CANL xuống thấp, tạo ra một chênh lệch điện áp rõ rệt (&gt;0.9V), biểu thị bit 0 .</a:t>
            </a:r>
          </a:p>
          <a:p>
            <a:pPr algn="l"/>
            <a:r>
              <a:rPr lang="vi-VN" b="0" i="0">
                <a:solidFill>
                  <a:srgbClr val="0F1115"/>
                </a:solidFill>
                <a:effectLst/>
                <a:latin typeface="quote-cjk-patch"/>
              </a:rPr>
              <a:t>Một điểm quan trọng trong cơ chế này là </a:t>
            </a:r>
            <a:r>
              <a:rPr lang="vi-VN" b="1" i="0">
                <a:solidFill>
                  <a:srgbClr val="0F1115"/>
                </a:solidFill>
                <a:effectLst/>
                <a:latin typeface="quote-cjk-patch"/>
              </a:rPr>
              <a:t>trạng thái Dominant luôn có thể "ghi đè" lên trạng thái Recessive</a:t>
            </a:r>
            <a:r>
              <a:rPr lang="vi-VN" b="0" i="0">
                <a:solidFill>
                  <a:srgbClr val="0F1115"/>
                </a:solidFill>
                <a:effectLst/>
                <a:latin typeface="quote-cjk-patch"/>
              </a:rPr>
              <a:t>. Nghĩa là nếu một node truyền bit Recessive (1) nhưng node khác truyền bit Dominant (0) trên cùng bus, điện áp vi sai tổng thể sẽ ở mức Dominant . Đặc tính này là nền tảng cho cơ chế phân xử (arbitration) không phá hủy dữ liệu của CAN: node nào gửi ID có ưu tiên cao hơn (nhiều bit 0 hơn) sẽ giành được quyền phát mà không làm gián đoạn dữ liệu</a:t>
            </a:r>
            <a:endParaRPr lang="en-US" b="0" i="0">
              <a:solidFill>
                <a:srgbClr val="0F1115"/>
              </a:solidFill>
              <a:effectLst/>
              <a:latin typeface="quote-cjk-patch"/>
            </a:endParaRPr>
          </a:p>
          <a:p>
            <a:pPr algn="l"/>
            <a:endParaRPr lang="en-US" b="0" i="0">
              <a:solidFill>
                <a:srgbClr val="0F1115"/>
              </a:solidFill>
              <a:effectLst/>
              <a:latin typeface="quote-cjk-patch"/>
            </a:endParaRPr>
          </a:p>
          <a:p>
            <a:r>
              <a:rPr lang="vi-VN" b="1">
                <a:effectLst/>
                <a:latin typeface="Google Sans"/>
              </a:rPr>
              <a:t>1. Triệt tiêu phản xạ tín hiệu (Signal Reflection)</a:t>
            </a:r>
          </a:p>
          <a:p>
            <a:r>
              <a:rPr lang="vi-VN">
                <a:effectLst/>
                <a:latin typeface="Google Sans Text"/>
              </a:rPr>
              <a:t>Hãy tưởng tượng tín hiệu điện chạy trên dây dẫn giống như một làn sóng nước trong máng. Khi sóng chạy đến điểm cuối của máng và va vào vách ngăn, nó sẽ dội ngược trở lại.</a:t>
            </a:r>
          </a:p>
          <a:p>
            <a:pPr>
              <a:buFont typeface="Arial" panose="020B0604020202020204" pitchFamily="34" charset="0"/>
              <a:buChar char="•"/>
            </a:pPr>
            <a:r>
              <a:rPr lang="vi-VN" b="1">
                <a:effectLst/>
                <a:latin typeface="Google Sans Text"/>
              </a:rPr>
              <a:t>Vấn đề:</a:t>
            </a:r>
            <a:r>
              <a:rPr lang="vi-VN">
                <a:effectLst/>
                <a:latin typeface="Google Sans Text"/>
              </a:rPr>
              <a:t> Trong dây dẫn điện, nếu không có điện trở kết thúc, tín hiệu khi đi đến cuối dây sẽ bị phản xạ ngược lại. Tín hiệu phản xạ này sẽ va chạm và làm nhiễu tín hiệu gốc, gây ra lỗi dữ liệu (bit error).</a:t>
            </a:r>
          </a:p>
          <a:p>
            <a:pPr>
              <a:buFont typeface="Arial" panose="020B0604020202020204" pitchFamily="34" charset="0"/>
              <a:buChar char="•"/>
            </a:pPr>
            <a:r>
              <a:rPr lang="vi-VN" b="1">
                <a:effectLst/>
                <a:latin typeface="Google Sans Text"/>
              </a:rPr>
              <a:t>Giải pháp:</a:t>
            </a:r>
            <a:r>
              <a:rPr lang="vi-VN">
                <a:effectLst/>
                <a:latin typeface="Google Sans Text"/>
              </a:rPr>
              <a:t> Điện trở $120\Omega$ đóng vai trò như một "hố đen" hấp thụ năng lượng của tín hiệu khi nó đến cuối đường truyền, ngăn không cho nó dội ngược lại.</a:t>
            </a:r>
          </a:p>
          <a:p>
            <a:r>
              <a:rPr lang="vi-VN" b="1">
                <a:effectLst/>
                <a:latin typeface="Google Sans"/>
              </a:rPr>
              <a:t>2. Thiết lập trạng thái "Lặn" (Recessive State)</a:t>
            </a:r>
          </a:p>
          <a:p>
            <a:r>
              <a:rPr lang="vi-VN">
                <a:effectLst/>
                <a:latin typeface="Google Sans Text"/>
              </a:rPr>
              <a:t>Giao thức CAN hoạt động dựa trên sự chênh lệch điện áp giữa hai dây </a:t>
            </a:r>
            <a:r>
              <a:rPr lang="vi-VN" b="1">
                <a:effectLst/>
                <a:latin typeface="Google Sans Text"/>
              </a:rPr>
              <a:t>CAN High</a:t>
            </a:r>
            <a:r>
              <a:rPr lang="vi-VN">
                <a:effectLst/>
                <a:latin typeface="Google Sans Text"/>
              </a:rPr>
              <a:t> và </a:t>
            </a:r>
            <a:r>
              <a:rPr lang="vi-VN" b="1">
                <a:effectLst/>
                <a:latin typeface="Google Sans Text"/>
              </a:rPr>
              <a:t>CAN Low</a:t>
            </a:r>
            <a:r>
              <a:rPr lang="vi-VN">
                <a:effectLst/>
                <a:latin typeface="Google Sans Text"/>
              </a:rPr>
              <a:t>.</a:t>
            </a:r>
          </a:p>
          <a:p>
            <a:pPr>
              <a:buFont typeface="Arial" panose="020B0604020202020204" pitchFamily="34" charset="0"/>
              <a:buChar char="•"/>
            </a:pPr>
            <a:r>
              <a:rPr lang="vi-VN" b="1">
                <a:effectLst/>
                <a:latin typeface="Google Sans Text"/>
              </a:rPr>
              <a:t>Trạng thái Trội (Dominant - bit 0):</a:t>
            </a:r>
            <a:r>
              <a:rPr lang="vi-VN">
                <a:effectLst/>
                <a:latin typeface="Google Sans Text"/>
              </a:rPr>
              <a:t> Các bộ điều khiển tích cực đẩy điện áp trên hai dây tách biệt nhau ra.</a:t>
            </a:r>
          </a:p>
          <a:p>
            <a:pPr>
              <a:buFont typeface="Arial" panose="020B0604020202020204" pitchFamily="34" charset="0"/>
              <a:buChar char="•"/>
            </a:pPr>
            <a:r>
              <a:rPr lang="vi-VN" b="1">
                <a:effectLst/>
                <a:latin typeface="Google Sans Text"/>
              </a:rPr>
              <a:t>Trạng thái Lặn (Recessive - bit 1):</a:t>
            </a:r>
            <a:r>
              <a:rPr lang="vi-VN">
                <a:effectLst/>
                <a:latin typeface="Google Sans Text"/>
              </a:rPr>
              <a:t> Các bộ điều khiển ngừng tác động. Lúc này, chính hai con điện trở này giúp xả hết điện tích dư thừa và kéo điện áp trên hai dây CAN High và CAN Low về trạng thái cân bằng (xấp xỉ </a:t>
            </a:r>
            <a:r>
              <a:rPr lang="vi-VN" b="1">
                <a:effectLst/>
                <a:latin typeface="Google Sans Text"/>
              </a:rPr>
              <a:t>2.5V</a:t>
            </a:r>
            <a:r>
              <a:rPr lang="vi-VN">
                <a:effectLst/>
                <a:latin typeface="Google Sans Text"/>
              </a:rPr>
              <a:t>).</a:t>
            </a:r>
          </a:p>
          <a:p>
            <a:pPr>
              <a:buFont typeface="Arial" panose="020B0604020202020204" pitchFamily="34" charset="0"/>
              <a:buChar char="•"/>
            </a:pPr>
            <a:r>
              <a:rPr lang="vi-VN" b="1">
                <a:effectLst/>
                <a:latin typeface="Google Sans Text"/>
              </a:rPr>
              <a:t>Hệ quả:</a:t>
            </a:r>
            <a:r>
              <a:rPr lang="vi-VN">
                <a:effectLst/>
                <a:latin typeface="Google Sans Text"/>
              </a:rPr>
              <a:t> Nếu không có điện trở, khi chuyển từ bit 0 sang bit 1, điện áp sẽ không giảm xuống đủ nhanh, khiến mạng "kẹt" ở bit 0 và không thể truyền dữ liệu chính xác.</a:t>
            </a:r>
          </a:p>
          <a:p>
            <a:pPr algn="l"/>
            <a:endParaRPr lang="vi-VN" b="0" i="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27</a:t>
            </a:fld>
            <a:endParaRPr lang="en-US"/>
          </a:p>
        </p:txBody>
      </p:sp>
    </p:spTree>
    <p:extLst>
      <p:ext uri="{BB962C8B-B14F-4D97-AF65-F5344CB8AC3E}">
        <p14:creationId xmlns:p14="http://schemas.microsoft.com/office/powerpoint/2010/main" val="3085466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a:solidFill>
                  <a:srgbClr val="0F1115"/>
                </a:solidFill>
                <a:effectLst/>
                <a:latin typeface="quote-cjk-patch"/>
              </a:rPr>
              <a:t>Nếu chỉ cần tổng trở là 60</a:t>
            </a:r>
            <a:r>
              <a:rPr lang="el-GR" b="0" i="0">
                <a:solidFill>
                  <a:srgbClr val="0F1115"/>
                </a:solidFill>
                <a:effectLst/>
                <a:latin typeface="quote-cjk-patch"/>
              </a:rPr>
              <a:t>Ω (</a:t>
            </a:r>
            <a:r>
              <a:rPr lang="vi-VN" b="0" i="0">
                <a:solidFill>
                  <a:srgbClr val="0F1115"/>
                </a:solidFill>
                <a:effectLst/>
                <a:latin typeface="quote-cjk-patch"/>
              </a:rPr>
              <a:t>vì 2 điện trở 120</a:t>
            </a:r>
            <a:r>
              <a:rPr lang="el-GR" b="0" i="0">
                <a:solidFill>
                  <a:srgbClr val="0F1115"/>
                </a:solidFill>
                <a:effectLst/>
                <a:latin typeface="quote-cjk-patch"/>
              </a:rPr>
              <a:t>Ω </a:t>
            </a:r>
            <a:r>
              <a:rPr lang="vi-VN" b="0" i="0">
                <a:solidFill>
                  <a:srgbClr val="0F1115"/>
                </a:solidFill>
                <a:effectLst/>
                <a:latin typeface="quote-cjk-patch"/>
              </a:rPr>
              <a:t>song song ra 60</a:t>
            </a:r>
            <a:r>
              <a:rPr lang="el-GR" b="0" i="0">
                <a:solidFill>
                  <a:srgbClr val="0F1115"/>
                </a:solidFill>
                <a:effectLst/>
                <a:latin typeface="quote-cjk-patch"/>
              </a:rPr>
              <a:t>Ω) </a:t>
            </a:r>
            <a:r>
              <a:rPr lang="vi-VN" b="0" i="0">
                <a:solidFill>
                  <a:srgbClr val="0F1115"/>
                </a:solidFill>
                <a:effectLst/>
                <a:latin typeface="quote-cjk-patch"/>
              </a:rPr>
              <a:t>thì về mặt lý thuyết, bạn có thể đấu </a:t>
            </a:r>
            <a:r>
              <a:rPr lang="vi-VN" b="1" i="0">
                <a:solidFill>
                  <a:srgbClr val="0F1115"/>
                </a:solidFill>
                <a:effectLst/>
                <a:latin typeface="quote-cjk-patch"/>
              </a:rPr>
              <a:t>một điện trở 60</a:t>
            </a:r>
            <a:r>
              <a:rPr lang="el-GR" b="1" i="0">
                <a:solidFill>
                  <a:srgbClr val="0F1115"/>
                </a:solidFill>
                <a:effectLst/>
                <a:latin typeface="quote-cjk-patch"/>
              </a:rPr>
              <a:t>Ω</a:t>
            </a:r>
            <a:r>
              <a:rPr lang="el-GR" b="0" i="0">
                <a:solidFill>
                  <a:srgbClr val="0F1115"/>
                </a:solidFill>
                <a:effectLst/>
                <a:latin typeface="quote-cjk-patch"/>
              </a:rPr>
              <a:t> </a:t>
            </a:r>
            <a:r>
              <a:rPr lang="vi-VN" b="0" i="0">
                <a:solidFill>
                  <a:srgbClr val="0F1115"/>
                </a:solidFill>
                <a:effectLst/>
                <a:latin typeface="quote-cjk-patch"/>
              </a:rPr>
              <a:t>ở bất kỳ đâu trên bus để tiết kiệm linh kiện. Tuy nhiên, trong thực tế, </a:t>
            </a:r>
            <a:r>
              <a:rPr lang="vi-VN" b="1" i="0">
                <a:solidFill>
                  <a:srgbClr val="0F1115"/>
                </a:solidFill>
                <a:effectLst/>
                <a:latin typeface="quote-cjk-patch"/>
              </a:rPr>
              <a:t>bắt buộc phải dùng 2 con 120</a:t>
            </a:r>
            <a:r>
              <a:rPr lang="el-GR" b="1" i="0">
                <a:solidFill>
                  <a:srgbClr val="0F1115"/>
                </a:solidFill>
                <a:effectLst/>
                <a:latin typeface="quote-cjk-patch"/>
              </a:rPr>
              <a:t>Ω </a:t>
            </a:r>
            <a:r>
              <a:rPr lang="vi-VN" b="1" i="0">
                <a:solidFill>
                  <a:srgbClr val="0F1115"/>
                </a:solidFill>
                <a:effectLst/>
                <a:latin typeface="quote-cjk-patch"/>
              </a:rPr>
              <a:t>ở 2 đầu</a:t>
            </a:r>
            <a:r>
              <a:rPr lang="vi-VN" b="0" i="0">
                <a:solidFill>
                  <a:srgbClr val="0F1115"/>
                </a:solidFill>
                <a:effectLst/>
                <a:latin typeface="quote-cjk-patch"/>
              </a:rPr>
              <a:t> vì lý do liên quan đến </a:t>
            </a:r>
            <a:r>
              <a:rPr lang="vi-VN" b="1" i="0">
                <a:solidFill>
                  <a:srgbClr val="0F1115"/>
                </a:solidFill>
                <a:effectLst/>
                <a:latin typeface="quote-cjk-patch"/>
              </a:rPr>
              <a:t>vị trí vật lý</a:t>
            </a:r>
            <a:r>
              <a:rPr lang="vi-VN" b="0" i="0">
                <a:solidFill>
                  <a:srgbClr val="0F1115"/>
                </a:solidFill>
                <a:effectLst/>
                <a:latin typeface="quote-cjk-patch"/>
              </a:rPr>
              <a:t> và </a:t>
            </a:r>
            <a:r>
              <a:rPr lang="vi-VN" b="1" i="0">
                <a:solidFill>
                  <a:srgbClr val="0F1115"/>
                </a:solidFill>
                <a:effectLst/>
                <a:latin typeface="quote-cjk-patch"/>
              </a:rPr>
              <a:t>sự di chuyển của sóng điện từ</a:t>
            </a:r>
            <a:r>
              <a:rPr lang="vi-VN" b="0" i="0">
                <a:solidFill>
                  <a:srgbClr val="0F1115"/>
                </a:solidFill>
                <a:effectLst/>
                <a:latin typeface="quote-cjk-patch"/>
              </a:rPr>
              <a:t>.</a:t>
            </a:r>
          </a:p>
          <a:p>
            <a:pPr algn="l"/>
            <a:r>
              <a:rPr lang="vi-VN" b="0" i="0">
                <a:solidFill>
                  <a:srgbClr val="0F1115"/>
                </a:solidFill>
                <a:effectLst/>
                <a:latin typeface="quote-cjk-patch"/>
              </a:rPr>
              <a:t>Dưới đây là 3 lý do chính giải thích tại sao phải đặt điện trở ở hai đầu tận cùng:</a:t>
            </a:r>
          </a:p>
          <a:p>
            <a:pPr algn="l"/>
            <a:r>
              <a:rPr lang="vi-VN" b="1">
                <a:solidFill>
                  <a:srgbClr val="0F1115"/>
                </a:solidFill>
                <a:effectLst/>
                <a:latin typeface="quote-cjk-patch"/>
              </a:rPr>
              <a:t>1. Ngăn chặn phản xạ tại cả hai điểm cuối</a:t>
            </a:r>
          </a:p>
          <a:p>
            <a:pPr algn="l"/>
            <a:r>
              <a:rPr lang="vi-VN" b="0" i="0">
                <a:solidFill>
                  <a:srgbClr val="0F1115"/>
                </a:solidFill>
                <a:effectLst/>
                <a:latin typeface="quote-cjk-patch"/>
              </a:rPr>
              <a:t>Hãy tưởng tượng bus CAN là một </a:t>
            </a:r>
            <a:r>
              <a:rPr lang="vi-VN" b="1" i="0">
                <a:solidFill>
                  <a:srgbClr val="0F1115"/>
                </a:solidFill>
                <a:effectLst/>
                <a:latin typeface="quote-cjk-patch"/>
              </a:rPr>
              <a:t>đường ống dẫn sóng</a:t>
            </a:r>
            <a:r>
              <a:rPr lang="vi-VN" b="0" i="0">
                <a:solidFill>
                  <a:srgbClr val="0F1115"/>
                </a:solidFill>
                <a:effectLst/>
                <a:latin typeface="quote-cjk-patch"/>
              </a:rPr>
              <a:t> (giống như một sợi dây thừng dài).</a:t>
            </a:r>
          </a:p>
          <a:p>
            <a:pPr algn="l">
              <a:buFont typeface="Arial" panose="020B0604020202020204" pitchFamily="34" charset="0"/>
              <a:buChar char="•"/>
            </a:pPr>
            <a:r>
              <a:rPr lang="vi-VN" b="0" i="0">
                <a:solidFill>
                  <a:srgbClr val="0F1115"/>
                </a:solidFill>
                <a:effectLst/>
                <a:latin typeface="quote-cjk-patch"/>
              </a:rPr>
              <a:t>Nếu bạn chỉ đặt một điện trở 60</a:t>
            </a:r>
            <a:r>
              <a:rPr lang="el-GR" b="0" i="0">
                <a:solidFill>
                  <a:srgbClr val="0F1115"/>
                </a:solidFill>
                <a:effectLst/>
                <a:latin typeface="quote-cjk-patch"/>
              </a:rPr>
              <a:t>Ω </a:t>
            </a:r>
            <a:r>
              <a:rPr lang="vi-VN" b="0" i="0">
                <a:solidFill>
                  <a:srgbClr val="0F1115"/>
                </a:solidFill>
                <a:effectLst/>
                <a:latin typeface="quote-cjk-patch"/>
              </a:rPr>
              <a:t>ở giữa bus (hoặc ở một đầu):</a:t>
            </a:r>
          </a:p>
          <a:p>
            <a:pPr marL="742950" lvl="1" indent="-285750" algn="l">
              <a:buFont typeface="Arial" panose="020B0604020202020204" pitchFamily="34" charset="0"/>
              <a:buChar char="•"/>
            </a:pPr>
            <a:r>
              <a:rPr lang="vi-VN" b="0" i="0">
                <a:solidFill>
                  <a:srgbClr val="0F1115"/>
                </a:solidFill>
                <a:effectLst/>
                <a:latin typeface="quote-cjk-patch"/>
              </a:rPr>
              <a:t>Tín hiệu từ node gửi sẽ chạy dọc theo dây.</a:t>
            </a:r>
          </a:p>
          <a:p>
            <a:pPr marL="742950" lvl="1" indent="-285750" algn="l">
              <a:buFont typeface="Arial" panose="020B0604020202020204" pitchFamily="34" charset="0"/>
              <a:buChar char="•"/>
            </a:pPr>
            <a:r>
              <a:rPr lang="vi-VN" b="0" i="0">
                <a:solidFill>
                  <a:srgbClr val="0F1115"/>
                </a:solidFill>
                <a:effectLst/>
                <a:latin typeface="quote-cjk-patch"/>
              </a:rPr>
              <a:t>Khi đến </a:t>
            </a:r>
            <a:r>
              <a:rPr lang="vi-VN" b="1" i="0">
                <a:solidFill>
                  <a:srgbClr val="0F1115"/>
                </a:solidFill>
                <a:effectLst/>
                <a:latin typeface="quote-cjk-patch"/>
              </a:rPr>
              <a:t>đầu không có điện trở</a:t>
            </a:r>
            <a:r>
              <a:rPr lang="vi-VN" b="0" i="0">
                <a:solidFill>
                  <a:srgbClr val="0F1115"/>
                </a:solidFill>
                <a:effectLst/>
                <a:latin typeface="quote-cjk-patch"/>
              </a:rPr>
              <a:t> (đầu hở mạch), sóng tín hiệu sẽ không có nơi để "tiêu tán" năng lượng. Giống như sóng nước đập vào vách đá, nó sẽ </a:t>
            </a:r>
            <a:r>
              <a:rPr lang="vi-VN" b="1" i="0">
                <a:solidFill>
                  <a:srgbClr val="0F1115"/>
                </a:solidFill>
                <a:effectLst/>
                <a:latin typeface="quote-cjk-patch"/>
              </a:rPr>
              <a:t>bật ngược trở lại</a:t>
            </a:r>
            <a:r>
              <a:rPr lang="vi-VN" b="0" i="0">
                <a:solidFill>
                  <a:srgbClr val="0F1115"/>
                </a:solidFill>
                <a:effectLst/>
                <a:latin typeface="quote-cjk-patch"/>
              </a:rPr>
              <a:t> (phản xạ toàn phần) với cùng biên độ.</a:t>
            </a:r>
          </a:p>
          <a:p>
            <a:pPr marL="742950" lvl="1" indent="-285750" algn="l">
              <a:buFont typeface="Arial" panose="020B0604020202020204" pitchFamily="34" charset="0"/>
              <a:buChar char="•"/>
            </a:pPr>
            <a:r>
              <a:rPr lang="vi-VN" b="0" i="0">
                <a:solidFill>
                  <a:srgbClr val="0F1115"/>
                </a:solidFill>
                <a:effectLst/>
                <a:latin typeface="quote-cjk-patch"/>
              </a:rPr>
              <a:t>Sóng phản xạ này chạy ngược về phương tiện, đâm đầu vào tín hiệu đang được truyền, gây ra </a:t>
            </a:r>
            <a:r>
              <a:rPr lang="vi-VN" b="1" i="0">
                <a:solidFill>
                  <a:srgbClr val="0F1115"/>
                </a:solidFill>
                <a:effectLst/>
                <a:latin typeface="quote-cjk-patch"/>
              </a:rPr>
              <a:t>gợn sóng (ringing)</a:t>
            </a:r>
            <a:r>
              <a:rPr lang="vi-VN" b="0" i="0">
                <a:solidFill>
                  <a:srgbClr val="0F1115"/>
                </a:solidFill>
                <a:effectLst/>
                <a:latin typeface="quote-cjk-patch"/>
              </a:rPr>
              <a:t> và </a:t>
            </a:r>
            <a:r>
              <a:rPr lang="vi-VN" b="1" i="0">
                <a:solidFill>
                  <a:srgbClr val="0F1115"/>
                </a:solidFill>
                <a:effectLst/>
                <a:latin typeface="quote-cjk-patch"/>
              </a:rPr>
              <a:t>nhiễu giao thoa</a:t>
            </a:r>
            <a:r>
              <a:rPr lang="vi-VN" b="0" i="0">
                <a:solidFill>
                  <a:srgbClr val="0F1115"/>
                </a:solidFill>
                <a:effectLst/>
                <a:latin typeface="quote-cjk-patch"/>
              </a:rPr>
              <a:t> (ISI - Inter-Symbol Interference).</a:t>
            </a:r>
          </a:p>
          <a:p>
            <a:pPr algn="l"/>
            <a:r>
              <a:rPr lang="vi-VN" b="1" i="0">
                <a:solidFill>
                  <a:srgbClr val="0F1115"/>
                </a:solidFill>
                <a:effectLst/>
                <a:latin typeface="quote-cjk-patch"/>
              </a:rPr>
              <a:t>Giải pháp:</a:t>
            </a:r>
            <a:r>
              <a:rPr lang="vi-VN" b="0" i="0">
                <a:solidFill>
                  <a:srgbClr val="0F1115"/>
                </a:solidFill>
                <a:effectLst/>
                <a:latin typeface="quote-cjk-patch"/>
              </a:rPr>
              <a:t> Phải đặt điện trở ở </a:t>
            </a:r>
            <a:r>
              <a:rPr lang="vi-VN" b="1" i="0">
                <a:solidFill>
                  <a:srgbClr val="0F1115"/>
                </a:solidFill>
                <a:effectLst/>
                <a:latin typeface="quote-cjk-patch"/>
              </a:rPr>
              <a:t>cả hai đầu mút</a:t>
            </a:r>
            <a:r>
              <a:rPr lang="vi-VN" b="0" i="0">
                <a:solidFill>
                  <a:srgbClr val="0F1115"/>
                </a:solidFill>
                <a:effectLst/>
                <a:latin typeface="quote-cjk-patch"/>
              </a:rPr>
              <a:t> của đường dây. Nhờ vậy, bất kể sóng tín hiệu chạy theo hướng nào, khi đến đầu cuối (Endpoint) nó đều gặp điện trở phù hợp với trở kháng đặc tính của dây và bị </a:t>
            </a:r>
            <a:r>
              <a:rPr lang="vi-VN" b="1" i="0">
                <a:solidFill>
                  <a:srgbClr val="0F1115"/>
                </a:solidFill>
                <a:effectLst/>
                <a:latin typeface="quote-cjk-patch"/>
              </a:rPr>
              <a:t>hấp thụ triệt để</a:t>
            </a:r>
            <a:r>
              <a:rPr lang="vi-VN" b="0" i="0">
                <a:solidFill>
                  <a:srgbClr val="0F1115"/>
                </a:solidFill>
                <a:effectLst/>
                <a:latin typeface="quote-cjk-patch"/>
              </a:rPr>
              <a:t>, không có sóng phản xạ quay lại.</a:t>
            </a:r>
          </a:p>
          <a:p>
            <a:pPr algn="l"/>
            <a:r>
              <a:rPr lang="vi-VN" b="1">
                <a:solidFill>
                  <a:srgbClr val="0F1115"/>
                </a:solidFill>
                <a:effectLst/>
                <a:latin typeface="quote-cjk-patch"/>
              </a:rPr>
              <a:t>2. Đảm bảo tính đối xứng của cặp dây xoắn</a:t>
            </a:r>
          </a:p>
          <a:p>
            <a:pPr algn="l"/>
            <a:r>
              <a:rPr lang="vi-VN" b="0" i="0">
                <a:solidFill>
                  <a:srgbClr val="0F1115"/>
                </a:solidFill>
                <a:effectLst/>
                <a:latin typeface="quote-cjk-patch"/>
              </a:rPr>
              <a:t>Tín hiệu vi sai hoạt động dựa trên sự </a:t>
            </a:r>
            <a:r>
              <a:rPr lang="vi-VN" b="1" i="0">
                <a:solidFill>
                  <a:srgbClr val="0F1115"/>
                </a:solidFill>
                <a:effectLst/>
                <a:latin typeface="quote-cjk-patch"/>
              </a:rPr>
              <a:t>cân bằng</a:t>
            </a:r>
            <a:r>
              <a:rPr lang="vi-VN" b="0" i="0">
                <a:solidFill>
                  <a:srgbClr val="0F1115"/>
                </a:solidFill>
                <a:effectLst/>
                <a:latin typeface="quote-cjk-patch"/>
              </a:rPr>
              <a:t> giữa hai dây CAN_High và CAN_Low.</a:t>
            </a:r>
          </a:p>
          <a:p>
            <a:pPr algn="l">
              <a:buFont typeface="Arial" panose="020B0604020202020204" pitchFamily="34" charset="0"/>
              <a:buChar char="•"/>
            </a:pPr>
            <a:r>
              <a:rPr lang="vi-VN" b="1" i="0">
                <a:solidFill>
                  <a:srgbClr val="0F1115"/>
                </a:solidFill>
                <a:effectLst/>
                <a:latin typeface="quote-cjk-patch"/>
              </a:rPr>
              <a:t>Nếu chỉ dùng 1 điện trở:</a:t>
            </a:r>
            <a:r>
              <a:rPr lang="vi-VN" b="0" i="0">
                <a:solidFill>
                  <a:srgbClr val="0F1115"/>
                </a:solidFill>
                <a:effectLst/>
                <a:latin typeface="quote-cjk-patch"/>
              </a:rPr>
              <a:t> Điện trở này sẽ tạo ra một điểm mất cân bằng về mặt hình học (tô pô). Một đầu của bus sẽ có kết cuối, đầu kia thì không. Điều này làm cho điện áp Common Mode (điện áp nền) bị lệch dọc theo chiều dài dây dẫn, làm suy giảm khả năng chống nhiễu của tín hiệu vi sai.</a:t>
            </a:r>
          </a:p>
          <a:p>
            <a:pPr algn="l">
              <a:buFont typeface="Arial" panose="020B0604020202020204" pitchFamily="34" charset="0"/>
              <a:buChar char="•"/>
            </a:pPr>
            <a:r>
              <a:rPr lang="vi-VN" b="1" i="0">
                <a:solidFill>
                  <a:srgbClr val="0F1115"/>
                </a:solidFill>
                <a:effectLst/>
                <a:latin typeface="quote-cjk-patch"/>
              </a:rPr>
              <a:t>Khi dùng 2 điện trở ở 2 đầu:</a:t>
            </a:r>
            <a:r>
              <a:rPr lang="vi-VN" b="0" i="0">
                <a:solidFill>
                  <a:srgbClr val="0F1115"/>
                </a:solidFill>
                <a:effectLst/>
                <a:latin typeface="quote-cjk-patch"/>
              </a:rPr>
              <a:t> Cấu trúc bus trở nên </a:t>
            </a:r>
            <a:r>
              <a:rPr lang="vi-VN" b="1" i="0">
                <a:solidFill>
                  <a:srgbClr val="0F1115"/>
                </a:solidFill>
                <a:effectLst/>
                <a:latin typeface="quote-cjk-patch"/>
              </a:rPr>
              <a:t>đối xứng tuyệt đối</a:t>
            </a:r>
            <a:r>
              <a:rPr lang="vi-VN" b="0" i="0">
                <a:solidFill>
                  <a:srgbClr val="0F1115"/>
                </a:solidFill>
                <a:effectLst/>
                <a:latin typeface="quote-cjk-patch"/>
              </a:rPr>
              <a:t>. Cả hai đầu đều có tải giống hệt nhau so với đất (GND) và so với nguồn. Điều này giữ cho điện áp trung bình (Common Mode) ổn định ở mức 2.5V trên toàn bộ mạng.</a:t>
            </a:r>
          </a:p>
          <a:p>
            <a:pPr algn="l"/>
            <a:r>
              <a:rPr lang="vi-VN" b="1">
                <a:solidFill>
                  <a:srgbClr val="0F1115"/>
                </a:solidFill>
                <a:effectLst/>
                <a:latin typeface="quote-cjk-patch"/>
              </a:rPr>
              <a:t>3. Cấu trúc liên kết tuyến tính (Bus Topology)</a:t>
            </a:r>
          </a:p>
          <a:p>
            <a:pPr algn="l"/>
            <a:r>
              <a:rPr lang="vi-VN" b="0" i="0">
                <a:solidFill>
                  <a:srgbClr val="0F1115"/>
                </a:solidFill>
                <a:effectLst/>
                <a:latin typeface="quote-cjk-patch"/>
              </a:rPr>
              <a:t>Yêu cầu 2 điện trở ở 2 đầu chính là cách để ép buộc hệ thống CAN phải được đấu nối theo </a:t>
            </a:r>
            <a:r>
              <a:rPr lang="vi-VN" b="1" i="0">
                <a:solidFill>
                  <a:srgbClr val="0F1115"/>
                </a:solidFill>
                <a:effectLst/>
                <a:latin typeface="quote-cjk-patch"/>
              </a:rPr>
              <a:t>cấu hình bus tuyến tính</a:t>
            </a:r>
            <a:r>
              <a:rPr lang="vi-VN" b="0" i="0">
                <a:solidFill>
                  <a:srgbClr val="0F1115"/>
                </a:solidFill>
                <a:effectLst/>
                <a:latin typeface="quote-cjk-patch"/>
              </a:rPr>
              <a:t> (Linear Bus), chứ không phải cấu hình hình sao (Star) hoặc nhánh nhánh dài (Stub).</a:t>
            </a:r>
          </a:p>
          <a:p>
            <a:pPr algn="l">
              <a:buFont typeface="Arial" panose="020B0604020202020204" pitchFamily="34" charset="0"/>
              <a:buChar char="•"/>
            </a:pPr>
            <a:r>
              <a:rPr lang="vi-VN" b="1" i="0">
                <a:solidFill>
                  <a:srgbClr val="0F1115"/>
                </a:solidFill>
                <a:effectLst/>
                <a:latin typeface="quote-cjk-patch"/>
              </a:rPr>
              <a:t>Khi bạn gắn 2 điện trở đúng cách:</a:t>
            </a:r>
            <a:r>
              <a:rPr lang="vi-VN" b="0" i="0">
                <a:solidFill>
                  <a:srgbClr val="0F1115"/>
                </a:solidFill>
                <a:effectLst/>
                <a:latin typeface="quote-cjk-patch"/>
              </a:rPr>
              <a:t> Bạn đang xác định rõ đâu là điểm đầu và điểm cuối của mạng. Tất cả các node (ECU, cảm biến) phải được gắn vào giữa hai điểm này thông qua dây nhánh (stub) ngắn nhất có thể.</a:t>
            </a:r>
          </a:p>
          <a:p>
            <a:pPr algn="l">
              <a:buFont typeface="Arial" panose="020B0604020202020204" pitchFamily="34" charset="0"/>
              <a:buChar char="•"/>
            </a:pPr>
            <a:r>
              <a:rPr lang="vi-VN" b="1" i="0">
                <a:solidFill>
                  <a:srgbClr val="0F1115"/>
                </a:solidFill>
                <a:effectLst/>
                <a:latin typeface="quote-cjk-patch"/>
              </a:rPr>
              <a:t>Hậu quả nếu đặt sai:</a:t>
            </a:r>
            <a:r>
              <a:rPr lang="vi-VN" b="0" i="0">
                <a:solidFill>
                  <a:srgbClr val="0F1115"/>
                </a:solidFill>
                <a:effectLst/>
                <a:latin typeface="quote-cjk-patch"/>
              </a:rPr>
              <a:t> Nếu bạn đặt cả 2 điện trở ở một đầu (ví dụ gắn chùm 2 con cạnh nhau) hoặc chỉ dùng 1 con 60</a:t>
            </a:r>
            <a:r>
              <a:rPr lang="el-GR" b="0" i="0">
                <a:solidFill>
                  <a:srgbClr val="0F1115"/>
                </a:solidFill>
                <a:effectLst/>
                <a:latin typeface="quote-cjk-patch"/>
              </a:rPr>
              <a:t>Ω </a:t>
            </a:r>
            <a:r>
              <a:rPr lang="vi-VN" b="0" i="0">
                <a:solidFill>
                  <a:srgbClr val="0F1115"/>
                </a:solidFill>
                <a:effectLst/>
                <a:latin typeface="quote-cjk-patch"/>
              </a:rPr>
              <a:t>ở giữa, phần dây thừa ra sau điểm kết cuối sẽ hoạt động như một </a:t>
            </a:r>
            <a:r>
              <a:rPr lang="vi-VN" b="1" i="0">
                <a:solidFill>
                  <a:srgbClr val="0F1115"/>
                </a:solidFill>
                <a:effectLst/>
                <a:latin typeface="quote-cjk-patch"/>
              </a:rPr>
              <a:t>anten phát xạ</a:t>
            </a:r>
            <a:r>
              <a:rPr lang="vi-VN" b="0" i="0">
                <a:solidFill>
                  <a:srgbClr val="0F1115"/>
                </a:solidFill>
                <a:effectLst/>
                <a:latin typeface="quote-cjk-patch"/>
              </a:rPr>
              <a:t> (gây nhiễu EMI) và là nguồn gây phản xạ tín hiệu liên tục.</a:t>
            </a:r>
          </a:p>
          <a:p>
            <a:pPr algn="l"/>
            <a:r>
              <a:rPr lang="vi-VN" b="1">
                <a:solidFill>
                  <a:srgbClr val="0F1115"/>
                </a:solidFill>
                <a:effectLst/>
                <a:latin typeface="quote-cjk-patch"/>
              </a:rPr>
              <a:t>Tóm tắt: So sánh cách đấu</a:t>
            </a:r>
          </a:p>
          <a:p>
            <a:pPr algn="l"/>
            <a:r>
              <a:rPr lang="vi-VN" b="0" i="0">
                <a:solidFill>
                  <a:srgbClr val="0F1115"/>
                </a:solidFill>
                <a:effectLst/>
                <a:latin typeface="quote-cjk-patch"/>
              </a:rPr>
              <a:t>Cách đấuKết quảHiện tượng</a:t>
            </a:r>
            <a:r>
              <a:rPr lang="vi-VN" b="1" i="0">
                <a:solidFill>
                  <a:srgbClr val="0F1115"/>
                </a:solidFill>
                <a:effectLst/>
                <a:latin typeface="quote-cjk-patch"/>
              </a:rPr>
              <a:t>Đúng chuẩn:</a:t>
            </a:r>
            <a:r>
              <a:rPr lang="vi-VN" b="0" i="0">
                <a:solidFill>
                  <a:srgbClr val="0F1115"/>
                </a:solidFill>
                <a:effectLst/>
                <a:latin typeface="quote-cjk-patch"/>
              </a:rPr>
              <a:t> 2 con 120</a:t>
            </a:r>
            <a:r>
              <a:rPr lang="el-GR" b="0" i="0">
                <a:solidFill>
                  <a:srgbClr val="0F1115"/>
                </a:solidFill>
                <a:effectLst/>
                <a:latin typeface="quote-cjk-patch"/>
              </a:rPr>
              <a:t>Ω </a:t>
            </a:r>
            <a:r>
              <a:rPr lang="vi-VN" b="0" i="0">
                <a:solidFill>
                  <a:srgbClr val="0F1115"/>
                </a:solidFill>
                <a:effectLst/>
                <a:latin typeface="quote-cjk-patch"/>
              </a:rPr>
              <a:t>ở 2 đầu xa nhấtSóng bị hấp thụ hoàn toàn ở cả hai đầu. Mạng ổn định, chống nhiễu tốt.Hệ thống hoạt động bền bỉ ở tốc độ cao, khoảng cách xa.</a:t>
            </a:r>
            <a:r>
              <a:rPr lang="vi-VN" b="1" i="0">
                <a:solidFill>
                  <a:srgbClr val="0F1115"/>
                </a:solidFill>
                <a:effectLst/>
                <a:latin typeface="quote-cjk-patch"/>
              </a:rPr>
              <a:t>Sai:</a:t>
            </a:r>
            <a:r>
              <a:rPr lang="vi-VN" b="0" i="0">
                <a:solidFill>
                  <a:srgbClr val="0F1115"/>
                </a:solidFill>
                <a:effectLst/>
                <a:latin typeface="quote-cjk-patch"/>
              </a:rPr>
              <a:t> 1 con 60</a:t>
            </a:r>
            <a:r>
              <a:rPr lang="el-GR" b="0" i="0">
                <a:solidFill>
                  <a:srgbClr val="0F1115"/>
                </a:solidFill>
                <a:effectLst/>
                <a:latin typeface="quote-cjk-patch"/>
              </a:rPr>
              <a:t>Ω </a:t>
            </a:r>
            <a:r>
              <a:rPr lang="vi-VN" b="0" i="0">
                <a:solidFill>
                  <a:srgbClr val="0F1115"/>
                </a:solidFill>
                <a:effectLst/>
                <a:latin typeface="quote-cjk-patch"/>
              </a:rPr>
              <a:t>ở giữa (hoặc 1 đầu)Đầu hở không có kết cuối gây phản xạ toàn phần.Lỗi lặt vặt (sporadic errors), bus off khi tải nặng, sóng dạng vuông bị "nhô" gai.</a:t>
            </a:r>
            <a:r>
              <a:rPr lang="vi-VN" b="1" i="0">
                <a:solidFill>
                  <a:srgbClr val="0F1115"/>
                </a:solidFill>
                <a:effectLst/>
                <a:latin typeface="quote-cjk-patch"/>
              </a:rPr>
              <a:t>Sai:</a:t>
            </a:r>
            <a:r>
              <a:rPr lang="vi-VN" b="0" i="0">
                <a:solidFill>
                  <a:srgbClr val="0F1115"/>
                </a:solidFill>
                <a:effectLst/>
                <a:latin typeface="quote-cjk-patch"/>
              </a:rPr>
              <a:t> Dùng 2 con 120</a:t>
            </a:r>
            <a:r>
              <a:rPr lang="el-GR" b="0" i="0">
                <a:solidFill>
                  <a:srgbClr val="0F1115"/>
                </a:solidFill>
                <a:effectLst/>
                <a:latin typeface="quote-cjk-patch"/>
              </a:rPr>
              <a:t>Ω </a:t>
            </a:r>
            <a:r>
              <a:rPr lang="vi-VN" b="0" i="0">
                <a:solidFill>
                  <a:srgbClr val="0F1115"/>
                </a:solidFill>
                <a:effectLst/>
                <a:latin typeface="quote-cjk-patch"/>
              </a:rPr>
              <a:t>nhưng đặt cạnh nhau ở 1 vị tríBus bị kết cuối sớm. Phần dây phía sau trở thành nhánh chết (stub) dài.Suy giảm biên độ tín hiệu ở các node xa, nhiễu EMI cao.</a:t>
            </a:r>
          </a:p>
          <a:p>
            <a:pPr algn="l"/>
            <a:r>
              <a:rPr lang="vi-VN" b="1">
                <a:solidFill>
                  <a:srgbClr val="0F1115"/>
                </a:solidFill>
                <a:effectLst/>
                <a:latin typeface="quote-cjk-patch"/>
              </a:rPr>
              <a:t>Một trường hợp đặc biệt: "Split Termination" (Kết cuối phân tách)</a:t>
            </a:r>
          </a:p>
          <a:p>
            <a:pPr algn="l"/>
            <a:r>
              <a:rPr lang="vi-VN" b="0" i="0">
                <a:solidFill>
                  <a:srgbClr val="0F1115"/>
                </a:solidFill>
                <a:effectLst/>
                <a:latin typeface="quote-cjk-patch"/>
              </a:rPr>
              <a:t>Trong các thiết kế hiện đại (ô tô, xe máy), bạn thường không thấy 2 điện trở 120</a:t>
            </a:r>
            <a:r>
              <a:rPr lang="el-GR" b="0" i="0">
                <a:solidFill>
                  <a:srgbClr val="0F1115"/>
                </a:solidFill>
                <a:effectLst/>
                <a:latin typeface="quote-cjk-patch"/>
              </a:rPr>
              <a:t>Ω </a:t>
            </a:r>
            <a:r>
              <a:rPr lang="vi-VN" b="0" i="0">
                <a:solidFill>
                  <a:srgbClr val="0F1115"/>
                </a:solidFill>
                <a:effectLst/>
                <a:latin typeface="quote-cjk-patch"/>
              </a:rPr>
              <a:t>rời rạc, mà thấy 2 điện trở </a:t>
            </a:r>
            <a:r>
              <a:rPr lang="vi-VN" b="1" i="0">
                <a:solidFill>
                  <a:srgbClr val="0F1115"/>
                </a:solidFill>
                <a:effectLst/>
                <a:latin typeface="quote-cjk-patch"/>
              </a:rPr>
              <a:t>60</a:t>
            </a:r>
            <a:r>
              <a:rPr lang="el-GR" b="1" i="0">
                <a:solidFill>
                  <a:srgbClr val="0F1115"/>
                </a:solidFill>
                <a:effectLst/>
                <a:latin typeface="quote-cjk-patch"/>
              </a:rPr>
              <a:t>Ω</a:t>
            </a:r>
            <a:r>
              <a:rPr lang="el-GR" b="0" i="0">
                <a:solidFill>
                  <a:srgbClr val="0F1115"/>
                </a:solidFill>
                <a:effectLst/>
                <a:latin typeface="quote-cjk-patch"/>
              </a:rPr>
              <a:t> </a:t>
            </a:r>
            <a:r>
              <a:rPr lang="vi-VN" b="0" i="0">
                <a:solidFill>
                  <a:srgbClr val="0F1115"/>
                </a:solidFill>
                <a:effectLst/>
                <a:latin typeface="quote-cjk-patch"/>
              </a:rPr>
              <a:t>mắc nối tiếp với nhau (tổng 120</a:t>
            </a:r>
            <a:r>
              <a:rPr lang="el-GR" b="0" i="0">
                <a:solidFill>
                  <a:srgbClr val="0F1115"/>
                </a:solidFill>
                <a:effectLst/>
                <a:latin typeface="quote-cjk-patch"/>
              </a:rPr>
              <a:t>Ω) </a:t>
            </a:r>
            <a:r>
              <a:rPr lang="vi-VN" b="0" i="0">
                <a:solidFill>
                  <a:srgbClr val="0F1115"/>
                </a:solidFill>
                <a:effectLst/>
                <a:latin typeface="quote-cjk-patch"/>
              </a:rPr>
              <a:t>và có một tụ điện (thường 4.7 nF) nối điểm giữa xuống GND.</a:t>
            </a:r>
          </a:p>
          <a:p>
            <a:pPr algn="l"/>
            <a:r>
              <a:rPr lang="vi-VN" b="0" i="0">
                <a:solidFill>
                  <a:srgbClr val="0F1115"/>
                </a:solidFill>
                <a:effectLst/>
                <a:latin typeface="quote-cjk-patch"/>
              </a:rPr>
              <a:t>Cấu hình này vẫn tuân thủ nguyên tắc </a:t>
            </a:r>
            <a:r>
              <a:rPr lang="vi-VN" b="1" i="0">
                <a:solidFill>
                  <a:srgbClr val="0F1115"/>
                </a:solidFill>
                <a:effectLst/>
                <a:latin typeface="quote-cjk-patch"/>
              </a:rPr>
              <a:t>120</a:t>
            </a:r>
            <a:r>
              <a:rPr lang="el-GR" b="1" i="0">
                <a:solidFill>
                  <a:srgbClr val="0F1115"/>
                </a:solidFill>
                <a:effectLst/>
                <a:latin typeface="quote-cjk-patch"/>
              </a:rPr>
              <a:t>Ω </a:t>
            </a:r>
            <a:r>
              <a:rPr lang="vi-VN" b="1" i="0">
                <a:solidFill>
                  <a:srgbClr val="0F1115"/>
                </a:solidFill>
                <a:effectLst/>
                <a:latin typeface="quote-cjk-patch"/>
              </a:rPr>
              <a:t>ở 2 đầu</a:t>
            </a:r>
            <a:r>
              <a:rPr lang="vi-VN" b="0" i="0">
                <a:solidFill>
                  <a:srgbClr val="0F1115"/>
                </a:solidFill>
                <a:effectLst/>
                <a:latin typeface="quote-cjk-patch"/>
              </a:rPr>
              <a:t>, nhưng được tối ưu để:</a:t>
            </a:r>
          </a:p>
          <a:p>
            <a:pPr algn="l">
              <a:buFont typeface="Arial" panose="020B0604020202020204" pitchFamily="34" charset="0"/>
              <a:buChar char="•"/>
            </a:pPr>
            <a:r>
              <a:rPr lang="vi-VN" b="0" i="0">
                <a:solidFill>
                  <a:srgbClr val="0F1115"/>
                </a:solidFill>
                <a:effectLst/>
                <a:latin typeface="quote-cjk-patch"/>
              </a:rPr>
              <a:t>Lọc nhiễu Common Mode (dẫn nhiễu từ dây xuống GND qua tụ).</a:t>
            </a:r>
          </a:p>
          <a:p>
            <a:pPr algn="l">
              <a:buFont typeface="Arial" panose="020B0604020202020204" pitchFamily="34" charset="0"/>
              <a:buChar char="•"/>
            </a:pPr>
            <a:r>
              <a:rPr lang="vi-VN" b="0" i="0">
                <a:solidFill>
                  <a:srgbClr val="0F1115"/>
                </a:solidFill>
                <a:effectLst/>
                <a:latin typeface="quote-cjk-patch"/>
              </a:rPr>
              <a:t>Giảm phát xạ điện từ (EMI) ra môi trường.</a:t>
            </a:r>
          </a:p>
          <a:p>
            <a:endParaRPr lang="vi-VN"/>
          </a:p>
        </p:txBody>
      </p:sp>
      <p:sp>
        <p:nvSpPr>
          <p:cNvPr id="4" name="Slide Number Placeholder 3"/>
          <p:cNvSpPr>
            <a:spLocks noGrp="1"/>
          </p:cNvSpPr>
          <p:nvPr>
            <p:ph type="sldNum" sz="quarter" idx="5"/>
          </p:nvPr>
        </p:nvSpPr>
        <p:spPr/>
        <p:txBody>
          <a:bodyPr/>
          <a:lstStyle/>
          <a:p>
            <a:fld id="{E80A4903-7EF3-44C4-B3A5-356E0A49B13F}" type="slidenum">
              <a:rPr lang="en-US" smtClean="0"/>
              <a:t>30</a:t>
            </a:fld>
            <a:endParaRPr lang="en-US"/>
          </a:p>
        </p:txBody>
      </p:sp>
    </p:spTree>
    <p:extLst>
      <p:ext uri="{BB962C8B-B14F-4D97-AF65-F5344CB8AC3E}">
        <p14:creationId xmlns:p14="http://schemas.microsoft.com/office/powerpoint/2010/main" val="881030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31</a:t>
            </a:fld>
            <a:endParaRPr lang="en-US"/>
          </a:p>
        </p:txBody>
      </p:sp>
    </p:spTree>
    <p:extLst>
      <p:ext uri="{BB962C8B-B14F-4D97-AF65-F5344CB8AC3E}">
        <p14:creationId xmlns:p14="http://schemas.microsoft.com/office/powerpoint/2010/main" val="15752094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32</a:t>
            </a:fld>
            <a:endParaRPr lang="en-US"/>
          </a:p>
        </p:txBody>
      </p:sp>
    </p:spTree>
    <p:extLst>
      <p:ext uri="{BB962C8B-B14F-4D97-AF65-F5344CB8AC3E}">
        <p14:creationId xmlns:p14="http://schemas.microsoft.com/office/powerpoint/2010/main" val="3117373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33</a:t>
            </a:fld>
            <a:endParaRPr lang="en-US"/>
          </a:p>
        </p:txBody>
      </p:sp>
    </p:spTree>
    <p:extLst>
      <p:ext uri="{BB962C8B-B14F-4D97-AF65-F5344CB8AC3E}">
        <p14:creationId xmlns:p14="http://schemas.microsoft.com/office/powerpoint/2010/main" val="20881221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34</a:t>
            </a:fld>
            <a:endParaRPr lang="en-US"/>
          </a:p>
        </p:txBody>
      </p:sp>
    </p:spTree>
    <p:extLst>
      <p:ext uri="{BB962C8B-B14F-4D97-AF65-F5344CB8AC3E}">
        <p14:creationId xmlns:p14="http://schemas.microsoft.com/office/powerpoint/2010/main" val="15779016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35</a:t>
            </a:fld>
            <a:endParaRPr lang="en-US"/>
          </a:p>
        </p:txBody>
      </p:sp>
    </p:spTree>
    <p:extLst>
      <p:ext uri="{BB962C8B-B14F-4D97-AF65-F5344CB8AC3E}">
        <p14:creationId xmlns:p14="http://schemas.microsoft.com/office/powerpoint/2010/main" val="2982303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Message hay Frame </a:t>
            </a:r>
            <a:r>
              <a:rPr lang="en-US" dirty="0" err="1"/>
              <a:t>của</a:t>
            </a:r>
            <a:r>
              <a:rPr lang="en-US" dirty="0"/>
              <a:t> CAN </a:t>
            </a:r>
            <a:r>
              <a:rPr lang="en-US" dirty="0" err="1"/>
              <a:t>sẽ</a:t>
            </a:r>
            <a:r>
              <a:rPr lang="en-US" dirty="0"/>
              <a:t> </a:t>
            </a:r>
            <a:r>
              <a:rPr lang="en-US" dirty="0" err="1"/>
              <a:t>gồm</a:t>
            </a:r>
            <a:r>
              <a:rPr lang="en-US" dirty="0"/>
              <a:t> 4 </a:t>
            </a:r>
            <a:r>
              <a:rPr lang="en-US" dirty="0" err="1"/>
              <a:t>loại</a:t>
            </a:r>
            <a:r>
              <a:rPr lang="en-US" dirty="0"/>
              <a:t>: Data, Remote, Error, Overload.</a:t>
            </a:r>
          </a:p>
          <a:p>
            <a:endParaRPr lang="en-US" dirty="0"/>
          </a:p>
          <a:p>
            <a:r>
              <a:rPr lang="vi-VN" dirty="0"/>
              <a:t>Data Frame (khung dữ liệu): là khung mang dữ liệu từ một bộ truyền dữ liệu đến các bộ nhận dữ liệu. Khung này có vùng để mang các byte dữ liệu.</a:t>
            </a:r>
          </a:p>
          <a:p>
            <a:endParaRPr lang="vi-VN" dirty="0"/>
          </a:p>
          <a:p>
            <a:r>
              <a:rPr lang="vi-VN" dirty="0"/>
              <a:t>Remote Frame (khung yêu cầu hay điều khiển): là khung được truyền từ một Node bất kỳ để yêu cầu dữ liệu từ Node khác. Khi Node khác đó nhận được yêu cầu sẽ  truyền lại dữ liệu có ID (Identifier) trùng với ID được gửi trong Remote Frame.</a:t>
            </a:r>
          </a:p>
          <a:p>
            <a:endParaRPr lang="vi-VN" dirty="0"/>
          </a:p>
          <a:p>
            <a:r>
              <a:rPr lang="vi-VN" dirty="0"/>
              <a:t>Error Frame (khung lỗi): là khung được truyền bởi bất kỳ Node nào khi Node đó phát hiện lỗi từ Bus.</a:t>
            </a:r>
          </a:p>
          <a:p>
            <a:endParaRPr lang="vi-VN" dirty="0"/>
          </a:p>
          <a:p>
            <a:r>
              <a:rPr lang="vi-VN" dirty="0"/>
              <a:t>Overflow Frame (khung báo tràn): mỗi Node trong CAN Bus có thể truyền bất kỳ khi nào nếu phát hiện Bus rảnh. Hoặc nếu một Node nhận quá nhiều dữ liệu và không xử lý kịp, nó sẽ gửi Frame này để các Node khác không gửi thêm dữ liệu cho nó.</a:t>
            </a:r>
            <a:endParaRPr lang="en-US" dirty="0"/>
          </a:p>
          <a:p>
            <a:endParaRPr lang="en-US" dirty="0"/>
          </a:p>
          <a:p>
            <a:r>
              <a:rPr lang="vi-VN" dirty="0"/>
              <a:t>Data Frame và Remote Fram làm việc theo cơ chế phân xử quyền ưu tiên của tín hiệu vì thế cấu trúc của chúng có vùng phân xử quyền ưu tiên, nơi chứa ID của khung. Và chúng có hai định dạng khác nhau là định dạng chuẩn (Standard) và định dạng mở rộng (Extended)</a:t>
            </a:r>
          </a:p>
          <a:p>
            <a:endParaRPr lang="vi-VN"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37</a:t>
            </a:fld>
            <a:endParaRPr lang="en-US"/>
          </a:p>
        </p:txBody>
      </p:sp>
    </p:spTree>
    <p:extLst>
      <p:ext uri="{BB962C8B-B14F-4D97-AF65-F5344CB8AC3E}">
        <p14:creationId xmlns:p14="http://schemas.microsoft.com/office/powerpoint/2010/main" val="3481937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Một</a:t>
            </a:r>
            <a:r>
              <a:rPr lang="en-US" dirty="0"/>
              <a:t> Data Frame </a:t>
            </a:r>
            <a:r>
              <a:rPr lang="en-US" dirty="0" err="1"/>
              <a:t>của</a:t>
            </a:r>
            <a:r>
              <a:rPr lang="en-US" dirty="0"/>
              <a:t> CAN </a:t>
            </a:r>
            <a:r>
              <a:rPr lang="en-US" dirty="0" err="1"/>
              <a:t>sẽ</a:t>
            </a:r>
            <a:r>
              <a:rPr lang="en-US" dirty="0"/>
              <a:t> </a:t>
            </a:r>
            <a:r>
              <a:rPr lang="en-US" dirty="0" err="1"/>
              <a:t>gồm</a:t>
            </a:r>
            <a:r>
              <a:rPr lang="en-US" dirty="0"/>
              <a:t> 7 </a:t>
            </a:r>
            <a:r>
              <a:rPr lang="en-US" dirty="0" err="1"/>
              <a:t>trường</a:t>
            </a:r>
            <a:r>
              <a:rPr lang="en-US" dirty="0"/>
              <a:t> </a:t>
            </a:r>
            <a:r>
              <a:rPr lang="en-US" dirty="0" err="1"/>
              <a:t>lần</a:t>
            </a:r>
            <a:r>
              <a:rPr lang="en-US" dirty="0"/>
              <a:t> </a:t>
            </a:r>
            <a:r>
              <a:rPr lang="en-US" dirty="0" err="1"/>
              <a:t>lượt</a:t>
            </a:r>
            <a:r>
              <a:rPr lang="en-US" dirty="0"/>
              <a:t>: SOF, Arbitration, Control, Data, CRC, ACK, EOF.</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Data Frame và Remote Fram</a:t>
            </a:r>
            <a:r>
              <a:rPr lang="en-US" dirty="0"/>
              <a:t>e</a:t>
            </a:r>
            <a:r>
              <a:rPr lang="vi-VN" dirty="0"/>
              <a:t> làm việc theo cơ chế phân xử quyền ưu tiên của tín hiệu vì thế cấu trúc của chúng có vùng phân xử quyền ưu tiên, nơi chứa ID của khung. </a:t>
            </a:r>
          </a:p>
          <a:p>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38</a:t>
            </a:fld>
            <a:endParaRPr lang="en-US"/>
          </a:p>
        </p:txBody>
      </p:sp>
    </p:spTree>
    <p:extLst>
      <p:ext uri="{BB962C8B-B14F-4D97-AF65-F5344CB8AC3E}">
        <p14:creationId xmlns:p14="http://schemas.microsoft.com/office/powerpoint/2010/main" val="11291918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số loại giao thức CAN hiện có: CAN specification 2.0, CAN FD. Sự khác biệt giữa các loại giao thức CAN nằm trong cấu trúc của các loại khung (Frame). Sau đây, chúng ta sẽ tìm hiểu về cấu trúc của các loại khung của các chuẩn giao thức trên.</a:t>
            </a:r>
          </a:p>
          <a:p>
            <a:endParaRPr lang="vi-VN" dirty="0"/>
          </a:p>
          <a:p>
            <a:endParaRPr lang="vi-VN" dirty="0"/>
          </a:p>
          <a:p>
            <a:r>
              <a:rPr lang="vi-VN" dirty="0"/>
              <a:t>Chuẩn giao thức CAN 2.0 được Bosch công bố lần đầu vào năm 1991. Tốc độ truyền tối đa của chuẩn này là 1 Mbps, lượng dữ liệu truyền tối đa là 8 byte. </a:t>
            </a:r>
          </a:p>
          <a:p>
            <a:endParaRPr lang="vi-VN" dirty="0"/>
          </a:p>
          <a:p>
            <a:endParaRPr lang="vi-VN" dirty="0"/>
          </a:p>
          <a:p>
            <a:endParaRPr lang="vi-VN" dirty="0"/>
          </a:p>
          <a:p>
            <a:r>
              <a:rPr lang="vi-VN" dirty="0"/>
              <a:t>Chuẩn này gồm 2 định dạng: dạng chuẩn CAN 2.0A và dạng mở rộng CAN 2.0B. </a:t>
            </a:r>
            <a:endParaRPr lang="en-US" dirty="0"/>
          </a:p>
          <a:p>
            <a:endParaRPr lang="en-US" dirty="0"/>
          </a:p>
          <a:p>
            <a:r>
              <a:rPr lang="vi-VN" dirty="0"/>
              <a:t>CAN 2.0A chỉ truyền được dạng khung chuẩn</a:t>
            </a:r>
            <a:endParaRPr lang="en-US" dirty="0"/>
          </a:p>
          <a:p>
            <a:r>
              <a:rPr lang="vi-VN" dirty="0"/>
              <a:t>CAN 2.0B truyền được cả khung chuẩn và khung mở rộng.</a:t>
            </a:r>
          </a:p>
          <a:p>
            <a:endParaRPr lang="en-US" dirty="0"/>
          </a:p>
          <a:p>
            <a:endParaRPr lang="en-US" dirty="0"/>
          </a:p>
          <a:p>
            <a:r>
              <a:rPr lang="vi-VN" dirty="0"/>
              <a:t>Định dạng khung chuẩn sử dụng ID có độ dài 11 bit</a:t>
            </a:r>
          </a:p>
          <a:p>
            <a:r>
              <a:rPr lang="vi-VN" dirty="0"/>
              <a:t>Định dạng khung mở rộng sử dụng ID có độ dài 29 bit</a:t>
            </a:r>
            <a:endParaRPr lang="en-US" dirty="0"/>
          </a:p>
          <a:p>
            <a:endParaRPr lang="vi-VN" dirty="0"/>
          </a:p>
          <a:p>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39</a:t>
            </a:fld>
            <a:endParaRPr lang="en-US"/>
          </a:p>
        </p:txBody>
      </p:sp>
    </p:spTree>
    <p:extLst>
      <p:ext uri="{BB962C8B-B14F-4D97-AF65-F5344CB8AC3E}">
        <p14:creationId xmlns:p14="http://schemas.microsoft.com/office/powerpoint/2010/main" val="7612490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Bản thân mỗi node (ECU) có biết ID đó có ý nghĩa gì không?</a:t>
            </a:r>
          </a:p>
          <a:p>
            <a:r>
              <a:rPr lang="vi-VN" b="1">
                <a:effectLst/>
              </a:rPr>
              <a:t>Có</a:t>
            </a:r>
            <a:r>
              <a:rPr lang="vi-VN">
                <a:effectLst/>
              </a:rPr>
              <a:t>, nhưng </a:t>
            </a:r>
            <a:r>
              <a:rPr lang="vi-VN" b="1">
                <a:effectLst/>
              </a:rPr>
              <a:t>không phải tự động biết</a:t>
            </a:r>
            <a:r>
              <a:rPr lang="vi-VN">
                <a:effectLst/>
              </a:rPr>
              <a:t> như con người.</a:t>
            </a:r>
          </a:p>
          <a:p>
            <a:pPr>
              <a:buFont typeface="Arial" panose="020B0604020202020204" pitchFamily="34" charset="0"/>
              <a:buChar char="•"/>
            </a:pPr>
            <a:r>
              <a:rPr lang="vi-VN"/>
              <a:t>Mỗi node </a:t>
            </a:r>
            <a:r>
              <a:rPr lang="vi-VN" b="1"/>
              <a:t>được lập trình sẵn</a:t>
            </a:r>
            <a:r>
              <a:rPr lang="vi-VN"/>
              <a:t> (programmed) từ nhà máy hoặc khi thiết kế hệ thống.</a:t>
            </a:r>
          </a:p>
          <a:p>
            <a:pPr>
              <a:buFont typeface="Arial" panose="020B0604020202020204" pitchFamily="34" charset="0"/>
              <a:buChar char="•"/>
            </a:pPr>
            <a:r>
              <a:rPr lang="vi-VN"/>
              <a:t>Trong firmware (phần mềm nhúng) của node đó, lập trình viên đã viết code để:</a:t>
            </a:r>
          </a:p>
          <a:p>
            <a:pPr marL="742950" lvl="1" indent="-285750">
              <a:buFont typeface="Arial" panose="020B0604020202020204" pitchFamily="34" charset="0"/>
              <a:buChar char="•"/>
            </a:pPr>
            <a:r>
              <a:rPr lang="vi-VN" b="1"/>
              <a:t>Gửi</a:t>
            </a:r>
            <a:r>
              <a:rPr lang="vi-VN"/>
              <a:t>: Khi node muốn gửi dữ liệu (ví dụ: tốc độ động cơ), nó sẽ dùng đúng </a:t>
            </a:r>
            <a:r>
              <a:rPr lang="vi-VN" b="1"/>
              <a:t>ID đã quy định trước</a:t>
            </a:r>
            <a:r>
              <a:rPr lang="vi-VN"/>
              <a:t> cho message đó.</a:t>
            </a:r>
          </a:p>
          <a:p>
            <a:pPr marL="742950" lvl="1" indent="-285750">
              <a:buFont typeface="Arial" panose="020B0604020202020204" pitchFamily="34" charset="0"/>
              <a:buChar char="•"/>
            </a:pPr>
            <a:r>
              <a:rPr lang="vi-VN" b="1"/>
              <a:t>Nhận</a:t>
            </a:r>
            <a:r>
              <a:rPr lang="vi-VN"/>
              <a:t>: Khi node nhận được một message, CAN controller sẽ kiểm tra ID. Nếu ID đó nằm trong danh sách mà node quan tâm (filter), thì node sẽ nhận dữ liệu và xử lý theo cách đã lập trình sẵn (ví dụ: lấy byte 2-3 để tính RPM, chuyển sang đơn vị thực tế).</a:t>
            </a:r>
          </a:p>
          <a:p>
            <a:r>
              <a:rPr lang="vi-VN">
                <a:effectLst/>
              </a:rPr>
              <a:t>→ Nghĩa là </a:t>
            </a:r>
            <a:r>
              <a:rPr lang="vi-VN" b="1">
                <a:effectLst/>
              </a:rPr>
              <a:t>mỗi node đều “biết”</a:t>
            </a:r>
            <a:r>
              <a:rPr lang="vi-VN">
                <a:effectLst/>
              </a:rPr>
              <a:t> ID nào mang ý nghĩa gì </a:t>
            </a:r>
            <a:r>
              <a:rPr lang="vi-VN" b="1">
                <a:effectLst/>
              </a:rPr>
              <a:t>nhờ code đã được viết sẵn trong nó</a:t>
            </a:r>
            <a:r>
              <a:rPr lang="vi-VN">
                <a:effectLst/>
              </a:rPr>
              <a:t>.</a:t>
            </a:r>
          </a:p>
          <a:p>
            <a:r>
              <a:rPr lang="vi-VN" b="1"/>
              <a:t>2. ID được quy định trước như thế nào?</a:t>
            </a:r>
          </a:p>
          <a:p>
            <a:r>
              <a:rPr lang="vi-VN">
                <a:effectLst/>
              </a:rPr>
              <a:t>ID </a:t>
            </a:r>
            <a:r>
              <a:rPr lang="vi-VN" b="1">
                <a:effectLst/>
              </a:rPr>
              <a:t>không phải do chuẩn CAN quy định</a:t>
            </a:r>
            <a:r>
              <a:rPr lang="vi-VN">
                <a:effectLst/>
              </a:rPr>
              <a:t>, mà do </a:t>
            </a:r>
            <a:r>
              <a:rPr lang="vi-VN" b="1">
                <a:effectLst/>
              </a:rPr>
              <a:t>nhà thiết kế hệ thống</a:t>
            </a:r>
            <a:r>
              <a:rPr lang="vi-VN">
                <a:effectLst/>
              </a:rPr>
              <a:t> (hãng xe, kỹ sư hệ thống) quyết định khi phát triển toàn bộ mạng CAN của xe.</a:t>
            </a:r>
          </a:p>
          <a:p>
            <a:r>
              <a:rPr lang="vi-VN">
                <a:effectLst/>
              </a:rPr>
              <a:t>Quy trình thường như sau:</a:t>
            </a:r>
          </a:p>
          <a:p>
            <a:pPr>
              <a:buFont typeface="Arial" panose="020B0604020202020204" pitchFamily="34" charset="0"/>
              <a:buChar char="•"/>
            </a:pPr>
            <a:r>
              <a:rPr lang="vi-VN"/>
              <a:t>Kỹ sư tạo một </a:t>
            </a:r>
            <a:r>
              <a:rPr lang="vi-VN" b="1"/>
              <a:t>bảng định nghĩa chung</a:t>
            </a:r>
            <a:r>
              <a:rPr lang="vi-VN"/>
              <a:t> cho toàn xe (gọi là </a:t>
            </a:r>
            <a:r>
              <a:rPr lang="vi-VN" b="1"/>
              <a:t>CAN Database</a:t>
            </a:r>
            <a:r>
              <a:rPr lang="vi-VN"/>
              <a:t> hoặc </a:t>
            </a:r>
            <a:r>
              <a:rPr lang="vi-VN" b="1"/>
              <a:t>DBC file</a:t>
            </a:r>
            <a:r>
              <a:rPr lang="vi-VN"/>
              <a:t> – file .dbc).</a:t>
            </a:r>
          </a:p>
          <a:p>
            <a:pPr>
              <a:buFont typeface="Arial" panose="020B0604020202020204" pitchFamily="34" charset="0"/>
              <a:buChar char="•"/>
            </a:pPr>
            <a:r>
              <a:rPr lang="vi-VN"/>
              <a:t>Trong file DBC này sẽ ghi rõ:</a:t>
            </a:r>
          </a:p>
          <a:p>
            <a:pPr marL="742950" lvl="1" indent="-285750">
              <a:buFont typeface="Arial" panose="020B0604020202020204" pitchFamily="34" charset="0"/>
              <a:buChar char="•"/>
            </a:pPr>
            <a:r>
              <a:rPr lang="vi-VN"/>
              <a:t>ID nào (ví dụ: 0x123) dùng để truyền thông tin gì.</a:t>
            </a:r>
          </a:p>
          <a:p>
            <a:pPr marL="742950" lvl="1" indent="-285750">
              <a:buFont typeface="Arial" panose="020B0604020202020204" pitchFamily="34" charset="0"/>
              <a:buChar char="•"/>
            </a:pPr>
            <a:r>
              <a:rPr lang="vi-VN"/>
              <a:t>Tên message (ví dụ: EngineData).</a:t>
            </a:r>
          </a:p>
          <a:p>
            <a:pPr marL="742950" lvl="1" indent="-285750">
              <a:buFont typeface="Arial" panose="020B0604020202020204" pitchFamily="34" charset="0"/>
              <a:buChar char="•"/>
            </a:pPr>
            <a:r>
              <a:rPr lang="vi-VN"/>
              <a:t>Trong 8 byte data, byte nào, bit nào đại diện cho thông tin gì (RPM, tốc độ, nhiệt độ…).</a:t>
            </a:r>
          </a:p>
          <a:p>
            <a:pPr marL="742950" lvl="1" indent="-285750">
              <a:buFont typeface="Arial" panose="020B0604020202020204" pitchFamily="34" charset="0"/>
              <a:buChar char="•"/>
            </a:pPr>
            <a:r>
              <a:rPr lang="vi-VN"/>
              <a:t>Tần suất gửi, độ dài, scaling, đơn vị…</a:t>
            </a:r>
          </a:p>
          <a:p>
            <a:pPr>
              <a:buFont typeface="Arial" panose="020B0604020202020204" pitchFamily="34" charset="0"/>
              <a:buChar char="•"/>
            </a:pPr>
            <a:r>
              <a:rPr lang="vi-VN"/>
              <a:t>Sau đó, file DBC này được dùng làm tài liệu chung:</a:t>
            </a:r>
          </a:p>
          <a:p>
            <a:pPr marL="742950" lvl="1" indent="-285750">
              <a:buFont typeface="Arial" panose="020B0604020202020204" pitchFamily="34" charset="0"/>
              <a:buChar char="•"/>
            </a:pPr>
            <a:r>
              <a:rPr lang="vi-VN"/>
              <a:t>Lập trình viên của </a:t>
            </a:r>
            <a:r>
              <a:rPr lang="vi-VN" b="1"/>
              <a:t>ECU động cơ</a:t>
            </a:r>
            <a:r>
              <a:rPr lang="vi-VN"/>
              <a:t> sẽ code để gửi message với ID đó.</a:t>
            </a:r>
          </a:p>
          <a:p>
            <a:pPr marL="742950" lvl="1" indent="-285750">
              <a:buFont typeface="Arial" panose="020B0604020202020204" pitchFamily="34" charset="0"/>
              <a:buChar char="•"/>
            </a:pPr>
            <a:r>
              <a:rPr lang="vi-VN"/>
              <a:t>Lập trình viên của </a:t>
            </a:r>
            <a:r>
              <a:rPr lang="vi-VN" b="1"/>
              <a:t>ECU hộp số, ABS, đồng hồ taplo…</a:t>
            </a:r>
            <a:r>
              <a:rPr lang="vi-VN"/>
              <a:t> sẽ code để nhận và xử lý ID đó.</a:t>
            </a:r>
          </a:p>
          <a:p>
            <a:r>
              <a:rPr lang="vi-VN">
                <a:effectLst/>
              </a:rPr>
              <a:t>Tất cả các node liên quan đều được </a:t>
            </a:r>
            <a:r>
              <a:rPr lang="vi-VN" b="1">
                <a:effectLst/>
              </a:rPr>
              <a:t>cài đặt firmware dựa trên cùng một DBC file</a:t>
            </a:r>
            <a:r>
              <a:rPr lang="vi-VN">
                <a:effectLst/>
              </a:rPr>
              <a:t> (hoặc một phần của nó). Vì vậy </a:t>
            </a:r>
            <a:r>
              <a:rPr lang="vi-VN" b="1">
                <a:effectLst/>
              </a:rPr>
              <a:t>các node đều biết</a:t>
            </a:r>
            <a:r>
              <a:rPr lang="vi-VN">
                <a:effectLst/>
              </a:rPr>
              <a:t> (qua code) rằng ID 0x123 nghĩa là “tốc độ quay động cơ”.</a:t>
            </a:r>
          </a:p>
          <a:p>
            <a:r>
              <a:rPr lang="vi-VN" b="1"/>
              <a:t>3. Tóm tắt cách hoạt động thực tế</a:t>
            </a:r>
          </a:p>
          <a:p>
            <a:pPr>
              <a:buFont typeface="Arial" panose="020B0604020202020204" pitchFamily="34" charset="0"/>
              <a:buChar char="•"/>
            </a:pPr>
            <a:r>
              <a:rPr lang="vi-VN" b="1"/>
              <a:t>Gửi</a:t>
            </a:r>
            <a:r>
              <a:rPr lang="vi-VN"/>
              <a:t>: ECU động cơ muốn báo RPM → nó gửi frame với </a:t>
            </a:r>
            <a:r>
              <a:rPr lang="vi-VN" b="1"/>
              <a:t>ID = 0x123</a:t>
            </a:r>
            <a:r>
              <a:rPr lang="vi-VN"/>
              <a:t> + dữ liệu RPM.</a:t>
            </a:r>
          </a:p>
          <a:p>
            <a:pPr>
              <a:buFont typeface="Arial" panose="020B0604020202020204" pitchFamily="34" charset="0"/>
              <a:buChar char="•"/>
            </a:pPr>
            <a:r>
              <a:rPr lang="vi-VN" b="1"/>
              <a:t>Nhận</a:t>
            </a:r>
            <a:r>
              <a:rPr lang="vi-VN"/>
              <a:t>: Tất cả node khác trên bus đều nghe được frame đó.</a:t>
            </a:r>
          </a:p>
          <a:p>
            <a:pPr marL="742950" lvl="1" indent="-285750">
              <a:buFont typeface="Arial" panose="020B0604020202020204" pitchFamily="34" charset="0"/>
              <a:buChar char="•"/>
            </a:pPr>
            <a:r>
              <a:rPr lang="vi-VN"/>
              <a:t>ECU nào </a:t>
            </a:r>
            <a:r>
              <a:rPr lang="vi-VN" b="1"/>
              <a:t>không quan tâm</a:t>
            </a:r>
            <a:r>
              <a:rPr lang="vi-VN"/>
              <a:t> ID 0x123 → bỏ qua (hardware filter tự động loại).</a:t>
            </a:r>
          </a:p>
          <a:p>
            <a:pPr marL="742950" lvl="1" indent="-285750">
              <a:buFont typeface="Arial" panose="020B0604020202020204" pitchFamily="34" charset="0"/>
              <a:buChar char="•"/>
            </a:pPr>
            <a:r>
              <a:rPr lang="vi-VN"/>
              <a:t>ECU nào </a:t>
            </a:r>
            <a:r>
              <a:rPr lang="vi-VN" b="1"/>
              <a:t>quan tâm</a:t>
            </a:r>
            <a:r>
              <a:rPr lang="vi-VN"/>
              <a:t> (taplo, hộp số, ABS…) → nhận dữ liệu và xử lý theo cách đã lập trình (ví dụ: hiển thị trên đồng hồ, điều chỉnh hộp số…).</a:t>
            </a:r>
          </a:p>
          <a:p>
            <a:r>
              <a:rPr lang="vi-VN">
                <a:effectLst/>
              </a:rPr>
              <a:t>→ Không có node nào “hỏi” hay “tra cứu” ID lúc chạy. Tất cả đều </a:t>
            </a:r>
            <a:r>
              <a:rPr lang="vi-VN" b="1">
                <a:effectLst/>
              </a:rPr>
              <a:t>biết trước</a:t>
            </a:r>
            <a:r>
              <a:rPr lang="vi-VN">
                <a:effectLst/>
              </a:rPr>
              <a:t> nhờ lập trình.</a:t>
            </a:r>
          </a:p>
          <a:p>
            <a:r>
              <a:rPr lang="vi-VN" b="1"/>
              <a:t>4. Trường hợp đặc biệt</a:t>
            </a:r>
          </a:p>
          <a:p>
            <a:pPr>
              <a:buFont typeface="Arial" panose="020B0604020202020204" pitchFamily="34" charset="0"/>
              <a:buChar char="•"/>
            </a:pPr>
            <a:r>
              <a:rPr lang="vi-VN"/>
              <a:t>Trong </a:t>
            </a:r>
            <a:r>
              <a:rPr lang="vi-VN" b="1"/>
              <a:t>J1939</a:t>
            </a:r>
            <a:r>
              <a:rPr lang="vi-VN"/>
              <a:t> (dùng trên xe tải, máy công trình): ID 29-bit có chứa </a:t>
            </a:r>
            <a:r>
              <a:rPr lang="vi-VN" b="1"/>
              <a:t>Source Address</a:t>
            </a:r>
            <a:r>
              <a:rPr lang="vi-VN"/>
              <a:t> (địa chỉ của node gửi) → dễ biết rõ hơn node nào gửi.</a:t>
            </a:r>
          </a:p>
          <a:p>
            <a:pPr>
              <a:buFont typeface="Arial" panose="020B0604020202020204" pitchFamily="34" charset="0"/>
              <a:buChar char="•"/>
            </a:pPr>
            <a:r>
              <a:rPr lang="vi-VN"/>
              <a:t>Trong CAN thông thường (11-bit) trên xe hơi: Thường chỉ biết “message loại gì”, chứ không nhất thiết biết “node nào gửi” (vì broadcast).</a:t>
            </a:r>
          </a:p>
          <a:p>
            <a:r>
              <a:rPr lang="vi-VN" b="1">
                <a:effectLst/>
              </a:rPr>
              <a:t>Kết luận đơn giản</a:t>
            </a:r>
            <a:r>
              <a:rPr lang="vi-VN">
                <a:effectLst/>
              </a:rPr>
              <a:t>:</a:t>
            </a:r>
          </a:p>
          <a:p>
            <a:pPr>
              <a:buFont typeface="Arial" panose="020B0604020202020204" pitchFamily="34" charset="0"/>
              <a:buChar char="•"/>
            </a:pPr>
            <a:r>
              <a:rPr lang="vi-VN"/>
              <a:t>Đúng, mỗi node đều biết ID có ý nghĩa gì.</a:t>
            </a:r>
          </a:p>
          <a:p>
            <a:pPr>
              <a:buFont typeface="Arial" panose="020B0604020202020204" pitchFamily="34" charset="0"/>
              <a:buChar char="•"/>
            </a:pPr>
            <a:r>
              <a:rPr lang="vi-VN"/>
              <a:t>Nhưng kiến thức đó </a:t>
            </a:r>
            <a:r>
              <a:rPr lang="vi-VN" b="1"/>
              <a:t>không phải tự nhiên có</a:t>
            </a:r>
            <a:r>
              <a:rPr lang="vi-VN"/>
              <a:t>, mà được </a:t>
            </a:r>
            <a:r>
              <a:rPr lang="vi-VN" b="1"/>
              <a:t>quy định trước</a:t>
            </a:r>
            <a:r>
              <a:rPr lang="vi-VN"/>
              <a:t> trong giai đoạn thiết kế xe và </a:t>
            </a:r>
            <a:r>
              <a:rPr lang="vi-VN" b="1"/>
              <a:t>nhúng cứng</a:t>
            </a:r>
            <a:r>
              <a:rPr lang="vi-VN"/>
              <a:t> vào firmware của từng ECU.</a:t>
            </a:r>
          </a:p>
          <a:p>
            <a:pPr>
              <a:buFont typeface="Arial" panose="020B0604020202020204" pitchFamily="34" charset="0"/>
              <a:buChar char="•"/>
            </a:pPr>
            <a:r>
              <a:rPr lang="vi-VN"/>
              <a:t>Toàn bộ hệ thống dùng chung một “bảng từ điển” là </a:t>
            </a:r>
            <a:r>
              <a:rPr lang="vi-VN" b="1"/>
              <a:t>DBC file</a:t>
            </a:r>
            <a:r>
              <a:rPr lang="vi-VN"/>
              <a:t>.</a:t>
            </a:r>
          </a:p>
          <a:p>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40</a:t>
            </a:fld>
            <a:endParaRPr lang="en-US"/>
          </a:p>
        </p:txBody>
      </p:sp>
    </p:spTree>
    <p:extLst>
      <p:ext uri="{BB962C8B-B14F-4D97-AF65-F5344CB8AC3E}">
        <p14:creationId xmlns:p14="http://schemas.microsoft.com/office/powerpoint/2010/main" val="32352167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effectLst/>
              </a:rPr>
              <a:t>ID trong CAN (CAN Identifier hoặc Arbitration ID)</a:t>
            </a:r>
            <a:r>
              <a:rPr lang="vi-VN">
                <a:effectLst/>
              </a:rPr>
              <a:t> là một phần rất quan trọng của mọi message (khung dữ liệu) trên bus CAN.</a:t>
            </a:r>
          </a:p>
          <a:p>
            <a:r>
              <a:rPr lang="vi-VN" b="1"/>
              <a:t>1. ID trong CAN là gì?</a:t>
            </a:r>
          </a:p>
          <a:p>
            <a:pPr>
              <a:buFont typeface="Arial" panose="020B0604020202020204" pitchFamily="34" charset="0"/>
              <a:buChar char="•"/>
            </a:pPr>
            <a:r>
              <a:rPr lang="vi-VN"/>
              <a:t>ID là </a:t>
            </a:r>
            <a:r>
              <a:rPr lang="vi-VN" b="1"/>
              <a:t>dãy bit</a:t>
            </a:r>
            <a:r>
              <a:rPr lang="vi-VN"/>
              <a:t> nằm ngay sau bit </a:t>
            </a:r>
            <a:r>
              <a:rPr lang="vi-VN" b="1"/>
              <a:t>SOF</a:t>
            </a:r>
            <a:r>
              <a:rPr lang="vi-VN"/>
              <a:t> (Start of Frame) trong CAN frame.</a:t>
            </a:r>
          </a:p>
          <a:p>
            <a:pPr>
              <a:buFont typeface="Arial" panose="020B0604020202020204" pitchFamily="34" charset="0"/>
              <a:buChar char="•"/>
            </a:pPr>
            <a:r>
              <a:rPr lang="vi-VN"/>
              <a:t>Nó có </a:t>
            </a:r>
            <a:r>
              <a:rPr lang="vi-VN" b="1"/>
              <a:t>hai loại</a:t>
            </a:r>
            <a:r>
              <a:rPr lang="vi-VN"/>
              <a:t> chính:</a:t>
            </a:r>
          </a:p>
          <a:p>
            <a:pPr marL="742950" lvl="1" indent="-285750">
              <a:buFont typeface="Arial" panose="020B0604020202020204" pitchFamily="34" charset="0"/>
              <a:buChar char="•"/>
            </a:pPr>
            <a:r>
              <a:rPr lang="vi-VN" b="1"/>
              <a:t>Standard ID (CAN 2.0A)</a:t>
            </a:r>
            <a:r>
              <a:rPr lang="vi-VN"/>
              <a:t>: </a:t>
            </a:r>
            <a:r>
              <a:rPr lang="vi-VN" b="1"/>
              <a:t>11 bit</a:t>
            </a:r>
            <a:r>
              <a:rPr lang="vi-VN"/>
              <a:t> → tối đa 2048 ID khác nhau (0 đến 2047).</a:t>
            </a:r>
          </a:p>
          <a:p>
            <a:pPr marL="742950" lvl="1" indent="-285750">
              <a:buFont typeface="Arial" panose="020B0604020202020204" pitchFamily="34" charset="0"/>
              <a:buChar char="•"/>
            </a:pPr>
            <a:r>
              <a:rPr lang="vi-VN" b="1"/>
              <a:t>Extended ID (CAN 2.0B)</a:t>
            </a:r>
            <a:r>
              <a:rPr lang="vi-VN"/>
              <a:t>: </a:t>
            </a:r>
            <a:r>
              <a:rPr lang="vi-VN" b="1"/>
              <a:t>29 bit</a:t>
            </a:r>
            <a:r>
              <a:rPr lang="vi-VN"/>
              <a:t> → tối đa hơn 536 triệu ID (rất lớn). Thường dùng trong xe tải, máy nông nghiệp, J1939.</a:t>
            </a:r>
          </a:p>
          <a:p>
            <a:r>
              <a:rPr lang="vi-VN" b="1">
                <a:effectLst/>
              </a:rPr>
              <a:t>ID có 2 vai trò chính</a:t>
            </a:r>
            <a:r>
              <a:rPr lang="vi-VN">
                <a:effectLst/>
              </a:rPr>
              <a:t>:</a:t>
            </a:r>
          </a:p>
          <a:p>
            <a:pPr>
              <a:buFont typeface="+mj-lt"/>
              <a:buAutoNum type="arabicPeriod"/>
            </a:pPr>
            <a:r>
              <a:rPr lang="vi-VN" b="1"/>
              <a:t>Xác định nội dung của message</a:t>
            </a:r>
            <a:r>
              <a:rPr lang="vi-VN"/>
              <a:t> (message type/content).</a:t>
            </a:r>
          </a:p>
          <a:p>
            <a:pPr>
              <a:buFont typeface="+mj-lt"/>
              <a:buAutoNum type="arabicPeriod"/>
            </a:pPr>
            <a:r>
              <a:rPr lang="vi-VN" b="1"/>
              <a:t>Xác định độ ưu tiên (priority)</a:t>
            </a:r>
            <a:r>
              <a:rPr lang="vi-VN"/>
              <a:t> của message.</a:t>
            </a:r>
          </a:p>
          <a:p>
            <a:r>
              <a:rPr lang="vi-VN" b="1">
                <a:effectLst/>
              </a:rPr>
              <a:t>Quy tắc ưu tiên rất quan trọng</a:t>
            </a:r>
            <a:r>
              <a:rPr lang="vi-VN">
                <a:effectLst/>
              </a:rPr>
              <a:t>:</a:t>
            </a:r>
          </a:p>
          <a:p>
            <a:pPr>
              <a:buFont typeface="Arial" panose="020B0604020202020204" pitchFamily="34" charset="0"/>
              <a:buChar char="•"/>
            </a:pPr>
            <a:r>
              <a:rPr lang="vi-VN" b="1"/>
              <a:t>ID càng nhỏ (số nhị phân càng ít bit 1 ở đầu)</a:t>
            </a:r>
            <a:r>
              <a:rPr lang="vi-VN"/>
              <a:t> → </a:t>
            </a:r>
            <a:r>
              <a:rPr lang="vi-VN" b="1"/>
              <a:t>ưu tiên càng cao</a:t>
            </a:r>
            <a:r>
              <a:rPr lang="vi-VN"/>
              <a:t>.</a:t>
            </a:r>
          </a:p>
          <a:p>
            <a:pPr>
              <a:buFont typeface="Arial" panose="020B0604020202020204" pitchFamily="34" charset="0"/>
              <a:buChar char="•"/>
            </a:pPr>
            <a:r>
              <a:rPr lang="vi-VN"/>
              <a:t>Ví dụ: ID = 0x001 (rất nhỏ) sẽ thắng arbitration trước ID = 0x100 hoặc 0x7FF.</a:t>
            </a:r>
          </a:p>
          <a:p>
            <a:r>
              <a:rPr lang="vi-VN" b="1"/>
              <a:t>2. ID dùng để làm gì?</a:t>
            </a:r>
          </a:p>
          <a:p>
            <a:pPr>
              <a:buFont typeface="Arial" panose="020B0604020202020204" pitchFamily="34" charset="0"/>
              <a:buChar char="•"/>
            </a:pPr>
            <a:r>
              <a:rPr lang="vi-VN" b="1"/>
              <a:t>Arbitration (giải quyết tranh chấp bus)</a:t>
            </a:r>
            <a:r>
              <a:rPr lang="vi-VN"/>
              <a:t>: Khi nhiều ECU (node) cùng muốn truyền message một lúc, CAN dùng cơ chế </a:t>
            </a:r>
            <a:r>
              <a:rPr lang="vi-VN" b="1"/>
              <a:t>non-destructive bitwise arbitration</a:t>
            </a:r>
            <a:r>
              <a:rPr lang="vi-VN"/>
              <a:t>. Các node truyền ID bit-by-bit. Bit </a:t>
            </a:r>
            <a:r>
              <a:rPr lang="vi-VN" b="1"/>
              <a:t>Dominant (0)</a:t>
            </a:r>
            <a:r>
              <a:rPr lang="vi-VN"/>
              <a:t> thắng bit </a:t>
            </a:r>
            <a:r>
              <a:rPr lang="vi-VN" b="1"/>
              <a:t>Recessive (1)</a:t>
            </a:r>
            <a:r>
              <a:rPr lang="vi-VN"/>
              <a:t>. Node nào thấy bit của mình khác với bus (nó gửi 1 nhưng bus là 0) sẽ lập tức dừng truyền và chuyển sang nghe. → Message có ID nhỏ nhất (ưu tiên cao nhất) sẽ thắng và tiếp tục truyền, các message khác tự động lui lại.</a:t>
            </a:r>
          </a:p>
          <a:p>
            <a:pPr>
              <a:buFont typeface="Arial" panose="020B0604020202020204" pitchFamily="34" charset="0"/>
              <a:buChar char="•"/>
            </a:pPr>
            <a:r>
              <a:rPr lang="vi-VN" b="1"/>
              <a:t>Định danh nội dung</a:t>
            </a:r>
            <a:r>
              <a:rPr lang="vi-VN"/>
              <a:t>: ID cho biết message này mang thông tin gì (ví dụ: tốc độ động cơ, vị trí ga, trạng thái phanh, nhiệt độ nước làm mát, lỗi DTC…).</a:t>
            </a:r>
          </a:p>
          <a:p>
            <a:r>
              <a:rPr lang="vi-VN" b="1">
                <a:effectLst/>
              </a:rPr>
              <a:t>Lưu ý quan trọng</a:t>
            </a:r>
            <a:r>
              <a:rPr lang="vi-VN">
                <a:effectLst/>
              </a:rPr>
              <a:t>:</a:t>
            </a:r>
          </a:p>
          <a:p>
            <a:pPr>
              <a:buFont typeface="Arial" panose="020B0604020202020204" pitchFamily="34" charset="0"/>
              <a:buChar char="•"/>
            </a:pPr>
            <a:r>
              <a:rPr lang="vi-VN"/>
              <a:t>CAN là </a:t>
            </a:r>
            <a:r>
              <a:rPr lang="vi-VN" b="1"/>
              <a:t>broadcast</a:t>
            </a:r>
            <a:r>
              <a:rPr lang="vi-VN"/>
              <a:t> (phát tán). Mọi node đều nhận được mọi message.</a:t>
            </a:r>
          </a:p>
          <a:p>
            <a:pPr>
              <a:buFont typeface="Arial" panose="020B0604020202020204" pitchFamily="34" charset="0"/>
              <a:buChar char="•"/>
            </a:pPr>
            <a:r>
              <a:rPr lang="vi-VN"/>
              <a:t>Không có địa chỉ người gửi hay người nhận rõ ràng như IP. Node nào quan tâm đến ID nào thì tự filter và xử lý (hardware filter trong CAN controller).</a:t>
            </a:r>
          </a:p>
          <a:p>
            <a:r>
              <a:rPr lang="vi-VN" b="1"/>
              <a:t>3. Cái gì quy định ID là bao nhiêu? (Ai quyết định?)</a:t>
            </a:r>
          </a:p>
          <a:p>
            <a:r>
              <a:rPr lang="vi-VN">
                <a:effectLst/>
              </a:rPr>
              <a:t>ID </a:t>
            </a:r>
            <a:r>
              <a:rPr lang="vi-VN" b="1">
                <a:effectLst/>
              </a:rPr>
              <a:t>không được quy định cứng</a:t>
            </a:r>
            <a:r>
              <a:rPr lang="vi-VN">
                <a:effectLst/>
              </a:rPr>
              <a:t> trong chuẩn ISO 11898 (CAN cơ bản). Nó do </a:t>
            </a:r>
            <a:r>
              <a:rPr lang="vi-VN" b="1">
                <a:effectLst/>
              </a:rPr>
              <a:t>người thiết kế hệ thống</a:t>
            </a:r>
            <a:r>
              <a:rPr lang="vi-VN">
                <a:effectLst/>
              </a:rPr>
              <a:t> (nhà sản xuất ô tô, hãng xe, kỹ sư hệ thống) quy định.</a:t>
            </a:r>
          </a:p>
          <a:p>
            <a:pPr>
              <a:buFont typeface="Arial" panose="020B0604020202020204" pitchFamily="34" charset="0"/>
              <a:buChar char="•"/>
            </a:pPr>
            <a:r>
              <a:rPr lang="vi-VN"/>
              <a:t>Trong một xe hơi cụ thể (ví dụ Toyota, Honda, Mercedes…): Có một </a:t>
            </a:r>
            <a:r>
              <a:rPr lang="vi-VN" b="1"/>
              <a:t>bảng CAN Database (DBC file)</a:t>
            </a:r>
            <a:r>
              <a:rPr lang="vi-VN"/>
              <a:t> định nghĩa rõ:</a:t>
            </a:r>
          </a:p>
          <a:p>
            <a:pPr marL="742950" lvl="1" indent="-285750">
              <a:buFont typeface="Arial" panose="020B0604020202020204" pitchFamily="34" charset="0"/>
              <a:buChar char="•"/>
            </a:pPr>
            <a:r>
              <a:rPr lang="vi-VN"/>
              <a:t>ID nào mang dữ liệu gì.</a:t>
            </a:r>
          </a:p>
          <a:p>
            <a:pPr marL="742950" lvl="1" indent="-285750">
              <a:buFont typeface="Arial" panose="020B0604020202020204" pitchFamily="34" charset="0"/>
              <a:buChar char="•"/>
            </a:pPr>
            <a:r>
              <a:rPr lang="vi-VN"/>
              <a:t>Byte nào trong data field mang ý nghĩa gì (scaling, offset…).</a:t>
            </a:r>
          </a:p>
          <a:p>
            <a:pPr marL="742950" lvl="1" indent="-285750">
              <a:buFont typeface="Arial" panose="020B0604020202020204" pitchFamily="34" charset="0"/>
              <a:buChar char="•"/>
            </a:pPr>
            <a:r>
              <a:rPr lang="vi-VN"/>
              <a:t>Tần suất truyền (cycle time).</a:t>
            </a:r>
          </a:p>
          <a:p>
            <a:pPr>
              <a:buFont typeface="Arial" panose="020B0604020202020204" pitchFamily="34" charset="0"/>
              <a:buChar char="•"/>
            </a:pPr>
            <a:r>
              <a:rPr lang="vi-VN"/>
              <a:t>Trong xe tải/máy công trình thường dùng </a:t>
            </a:r>
            <a:r>
              <a:rPr lang="vi-VN" b="1"/>
              <a:t>J1939</a:t>
            </a:r>
            <a:r>
              <a:rPr lang="vi-VN"/>
              <a:t> (một protocol cao cấp dựa trên CAN 29-bit), ID được quy định chuẩn hóa theo </a:t>
            </a:r>
            <a:r>
              <a:rPr lang="vi-VN" b="1"/>
              <a:t>PGN (Parameter Group Number)</a:t>
            </a:r>
            <a:r>
              <a:rPr lang="vi-VN"/>
              <a:t> + Source Address.</a:t>
            </a:r>
          </a:p>
          <a:p>
            <a:pPr>
              <a:buFont typeface="Arial" panose="020B0604020202020204" pitchFamily="34" charset="0"/>
              <a:buChar char="•"/>
            </a:pPr>
            <a:r>
              <a:rPr lang="vi-VN" b="1"/>
              <a:t>Yêu cầu bắt buộc</a:t>
            </a:r>
            <a:r>
              <a:rPr lang="vi-VN"/>
              <a:t>: Trong cùng một mạng CAN, </a:t>
            </a:r>
            <a:r>
              <a:rPr lang="vi-VN" b="1"/>
              <a:t>mỗi ID phải là duy nhất</a:t>
            </a:r>
            <a:r>
              <a:rPr lang="vi-VN"/>
              <a:t> (unique). Nếu 2 node cùng truyền cùng một ID → sẽ gây lỗi (collision sau arbitration field).</a:t>
            </a:r>
          </a:p>
          <a:p>
            <a:r>
              <a:rPr lang="vi-VN" b="1"/>
              <a:t>4. Làm sao để biết message của node nào (ECU nào)?</a:t>
            </a:r>
          </a:p>
          <a:p>
            <a:pPr>
              <a:buFont typeface="Arial" panose="020B0604020202020204" pitchFamily="34" charset="0"/>
              <a:buChar char="•"/>
            </a:pPr>
            <a:r>
              <a:rPr lang="vi-VN" b="1"/>
              <a:t>Thông thường thì KHÔNG biết trực tiếp từ ID</a:t>
            </a:r>
            <a:r>
              <a:rPr lang="vi-VN"/>
              <a:t>.</a:t>
            </a:r>
          </a:p>
          <a:p>
            <a:pPr marL="742950" lvl="1" indent="-285750">
              <a:buFont typeface="Arial" panose="020B0604020202020204" pitchFamily="34" charset="0"/>
              <a:buChar char="•"/>
            </a:pPr>
            <a:r>
              <a:rPr lang="vi-VN"/>
              <a:t>ID chỉ nói </a:t>
            </a:r>
            <a:r>
              <a:rPr lang="vi-VN" b="1"/>
              <a:t>“đây là message về tốc độ động cơ”</a:t>
            </a:r>
            <a:r>
              <a:rPr lang="vi-VN"/>
              <a:t>, chứ không nói “do ECU động cơ gửi”.</a:t>
            </a:r>
          </a:p>
          <a:p>
            <a:pPr marL="742950" lvl="1" indent="-285750">
              <a:buFont typeface="Arial" panose="020B0604020202020204" pitchFamily="34" charset="0"/>
              <a:buChar char="•"/>
            </a:pPr>
            <a:r>
              <a:rPr lang="vi-VN"/>
              <a:t>Nhiều ECU có thể gửi message có cùng ID (nhưng thực tế hiếm, vì phải unique).</a:t>
            </a:r>
          </a:p>
          <a:p>
            <a:pPr>
              <a:buFont typeface="Arial" panose="020B0604020202020204" pitchFamily="34" charset="0"/>
              <a:buChar char="•"/>
            </a:pPr>
            <a:r>
              <a:rPr lang="vi-VN" b="1"/>
              <a:t>Cách biết node nào gửi</a:t>
            </a:r>
            <a:r>
              <a:rPr lang="vi-VN"/>
              <a:t>:</a:t>
            </a:r>
          </a:p>
          <a:p>
            <a:pPr marL="742950" lvl="1" indent="-285750">
              <a:buFont typeface="Arial" panose="020B0604020202020204" pitchFamily="34" charset="0"/>
              <a:buChar char="•"/>
            </a:pPr>
            <a:r>
              <a:rPr lang="vi-VN"/>
              <a:t>Trong thực tế ô tô: Dựa vào </a:t>
            </a:r>
            <a:r>
              <a:rPr lang="vi-VN" b="1"/>
              <a:t>DBC file</a:t>
            </a:r>
            <a:r>
              <a:rPr lang="vi-VN"/>
              <a:t> hoặc tài liệu của hãng xe → họ quy định rõ ID nào do ECU nào chịu trách nhiệm chính.</a:t>
            </a:r>
          </a:p>
          <a:p>
            <a:pPr marL="742950" lvl="1" indent="-285750">
              <a:buFont typeface="Arial" panose="020B0604020202020204" pitchFamily="34" charset="0"/>
              <a:buChar char="•"/>
            </a:pPr>
            <a:r>
              <a:rPr lang="vi-VN"/>
              <a:t>Trong J1939 (29-bit): Phần cuối của 29-bit ID có </a:t>
            </a:r>
            <a:r>
              <a:rPr lang="vi-VN" b="1"/>
              <a:t>Source Address (SA)</a:t>
            </a:r>
            <a:r>
              <a:rPr lang="vi-VN"/>
              <a:t> (8 bit) → rõ ràng biết node nào gửi (ví dụ SA = 0x00 là Engine ECU, SA = 0x03 là Transmission…).</a:t>
            </a:r>
          </a:p>
          <a:p>
            <a:pPr marL="742950" lvl="1" indent="-285750">
              <a:buFont typeface="Arial" panose="020B0604020202020204" pitchFamily="34" charset="0"/>
              <a:buChar char="•"/>
            </a:pPr>
            <a:r>
              <a:rPr lang="vi-VN"/>
              <a:t>Một số hệ thống cao cấp dùng </a:t>
            </a:r>
            <a:r>
              <a:rPr lang="vi-VN" b="1"/>
              <a:t>functional addressing</a:t>
            </a:r>
            <a:r>
              <a:rPr lang="vi-VN"/>
              <a:t> hoặc </a:t>
            </a:r>
            <a:r>
              <a:rPr lang="vi-VN" b="1"/>
              <a:t>physical addressing</a:t>
            </a:r>
            <a:r>
              <a:rPr lang="vi-VN"/>
              <a:t> trong diagnostic (UDS trên CAN).</a:t>
            </a:r>
          </a:p>
          <a:p>
            <a:pPr marL="742950" lvl="1" indent="-285750">
              <a:buFont typeface="Arial" panose="020B0604020202020204" pitchFamily="34" charset="0"/>
              <a:buChar char="•"/>
            </a:pPr>
            <a:r>
              <a:rPr lang="vi-VN"/>
              <a:t>Khi reverse engineering (phân tích CAN bus): Người ta thường kết hợp quan sát tần suất, dữ liệu thay đổi, và thử ngắt nguồn từng ECU để xem message nào biến mất.</a:t>
            </a:r>
          </a:p>
          <a:p>
            <a:r>
              <a:rPr lang="vi-VN" b="1">
                <a:effectLst/>
              </a:rPr>
              <a:t>Tóm tắt dễ nhớ</a:t>
            </a:r>
            <a:r>
              <a:rPr lang="vi-VN">
                <a:effectLst/>
              </a:rPr>
              <a:t>:</a:t>
            </a:r>
          </a:p>
          <a:p>
            <a:pPr>
              <a:buFont typeface="Arial" panose="020B0604020202020204" pitchFamily="34" charset="0"/>
              <a:buChar char="•"/>
            </a:pPr>
            <a:r>
              <a:rPr lang="vi-VN" b="1"/>
              <a:t>ID = Tên + Độ ưu tiên</a:t>
            </a:r>
            <a:r>
              <a:rPr lang="vi-VN"/>
              <a:t> của message.</a:t>
            </a:r>
          </a:p>
          <a:p>
            <a:pPr>
              <a:buFont typeface="Arial" panose="020B0604020202020204" pitchFamily="34" charset="0"/>
              <a:buChar char="•"/>
            </a:pPr>
            <a:r>
              <a:rPr lang="vi-VN"/>
              <a:t>ID nhỏ → ưu tiên cao → truyền trước.</a:t>
            </a:r>
          </a:p>
          <a:p>
            <a:pPr>
              <a:buFont typeface="Arial" panose="020B0604020202020204" pitchFamily="34" charset="0"/>
              <a:buChar char="•"/>
            </a:pPr>
            <a:r>
              <a:rPr lang="vi-VN"/>
              <a:t>ID do </a:t>
            </a:r>
            <a:r>
              <a:rPr lang="vi-VN" b="1"/>
              <a:t>người thiết kế hệ thống</a:t>
            </a:r>
            <a:r>
              <a:rPr lang="vi-VN"/>
              <a:t> quy định (không phải do chuẩn CAN quy định cứng).</a:t>
            </a:r>
          </a:p>
          <a:p>
            <a:pPr>
              <a:buFont typeface="Arial" panose="020B0604020202020204" pitchFamily="34" charset="0"/>
              <a:buChar char="•"/>
            </a:pPr>
            <a:r>
              <a:rPr lang="vi-VN"/>
              <a:t>Không có địa chỉ node rõ ràng (trừ J1939 có Source Address).</a:t>
            </a:r>
          </a:p>
          <a:p>
            <a:pPr>
              <a:buFont typeface="Arial" panose="020B0604020202020204" pitchFamily="34" charset="0"/>
              <a:buChar char="•"/>
            </a:pPr>
            <a:r>
              <a:rPr lang="vi-VN"/>
              <a:t>Mọi node đều nghe tất cả, chỉ filter theo ID quan tâm.</a:t>
            </a:r>
          </a:p>
          <a:p>
            <a:endParaRPr lang="vi-VN"/>
          </a:p>
        </p:txBody>
      </p:sp>
      <p:sp>
        <p:nvSpPr>
          <p:cNvPr id="4" name="Slide Number Placeholder 3"/>
          <p:cNvSpPr>
            <a:spLocks noGrp="1"/>
          </p:cNvSpPr>
          <p:nvPr>
            <p:ph type="sldNum" sz="quarter" idx="5"/>
          </p:nvPr>
        </p:nvSpPr>
        <p:spPr/>
        <p:txBody>
          <a:bodyPr/>
          <a:lstStyle/>
          <a:p>
            <a:fld id="{E80A4903-7EF3-44C4-B3A5-356E0A49B13F}" type="slidenum">
              <a:rPr lang="en-US" smtClean="0"/>
              <a:t>41</a:t>
            </a:fld>
            <a:endParaRPr lang="en-US"/>
          </a:p>
        </p:txBody>
      </p:sp>
    </p:spTree>
    <p:extLst>
      <p:ext uri="{BB962C8B-B14F-4D97-AF65-F5344CB8AC3E}">
        <p14:creationId xmlns:p14="http://schemas.microsoft.com/office/powerpoint/2010/main" val="614303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Courier New" panose="02070309020205020404" pitchFamily="49" charset="0"/>
              </a:rPr>
              <a:t>Trường </a:t>
            </a:r>
            <a:r>
              <a:rPr lang="en-US" b="0" i="0" dirty="0">
                <a:solidFill>
                  <a:srgbClr val="000000"/>
                </a:solidFill>
                <a:effectLst/>
                <a:latin typeface="Courier New" panose="02070309020205020404" pitchFamily="49" charset="0"/>
              </a:rPr>
              <a:t>SOF</a:t>
            </a:r>
            <a:r>
              <a:rPr lang="vi-VN" b="0" i="0" dirty="0">
                <a:solidFill>
                  <a:srgbClr val="000000"/>
                </a:solidFill>
                <a:effectLst/>
                <a:latin typeface="Courier New" panose="02070309020205020404" pitchFamily="49" charset="0"/>
              </a:rPr>
              <a:t> là vị trí của bit đầu tiên trong khung. Trường này chiếm 1 bit dữ liệu. Bit đầu tiên này </a:t>
            </a:r>
            <a:r>
              <a:rPr lang="en-US" b="0" i="0" dirty="0" err="1">
                <a:solidFill>
                  <a:srgbClr val="000000"/>
                </a:solidFill>
                <a:effectLst/>
                <a:latin typeface="Courier New" panose="02070309020205020404" pitchFamily="49" charset="0"/>
              </a:rPr>
              <a:t>được</a:t>
            </a:r>
            <a:r>
              <a:rPr lang="en-US" b="0" i="0" dirty="0">
                <a:solidFill>
                  <a:srgbClr val="000000"/>
                </a:solidFill>
                <a:effectLst/>
                <a:latin typeface="Courier New" panose="02070309020205020404" pitchFamily="49" charset="0"/>
              </a:rPr>
              <a:t> </a:t>
            </a:r>
            <a:r>
              <a:rPr lang="en-US" b="0" i="0" dirty="0" err="1">
                <a:solidFill>
                  <a:srgbClr val="000000"/>
                </a:solidFill>
                <a:effectLst/>
                <a:latin typeface="Courier New" panose="02070309020205020404" pitchFamily="49" charset="0"/>
              </a:rPr>
              <a:t>gọi</a:t>
            </a:r>
            <a:r>
              <a:rPr lang="en-US" b="0" i="0" dirty="0">
                <a:solidFill>
                  <a:srgbClr val="000000"/>
                </a:solidFill>
                <a:effectLst/>
                <a:latin typeface="Courier New" panose="02070309020205020404" pitchFamily="49" charset="0"/>
              </a:rPr>
              <a:t> </a:t>
            </a:r>
            <a:r>
              <a:rPr lang="en-US" b="0" i="0" dirty="0" err="1">
                <a:solidFill>
                  <a:srgbClr val="000000"/>
                </a:solidFill>
                <a:effectLst/>
                <a:latin typeface="Courier New" panose="02070309020205020404" pitchFamily="49" charset="0"/>
              </a:rPr>
              <a:t>là</a:t>
            </a:r>
            <a:r>
              <a:rPr lang="vi-VN" b="0" i="0" dirty="0">
                <a:solidFill>
                  <a:srgbClr val="000000"/>
                </a:solidFill>
                <a:effectLst/>
                <a:latin typeface="Courier New" panose="02070309020205020404" pitchFamily="49" charset="0"/>
              </a:rPr>
              <a:t> Dominant Bit (</a:t>
            </a:r>
            <a:r>
              <a:rPr lang="en-US" b="0" i="0" dirty="0" err="1">
                <a:solidFill>
                  <a:srgbClr val="000000"/>
                </a:solidFill>
                <a:effectLst/>
                <a:latin typeface="Courier New" panose="02070309020205020404" pitchFamily="49" charset="0"/>
              </a:rPr>
              <a:t>có</a:t>
            </a:r>
            <a:r>
              <a:rPr lang="en-US" b="0" i="0" dirty="0">
                <a:solidFill>
                  <a:srgbClr val="000000"/>
                </a:solidFill>
                <a:effectLst/>
                <a:latin typeface="Courier New" panose="02070309020205020404" pitchFamily="49" charset="0"/>
              </a:rPr>
              <a:t> </a:t>
            </a:r>
            <a:r>
              <a:rPr lang="vi-VN" b="0" i="0" dirty="0">
                <a:solidFill>
                  <a:srgbClr val="000000"/>
                </a:solidFill>
                <a:effectLst/>
                <a:latin typeface="Courier New" panose="02070309020205020404" pitchFamily="49" charset="0"/>
              </a:rPr>
              <a:t>mức logic 0).</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42</a:t>
            </a:fld>
            <a:endParaRPr lang="en-US"/>
          </a:p>
        </p:txBody>
      </p:sp>
    </p:spTree>
    <p:extLst>
      <p:ext uri="{BB962C8B-B14F-4D97-AF65-F5344CB8AC3E}">
        <p14:creationId xmlns:p14="http://schemas.microsoft.com/office/powerpoint/2010/main" val="17350870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CAN</a:t>
            </a:r>
            <a:r>
              <a:rPr lang="vi-VN"/>
              <a:t>, trường trọng tài </a:t>
            </a:r>
            <a:r>
              <a:rPr lang="vi-VN" dirty="0"/>
              <a:t>chịu trách nhiệm xác định nút nào có thể truyền dữ liệu trên bus khi nhiều nút cố gắng gửi tin nhắn cùng lúc. </a:t>
            </a:r>
            <a:endParaRPr lang="en-US" dirty="0"/>
          </a:p>
          <a:p>
            <a:endParaRPr lang="en-US" dirty="0"/>
          </a:p>
          <a:p>
            <a:r>
              <a:rPr lang="vi-VN" dirty="0"/>
              <a:t>Mục đích chính của trường này là đảm bảo rằng các tin nhắn có mức độ ưu tiên cao hơn được truyền trước mà không có xung đột.</a:t>
            </a:r>
          </a:p>
          <a:p>
            <a:endParaRPr lang="vi-VN" dirty="0"/>
          </a:p>
          <a:p>
            <a:r>
              <a:rPr lang="vi-VN" dirty="0"/>
              <a:t>### Chức năng và tác động:</a:t>
            </a:r>
          </a:p>
          <a:p>
            <a:pPr marL="171450" indent="-171450">
              <a:buFontTx/>
              <a:buChar char="-"/>
            </a:pPr>
            <a:r>
              <a:rPr lang="vi-VN"/>
              <a:t>Mức </a:t>
            </a:r>
            <a:r>
              <a:rPr lang="vi-VN" dirty="0"/>
              <a:t>độ ưu tiên của </a:t>
            </a:r>
            <a:r>
              <a:rPr lang="vi-VN"/>
              <a:t>tin nhắn: </a:t>
            </a:r>
            <a:r>
              <a:rPr lang="vi-VN" dirty="0"/>
              <a:t>Trường trọng tài chứa mã định danh tin nhắn, được sử dụng để chỉ định mức độ ưu tiên. Các giá trị thấp hơn biểu thị mức độ ưu tiên cao hơn.</a:t>
            </a:r>
            <a:endParaRPr lang="en-US" dirty="0"/>
          </a:p>
          <a:p>
            <a:pPr marL="171450" indent="-171450">
              <a:buFontTx/>
              <a:buChar char="-"/>
            </a:pPr>
            <a:endParaRPr lang="vi-VN" dirty="0"/>
          </a:p>
          <a:p>
            <a:pPr marL="171450" indent="-171450">
              <a:buFontTx/>
              <a:buChar char="-"/>
            </a:pPr>
            <a:r>
              <a:rPr lang="vi-VN"/>
              <a:t>Quy </a:t>
            </a:r>
            <a:r>
              <a:rPr lang="vi-VN" dirty="0"/>
              <a:t>trình </a:t>
            </a:r>
            <a:r>
              <a:rPr lang="vi-VN"/>
              <a:t>trọng tài: </a:t>
            </a:r>
            <a:r>
              <a:rPr lang="vi-VN" dirty="0"/>
              <a:t>Khi nhiều nút cố gắng truyền, chúng sẽ so sánh từng bit của chúng. Nếu một nút gửi một bit lặn (logic 1) nhưng phát hiện ra một bit trội (logic 0) trên bus, nút đó sẽ dừng truyền, cho phép nút có mức độ ưu tiên cao hơn tiếp tục.</a:t>
            </a:r>
            <a:endParaRPr lang="en-US" dirty="0"/>
          </a:p>
          <a:p>
            <a:pPr marL="171450" indent="-171450">
              <a:buFontTx/>
              <a:buChar char="-"/>
            </a:pPr>
            <a:endParaRPr lang="vi-VN" dirty="0"/>
          </a:p>
          <a:p>
            <a:r>
              <a:rPr lang="vi-VN"/>
              <a:t>- Sử </a:t>
            </a:r>
            <a:r>
              <a:rPr lang="vi-VN" dirty="0"/>
              <a:t>dụng hiệu </a:t>
            </a:r>
            <a:r>
              <a:rPr lang="vi-VN"/>
              <a:t>quả Bus: </a:t>
            </a:r>
            <a:r>
              <a:rPr lang="vi-VN" dirty="0"/>
              <a:t>Trọng tài đảm bảo bus vẫn hiệu quả và có trật tự, ngăn ngừa xung đột và đảm bảo các tin nhắn có mức độ ưu tiên cao được truyền trước mà không lãng phí băng thông.</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43</a:t>
            </a:fld>
            <a:endParaRPr lang="en-US"/>
          </a:p>
        </p:txBody>
      </p:sp>
    </p:spTree>
    <p:extLst>
      <p:ext uri="{BB962C8B-B14F-4D97-AF65-F5344CB8AC3E}">
        <p14:creationId xmlns:p14="http://schemas.microsoft.com/office/powerpoint/2010/main" val="35601072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Trường xác định quyền ưu tiên (Arbitration Field): Định dạng vùng xác định quyền ưu tiên là khác nhau đối với dạng khung chuẩn và khung mở rộng. </a:t>
            </a:r>
            <a:endParaRPr lang="en-US" dirty="0"/>
          </a:p>
          <a:p>
            <a:endParaRPr lang="en-US" dirty="0"/>
          </a:p>
          <a:p>
            <a:r>
              <a:rPr lang="vi-VN" dirty="0"/>
              <a:t>Định dạng chuẩn: vùng xác định quyền ưu tiên có độ dài 12 bit, bao gồm 11 bit ID và 1 bit RTR. </a:t>
            </a:r>
            <a:endParaRPr lang="en-US" dirty="0"/>
          </a:p>
          <a:p>
            <a:endParaRPr lang="en-US" dirty="0"/>
          </a:p>
          <a:p>
            <a:r>
              <a:rPr lang="vi-VN" dirty="0"/>
              <a:t>Định dạng mở rộng: trường xác định quyền ưu tiên có độ dài 32 bit, bao gồm có 29 bit ID, 1 bit SRR, 1 bit IDE và 1 bit RTR</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44</a:t>
            </a:fld>
            <a:endParaRPr lang="en-US"/>
          </a:p>
        </p:txBody>
      </p:sp>
    </p:spTree>
    <p:extLst>
      <p:ext uri="{BB962C8B-B14F-4D97-AF65-F5344CB8AC3E}">
        <p14:creationId xmlns:p14="http://schemas.microsoft.com/office/powerpoint/2010/main" val="33499199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Trường xác định quyền ưu tiên (Arbitration Field): Định dạng vùng xác định quyền ưu tiên là khác nhau đối với dạng khung chuẩn và khung mở rộng. </a:t>
            </a:r>
            <a:endParaRPr lang="en-US" dirty="0"/>
          </a:p>
          <a:p>
            <a:endParaRPr lang="en-US" dirty="0"/>
          </a:p>
          <a:p>
            <a:r>
              <a:rPr lang="vi-VN" dirty="0"/>
              <a:t>Định dạng chuẩn: vùng xác định quyền ưu tiên có độ dài 12 bit, bao gồm 11 bit ID và 1 bit RTR. </a:t>
            </a:r>
            <a:endParaRPr lang="en-US" dirty="0"/>
          </a:p>
          <a:p>
            <a:endParaRPr lang="en-US" dirty="0"/>
          </a:p>
          <a:p>
            <a:r>
              <a:rPr lang="vi-VN" dirty="0"/>
              <a:t>Định dạng mở rộng: trường xác định quyền ưu tiên có độ dài 32 bit, bao gồm có 29 bit ID, 1 bit SRR, 1 bit IDE và 1 </a:t>
            </a:r>
            <a:r>
              <a:rPr lang="vi-VN"/>
              <a:t>bit RTR</a:t>
            </a:r>
            <a:endParaRPr lang="en-US"/>
          </a:p>
          <a:p>
            <a:endParaRPr lang="en-US"/>
          </a:p>
          <a:p>
            <a:endParaRPr lang="en-US"/>
          </a:p>
          <a:p>
            <a:r>
              <a:rPr lang="en-US"/>
              <a:t>https://www.youtube.com/shorts/zzM8klebEMc</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45</a:t>
            </a:fld>
            <a:endParaRPr lang="en-US"/>
          </a:p>
        </p:txBody>
      </p:sp>
    </p:spTree>
    <p:extLst>
      <p:ext uri="{BB962C8B-B14F-4D97-AF65-F5344CB8AC3E}">
        <p14:creationId xmlns:p14="http://schemas.microsoft.com/office/powerpoint/2010/main" val="28854494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Bit SRR (Substitute Remote Request): </a:t>
            </a:r>
          </a:p>
          <a:p>
            <a:r>
              <a:rPr lang="vi-VN" dirty="0"/>
              <a:t>+ Bit này chỉ có ở khung mở rộng. </a:t>
            </a:r>
          </a:p>
          <a:p>
            <a:r>
              <a:rPr lang="vi-VN" dirty="0"/>
              <a:t>+ Bit này có giá trị là 1 (Recessive Bit). </a:t>
            </a:r>
          </a:p>
          <a:p>
            <a:r>
              <a:rPr lang="vi-VN" dirty="0"/>
              <a:t>+ So với vị trí tương ứng trong khung chuẩn thì bit này trùng với vị trí của bit RTR nên còn được gọi là bit thay thế (Substitute). </a:t>
            </a:r>
          </a:p>
          <a:p>
            <a:endParaRPr lang="vi-VN" dirty="0"/>
          </a:p>
          <a:p>
            <a:r>
              <a:rPr lang="vi-VN" dirty="0"/>
              <a:t>Giả sử có hai Node cùng truyền, một Node truyền Data Frame chuẩn, một Node truyền Data Frame mở rộng có ID giống nhau thì Node truyền khung chuẩn sẽ thắng phân xử quyền ưu tiên vì đến vị trí sau ID, khung chuẩn là bit RTR = 0, còn khung mở rộng là bit SRR = 1. </a:t>
            </a:r>
          </a:p>
          <a:p>
            <a:r>
              <a:rPr lang="vi-VN" dirty="0"/>
              <a:t>Như vậy, khung chuẩn chiếm ưu thế hơn so với khung mở rộng khi có ID như nhau.</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46</a:t>
            </a:fld>
            <a:endParaRPr lang="en-US"/>
          </a:p>
        </p:txBody>
      </p:sp>
    </p:spTree>
    <p:extLst>
      <p:ext uri="{BB962C8B-B14F-4D97-AF65-F5344CB8AC3E}">
        <p14:creationId xmlns:p14="http://schemas.microsoft.com/office/powerpoint/2010/main" val="23188066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Bit SRR (Substitute Remote Request): </a:t>
            </a:r>
          </a:p>
          <a:p>
            <a:r>
              <a:rPr lang="vi-VN" dirty="0"/>
              <a:t>+ Bit này chỉ có ở khung mở rộng. </a:t>
            </a:r>
          </a:p>
          <a:p>
            <a:r>
              <a:rPr lang="vi-VN" dirty="0"/>
              <a:t>+ Bit này có giá trị là 1 (Recessive Bit). </a:t>
            </a:r>
          </a:p>
          <a:p>
            <a:r>
              <a:rPr lang="vi-VN" dirty="0"/>
              <a:t>+ So với vị trí tương ứng trong khung chuẩn thì bit này trùng với vị trí của bit RTR nên còn được gọi là bit thay thế (Substitute). </a:t>
            </a:r>
          </a:p>
          <a:p>
            <a:endParaRPr lang="vi-VN" dirty="0"/>
          </a:p>
          <a:p>
            <a:r>
              <a:rPr lang="vi-VN" dirty="0"/>
              <a:t>Giả sử có hai Node cùng truyền, một Node truyền Data Frame chuẩn, một Node truyền Data Frame mở rộng có ID giống nhau thì Node truyền khung chuẩn sẽ thắng phân xử quyền ưu tiên vì đến vị trí sau ID, khung chuẩn là bit RTR = 0, còn khung mở rộng là bit SRR = 1. </a:t>
            </a:r>
          </a:p>
          <a:p>
            <a:r>
              <a:rPr lang="vi-VN" dirty="0"/>
              <a:t>Như vậy, khung chuẩn chiếm ưu thế hơn so với khung mở rộng khi có ID như nhau.</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47</a:t>
            </a:fld>
            <a:endParaRPr lang="en-US"/>
          </a:p>
        </p:txBody>
      </p:sp>
    </p:spTree>
    <p:extLst>
      <p:ext uri="{BB962C8B-B14F-4D97-AF65-F5344CB8AC3E}">
        <p14:creationId xmlns:p14="http://schemas.microsoft.com/office/powerpoint/2010/main" val="6624509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Bit RTR (Remote Transmission Request): </a:t>
            </a:r>
            <a:endParaRPr lang="en-US" dirty="0"/>
          </a:p>
          <a:p>
            <a:endParaRPr lang="vi-VN" dirty="0"/>
          </a:p>
          <a:p>
            <a:r>
              <a:rPr lang="vi-VN" dirty="0"/>
              <a:t>+ Là bit dùng để phân biệt khung là Data Frame hay Remote Frame. + Nếu là Data Frame, bit này luôn bằng 0 (Dominant Bit). </a:t>
            </a:r>
            <a:endParaRPr lang="en-US" dirty="0"/>
          </a:p>
          <a:p>
            <a:endParaRPr lang="vi-VN" dirty="0"/>
          </a:p>
          <a:p>
            <a:r>
              <a:rPr lang="vi-VN" dirty="0"/>
              <a:t>+ Nếu là Remote Frame, bit này luôn bằng 1 (Recessive Bit). </a:t>
            </a:r>
            <a:endParaRPr lang="en-US" dirty="0"/>
          </a:p>
          <a:p>
            <a:endParaRPr lang="vi-VN" dirty="0"/>
          </a:p>
          <a:p>
            <a:r>
              <a:rPr lang="vi-VN" dirty="0"/>
              <a:t>+ Vị trí bit này luôn nằm sau bit ID. </a:t>
            </a:r>
            <a:endParaRPr lang="en-US" dirty="0"/>
          </a:p>
          <a:p>
            <a:endParaRPr lang="vi-VN" dirty="0"/>
          </a:p>
          <a:p>
            <a:r>
              <a:rPr lang="vi-VN" dirty="0"/>
              <a:t>Trường hợp nếu Data Frame và Remote Frame có cùng ID được gửi đi đồng thời thì Data Frame sẽ được ưu tiên hơn.</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48</a:t>
            </a:fld>
            <a:endParaRPr lang="en-US"/>
          </a:p>
        </p:txBody>
      </p:sp>
    </p:spTree>
    <p:extLst>
      <p:ext uri="{BB962C8B-B14F-4D97-AF65-F5344CB8AC3E}">
        <p14:creationId xmlns:p14="http://schemas.microsoft.com/office/powerpoint/2010/main" val="12768005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Bit RTR (Remote Transmission Request): </a:t>
            </a:r>
            <a:endParaRPr lang="en-US" dirty="0"/>
          </a:p>
          <a:p>
            <a:endParaRPr lang="vi-VN" dirty="0"/>
          </a:p>
          <a:p>
            <a:r>
              <a:rPr lang="vi-VN" dirty="0"/>
              <a:t>+ Là bit dùng để phân biệt khung là Data Frame hay Remote Frame. + Nếu là Data Frame, bit này luôn bằng 0 (Dominant Bit). </a:t>
            </a:r>
            <a:endParaRPr lang="en-US" dirty="0"/>
          </a:p>
          <a:p>
            <a:endParaRPr lang="vi-VN" dirty="0"/>
          </a:p>
          <a:p>
            <a:r>
              <a:rPr lang="vi-VN" dirty="0"/>
              <a:t>+ Nếu là Remote Frame, bit này luôn bằng 1 (Recessive Bit). </a:t>
            </a:r>
            <a:endParaRPr lang="en-US" dirty="0"/>
          </a:p>
          <a:p>
            <a:endParaRPr lang="vi-VN" dirty="0"/>
          </a:p>
          <a:p>
            <a:r>
              <a:rPr lang="vi-VN" dirty="0"/>
              <a:t>+ Vị trí bit này luôn nằm sau bit ID. </a:t>
            </a:r>
            <a:endParaRPr lang="en-US" dirty="0"/>
          </a:p>
          <a:p>
            <a:endParaRPr lang="vi-VN" dirty="0"/>
          </a:p>
          <a:p>
            <a:r>
              <a:rPr lang="vi-VN" dirty="0"/>
              <a:t>Trường hợp nếu Data Frame và Remote Frame có cùng ID được gửi đi đồng thời thì Data Frame sẽ được ưu tiên hơn.</a:t>
            </a:r>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49</a:t>
            </a:fld>
            <a:endParaRPr lang="en-US"/>
          </a:p>
        </p:txBody>
      </p:sp>
    </p:spTree>
    <p:extLst>
      <p:ext uri="{BB962C8B-B14F-4D97-AF65-F5344CB8AC3E}">
        <p14:creationId xmlns:p14="http://schemas.microsoft.com/office/powerpoint/2010/main" val="2889349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Bit IDE (Identifier Extension): </a:t>
            </a:r>
            <a:endParaRPr lang="en-US" dirty="0"/>
          </a:p>
          <a:p>
            <a:endParaRPr lang="vi-VN" dirty="0"/>
          </a:p>
          <a:p>
            <a:r>
              <a:rPr lang="vi-VN" dirty="0"/>
              <a:t>+ Đây là bit phân biệt giữa loại khung chuẩn và khung mở rộng: IDE = 0 quy định khung chuẩn, IDE = 1 quy định khung mở rộng. </a:t>
            </a:r>
            <a:endParaRPr lang="en-US" dirty="0"/>
          </a:p>
          <a:p>
            <a:endParaRPr lang="vi-VN" dirty="0"/>
          </a:p>
          <a:p>
            <a:r>
              <a:rPr lang="vi-VN" dirty="0"/>
              <a:t>+ Bit này nằm ở trường xác định quyền ưu tiên với khung mở rộng và ở trường điều khiển với khung chuẩn.</a:t>
            </a:r>
          </a:p>
          <a:p>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50</a:t>
            </a:fld>
            <a:endParaRPr lang="en-US"/>
          </a:p>
        </p:txBody>
      </p:sp>
    </p:spTree>
    <p:extLst>
      <p:ext uri="{BB962C8B-B14F-4D97-AF65-F5344CB8AC3E}">
        <p14:creationId xmlns:p14="http://schemas.microsoft.com/office/powerpoint/2010/main" val="42383204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khung tiêu chuẩn của CAN, trường </a:t>
            </a:r>
            <a:r>
              <a:rPr lang="vi-VN" b="1" dirty="0"/>
              <a:t>Control Field</a:t>
            </a:r>
            <a:r>
              <a:rPr lang="vi-VN" dirty="0"/>
              <a:t> có 6 bit, như đã nêu ở trước:</a:t>
            </a:r>
          </a:p>
          <a:p>
            <a:pPr>
              <a:buFont typeface="Arial" panose="020B0604020202020204" pitchFamily="34" charset="0"/>
              <a:buChar char="•"/>
            </a:pPr>
            <a:r>
              <a:rPr lang="vi-VN" b="1" dirty="0"/>
              <a:t>r0</a:t>
            </a:r>
            <a:r>
              <a:rPr lang="vi-VN" dirty="0"/>
              <a:t> (1 bit): Bit dự trữ, luôn bằng 0.</a:t>
            </a:r>
          </a:p>
          <a:p>
            <a:pPr>
              <a:buFont typeface="Arial" panose="020B0604020202020204" pitchFamily="34" charset="0"/>
              <a:buChar char="•"/>
            </a:pPr>
            <a:r>
              <a:rPr lang="vi-VN" b="1" dirty="0"/>
              <a:t>IDE (Identifier Extension bit)</a:t>
            </a:r>
            <a:r>
              <a:rPr lang="vi-VN" dirty="0"/>
              <a:t> (1 bit): Chỉ ra liệu khung này có sử dụng định danh mở rộng hay không. Trong khung tiêu chuẩn, bit này bằng 0.</a:t>
            </a:r>
          </a:p>
          <a:p>
            <a:pPr>
              <a:buFont typeface="Arial" panose="020B0604020202020204" pitchFamily="34" charset="0"/>
              <a:buChar char="•"/>
            </a:pPr>
            <a:r>
              <a:rPr lang="vi-VN" b="1" dirty="0"/>
              <a:t>DLC (Data Length Code)</a:t>
            </a:r>
            <a:r>
              <a:rPr lang="vi-VN" dirty="0"/>
              <a:t> (4 bit): Độ dài của dữ liệu, cho biết số byte dữ liệu trong khung (từ 0 đến 8 byte).</a:t>
            </a:r>
          </a:p>
          <a:p>
            <a:endParaRPr lang="en-US" dirty="0"/>
          </a:p>
        </p:txBody>
      </p:sp>
      <p:sp>
        <p:nvSpPr>
          <p:cNvPr id="4" name="Slide Number Placeholder 3"/>
          <p:cNvSpPr>
            <a:spLocks noGrp="1"/>
          </p:cNvSpPr>
          <p:nvPr>
            <p:ph type="sldNum" sz="quarter" idx="5"/>
          </p:nvPr>
        </p:nvSpPr>
        <p:spPr/>
        <p:txBody>
          <a:bodyPr/>
          <a:lstStyle/>
          <a:p>
            <a:fld id="{E80A4903-7EF3-44C4-B3A5-356E0A49B13F}" type="slidenum">
              <a:rPr lang="en-US" smtClean="0"/>
              <a:t>51</a:t>
            </a:fld>
            <a:endParaRPr lang="en-US"/>
          </a:p>
        </p:txBody>
      </p:sp>
    </p:spTree>
    <p:extLst>
      <p:ext uri="{BB962C8B-B14F-4D97-AF65-F5344CB8AC3E}">
        <p14:creationId xmlns:p14="http://schemas.microsoft.com/office/powerpoint/2010/main" val="23281617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a. RES0 và RES1 (2 bit):</a:t>
            </a:r>
          </a:p>
          <a:p>
            <a:pPr>
              <a:buFont typeface="Arial" panose="020B0604020202020204" pitchFamily="34" charset="0"/>
              <a:buChar char="•"/>
            </a:pPr>
            <a:r>
              <a:rPr lang="vi-VN" dirty="0"/>
              <a:t>Đây là hai </a:t>
            </a:r>
            <a:r>
              <a:rPr lang="vi-VN" b="1" dirty="0"/>
              <a:t>bit dự trữ (Reserved bits)</a:t>
            </a:r>
            <a:r>
              <a:rPr lang="vi-VN" dirty="0"/>
              <a:t>. Hiện tại, cả hai bit này đều được quy định phải đặt giá trị là </a:t>
            </a:r>
            <a:r>
              <a:rPr lang="vi-VN" b="1" dirty="0"/>
              <a:t>0</a:t>
            </a:r>
            <a:r>
              <a:rPr lang="vi-VN" dirty="0"/>
              <a:t>.</a:t>
            </a:r>
          </a:p>
          <a:p>
            <a:pPr>
              <a:buFont typeface="Arial" panose="020B0604020202020204" pitchFamily="34" charset="0"/>
              <a:buChar char="•"/>
            </a:pPr>
            <a:r>
              <a:rPr lang="vi-VN" dirty="0"/>
              <a:t>Các bit dự trữ thường không được sử dụng trong phiên bản hiện tại của giao thức. Tuy nhiên, chúng có thể được sử dụng cho các chức năng trong các phiên bản mở rộng hoặc cập nhật tương lai của CAN mà không cần thay đổi cấu trúc chính của khung.</a:t>
            </a:r>
          </a:p>
          <a:p>
            <a:r>
              <a:rPr lang="vi-VN" b="1" dirty="0"/>
              <a:t>b. DLC (Data Length Code - 4 bit):</a:t>
            </a:r>
          </a:p>
          <a:p>
            <a:pPr>
              <a:buFont typeface="Arial" panose="020B0604020202020204" pitchFamily="34" charset="0"/>
              <a:buChar char="•"/>
            </a:pPr>
            <a:r>
              <a:rPr lang="vi-VN" b="1" dirty="0"/>
              <a:t>DLC</a:t>
            </a:r>
            <a:r>
              <a:rPr lang="vi-VN" dirty="0"/>
              <a:t> là mã độ dài dữ liệu. Đây là </a:t>
            </a:r>
            <a:r>
              <a:rPr lang="vi-VN" b="1" dirty="0"/>
              <a:t>4 bit</a:t>
            </a:r>
            <a:r>
              <a:rPr lang="vi-VN" dirty="0"/>
              <a:t> chỉ định số lượng byte dữ liệu sẽ được truyền trong phần </a:t>
            </a:r>
            <a:r>
              <a:rPr lang="vi-VN" b="1" dirty="0"/>
              <a:t>Data Field</a:t>
            </a:r>
            <a:r>
              <a:rPr lang="vi-VN" dirty="0"/>
              <a:t> của khung.</a:t>
            </a:r>
          </a:p>
          <a:p>
            <a:pPr>
              <a:buFont typeface="Arial" panose="020B0604020202020204" pitchFamily="34" charset="0"/>
              <a:buChar char="•"/>
            </a:pPr>
            <a:r>
              <a:rPr lang="vi-VN" dirty="0"/>
              <a:t>Giá trị của DLC có thể từ </a:t>
            </a:r>
            <a:r>
              <a:rPr lang="vi-VN" b="1" dirty="0"/>
              <a:t>0</a:t>
            </a:r>
            <a:r>
              <a:rPr lang="vi-VN" dirty="0"/>
              <a:t> đến </a:t>
            </a:r>
            <a:r>
              <a:rPr lang="vi-VN" b="1" dirty="0"/>
              <a:t>8</a:t>
            </a:r>
            <a:r>
              <a:rPr lang="vi-VN" dirty="0"/>
              <a:t>, nghĩa là khung CAN có thể truyền tối đa 8 byte dữ liệu.</a:t>
            </a:r>
          </a:p>
          <a:p>
            <a:pPr>
              <a:buFont typeface="Arial" panose="020B0604020202020204" pitchFamily="34" charset="0"/>
              <a:buChar char="•"/>
            </a:pPr>
            <a:r>
              <a:rPr lang="vi-VN" dirty="0"/>
              <a:t>Ví dụ:</a:t>
            </a:r>
          </a:p>
          <a:p>
            <a:pPr marL="742950" lvl="1" indent="-285750">
              <a:buFont typeface="Arial" panose="020B0604020202020204" pitchFamily="34" charset="0"/>
              <a:buChar char="•"/>
            </a:pPr>
            <a:r>
              <a:rPr lang="vi-VN" dirty="0"/>
              <a:t>DLC = 0000 (0): Không có dữ liệu.</a:t>
            </a:r>
          </a:p>
          <a:p>
            <a:pPr marL="742950" lvl="1" indent="-285750">
              <a:buFont typeface="Arial" panose="020B0604020202020204" pitchFamily="34" charset="0"/>
              <a:buChar char="•"/>
            </a:pPr>
            <a:r>
              <a:rPr lang="vi-VN" dirty="0"/>
              <a:t>DLC = 1000 (8): 8 byte dữ liệu.</a:t>
            </a:r>
          </a:p>
        </p:txBody>
      </p:sp>
      <p:sp>
        <p:nvSpPr>
          <p:cNvPr id="4" name="Slide Number Placeholder 3"/>
          <p:cNvSpPr>
            <a:spLocks noGrp="1"/>
          </p:cNvSpPr>
          <p:nvPr>
            <p:ph type="sldNum" sz="quarter" idx="5"/>
          </p:nvPr>
        </p:nvSpPr>
        <p:spPr/>
        <p:txBody>
          <a:bodyPr/>
          <a:lstStyle/>
          <a:p>
            <a:fld id="{E80A4903-7EF3-44C4-B3A5-356E0A49B13F}" type="slidenum">
              <a:rPr lang="en-US" smtClean="0"/>
              <a:t>52</a:t>
            </a:fld>
            <a:endParaRPr lang="en-US"/>
          </a:p>
        </p:txBody>
      </p:sp>
    </p:spTree>
    <p:extLst>
      <p:ext uri="{BB962C8B-B14F-4D97-AF65-F5344CB8AC3E}">
        <p14:creationId xmlns:p14="http://schemas.microsoft.com/office/powerpoint/2010/main" val="3773888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Vì DLC chỉ có 4 bit, nó có thể có các giá trị từ 0000 (0) đến 1111 (15). Tuy nhiên, theo tiêu chuẩn của CAN, chỉ có các giá trị từ 0000 đến 1000 (0 đến 8) là hợp lệ cho việc chỉ định số lượng byte dữ liệu trong phần Data Field. Các giá trị lớn hơn (9 đến 15) không được sử dụng cho việc chỉ định số byte dữ liệu trong chuẩn CAN 2.0A và CAN 2.0B.</a:t>
            </a:r>
            <a:endParaRPr lang="en-US" dirty="0"/>
          </a:p>
          <a:p>
            <a:endParaRPr lang="en-US" dirty="0"/>
          </a:p>
          <a:p>
            <a:r>
              <a:rPr lang="en-US" b="1" dirty="0" err="1"/>
              <a:t>Kết</a:t>
            </a:r>
            <a:r>
              <a:rPr lang="en-US" b="1" dirty="0"/>
              <a:t> </a:t>
            </a:r>
            <a:r>
              <a:rPr lang="en-US" b="1" dirty="0" err="1"/>
              <a:t>hợp</a:t>
            </a:r>
            <a:r>
              <a:rPr lang="en-US" b="1" dirty="0"/>
              <a:t> </a:t>
            </a:r>
            <a:r>
              <a:rPr lang="en-US" b="1" dirty="0" err="1"/>
              <a:t>giữa</a:t>
            </a:r>
            <a:r>
              <a:rPr lang="en-US" b="1" dirty="0"/>
              <a:t> DLC </a:t>
            </a:r>
            <a:r>
              <a:rPr lang="en-US" b="1" dirty="0" err="1"/>
              <a:t>và</a:t>
            </a:r>
            <a:r>
              <a:rPr lang="en-US" b="1" dirty="0"/>
              <a:t> Data Field:</a:t>
            </a:r>
          </a:p>
          <a:p>
            <a:pPr>
              <a:buFont typeface="Arial" panose="020B0604020202020204" pitchFamily="34" charset="0"/>
              <a:buChar char="•"/>
            </a:pPr>
            <a:r>
              <a:rPr lang="en-US" dirty="0"/>
              <a:t>Khi </a:t>
            </a:r>
            <a:r>
              <a:rPr lang="en-US" b="1" dirty="0"/>
              <a:t>DLC = 0</a:t>
            </a:r>
            <a:r>
              <a:rPr lang="en-US" dirty="0"/>
              <a:t>, </a:t>
            </a:r>
            <a:r>
              <a:rPr lang="en-US" dirty="0" err="1"/>
              <a:t>không</a:t>
            </a:r>
            <a:r>
              <a:rPr lang="en-US" dirty="0"/>
              <a:t> </a:t>
            </a:r>
            <a:r>
              <a:rPr lang="en-US" dirty="0" err="1"/>
              <a:t>có</a:t>
            </a:r>
            <a:r>
              <a:rPr lang="en-US" dirty="0"/>
              <a:t> </a:t>
            </a:r>
            <a:r>
              <a:rPr lang="en-US" dirty="0" err="1"/>
              <a:t>dữ</a:t>
            </a:r>
            <a:r>
              <a:rPr lang="en-US" dirty="0"/>
              <a:t> </a:t>
            </a:r>
            <a:r>
              <a:rPr lang="en-US" dirty="0" err="1"/>
              <a:t>liệu</a:t>
            </a:r>
            <a:r>
              <a:rPr lang="en-US" dirty="0"/>
              <a:t> </a:t>
            </a:r>
            <a:r>
              <a:rPr lang="en-US" dirty="0" err="1"/>
              <a:t>trong</a:t>
            </a:r>
            <a:r>
              <a:rPr lang="en-US" dirty="0"/>
              <a:t> </a:t>
            </a:r>
            <a:r>
              <a:rPr lang="en-US" b="1" dirty="0"/>
              <a:t>Data Field</a:t>
            </a:r>
            <a:r>
              <a:rPr lang="en-US" dirty="0"/>
              <a:t>, </a:t>
            </a:r>
            <a:r>
              <a:rPr lang="en-US" dirty="0" err="1"/>
              <a:t>nghĩa</a:t>
            </a:r>
            <a:r>
              <a:rPr lang="en-US" dirty="0"/>
              <a:t> </a:t>
            </a:r>
            <a:r>
              <a:rPr lang="en-US" dirty="0" err="1"/>
              <a:t>là</a:t>
            </a:r>
            <a:r>
              <a:rPr lang="en-US" dirty="0"/>
              <a:t> </a:t>
            </a:r>
            <a:r>
              <a:rPr lang="en-US" dirty="0" err="1"/>
              <a:t>khung</a:t>
            </a:r>
            <a:r>
              <a:rPr lang="en-US" dirty="0"/>
              <a:t> </a:t>
            </a:r>
            <a:r>
              <a:rPr lang="en-US" dirty="0" err="1"/>
              <a:t>chỉ</a:t>
            </a:r>
            <a:r>
              <a:rPr lang="en-US" dirty="0"/>
              <a:t> </a:t>
            </a:r>
            <a:r>
              <a:rPr lang="en-US" dirty="0" err="1"/>
              <a:t>có</a:t>
            </a:r>
            <a:r>
              <a:rPr lang="en-US" dirty="0"/>
              <a:t> </a:t>
            </a:r>
            <a:r>
              <a:rPr lang="en-US" dirty="0" err="1"/>
              <a:t>mục</a:t>
            </a:r>
            <a:r>
              <a:rPr lang="en-US" dirty="0"/>
              <a:t> </a:t>
            </a:r>
            <a:r>
              <a:rPr lang="en-US" dirty="0" err="1"/>
              <a:t>đích</a:t>
            </a:r>
            <a:r>
              <a:rPr lang="en-US" dirty="0"/>
              <a:t> </a:t>
            </a:r>
            <a:r>
              <a:rPr lang="en-US" dirty="0" err="1"/>
              <a:t>trao</a:t>
            </a:r>
            <a:r>
              <a:rPr lang="en-US" dirty="0"/>
              <a:t> </a:t>
            </a:r>
            <a:r>
              <a:rPr lang="en-US" dirty="0" err="1"/>
              <a:t>đổi</a:t>
            </a:r>
            <a:r>
              <a:rPr lang="en-US" dirty="0"/>
              <a:t> </a:t>
            </a:r>
            <a:r>
              <a:rPr lang="en-US" dirty="0" err="1"/>
              <a:t>các</a:t>
            </a:r>
            <a:r>
              <a:rPr lang="en-US" dirty="0"/>
              <a:t> </a:t>
            </a:r>
            <a:r>
              <a:rPr lang="en-US" dirty="0" err="1"/>
              <a:t>thông</a:t>
            </a:r>
            <a:r>
              <a:rPr lang="en-US" dirty="0"/>
              <a:t> tin </a:t>
            </a:r>
            <a:r>
              <a:rPr lang="en-US" dirty="0" err="1"/>
              <a:t>điều</a:t>
            </a:r>
            <a:r>
              <a:rPr lang="en-US" dirty="0"/>
              <a:t> </a:t>
            </a:r>
            <a:r>
              <a:rPr lang="en-US" dirty="0" err="1"/>
              <a:t>khiển</a:t>
            </a:r>
            <a:r>
              <a:rPr lang="en-US" dirty="0"/>
              <a:t>, </a:t>
            </a:r>
            <a:r>
              <a:rPr lang="en-US" dirty="0" err="1"/>
              <a:t>không</a:t>
            </a:r>
            <a:r>
              <a:rPr lang="en-US" dirty="0"/>
              <a:t> </a:t>
            </a:r>
            <a:r>
              <a:rPr lang="en-US" dirty="0" err="1"/>
              <a:t>chứa</a:t>
            </a:r>
            <a:r>
              <a:rPr lang="en-US" dirty="0"/>
              <a:t> </a:t>
            </a:r>
            <a:r>
              <a:rPr lang="en-US" dirty="0" err="1"/>
              <a:t>dữ</a:t>
            </a:r>
            <a:r>
              <a:rPr lang="en-US" dirty="0"/>
              <a:t> </a:t>
            </a:r>
            <a:r>
              <a:rPr lang="en-US" dirty="0" err="1"/>
              <a:t>liệu</a:t>
            </a:r>
            <a:r>
              <a:rPr lang="en-US" dirty="0"/>
              <a:t> </a:t>
            </a:r>
            <a:r>
              <a:rPr lang="en-US" dirty="0" err="1"/>
              <a:t>thực</a:t>
            </a:r>
            <a:r>
              <a:rPr lang="en-US" dirty="0"/>
              <a:t> </a:t>
            </a:r>
            <a:r>
              <a:rPr lang="en-US" dirty="0" err="1"/>
              <a:t>tế</a:t>
            </a:r>
            <a:r>
              <a:rPr lang="en-US" dirty="0"/>
              <a:t>.</a:t>
            </a:r>
          </a:p>
          <a:p>
            <a:pPr>
              <a:buFont typeface="Arial" panose="020B0604020202020204" pitchFamily="34" charset="0"/>
              <a:buChar char="•"/>
            </a:pPr>
            <a:r>
              <a:rPr lang="en-US" dirty="0"/>
              <a:t>Khi </a:t>
            </a:r>
            <a:r>
              <a:rPr lang="en-US" b="1" dirty="0"/>
              <a:t>DLC = 8</a:t>
            </a:r>
            <a:r>
              <a:rPr lang="en-US" dirty="0"/>
              <a:t>, </a:t>
            </a:r>
            <a:r>
              <a:rPr lang="en-US" dirty="0" err="1"/>
              <a:t>phần</a:t>
            </a:r>
            <a:r>
              <a:rPr lang="en-US" dirty="0"/>
              <a:t> </a:t>
            </a:r>
            <a:r>
              <a:rPr lang="en-US" b="1" dirty="0"/>
              <a:t>Data Field</a:t>
            </a:r>
            <a:r>
              <a:rPr lang="en-US" dirty="0"/>
              <a:t> </a:t>
            </a:r>
            <a:r>
              <a:rPr lang="en-US" dirty="0" err="1"/>
              <a:t>có</a:t>
            </a:r>
            <a:r>
              <a:rPr lang="en-US" dirty="0"/>
              <a:t> </a:t>
            </a:r>
            <a:r>
              <a:rPr lang="en-US" dirty="0" err="1"/>
              <a:t>tối</a:t>
            </a:r>
            <a:r>
              <a:rPr lang="en-US" dirty="0"/>
              <a:t> </a:t>
            </a:r>
            <a:r>
              <a:rPr lang="en-US" dirty="0" err="1"/>
              <a:t>đa</a:t>
            </a:r>
            <a:r>
              <a:rPr lang="en-US" dirty="0"/>
              <a:t> 8 byte </a:t>
            </a:r>
            <a:r>
              <a:rPr lang="en-US" dirty="0" err="1"/>
              <a:t>dữ</a:t>
            </a:r>
            <a:r>
              <a:rPr lang="en-US" dirty="0"/>
              <a:t> </a:t>
            </a:r>
            <a:r>
              <a:rPr lang="en-US" dirty="0" err="1"/>
              <a:t>liệu</a:t>
            </a:r>
            <a:r>
              <a:rPr lang="en-US" dirty="0"/>
              <a:t>.</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53</a:t>
            </a:fld>
            <a:endParaRPr lang="en-US"/>
          </a:p>
        </p:txBody>
      </p:sp>
    </p:spTree>
    <p:extLst>
      <p:ext uri="{BB962C8B-B14F-4D97-AF65-F5344CB8AC3E}">
        <p14:creationId xmlns:p14="http://schemas.microsoft.com/office/powerpoint/2010/main" val="35071881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Data Field là trường chứa dữ liệu thực được truyền trong khung CAN. Đây là nơi lưu trữ các byte dữ liệu có thể là thông tin cảm biến, trạng thái hệ thống, hoặc bất kỳ dữ liệu nào mà các thiết bị trong mạng CAN cần truyền tải qua lại.</a:t>
            </a:r>
          </a:p>
          <a:p>
            <a:endParaRPr lang="vi-VN" dirty="0"/>
          </a:p>
          <a:p>
            <a:endParaRPr lang="vi-VN" dirty="0"/>
          </a:p>
          <a:p>
            <a:r>
              <a:rPr lang="vi-VN" dirty="0"/>
              <a:t>Vùng này có độ dài từ 0 đến 8 byte tùy vào giá trị của DLC ở vùng điều khiển.</a:t>
            </a:r>
            <a:endParaRPr lang="en-US" dirty="0"/>
          </a:p>
          <a:p>
            <a:endParaRPr lang="vi-VN" dirty="0"/>
          </a:p>
          <a:p>
            <a:r>
              <a:rPr lang="vi-VN" dirty="0"/>
              <a:t>Mỗi byte có 8 bit dữ liệu với bit MSB được truyền trước.</a:t>
            </a:r>
            <a:endParaRPr lang="en-US" dirty="0"/>
          </a:p>
          <a:p>
            <a:endParaRPr lang="en-US" dirty="0"/>
          </a:p>
          <a:p>
            <a:r>
              <a:rPr lang="vi-VN" b="1" dirty="0"/>
              <a:t>Vị trí của Data Field trong khung CAN:</a:t>
            </a:r>
          </a:p>
          <a:p>
            <a:r>
              <a:rPr lang="vi-VN" dirty="0"/>
              <a:t>Data Field nằm sau trường </a:t>
            </a:r>
            <a:r>
              <a:rPr lang="vi-VN" b="1" dirty="0"/>
              <a:t>Control Field</a:t>
            </a:r>
            <a:r>
              <a:rPr lang="vi-VN" dirty="0"/>
              <a:t> và trước trường </a:t>
            </a:r>
            <a:r>
              <a:rPr lang="vi-VN" b="1" dirty="0"/>
              <a:t>CRC Field</a:t>
            </a:r>
            <a:r>
              <a:rPr lang="vi-VN" dirty="0"/>
              <a:t> trong cấu trúc khung CAN.</a:t>
            </a:r>
          </a:p>
          <a:p>
            <a:pPr>
              <a:buFont typeface="Arial" panose="020B0604020202020204" pitchFamily="34" charset="0"/>
              <a:buChar char="•"/>
            </a:pPr>
            <a:r>
              <a:rPr lang="vi-VN" b="1" dirty="0"/>
              <a:t>Trong khung tiêu chuẩn (Standard Frame)</a:t>
            </a:r>
            <a:r>
              <a:rPr lang="vi-VN" dirty="0"/>
              <a:t>:</a:t>
            </a:r>
          </a:p>
          <a:p>
            <a:pPr marL="742950" lvl="1" indent="-285750">
              <a:buFont typeface="Arial" panose="020B0604020202020204" pitchFamily="34" charset="0"/>
              <a:buChar char="•"/>
            </a:pPr>
            <a:r>
              <a:rPr lang="vi-VN" dirty="0"/>
              <a:t>Data Field sẽ xuất hiện sau </a:t>
            </a:r>
            <a:r>
              <a:rPr lang="vi-VN" b="1" dirty="0"/>
              <a:t>Control Field</a:t>
            </a:r>
            <a:r>
              <a:rPr lang="vi-VN" dirty="0"/>
              <a:t>.</a:t>
            </a:r>
          </a:p>
          <a:p>
            <a:pPr>
              <a:buFont typeface="Arial" panose="020B0604020202020204" pitchFamily="34" charset="0"/>
              <a:buChar char="•"/>
            </a:pPr>
            <a:r>
              <a:rPr lang="vi-VN" b="1" dirty="0"/>
              <a:t>Trong khung mở rộng (Extended Frame)</a:t>
            </a:r>
            <a:r>
              <a:rPr lang="vi-VN" dirty="0"/>
              <a:t>:</a:t>
            </a:r>
          </a:p>
          <a:p>
            <a:pPr marL="742950" lvl="1" indent="-285750">
              <a:buFont typeface="Arial" panose="020B0604020202020204" pitchFamily="34" charset="0"/>
              <a:buChar char="•"/>
            </a:pPr>
            <a:r>
              <a:rPr lang="vi-VN" dirty="0"/>
              <a:t>Data Field cũng xuất hiện sau </a:t>
            </a:r>
            <a:r>
              <a:rPr lang="vi-VN" b="1" dirty="0"/>
              <a:t>Control Field</a:t>
            </a:r>
            <a:r>
              <a:rPr lang="vi-VN" dirty="0"/>
              <a:t>, nhưng ở vị trí xa hơn do có phần </a:t>
            </a:r>
            <a:r>
              <a:rPr lang="vi-VN" b="1" dirty="0"/>
              <a:t>Identifier</a:t>
            </a:r>
            <a:r>
              <a:rPr lang="vi-VN" dirty="0"/>
              <a:t> dài hơn.</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54</a:t>
            </a:fld>
            <a:endParaRPr lang="en-US"/>
          </a:p>
        </p:txBody>
      </p:sp>
    </p:spTree>
    <p:extLst>
      <p:ext uri="{BB962C8B-B14F-4D97-AF65-F5344CB8AC3E}">
        <p14:creationId xmlns:p14="http://schemas.microsoft.com/office/powerpoint/2010/main" val="13346516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55</a:t>
            </a:fld>
            <a:endParaRPr lang="en-US"/>
          </a:p>
        </p:txBody>
      </p:sp>
    </p:spTree>
    <p:extLst>
      <p:ext uri="{BB962C8B-B14F-4D97-AF65-F5344CB8AC3E}">
        <p14:creationId xmlns:p14="http://schemas.microsoft.com/office/powerpoint/2010/main" val="41157137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56</a:t>
            </a:fld>
            <a:endParaRPr lang="en-US"/>
          </a:p>
        </p:txBody>
      </p:sp>
    </p:spTree>
    <p:extLst>
      <p:ext uri="{BB962C8B-B14F-4D97-AF65-F5344CB8AC3E}">
        <p14:creationId xmlns:p14="http://schemas.microsoft.com/office/powerpoint/2010/main" val="9680976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57</a:t>
            </a:fld>
            <a:endParaRPr lang="en-US"/>
          </a:p>
        </p:txBody>
      </p:sp>
    </p:spTree>
    <p:extLst>
      <p:ext uri="{BB962C8B-B14F-4D97-AF65-F5344CB8AC3E}">
        <p14:creationId xmlns:p14="http://schemas.microsoft.com/office/powerpoint/2010/main" val="33979113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58</a:t>
            </a:fld>
            <a:endParaRPr lang="en-US"/>
          </a:p>
        </p:txBody>
      </p:sp>
    </p:spTree>
    <p:extLst>
      <p:ext uri="{BB962C8B-B14F-4D97-AF65-F5344CB8AC3E}">
        <p14:creationId xmlns:p14="http://schemas.microsoft.com/office/powerpoint/2010/main" val="40502687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59</a:t>
            </a:fld>
            <a:endParaRPr lang="en-US"/>
          </a:p>
        </p:txBody>
      </p:sp>
    </p:spTree>
    <p:extLst>
      <p:ext uri="{BB962C8B-B14F-4D97-AF65-F5344CB8AC3E}">
        <p14:creationId xmlns:p14="http://schemas.microsoft.com/office/powerpoint/2010/main" val="32034640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60</a:t>
            </a:fld>
            <a:endParaRPr lang="en-US"/>
          </a:p>
        </p:txBody>
      </p:sp>
    </p:spTree>
    <p:extLst>
      <p:ext uri="{BB962C8B-B14F-4D97-AF65-F5344CB8AC3E}">
        <p14:creationId xmlns:p14="http://schemas.microsoft.com/office/powerpoint/2010/main" val="16248536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61</a:t>
            </a:fld>
            <a:endParaRPr lang="en-US"/>
          </a:p>
        </p:txBody>
      </p:sp>
    </p:spTree>
    <p:extLst>
      <p:ext uri="{BB962C8B-B14F-4D97-AF65-F5344CB8AC3E}">
        <p14:creationId xmlns:p14="http://schemas.microsoft.com/office/powerpoint/2010/main" val="7029662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62</a:t>
            </a:fld>
            <a:endParaRPr lang="en-US"/>
          </a:p>
        </p:txBody>
      </p:sp>
    </p:spTree>
    <p:extLst>
      <p:ext uri="{BB962C8B-B14F-4D97-AF65-F5344CB8AC3E}">
        <p14:creationId xmlns:p14="http://schemas.microsoft.com/office/powerpoint/2010/main" val="2322899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63</a:t>
            </a:fld>
            <a:endParaRPr lang="en-US"/>
          </a:p>
        </p:txBody>
      </p:sp>
    </p:spTree>
    <p:extLst>
      <p:ext uri="{BB962C8B-B14F-4D97-AF65-F5344CB8AC3E}">
        <p14:creationId xmlns:p14="http://schemas.microsoft.com/office/powerpoint/2010/main" val="14005943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64</a:t>
            </a:fld>
            <a:endParaRPr lang="en-US"/>
          </a:p>
        </p:txBody>
      </p:sp>
    </p:spTree>
    <p:extLst>
      <p:ext uri="{BB962C8B-B14F-4D97-AF65-F5344CB8AC3E}">
        <p14:creationId xmlns:p14="http://schemas.microsoft.com/office/powerpoint/2010/main" val="37538093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65</a:t>
            </a:fld>
            <a:endParaRPr lang="en-US"/>
          </a:p>
        </p:txBody>
      </p:sp>
    </p:spTree>
    <p:extLst>
      <p:ext uri="{BB962C8B-B14F-4D97-AF65-F5344CB8AC3E}">
        <p14:creationId xmlns:p14="http://schemas.microsoft.com/office/powerpoint/2010/main" val="32878236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CRC (Cyclic Redundancy Check)</a:t>
            </a:r>
            <a:r>
              <a:rPr lang="vi-VN" dirty="0"/>
              <a:t> là một trường trong khung CAN được sử dụng để </a:t>
            </a:r>
            <a:r>
              <a:rPr lang="vi-VN" b="1" dirty="0"/>
              <a:t>phát hiện lỗi</a:t>
            </a:r>
            <a:r>
              <a:rPr lang="vi-VN" dirty="0"/>
              <a:t> trong quá trình truyền dữ liệu. CRC giúp đảm bảo rằng dữ liệu được truyền qua mạng CAN không bị thay đổi hoặc hỏng hóc do nhiễu hoặc các vấn đề khác trong quá trình truyền.</a:t>
            </a:r>
            <a:endParaRPr lang="en-US" dirty="0"/>
          </a:p>
          <a:p>
            <a:endParaRPr lang="en-US" dirty="0"/>
          </a:p>
          <a:p>
            <a:r>
              <a:rPr lang="vi-VN" b="0" i="0" dirty="0">
                <a:solidFill>
                  <a:srgbClr val="333333"/>
                </a:solidFill>
                <a:effectLst/>
                <a:latin typeface="Arial" panose="020B0604020202020204" pitchFamily="34" charset="0"/>
              </a:rPr>
              <a:t>Vùng kiểm tra hay vùng CRC gồm 16 bit và được chia làm hai phần là chuỗi CRC (CRC Sequence) và phần phân cách CRC (CRC Delimiter).</a:t>
            </a:r>
            <a:endParaRPr lang="en-US" b="0" i="0" dirty="0">
              <a:solidFill>
                <a:srgbClr val="333333"/>
              </a:solidFill>
              <a:effectLst/>
              <a:latin typeface="Arial" panose="020B0604020202020204" pitchFamily="34" charset="0"/>
            </a:endParaRPr>
          </a:p>
          <a:p>
            <a:endParaRPr lang="en-US" b="0" i="0" dirty="0">
              <a:solidFill>
                <a:srgbClr val="333333"/>
              </a:solidFill>
              <a:effectLst/>
              <a:latin typeface="Arial" panose="020B0604020202020204" pitchFamily="34" charset="0"/>
            </a:endParaRPr>
          </a:p>
          <a:p>
            <a:r>
              <a:rPr lang="vi-VN" b="1" dirty="0"/>
              <a:t>Vị trí của CRC trong khung CAN:</a:t>
            </a:r>
          </a:p>
          <a:p>
            <a:r>
              <a:rPr lang="vi-VN" dirty="0"/>
              <a:t>Trường </a:t>
            </a:r>
            <a:r>
              <a:rPr lang="vi-VN" b="1" dirty="0"/>
              <a:t>CRC</a:t>
            </a:r>
            <a:r>
              <a:rPr lang="vi-VN" dirty="0"/>
              <a:t> nằm sau </a:t>
            </a:r>
            <a:r>
              <a:rPr lang="vi-VN" b="1" dirty="0"/>
              <a:t>Data Field</a:t>
            </a:r>
            <a:r>
              <a:rPr lang="vi-VN" dirty="0"/>
              <a:t> và trước </a:t>
            </a:r>
            <a:r>
              <a:rPr lang="vi-VN" b="1" dirty="0"/>
              <a:t>ACK Field</a:t>
            </a:r>
            <a:r>
              <a:rPr lang="vi-VN" dirty="0"/>
              <a:t> trong khung CAN. Nó bao gồm hai phần:</a:t>
            </a:r>
          </a:p>
          <a:p>
            <a:pPr>
              <a:buFont typeface="Arial" panose="020B0604020202020204" pitchFamily="34" charset="0"/>
              <a:buChar char="•"/>
            </a:pPr>
            <a:r>
              <a:rPr lang="vi-VN" b="1" dirty="0"/>
              <a:t>CRC Field</a:t>
            </a:r>
            <a:r>
              <a:rPr lang="vi-VN" dirty="0"/>
              <a:t>: Chứa giá trị CRC được tính toán từ dữ liệu khung.</a:t>
            </a:r>
          </a:p>
          <a:p>
            <a:pPr>
              <a:buFont typeface="Arial" panose="020B0604020202020204" pitchFamily="34" charset="0"/>
              <a:buChar char="•"/>
            </a:pPr>
            <a:r>
              <a:rPr lang="vi-VN" b="1" dirty="0"/>
              <a:t>CRC Delimiter</a:t>
            </a:r>
            <a:r>
              <a:rPr lang="vi-VN" dirty="0"/>
              <a:t>: Là một bit cố định, luôn bằng </a:t>
            </a:r>
            <a:r>
              <a:rPr lang="vi-VN" b="1" dirty="0"/>
              <a:t>1</a:t>
            </a:r>
            <a:r>
              <a:rPr lang="vi-VN" dirty="0"/>
              <a:t>, ngăn cách trường CRC và ACK.</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0" i="1" dirty="0">
                <a:solidFill>
                  <a:srgbClr val="333333"/>
                </a:solidFill>
                <a:effectLst/>
                <a:latin typeface="Arial" panose="020B0604020202020204" pitchFamily="34" charset="0"/>
              </a:rPr>
              <a:t>CRC delimiter: </a:t>
            </a:r>
            <a:r>
              <a:rPr lang="en-US" b="0" i="0" dirty="0" err="1">
                <a:solidFill>
                  <a:srgbClr val="333333"/>
                </a:solidFill>
                <a:effectLst/>
                <a:latin typeface="Arial" panose="020B0604020202020204" pitchFamily="34" charset="0"/>
              </a:rPr>
              <a:t>theo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ngay</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sau</a:t>
            </a:r>
            <a:r>
              <a:rPr lang="en-US" b="0" i="0" dirty="0">
                <a:solidFill>
                  <a:srgbClr val="333333"/>
                </a:solidFill>
                <a:effectLst/>
                <a:latin typeface="Arial" panose="020B0604020202020204" pitchFamily="34" charset="0"/>
              </a:rPr>
              <a:t> CRC sequence, </a:t>
            </a:r>
            <a:r>
              <a:rPr lang="en-US" b="0" i="0" dirty="0" err="1">
                <a:solidFill>
                  <a:srgbClr val="333333"/>
                </a:solidFill>
                <a:effectLst/>
                <a:latin typeface="Arial" panose="020B0604020202020204" pitchFamily="34" charset="0"/>
              </a:rPr>
              <a:t>nó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một</a:t>
            </a:r>
            <a:r>
              <a:rPr lang="en-US" b="0" i="0" dirty="0">
                <a:solidFill>
                  <a:srgbClr val="333333"/>
                </a:solidFill>
                <a:effectLst/>
                <a:latin typeface="Arial" panose="020B0604020202020204" pitchFamily="34" charset="0"/>
              </a:rPr>
              <a:t> bit recessive </a:t>
            </a:r>
            <a:r>
              <a:rPr lang="en-US" b="0" i="0" dirty="0" err="1">
                <a:solidFill>
                  <a:srgbClr val="333333"/>
                </a:solidFill>
                <a:effectLst/>
                <a:latin typeface="Arial" panose="020B0604020202020204" pitchFamily="34" charset="0"/>
              </a:rPr>
              <a:t>làm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nhiệm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vụ</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CRC </a:t>
            </a:r>
            <a:r>
              <a:rPr lang="en-US" b="0" i="0" dirty="0" err="1">
                <a:solidFill>
                  <a:srgbClr val="333333"/>
                </a:solidFill>
                <a:effectLst/>
                <a:latin typeface="Arial" panose="020B0604020202020204" pitchFamily="34" charset="0"/>
              </a:rPr>
              <a:t>với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a:t>
            </a:r>
            <a:endParaRPr lang="vi-VN" dirty="0"/>
          </a:p>
          <a:p>
            <a:endParaRPr lang="en-US" dirty="0"/>
          </a:p>
          <a:p>
            <a:endParaRPr lang="en-US" dirty="0"/>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66</a:t>
            </a:fld>
            <a:endParaRPr lang="en-US"/>
          </a:p>
        </p:txBody>
      </p:sp>
    </p:spTree>
    <p:extLst>
      <p:ext uri="{BB962C8B-B14F-4D97-AF65-F5344CB8AC3E}">
        <p14:creationId xmlns:p14="http://schemas.microsoft.com/office/powerpoint/2010/main" val="31300892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báo</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nhận</a:t>
            </a:r>
            <a:r>
              <a:rPr lang="en-US" b="0" i="0" dirty="0">
                <a:solidFill>
                  <a:srgbClr val="333333"/>
                </a:solidFill>
                <a:effectLst/>
                <a:latin typeface="Arial" panose="020B0604020202020204" pitchFamily="34" charset="0"/>
              </a:rPr>
              <a:t> hay </a:t>
            </a:r>
            <a:r>
              <a:rPr lang="en-US" b="0" i="0" dirty="0" err="1">
                <a:solidFill>
                  <a:srgbClr val="333333"/>
                </a:solidFill>
                <a:effectLst/>
                <a:latin typeface="Arial" panose="020B0604020202020204" pitchFamily="34" charset="0"/>
              </a:rPr>
              <a:t>vùng</a:t>
            </a:r>
            <a:r>
              <a:rPr lang="en-US" b="0" i="0" dirty="0">
                <a:solidFill>
                  <a:srgbClr val="333333"/>
                </a:solidFill>
                <a:effectLst/>
                <a:latin typeface="Arial" panose="020B0604020202020204" pitchFamily="34" charset="0"/>
              </a:rPr>
              <a:t> ACK </a:t>
            </a:r>
            <a:r>
              <a:rPr lang="en-US" b="0" i="0" dirty="0" err="1">
                <a:solidFill>
                  <a:srgbClr val="333333"/>
                </a:solidFill>
                <a:effectLst/>
                <a:latin typeface="Arial" panose="020B0604020202020204" pitchFamily="34" charset="0"/>
              </a:rPr>
              <a:t>có</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độ</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dài</a:t>
            </a:r>
            <a:r>
              <a:rPr lang="en-US" b="0" i="0" dirty="0">
                <a:solidFill>
                  <a:srgbClr val="333333"/>
                </a:solidFill>
                <a:effectLst/>
                <a:latin typeface="Arial" panose="020B0604020202020204" pitchFamily="34" charset="0"/>
              </a:rPr>
              <a:t> 2 bit </a:t>
            </a:r>
            <a:r>
              <a:rPr lang="en-US" b="0" i="0" dirty="0" err="1">
                <a:solidFill>
                  <a:srgbClr val="333333"/>
                </a:solidFill>
                <a:effectLst/>
                <a:latin typeface="Arial" panose="020B0604020202020204" pitchFamily="34" charset="0"/>
              </a:rPr>
              <a:t>và</a:t>
            </a:r>
            <a:r>
              <a:rPr lang="en-US" b="0" i="0" dirty="0">
                <a:solidFill>
                  <a:srgbClr val="333333"/>
                </a:solidFill>
                <a:effectLst/>
                <a:latin typeface="Arial" panose="020B0604020202020204" pitchFamily="34" charset="0"/>
              </a:rPr>
              <a:t> bao </a:t>
            </a:r>
            <a:r>
              <a:rPr lang="en-US" b="0" i="0" dirty="0" err="1">
                <a:solidFill>
                  <a:srgbClr val="333333"/>
                </a:solidFill>
                <a:effectLst/>
                <a:latin typeface="Arial" panose="020B0604020202020204" pitchFamily="34" charset="0"/>
              </a:rPr>
              <a:t>gồm</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hai</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phần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là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khe</a:t>
            </a:r>
            <a:r>
              <a:rPr lang="en-US" b="0" i="0" dirty="0">
                <a:solidFill>
                  <a:srgbClr val="333333"/>
                </a:solidFill>
                <a:effectLst/>
                <a:latin typeface="Arial" panose="020B0604020202020204" pitchFamily="34" charset="0"/>
              </a:rPr>
              <a:t> ACK’ (ACK slot) </a:t>
            </a:r>
            <a:r>
              <a:rPr lang="en-US" b="0" i="0" dirty="0" err="1">
                <a:solidFill>
                  <a:srgbClr val="333333"/>
                </a:solidFill>
                <a:effectLst/>
                <a:latin typeface="Arial" panose="020B0604020202020204" pitchFamily="34" charset="0"/>
              </a:rPr>
              <a:t>và</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phần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phân</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cách</a:t>
            </a:r>
            <a:r>
              <a:rPr lang="en-US" b="0" i="0" dirty="0">
                <a:solidFill>
                  <a:srgbClr val="333333"/>
                </a:solidFill>
                <a:effectLst/>
                <a:latin typeface="Arial" panose="020B0604020202020204" pitchFamily="34" charset="0"/>
              </a:rPr>
              <a:t> ACK (ACK delimiter)</a:t>
            </a:r>
          </a:p>
          <a:p>
            <a:endParaRPr lang="en-US" b="0" i="0" dirty="0">
              <a:solidFill>
                <a:srgbClr val="333333"/>
              </a:solidFill>
              <a:effectLst/>
              <a:latin typeface="Arial" panose="020B0604020202020204" pitchFamily="34" charset="0"/>
            </a:endParaRPr>
          </a:p>
          <a:p>
            <a:pPr algn="just"/>
            <a:r>
              <a:rPr lang="vi-VN" b="0" i="0" dirty="0">
                <a:solidFill>
                  <a:srgbClr val="333333"/>
                </a:solidFill>
                <a:effectLst/>
                <a:latin typeface="Arial" panose="020B0604020202020204" pitchFamily="34" charset="0"/>
              </a:rPr>
              <a:t>ACK slot: có độ dài 1 bit, một Node truyền dữ liệu sẽ thiết lập bit này là recessive. Khi một hoặc nhiều Node nhận chính xác giá trị thông điệp (không lỗi và so sánh CRC sequence trùng khớp) thì nó sẽ báo lại cho bộ truyền bằng cách truyền ra một bit dominant ngay vị trí ACK slot để ghi đè lên bit recessive của bộ truyền.</a:t>
            </a:r>
          </a:p>
          <a:p>
            <a:pPr algn="just"/>
            <a:br>
              <a:rPr lang="vi-VN" b="0" i="0" dirty="0">
                <a:solidFill>
                  <a:srgbClr val="333333"/>
                </a:solidFill>
                <a:effectLst/>
                <a:latin typeface="Arial" panose="020B0604020202020204" pitchFamily="34" charset="0"/>
              </a:rPr>
            </a:br>
            <a:endParaRPr lang="vi-VN" b="0" i="0" dirty="0">
              <a:solidFill>
                <a:srgbClr val="333333"/>
              </a:solidFill>
              <a:effectLst/>
              <a:latin typeface="Arial" panose="020B0604020202020204" pitchFamily="34" charset="0"/>
            </a:endParaRPr>
          </a:p>
          <a:p>
            <a:pPr algn="just"/>
            <a:r>
              <a:rPr lang="vi-VN" b="0" i="0" dirty="0">
                <a:solidFill>
                  <a:srgbClr val="333333"/>
                </a:solidFill>
                <a:effectLst/>
                <a:latin typeface="Arial" panose="020B0604020202020204" pitchFamily="34" charset="0"/>
              </a:rPr>
              <a:t>ACK delimiter: có độ dài 1 bit, nó luôn là một bit recessive. Như vậy, ta thấy rằng ACK slot luôn được đặt giữa hai bit recessive là CRC delimiter và ACK delimiter.</a:t>
            </a:r>
          </a:p>
          <a:p>
            <a:br>
              <a:rPr lang="vi-VN" b="0" i="0">
                <a:solidFill>
                  <a:srgbClr val="333333"/>
                </a:solidFill>
                <a:effectLst/>
                <a:latin typeface="Arial" panose="020B0604020202020204" pitchFamily="34" charset="0"/>
              </a:rPr>
            </a:br>
            <a:r>
              <a:rPr lang="vi-VN" b="1">
                <a:effectLst/>
              </a:rPr>
              <a:t>Mục đích chính của Bit Delimiter</a:t>
            </a:r>
            <a:r>
              <a:rPr lang="vi-VN">
                <a:effectLst/>
              </a:rPr>
              <a:t>:</a:t>
            </a:r>
          </a:p>
          <a:p>
            <a:pPr>
              <a:buFont typeface="+mj-lt"/>
              <a:buAutoNum type="arabicPeriod"/>
            </a:pPr>
            <a:r>
              <a:rPr lang="vi-VN" b="1"/>
              <a:t>Đảm bảo có bit transition (sự chuyển cạnh)</a:t>
            </a:r>
            <a:endParaRPr lang="vi-VN"/>
          </a:p>
          <a:p>
            <a:pPr marL="742950" lvl="1" indent="-285750">
              <a:buFont typeface="+mj-lt"/>
              <a:buAutoNum type="arabicPeriod"/>
            </a:pPr>
            <a:r>
              <a:rPr lang="vi-VN"/>
              <a:t>Ngay cả ở những phần không stuffing, vẫn phải có ít nhất một recessive bit để tạo cạnh → giúp các node nhận tiếp tục đồng bộ clock chính xác.</a:t>
            </a:r>
          </a:p>
          <a:p>
            <a:pPr>
              <a:buFont typeface="+mj-lt"/>
              <a:buAutoNum type="arabicPeriod"/>
            </a:pPr>
            <a:r>
              <a:rPr lang="vi-VN" b="1"/>
              <a:t>Phân cách rõ ràng giữa các trường (fields) trong frame</a:t>
            </a:r>
            <a:endParaRPr lang="vi-VN"/>
          </a:p>
          <a:p>
            <a:pPr marL="742950" lvl="1" indent="-285750">
              <a:buFont typeface="+mj-lt"/>
              <a:buAutoNum type="arabicPeriod"/>
            </a:pPr>
            <a:r>
              <a:rPr lang="vi-VN"/>
              <a:t>CRC Delimiter: Cho phép các node có thời gian tính toán và kiểm tra CRC xong trước khi sang phần ACK.</a:t>
            </a:r>
          </a:p>
          <a:p>
            <a:pPr marL="742950" lvl="1" indent="-285750">
              <a:buFont typeface="+mj-lt"/>
              <a:buAutoNum type="arabicPeriod"/>
            </a:pPr>
            <a:r>
              <a:rPr lang="vi-VN"/>
              <a:t>ACK Delimiter: Phân cách giữa slot ACK và EOF.</a:t>
            </a:r>
          </a:p>
          <a:p>
            <a:pPr marL="742950" lvl="1" indent="-285750">
              <a:buFont typeface="+mj-lt"/>
              <a:buAutoNum type="arabicPeriod"/>
            </a:pPr>
            <a:r>
              <a:rPr lang="vi-VN"/>
              <a:t>EOF (7 recessive): Đánh dấu </a:t>
            </a:r>
            <a:r>
              <a:rPr lang="vi-VN" b="1"/>
              <a:t>kết thúc hoàn toàn</a:t>
            </a:r>
            <a:r>
              <a:rPr lang="vi-VN"/>
              <a:t> một frame. Nếu có dominant bit xuất hiện trong EOF → coi là </a:t>
            </a:r>
            <a:r>
              <a:rPr lang="vi-VN" b="1"/>
              <a:t>Form Error</a:t>
            </a:r>
            <a:r>
              <a:rPr lang="vi-VN"/>
              <a:t> (lỗi dạng thức).</a:t>
            </a:r>
          </a:p>
          <a:p>
            <a:pPr>
              <a:buFont typeface="+mj-lt"/>
              <a:buAutoNum type="arabicPeriod"/>
            </a:pPr>
            <a:r>
              <a:rPr lang="vi-VN" b="1"/>
              <a:t>Hỗ trợ phát hiện lỗi (Error Detection)</a:t>
            </a:r>
            <a:endParaRPr lang="vi-VN"/>
          </a:p>
          <a:p>
            <a:pPr marL="742950" lvl="1" indent="-285750">
              <a:buFont typeface="+mj-lt"/>
              <a:buAutoNum type="arabicPeriod"/>
            </a:pPr>
            <a:r>
              <a:rPr lang="vi-VN"/>
              <a:t>Delimiter bits phải </a:t>
            </a:r>
            <a:r>
              <a:rPr lang="vi-VN" b="1"/>
              <a:t>luôn là recessive</a:t>
            </a:r>
            <a:r>
              <a:rPr lang="vi-VN"/>
              <a:t>. Nếu bất kỳ node nào phát hiện </a:t>
            </a:r>
            <a:r>
              <a:rPr lang="vi-VN" b="1"/>
              <a:t>dominant bit</a:t>
            </a:r>
            <a:r>
              <a:rPr lang="vi-VN"/>
              <a:t> ở vị trí Delimiter → lập tức báo </a:t>
            </a:r>
            <a:r>
              <a:rPr lang="vi-VN" b="1"/>
              <a:t>Form Error</a:t>
            </a:r>
            <a:r>
              <a:rPr lang="vi-VN"/>
              <a:t>.</a:t>
            </a:r>
          </a:p>
          <a:p>
            <a:pPr marL="742950" lvl="1" indent="-285750">
              <a:buFont typeface="+mj-lt"/>
              <a:buAutoNum type="arabicPeriod"/>
            </a:pPr>
            <a:r>
              <a:rPr lang="vi-VN"/>
              <a:t>Điều này giúp phát hiện nhanh các lỗi nghiêm trọng về cấu trúc frame.</a:t>
            </a:r>
          </a:p>
          <a:p>
            <a:pPr>
              <a:buFont typeface="+mj-lt"/>
              <a:buAutoNum type="arabicPeriod"/>
            </a:pPr>
            <a:r>
              <a:rPr lang="vi-VN" b="1"/>
              <a:t>Tránh nhầm lẫn với Error Frame hoặc Overload Frame</a:t>
            </a:r>
            <a:endParaRPr lang="vi-VN"/>
          </a:p>
          <a:p>
            <a:pPr marL="742950" lvl="1" indent="-285750">
              <a:buFont typeface="+mj-lt"/>
              <a:buAutoNum type="arabicPeriod"/>
            </a:pPr>
            <a:r>
              <a:rPr lang="vi-VN"/>
              <a:t>Error Frame bắt đầu bằng 6 dominant bits.</a:t>
            </a:r>
          </a:p>
          <a:p>
            <a:pPr marL="742950" lvl="1" indent="-285750">
              <a:buFont typeface="+mj-lt"/>
              <a:buAutoNum type="arabicPeriod"/>
            </a:pPr>
            <a:r>
              <a:rPr lang="vi-VN"/>
              <a:t>Nếu không có delimiter recessive rõ ràng, frame bình thường có thể bị nhầm với lỗi.</a:t>
            </a:r>
          </a:p>
          <a:p>
            <a:r>
              <a:rPr lang="vi-VN" b="1"/>
              <a:t>3. Tóm tắt vai trò của từng Delimiter</a:t>
            </a:r>
          </a:p>
          <a:p>
            <a:pPr>
              <a:buFont typeface="Arial" panose="020B0604020202020204" pitchFamily="34" charset="0"/>
              <a:buChar char="•"/>
            </a:pPr>
            <a:r>
              <a:rPr lang="vi-VN" b="1"/>
              <a:t>CRC Delimiter (1 recessive bit)</a:t>
            </a:r>
            <a:r>
              <a:rPr lang="vi-VN"/>
              <a:t>: Cho receiver thời gian tính CRC và chuẩn bị gửi ACK. Đảm bảo có transition sau chuỗi CRC.</a:t>
            </a:r>
          </a:p>
          <a:p>
            <a:pPr>
              <a:buFont typeface="Arial" panose="020B0604020202020204" pitchFamily="34" charset="0"/>
              <a:buChar char="•"/>
            </a:pPr>
            <a:r>
              <a:rPr lang="vi-VN" b="1"/>
              <a:t>ACK Delimiter (1 recessive bit)</a:t>
            </a:r>
            <a:r>
              <a:rPr lang="vi-VN"/>
              <a:t>: Phân cách bit ACK với EOF. Transmitter gửi recessive ở đây, receiver có thể gửi dominant ở ACK slot để xác nhận nhận đúng frame.</a:t>
            </a:r>
          </a:p>
          <a:p>
            <a:pPr>
              <a:buFont typeface="Arial" panose="020B0604020202020204" pitchFamily="34" charset="0"/>
              <a:buChar char="•"/>
            </a:pPr>
            <a:r>
              <a:rPr lang="vi-VN" b="1"/>
              <a:t>EOF (7 recessive bits)</a:t>
            </a:r>
            <a:r>
              <a:rPr lang="vi-VN"/>
              <a:t>: Đánh dấu kết thúc frame. Đây là dấu hiệu rõ ràng để tất cả node biết frame đã xong và bắt đầu giai đoạn Intermission (3 recessive bits).</a:t>
            </a:r>
          </a:p>
          <a:p>
            <a:r>
              <a:rPr lang="vi-VN" b="1"/>
              <a:t>Kết luận dễ nhớ:</a:t>
            </a:r>
          </a:p>
          <a:p>
            <a:r>
              <a:rPr lang="vi-VN">
                <a:effectLst/>
              </a:rPr>
              <a:t>Bit Delimiter (các bit recessive cố định) được CAN thêm vào </a:t>
            </a:r>
            <a:r>
              <a:rPr lang="vi-VN" b="1">
                <a:effectLst/>
              </a:rPr>
              <a:t>không phải để truyền dữ liệu</a:t>
            </a:r>
            <a:r>
              <a:rPr lang="vi-VN">
                <a:effectLst/>
              </a:rPr>
              <a:t>, mà để:</a:t>
            </a:r>
          </a:p>
          <a:p>
            <a:pPr>
              <a:buFont typeface="Arial" panose="020B0604020202020204" pitchFamily="34" charset="0"/>
              <a:buChar char="•"/>
            </a:pPr>
            <a:r>
              <a:rPr lang="vi-VN"/>
              <a:t>Giữ </a:t>
            </a:r>
            <a:r>
              <a:rPr lang="vi-VN" b="1"/>
              <a:t>đồng bộ clock</a:t>
            </a:r>
            <a:r>
              <a:rPr lang="vi-VN"/>
              <a:t> khi không có bit stuffing.</a:t>
            </a:r>
          </a:p>
          <a:p>
            <a:pPr>
              <a:buFont typeface="Arial" panose="020B0604020202020204" pitchFamily="34" charset="0"/>
              <a:buChar char="•"/>
            </a:pPr>
            <a:r>
              <a:rPr lang="vi-VN" b="1"/>
              <a:t>Phân cách rõ ràng</a:t>
            </a:r>
            <a:r>
              <a:rPr lang="vi-VN"/>
              <a:t> các phần của frame.</a:t>
            </a:r>
          </a:p>
          <a:p>
            <a:pPr>
              <a:buFont typeface="Arial" panose="020B0604020202020204" pitchFamily="34" charset="0"/>
              <a:buChar char="•"/>
            </a:pPr>
            <a:r>
              <a:rPr lang="vi-VN" b="1"/>
              <a:t>Dễ dàng phát hiện lỗi dạng thức</a:t>
            </a:r>
            <a:r>
              <a:rPr lang="vi-VN"/>
              <a:t> (Form Error) nếu cấu trúc bị sai.</a:t>
            </a:r>
          </a:p>
          <a:p>
            <a:pPr>
              <a:buFont typeface="Arial" panose="020B0604020202020204" pitchFamily="34" charset="0"/>
              <a:buChar char="•"/>
            </a:pPr>
            <a:r>
              <a:rPr lang="vi-VN"/>
              <a:t>Đảm bảo frame luôn có sự chuyển đổi bit cần thiết cho NRZ encoding.</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67</a:t>
            </a:fld>
            <a:endParaRPr lang="en-US"/>
          </a:p>
        </p:txBody>
      </p:sp>
    </p:spTree>
    <p:extLst>
      <p:ext uri="{BB962C8B-B14F-4D97-AF65-F5344CB8AC3E}">
        <p14:creationId xmlns:p14="http://schemas.microsoft.com/office/powerpoint/2010/main" val="11668277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68</a:t>
            </a:fld>
            <a:endParaRPr lang="en-US"/>
          </a:p>
        </p:txBody>
      </p:sp>
    </p:spTree>
    <p:extLst>
      <p:ext uri="{BB962C8B-B14F-4D97-AF65-F5344CB8AC3E}">
        <p14:creationId xmlns:p14="http://schemas.microsoft.com/office/powerpoint/2010/main" val="16489727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69</a:t>
            </a:fld>
            <a:endParaRPr lang="en-US"/>
          </a:p>
        </p:txBody>
      </p:sp>
    </p:spTree>
    <p:extLst>
      <p:ext uri="{BB962C8B-B14F-4D97-AF65-F5344CB8AC3E}">
        <p14:creationId xmlns:p14="http://schemas.microsoft.com/office/powerpoint/2010/main" val="35029697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70</a:t>
            </a:fld>
            <a:endParaRPr lang="en-US"/>
          </a:p>
        </p:txBody>
      </p:sp>
    </p:spTree>
    <p:extLst>
      <p:ext uri="{BB962C8B-B14F-4D97-AF65-F5344CB8AC3E}">
        <p14:creationId xmlns:p14="http://schemas.microsoft.com/office/powerpoint/2010/main" val="7061532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71</a:t>
            </a:fld>
            <a:endParaRPr lang="en-US"/>
          </a:p>
        </p:txBody>
      </p:sp>
    </p:spTree>
    <p:extLst>
      <p:ext uri="{BB962C8B-B14F-4D97-AF65-F5344CB8AC3E}">
        <p14:creationId xmlns:p14="http://schemas.microsoft.com/office/powerpoint/2010/main" val="28653593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72</a:t>
            </a:fld>
            <a:endParaRPr lang="en-US"/>
          </a:p>
        </p:txBody>
      </p:sp>
    </p:spTree>
    <p:extLst>
      <p:ext uri="{BB962C8B-B14F-4D97-AF65-F5344CB8AC3E}">
        <p14:creationId xmlns:p14="http://schemas.microsoft.com/office/powerpoint/2010/main" val="23675354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73</a:t>
            </a:fld>
            <a:endParaRPr lang="en-US"/>
          </a:p>
        </p:txBody>
      </p:sp>
    </p:spTree>
    <p:extLst>
      <p:ext uri="{BB962C8B-B14F-4D97-AF65-F5344CB8AC3E}">
        <p14:creationId xmlns:p14="http://schemas.microsoft.com/office/powerpoint/2010/main" val="8135890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74</a:t>
            </a:fld>
            <a:endParaRPr lang="en-US"/>
          </a:p>
        </p:txBody>
      </p:sp>
    </p:spTree>
    <p:extLst>
      <p:ext uri="{BB962C8B-B14F-4D97-AF65-F5344CB8AC3E}">
        <p14:creationId xmlns:p14="http://schemas.microsoft.com/office/powerpoint/2010/main" val="35822945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b="0" i="0">
                <a:solidFill>
                  <a:srgbClr val="333333"/>
                </a:solidFill>
                <a:effectLst/>
                <a:latin typeface="Arial" panose="020B0604020202020204" pitchFamily="34" charset="0"/>
              </a:rPr>
            </a:br>
            <a:r>
              <a:rPr lang="vi-VN" b="1">
                <a:effectLst/>
              </a:rPr>
              <a:t>Tại sao CAN lại cần đúng 7 bit recessive cho EOF (End Of Frame)?</a:t>
            </a:r>
            <a:endParaRPr lang="vi-VN">
              <a:effectLst/>
            </a:endParaRPr>
          </a:p>
          <a:p>
            <a:r>
              <a:rPr lang="vi-VN">
                <a:effectLst/>
              </a:rPr>
              <a:t>Đây là một thiết kế rất thông minh của Bosch khi xây dựng giao thức CAN. Không phải ngẫu nhiên mà là </a:t>
            </a:r>
            <a:r>
              <a:rPr lang="vi-VN" b="1">
                <a:effectLst/>
              </a:rPr>
              <a:t>7 bit</a:t>
            </a:r>
            <a:r>
              <a:rPr lang="vi-VN">
                <a:effectLst/>
              </a:rPr>
              <a:t>, và có nhiều lý do kỹ thuật sâu để đảm bảo độ tin cậy cao.</a:t>
            </a:r>
          </a:p>
          <a:p>
            <a:r>
              <a:rPr lang="vi-VN" b="1"/>
              <a:t>1. EOF là gì và vai trò cơ bản</a:t>
            </a:r>
          </a:p>
          <a:p>
            <a:pPr>
              <a:buFont typeface="Arial" panose="020B0604020202020204" pitchFamily="34" charset="0"/>
              <a:buChar char="•"/>
            </a:pPr>
            <a:r>
              <a:rPr lang="vi-VN" b="1"/>
              <a:t>EOF (End Of Frame)</a:t>
            </a:r>
            <a:r>
              <a:rPr lang="vi-VN"/>
              <a:t>: 7 bit recessive (logic 1) liên tiếp, nằm ngay sau </a:t>
            </a:r>
            <a:r>
              <a:rPr lang="vi-VN" b="1"/>
              <a:t>ACK Delimiter</a:t>
            </a:r>
            <a:r>
              <a:rPr lang="vi-VN"/>
              <a:t>.</a:t>
            </a:r>
          </a:p>
          <a:p>
            <a:pPr>
              <a:buFont typeface="Arial" panose="020B0604020202020204" pitchFamily="34" charset="0"/>
              <a:buChar char="•"/>
            </a:pPr>
            <a:r>
              <a:rPr lang="vi-VN"/>
              <a:t>Nó đánh dấu </a:t>
            </a:r>
            <a:r>
              <a:rPr lang="vi-VN" b="1"/>
              <a:t>kết thúc hoàn toàn</a:t>
            </a:r>
            <a:r>
              <a:rPr lang="vi-VN"/>
              <a:t> một frame (khung dữ liệu hoặc remote frame).</a:t>
            </a:r>
          </a:p>
          <a:p>
            <a:pPr>
              <a:buFont typeface="Arial" panose="020B0604020202020204" pitchFamily="34" charset="0"/>
              <a:buChar char="•"/>
            </a:pPr>
            <a:r>
              <a:rPr lang="vi-VN"/>
              <a:t>Trong suốt 7 bit này </a:t>
            </a:r>
            <a:r>
              <a:rPr lang="vi-VN" b="1"/>
              <a:t>không áp dụng bit stuffing</a:t>
            </a:r>
            <a:r>
              <a:rPr lang="vi-VN"/>
              <a:t>.</a:t>
            </a:r>
          </a:p>
          <a:p>
            <a:r>
              <a:rPr lang="vi-VN">
                <a:effectLst/>
              </a:rPr>
              <a:t>Sau EOF là </a:t>
            </a:r>
            <a:r>
              <a:rPr lang="vi-VN" b="1">
                <a:effectLst/>
              </a:rPr>
              <a:t>Intermission (IFS)</a:t>
            </a:r>
            <a:r>
              <a:rPr lang="vi-VN">
                <a:effectLst/>
              </a:rPr>
              <a:t>: 3 bit recessive nữa → tổng cộng thường có </a:t>
            </a:r>
            <a:r>
              <a:rPr lang="vi-VN" b="1">
                <a:effectLst/>
              </a:rPr>
              <a:t>11 bit recessive</a:t>
            </a:r>
            <a:r>
              <a:rPr lang="vi-VN">
                <a:effectLst/>
              </a:rPr>
              <a:t> (1 ACK Delimiter + 7 EOF + 3 IFS) để bus trở về trạng thái </a:t>
            </a:r>
            <a:r>
              <a:rPr lang="vi-VN" b="1">
                <a:effectLst/>
              </a:rPr>
              <a:t>Idle</a:t>
            </a:r>
            <a:r>
              <a:rPr lang="vi-VN">
                <a:effectLst/>
              </a:rPr>
              <a:t>.</a:t>
            </a:r>
          </a:p>
          <a:p>
            <a:r>
              <a:rPr lang="vi-VN" b="1"/>
              <a:t>2. Lý do chính cần đúng 7 bit recessive</a:t>
            </a:r>
          </a:p>
          <a:p>
            <a:r>
              <a:rPr lang="vi-VN">
                <a:effectLst/>
              </a:rPr>
              <a:t>Dưới đây là các lý do quan trọng nhất:</a:t>
            </a:r>
          </a:p>
          <a:p>
            <a:r>
              <a:rPr lang="vi-VN" b="1">
                <a:effectLst/>
              </a:rPr>
              <a:t>a. Phát hiện lỗi dạng thức (Form Error) mạnh mẽ</a:t>
            </a:r>
            <a:endParaRPr lang="vi-VN">
              <a:effectLst/>
            </a:endParaRPr>
          </a:p>
          <a:p>
            <a:pPr>
              <a:buFont typeface="Arial" panose="020B0604020202020204" pitchFamily="34" charset="0"/>
              <a:buChar char="•"/>
            </a:pPr>
            <a:r>
              <a:rPr lang="vi-VN"/>
              <a:t>Tất cả các node trên bus phải kiểm tra rằng 7 bit này </a:t>
            </a:r>
            <a:r>
              <a:rPr lang="vi-VN" b="1"/>
              <a:t>phải hoàn toàn là recessive</a:t>
            </a:r>
            <a:r>
              <a:rPr lang="vi-VN"/>
              <a:t>.</a:t>
            </a:r>
          </a:p>
          <a:p>
            <a:pPr>
              <a:buFont typeface="Arial" panose="020B0604020202020204" pitchFamily="34" charset="0"/>
              <a:buChar char="•"/>
            </a:pPr>
            <a:r>
              <a:rPr lang="vi-VN"/>
              <a:t>Nếu chỉ có </a:t>
            </a:r>
            <a:r>
              <a:rPr lang="vi-VN" b="1"/>
              <a:t>1 bit dominant</a:t>
            </a:r>
            <a:r>
              <a:rPr lang="vi-VN"/>
              <a:t> (0) nào đó xuất hiện trong EOF → node lập tức báo </a:t>
            </a:r>
            <a:r>
              <a:rPr lang="vi-VN" b="1"/>
              <a:t>Form Error</a:t>
            </a:r>
            <a:r>
              <a:rPr lang="vi-VN"/>
              <a:t> và truyền Error Flag.</a:t>
            </a:r>
          </a:p>
          <a:p>
            <a:pPr>
              <a:buFont typeface="Arial" panose="020B0604020202020204" pitchFamily="34" charset="0"/>
              <a:buChar char="•"/>
            </a:pPr>
            <a:r>
              <a:rPr lang="vi-VN"/>
              <a:t>Điều này giúp phát hiện nhanh các lỗi nghiêm trọng về cấu trúc frame.</a:t>
            </a:r>
          </a:p>
          <a:p>
            <a:r>
              <a:rPr lang="vi-VN" b="1">
                <a:effectLst/>
              </a:rPr>
              <a:t>b. Phân biệt rõ ràng với Error Frame</a:t>
            </a:r>
            <a:endParaRPr lang="vi-VN">
              <a:effectLst/>
            </a:endParaRPr>
          </a:p>
          <a:p>
            <a:pPr>
              <a:buFont typeface="Arial" panose="020B0604020202020204" pitchFamily="34" charset="0"/>
              <a:buChar char="•"/>
            </a:pPr>
            <a:r>
              <a:rPr lang="vi-VN" b="1"/>
              <a:t>Error Frame</a:t>
            </a:r>
            <a:r>
              <a:rPr lang="vi-VN"/>
              <a:t> bắt đầu bằng </a:t>
            </a:r>
            <a:r>
              <a:rPr lang="vi-VN" b="1"/>
              <a:t>6 bit dominant</a:t>
            </a:r>
            <a:r>
              <a:rPr lang="vi-VN"/>
              <a:t> liên tiếp (Active Error Flag).</a:t>
            </a:r>
          </a:p>
          <a:p>
            <a:pPr>
              <a:buFont typeface="Arial" panose="020B0604020202020204" pitchFamily="34" charset="0"/>
              <a:buChar char="•"/>
            </a:pPr>
            <a:r>
              <a:rPr lang="vi-VN"/>
              <a:t>Nếu chỉ dùng 6 bit recessive cho EOF, thì một chuỗi 6 recessive có thể bị nhầm lẫn hoặc gây nhiễu nhận biết.</a:t>
            </a:r>
          </a:p>
          <a:p>
            <a:pPr>
              <a:buFont typeface="Arial" panose="020B0604020202020204" pitchFamily="34" charset="0"/>
              <a:buChar char="•"/>
            </a:pPr>
            <a:r>
              <a:rPr lang="vi-VN"/>
              <a:t>Với </a:t>
            </a:r>
            <a:r>
              <a:rPr lang="vi-VN" b="1"/>
              <a:t>7 bit recessive</a:t>
            </a:r>
            <a:r>
              <a:rPr lang="vi-VN"/>
              <a:t>, nó dài hơn Error Flag (6 dominant) → giúp phân biệt rõ ràng giữa “kết thúc bình thường” và “có lỗi”.</a:t>
            </a:r>
          </a:p>
          <a:p>
            <a:pPr>
              <a:buFont typeface="Arial" panose="020B0604020202020204" pitchFamily="34" charset="0"/>
              <a:buChar char="•"/>
            </a:pPr>
            <a:r>
              <a:rPr lang="vi-VN"/>
              <a:t>Error Frame sau đó còn kết thúc bằng 8 recessive bits, nên càng không lẫn.</a:t>
            </a:r>
          </a:p>
          <a:p>
            <a:r>
              <a:rPr lang="vi-VN" b="1">
                <a:effectLst/>
              </a:rPr>
              <a:t>c. Phát hiện lỗi Bit Stuffing hiệu quả (rất quan trọng)</a:t>
            </a:r>
            <a:endParaRPr lang="vi-VN">
              <a:effectLst/>
            </a:endParaRPr>
          </a:p>
          <a:p>
            <a:pPr>
              <a:buFont typeface="Arial" panose="020B0604020202020204" pitchFamily="34" charset="0"/>
              <a:buChar char="•"/>
            </a:pPr>
            <a:r>
              <a:rPr lang="vi-VN"/>
              <a:t>Trong phần trước EOF (từ SOF đến CRC), nếu có </a:t>
            </a:r>
            <a:r>
              <a:rPr lang="vi-VN" b="1"/>
              <a:t>6 bit giống nhau liên tiếp</a:t>
            </a:r>
            <a:r>
              <a:rPr lang="vi-VN"/>
              <a:t> → vi phạm quy tắc stuffing → lỗi.</a:t>
            </a:r>
          </a:p>
          <a:p>
            <a:pPr>
              <a:buFont typeface="Arial" panose="020B0604020202020204" pitchFamily="34" charset="0"/>
              <a:buChar char="•"/>
            </a:pPr>
            <a:r>
              <a:rPr lang="vi-VN"/>
              <a:t>Nhưng phần EOF không stuffing. Nếu transmitter vô tình hoặc do lỗi gửi nhiều recessive bits, receiver phải phát hiện được.</a:t>
            </a:r>
          </a:p>
          <a:p>
            <a:pPr>
              <a:buFont typeface="Arial" panose="020B0604020202020204" pitchFamily="34" charset="0"/>
              <a:buChar char="•"/>
            </a:pPr>
            <a:r>
              <a:rPr lang="vi-VN"/>
              <a:t>Với </a:t>
            </a:r>
            <a:r>
              <a:rPr lang="vi-VN" b="1"/>
              <a:t>7 bit</a:t>
            </a:r>
            <a:r>
              <a:rPr lang="vi-VN"/>
              <a:t>, receiver có thể:</a:t>
            </a:r>
          </a:p>
          <a:p>
            <a:pPr marL="742950" lvl="1" indent="-285750">
              <a:buFont typeface="Arial" panose="020B0604020202020204" pitchFamily="34" charset="0"/>
              <a:buChar char="•"/>
            </a:pPr>
            <a:r>
              <a:rPr lang="vi-VN"/>
              <a:t>Biết chính xác vị trí frame kết thúc.</a:t>
            </a:r>
          </a:p>
          <a:p>
            <a:pPr marL="742950" lvl="1" indent="-285750">
              <a:buFont typeface="Arial" panose="020B0604020202020204" pitchFamily="34" charset="0"/>
              <a:buChar char="•"/>
            </a:pPr>
            <a:r>
              <a:rPr lang="vi-VN"/>
              <a:t>Nếu thấy chỉ 6 recessive rồi dominant → có thể coi là lỗi sớm.</a:t>
            </a:r>
          </a:p>
          <a:p>
            <a:pPr marL="742950" lvl="1" indent="-285750">
              <a:buFont typeface="Arial" panose="020B0604020202020204" pitchFamily="34" charset="0"/>
              <a:buChar char="•"/>
            </a:pPr>
            <a:r>
              <a:rPr lang="vi-VN"/>
              <a:t>Nhiều node nhận sẽ phát hiện stuffing violation hoặc form error ngay tại bit thứ 6 hoặc 7.</a:t>
            </a:r>
          </a:p>
          <a:p>
            <a:r>
              <a:rPr lang="vi-VN" b="1">
                <a:effectLst/>
              </a:rPr>
              <a:t>d. Đảm bảo bus Idle được nhận biết thống nhất</a:t>
            </a:r>
            <a:endParaRPr lang="vi-VN">
              <a:effectLst/>
            </a:endParaRPr>
          </a:p>
          <a:p>
            <a:pPr>
              <a:buFont typeface="Arial" panose="020B0604020202020204" pitchFamily="34" charset="0"/>
              <a:buChar char="•"/>
            </a:pPr>
            <a:r>
              <a:rPr lang="vi-VN"/>
              <a:t>Để một node mới (hoặc node đang ngủ) biết bus đang </a:t>
            </a:r>
            <a:r>
              <a:rPr lang="vi-VN" b="1"/>
              <a:t>Idle</a:t>
            </a:r>
            <a:r>
              <a:rPr lang="vi-VN"/>
              <a:t> (có thể bắt đầu truyền frame mới), nó cần thấy </a:t>
            </a:r>
            <a:r>
              <a:rPr lang="vi-VN" b="1"/>
              <a:t>ít nhất 11 bit recessive liên tiếp</a:t>
            </a:r>
            <a:r>
              <a:rPr lang="vi-VN"/>
              <a:t>.</a:t>
            </a:r>
          </a:p>
          <a:p>
            <a:pPr>
              <a:buFont typeface="Arial" panose="020B0604020202020204" pitchFamily="34" charset="0"/>
              <a:buChar char="•"/>
            </a:pPr>
            <a:r>
              <a:rPr lang="vi-VN"/>
              <a:t>7 EOF + 3 IFS + 1 ACK Delimiter tạo ra khoảng thời gian recessive đủ dài và ổn định.</a:t>
            </a:r>
          </a:p>
          <a:p>
            <a:pPr>
              <a:buFont typeface="Arial" panose="020B0604020202020204" pitchFamily="34" charset="0"/>
              <a:buChar char="•"/>
            </a:pPr>
            <a:r>
              <a:rPr lang="vi-VN"/>
              <a:t>Nếu ít hơn (ví dụ chỉ 5–6 bit), dễ bị nhầm lẫn với nhiễu hoặc frame chưa kết thúc thật sự.</a:t>
            </a:r>
          </a:p>
          <a:p>
            <a:r>
              <a:rPr lang="vi-VN" b="1">
                <a:effectLst/>
              </a:rPr>
              <a:t>e. Tăng độ robust (bền bỉ) trong môi trường nhiễu mạnh</a:t>
            </a:r>
            <a:endParaRPr lang="vi-VN">
              <a:effectLst/>
            </a:endParaRPr>
          </a:p>
          <a:p>
            <a:pPr>
              <a:buFont typeface="Arial" panose="020B0604020202020204" pitchFamily="34" charset="0"/>
              <a:buChar char="•"/>
            </a:pPr>
            <a:r>
              <a:rPr lang="vi-VN"/>
              <a:t>Ô tô có rất nhiều nhiễu điện từ (spark plug, motor, điện áp dao động…).</a:t>
            </a:r>
          </a:p>
          <a:p>
            <a:pPr>
              <a:buFont typeface="Arial" panose="020B0604020202020204" pitchFamily="34" charset="0"/>
              <a:buChar char="•"/>
            </a:pPr>
            <a:r>
              <a:rPr lang="vi-VN"/>
              <a:t>Chuỗi 7 bit recessive tạo “khoảng đệm” an toàn, giúp tất cả node đồng bộ và đồng ý rằng frame đã xong, tránh tình trạng một node nghĩ frame vẫn đang truyền trong khi node khác đã xong.</a:t>
            </a:r>
          </a:p>
          <a:p>
            <a:r>
              <a:rPr lang="vi-VN" b="1"/>
              <a:t>Tóm tắt dễ nhớ</a:t>
            </a:r>
          </a:p>
          <a:p>
            <a:pPr>
              <a:buFont typeface="Arial" panose="020B0604020202020204" pitchFamily="34" charset="0"/>
              <a:buChar char="•"/>
            </a:pPr>
            <a:r>
              <a:rPr lang="vi-VN" b="1"/>
              <a:t>7 bit</a:t>
            </a:r>
            <a:r>
              <a:rPr lang="vi-VN"/>
              <a:t> là con số </a:t>
            </a:r>
            <a:r>
              <a:rPr lang="vi-VN" b="1"/>
              <a:t>tối ưu</a:t>
            </a:r>
            <a:r>
              <a:rPr lang="vi-VN"/>
              <a:t> được chọn sau khi cân nhắc:</a:t>
            </a:r>
          </a:p>
          <a:p>
            <a:pPr marL="742950" lvl="1" indent="-285750">
              <a:buFont typeface="Arial" panose="020B0604020202020204" pitchFamily="34" charset="0"/>
              <a:buChar char="•"/>
            </a:pPr>
            <a:r>
              <a:rPr lang="vi-VN"/>
              <a:t>Dài hơn Error Flag (6 dominant) → phân biệt rõ.</a:t>
            </a:r>
          </a:p>
          <a:p>
            <a:pPr marL="742950" lvl="1" indent="-285750">
              <a:buFont typeface="Arial" panose="020B0604020202020204" pitchFamily="34" charset="0"/>
              <a:buChar char="•"/>
            </a:pPr>
            <a:r>
              <a:rPr lang="vi-VN"/>
              <a:t>Đủ dài để phát hiện form error và stuffing error.</a:t>
            </a:r>
          </a:p>
          <a:p>
            <a:pPr marL="742950" lvl="1" indent="-285750">
              <a:buFont typeface="Arial" panose="020B0604020202020204" pitchFamily="34" charset="0"/>
              <a:buChar char="•"/>
            </a:pPr>
            <a:r>
              <a:rPr lang="vi-VN"/>
              <a:t>Tạo ra 11 recessive bits với IFS → xác định bus idle chắc chắn.</a:t>
            </a:r>
          </a:p>
          <a:p>
            <a:pPr marL="742950" lvl="1" indent="-285750">
              <a:buFont typeface="Arial" panose="020B0604020202020204" pitchFamily="34" charset="0"/>
              <a:buChar char="•"/>
            </a:pPr>
            <a:r>
              <a:rPr lang="vi-VN"/>
              <a:t>Ngắn đủ để không lãng phí băng thông quá nhiều.</a:t>
            </a:r>
          </a:p>
          <a:p>
            <a:r>
              <a:rPr lang="vi-VN">
                <a:effectLst/>
              </a:rPr>
              <a:t>Nếu dùng ít hơn (ví dụ 6 bit) → dễ nhầm lẫn với lỗi hoặc nhiễu. Nếu dùng nhiều hơn (8–10 bit) → lãng phí thời gian truyền không cần thiết.</a:t>
            </a:r>
          </a:p>
          <a:p>
            <a:r>
              <a:rPr lang="vi-VN">
                <a:effectLst/>
              </a:rPr>
              <a:t>Đây chính là một trong những điểm thể hiện CAN được thiết kế rất kỹ cho môi trường </a:t>
            </a:r>
            <a:r>
              <a:rPr lang="vi-VN" b="1">
                <a:effectLst/>
              </a:rPr>
              <a:t>thời gian thực + nhiễu cao + độ tin cậy cực cao</a:t>
            </a:r>
            <a:r>
              <a:rPr lang="vi-VN">
                <a:effectLst/>
              </a:rPr>
              <a:t> như trên ô tô.</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75</a:t>
            </a:fld>
            <a:endParaRPr lang="en-US"/>
          </a:p>
        </p:txBody>
      </p:sp>
    </p:spTree>
    <p:extLst>
      <p:ext uri="{BB962C8B-B14F-4D97-AF65-F5344CB8AC3E}">
        <p14:creationId xmlns:p14="http://schemas.microsoft.com/office/powerpoint/2010/main" val="26968205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a:t>
            </a:r>
            <a:r>
              <a:rPr lang="vi-VN"/>
              <a:t>đi.</a:t>
            </a:r>
            <a:endParaRPr lang="en-US"/>
          </a:p>
          <a:p>
            <a:endParaRPr lang="en-US"/>
          </a:p>
          <a:p>
            <a:r>
              <a:rPr lang="vi-VN" b="1">
                <a:effectLst/>
              </a:rPr>
              <a:t>IFS (Interframe Space / Intermission)</a:t>
            </a:r>
            <a:r>
              <a:rPr lang="vi-VN">
                <a:effectLst/>
              </a:rPr>
              <a:t> trong giao thức CAN là </a:t>
            </a:r>
            <a:r>
              <a:rPr lang="vi-VN" b="1">
                <a:effectLst/>
              </a:rPr>
              <a:t>3 bit recessive</a:t>
            </a:r>
            <a:r>
              <a:rPr lang="vi-VN">
                <a:effectLst/>
              </a:rPr>
              <a:t> (logic 1) nằm ngay sau </a:t>
            </a:r>
            <a:r>
              <a:rPr lang="vi-VN" b="1">
                <a:effectLst/>
              </a:rPr>
              <a:t>EOF (7 bit recessive)</a:t>
            </a:r>
            <a:r>
              <a:rPr lang="vi-VN">
                <a:effectLst/>
              </a:rPr>
              <a:t>.</a:t>
            </a:r>
          </a:p>
          <a:p>
            <a:r>
              <a:rPr lang="vi-VN">
                <a:effectLst/>
              </a:rPr>
              <a:t>Đây là phần </a:t>
            </a:r>
            <a:r>
              <a:rPr lang="vi-VN" b="1">
                <a:effectLst/>
              </a:rPr>
              <a:t>bắt buộc tối thiểu</a:t>
            </a:r>
            <a:r>
              <a:rPr lang="vi-VN">
                <a:effectLst/>
              </a:rPr>
              <a:t> giữa hai frame (data frame hoặc remote frame) liên tiếp.</a:t>
            </a:r>
          </a:p>
          <a:p>
            <a:r>
              <a:rPr lang="vi-VN" b="1"/>
              <a:t>Tại sao lại đúng 3 bit recessive?</a:t>
            </a:r>
          </a:p>
          <a:p>
            <a:r>
              <a:rPr lang="vi-VN">
                <a:effectLst/>
              </a:rPr>
              <a:t>Bosch thiết kế </a:t>
            </a:r>
            <a:r>
              <a:rPr lang="vi-VN" b="1">
                <a:effectLst/>
              </a:rPr>
              <a:t>3 bit</a:t>
            </a:r>
            <a:r>
              <a:rPr lang="vi-VN">
                <a:effectLst/>
              </a:rPr>
              <a:t> là con số </a:t>
            </a:r>
            <a:r>
              <a:rPr lang="vi-VN" b="1">
                <a:effectLst/>
              </a:rPr>
              <a:t>tối ưu</a:t>
            </a:r>
            <a:r>
              <a:rPr lang="vi-VN">
                <a:effectLst/>
              </a:rPr>
              <a:t>, không phải ngẫu nhiên. Dưới đây là các lý do chính:</a:t>
            </a:r>
          </a:p>
          <a:p>
            <a:pPr>
              <a:buFont typeface="+mj-lt"/>
              <a:buAutoNum type="arabicPeriod"/>
            </a:pPr>
            <a:r>
              <a:rPr lang="vi-VN" b="1"/>
              <a:t>Cho phép các node có thời gian xử lý nội bộ (internal processing time)</a:t>
            </a:r>
            <a:endParaRPr lang="vi-VN"/>
          </a:p>
          <a:p>
            <a:pPr marL="742950" lvl="1" indent="-285750">
              <a:buFont typeface="+mj-lt"/>
              <a:buAutoNum type="arabicPeriod"/>
            </a:pPr>
            <a:r>
              <a:rPr lang="vi-VN"/>
              <a:t>Sau khi nhận xong một frame, các ECU (node) cần thời gian để:</a:t>
            </a:r>
          </a:p>
          <a:p>
            <a:pPr marL="1143000" lvl="2" indent="-228600">
              <a:buFont typeface="+mj-lt"/>
              <a:buAutoNum type="arabicPeriod"/>
            </a:pPr>
            <a:r>
              <a:rPr lang="vi-VN"/>
              <a:t>Kiểm tra CRC hoàn tất.</a:t>
            </a:r>
          </a:p>
          <a:p>
            <a:pPr marL="1143000" lvl="2" indent="-228600">
              <a:buFont typeface="+mj-lt"/>
              <a:buAutoNum type="arabicPeriod"/>
            </a:pPr>
            <a:r>
              <a:rPr lang="vi-VN"/>
              <a:t>Lưu frame vào buffer/message queue.</a:t>
            </a:r>
          </a:p>
          <a:p>
            <a:pPr marL="1143000" lvl="2" indent="-228600">
              <a:buFont typeface="+mj-lt"/>
              <a:buAutoNum type="arabicPeriod"/>
            </a:pPr>
            <a:r>
              <a:rPr lang="vi-VN"/>
              <a:t>Cập nhật trạng thái lỗi (error counters).</a:t>
            </a:r>
          </a:p>
          <a:p>
            <a:pPr marL="1143000" lvl="2" indent="-228600">
              <a:buFont typeface="+mj-lt"/>
              <a:buAutoNum type="arabicPeriod"/>
            </a:pPr>
            <a:r>
              <a:rPr lang="vi-VN"/>
              <a:t>Chuẩn bị cho frame tiếp theo.</a:t>
            </a:r>
          </a:p>
          <a:p>
            <a:pPr marL="742950" lvl="1" indent="-285750">
              <a:buFont typeface="+mj-lt"/>
              <a:buAutoNum type="arabicPeriod"/>
            </a:pPr>
            <a:r>
              <a:rPr lang="vi-VN" b="1"/>
              <a:t>3 bit</a:t>
            </a:r>
            <a:r>
              <a:rPr lang="vi-VN"/>
              <a:t> là khoảng thời gian tối thiểu đủ cho hầu hết các bộ điều khiển CAN phần cứng (CAN controller) thực hiện các công việc này mà không bị quá tải.</a:t>
            </a:r>
          </a:p>
          <a:p>
            <a:pPr>
              <a:buFont typeface="+mj-lt"/>
              <a:buAutoNum type="arabicPeriod"/>
            </a:pPr>
            <a:r>
              <a:rPr lang="vi-VN" b="1"/>
              <a:t>Xác định rõ ràng trạng thái Bus Idle</a:t>
            </a:r>
            <a:endParaRPr lang="vi-VN"/>
          </a:p>
          <a:p>
            <a:pPr marL="742950" lvl="1" indent="-285750">
              <a:buFont typeface="+mj-lt"/>
              <a:buAutoNum type="arabicPeriod"/>
            </a:pPr>
            <a:r>
              <a:rPr lang="vi-VN"/>
              <a:t>Để một node biết bus đang </a:t>
            </a:r>
            <a:r>
              <a:rPr lang="vi-VN" b="1"/>
              <a:t>rảnh (Idle)</a:t>
            </a:r>
            <a:r>
              <a:rPr lang="vi-VN"/>
              <a:t> và có thể bắt đầu truyền frame mới, nó phải phát hiện </a:t>
            </a:r>
            <a:r>
              <a:rPr lang="vi-VN" b="1"/>
              <a:t>ít nhất 11 bit recessive liên tiếp</a:t>
            </a:r>
            <a:r>
              <a:rPr lang="vi-VN"/>
              <a:t>.</a:t>
            </a:r>
          </a:p>
          <a:p>
            <a:pPr marL="742950" lvl="1" indent="-285750">
              <a:buFont typeface="+mj-lt"/>
              <a:buAutoNum type="arabicPeriod"/>
            </a:pPr>
            <a:r>
              <a:rPr lang="vi-VN"/>
              <a:t>Cách tính: </a:t>
            </a:r>
            <a:r>
              <a:rPr lang="vi-VN" b="1"/>
              <a:t>1 bit ACK Delimiter</a:t>
            </a:r>
            <a:r>
              <a:rPr lang="vi-VN"/>
              <a:t> + </a:t>
            </a:r>
            <a:r>
              <a:rPr lang="vi-VN" b="1"/>
              <a:t>7 bit EOF</a:t>
            </a:r>
            <a:r>
              <a:rPr lang="vi-VN"/>
              <a:t> + </a:t>
            </a:r>
            <a:r>
              <a:rPr lang="vi-VN" b="1"/>
              <a:t>3 bit IFS</a:t>
            </a:r>
            <a:r>
              <a:rPr lang="vi-VN"/>
              <a:t> = </a:t>
            </a:r>
            <a:r>
              <a:rPr lang="vi-VN" b="1"/>
              <a:t>11 bit recessive</a:t>
            </a:r>
            <a:r>
              <a:rPr lang="vi-VN"/>
              <a:t>.</a:t>
            </a:r>
          </a:p>
          <a:p>
            <a:pPr marL="742950" lvl="1" indent="-285750">
              <a:buFont typeface="+mj-lt"/>
              <a:buAutoNum type="arabicPeriod"/>
            </a:pPr>
            <a:r>
              <a:rPr lang="vi-VN"/>
              <a:t>Đây là quy tắc quan trọng: Chỉ khi thấy đủ 11 bit recessive, node mới coi bus đã idle và được phép bắt đầu truyền (SOF = dominant bit).</a:t>
            </a:r>
          </a:p>
          <a:p>
            <a:pPr>
              <a:buFont typeface="+mj-lt"/>
              <a:buAutoNum type="arabicPeriod"/>
            </a:pPr>
            <a:r>
              <a:rPr lang="vi-VN" b="1"/>
              <a:t>Cho phép phát hiện và xử lý Overload Frame</a:t>
            </a:r>
            <a:endParaRPr lang="vi-VN"/>
          </a:p>
          <a:p>
            <a:pPr marL="742950" lvl="1" indent="-285750">
              <a:buFont typeface="+mj-lt"/>
              <a:buAutoNum type="arabicPeriod"/>
            </a:pPr>
            <a:r>
              <a:rPr lang="vi-VN"/>
              <a:t>Trong suốt </a:t>
            </a:r>
            <a:r>
              <a:rPr lang="vi-VN" b="1"/>
              <a:t>3 bit IFS</a:t>
            </a:r>
            <a:r>
              <a:rPr lang="vi-VN"/>
              <a:t>, </a:t>
            </a:r>
            <a:r>
              <a:rPr lang="vi-VN" b="1"/>
              <a:t>không node nào được phép bắt đầu truyền data/remote frame bình thường</a:t>
            </a:r>
            <a:r>
              <a:rPr lang="vi-VN"/>
              <a:t>.</a:t>
            </a:r>
          </a:p>
          <a:p>
            <a:pPr marL="742950" lvl="1" indent="-285750">
              <a:buFont typeface="+mj-lt"/>
              <a:buAutoNum type="arabicPeriod"/>
            </a:pPr>
            <a:r>
              <a:rPr lang="vi-VN"/>
              <a:t>Nếu bất kỳ node nào phát hiện </a:t>
            </a:r>
            <a:r>
              <a:rPr lang="vi-VN" b="1"/>
              <a:t>dominant bit</a:t>
            </a:r>
            <a:r>
              <a:rPr lang="vi-VN"/>
              <a:t> (0) trong khoảng IFS này (do nhiễu hoặc node cần gửi overload), nó sẽ truyền </a:t>
            </a:r>
            <a:r>
              <a:rPr lang="vi-VN" b="1"/>
              <a:t>Overload Frame</a:t>
            </a:r>
            <a:r>
              <a:rPr lang="vi-VN"/>
              <a:t> ngay lập tức.</a:t>
            </a:r>
          </a:p>
          <a:p>
            <a:pPr marL="742950" lvl="1" indent="-285750">
              <a:buFont typeface="+mj-lt"/>
              <a:buAutoNum type="arabicPeriod"/>
            </a:pPr>
            <a:r>
              <a:rPr lang="vi-VN"/>
              <a:t>3 bit tạo ra “khoảng cửa sổ” an toàn để phát hiện overload condition mà không làm nhiễu lẫn với frame bình thường.</a:t>
            </a:r>
          </a:p>
          <a:p>
            <a:pPr>
              <a:buFont typeface="+mj-lt"/>
              <a:buAutoNum type="arabicPeriod"/>
            </a:pPr>
            <a:r>
              <a:rPr lang="vi-VN" b="1"/>
              <a:t>Tối ưu giữa hiệu suất và độ tin cậy</a:t>
            </a:r>
            <a:endParaRPr lang="vi-VN"/>
          </a:p>
          <a:p>
            <a:pPr marL="742950" lvl="1" indent="-285750">
              <a:buFont typeface="+mj-lt"/>
              <a:buAutoNum type="arabicPeriod"/>
            </a:pPr>
            <a:r>
              <a:rPr lang="vi-VN"/>
              <a:t>Nếu ít hơn 3 bit (ví dụ 2 bit): Không đủ thời gian cho node xử lý nội bộ → một số ECU chậm có thể bỏ lỡ hoặc gây lỗi.</a:t>
            </a:r>
          </a:p>
          <a:p>
            <a:pPr marL="742950" lvl="1" indent="-285750">
              <a:buFont typeface="+mj-lt"/>
              <a:buAutoNum type="arabicPeriod"/>
            </a:pPr>
            <a:r>
              <a:rPr lang="vi-VN"/>
              <a:t>Nếu nhiều hơn 3 bit (ví dụ 4–5 bit): Lãng phí băng thông không cần thiết, làm giảm throughput tổng thể của bus.</a:t>
            </a:r>
          </a:p>
          <a:p>
            <a:pPr marL="742950" lvl="1" indent="-285750">
              <a:buFont typeface="+mj-lt"/>
              <a:buAutoNum type="arabicPeriod"/>
            </a:pPr>
            <a:r>
              <a:rPr lang="vi-VN" b="1"/>
              <a:t>3 bit</a:t>
            </a:r>
            <a:r>
              <a:rPr lang="vi-VN"/>
              <a:t> là giá trị cân bằng tốt nhất.</a:t>
            </a:r>
          </a:p>
          <a:p>
            <a:r>
              <a:rPr lang="vi-VN" b="1"/>
              <a:t>Tóm tắt vai trò của 3 bit IFS</a:t>
            </a:r>
          </a:p>
          <a:p>
            <a:pPr>
              <a:buFont typeface="Arial" panose="020B0604020202020204" pitchFamily="34" charset="0"/>
              <a:buChar char="•"/>
            </a:pPr>
            <a:r>
              <a:rPr lang="vi-VN"/>
              <a:t>Là </a:t>
            </a:r>
            <a:r>
              <a:rPr lang="vi-VN" b="1"/>
              <a:t>khoảng cách tối thiểu</a:t>
            </a:r>
            <a:r>
              <a:rPr lang="vi-VN"/>
              <a:t> giữa các frame.</a:t>
            </a:r>
          </a:p>
          <a:p>
            <a:pPr>
              <a:buFont typeface="Arial" panose="020B0604020202020204" pitchFamily="34" charset="0"/>
              <a:buChar char="•"/>
            </a:pPr>
            <a:r>
              <a:rPr lang="vi-VN"/>
              <a:t>Đảm bảo tất cả node có thời gian “nghỉ ngơi” và xử lý frame vừa nhận.</a:t>
            </a:r>
          </a:p>
          <a:p>
            <a:pPr>
              <a:buFont typeface="Arial" panose="020B0604020202020204" pitchFamily="34" charset="0"/>
              <a:buChar char="•"/>
            </a:pPr>
            <a:r>
              <a:rPr lang="vi-VN"/>
              <a:t>Hoàn thiện chuỗi </a:t>
            </a:r>
            <a:r>
              <a:rPr lang="vi-VN" b="1"/>
              <a:t>11 recessive bits</a:t>
            </a:r>
            <a:r>
              <a:rPr lang="vi-VN"/>
              <a:t> → xác định bus idle chính xác.</a:t>
            </a:r>
          </a:p>
          <a:p>
            <a:pPr>
              <a:buFont typeface="Arial" panose="020B0604020202020204" pitchFamily="34" charset="0"/>
              <a:buChar char="•"/>
            </a:pPr>
            <a:r>
              <a:rPr lang="vi-VN"/>
              <a:t>Cho phép cơ chế </a:t>
            </a:r>
            <a:r>
              <a:rPr lang="vi-VN" b="1"/>
              <a:t>Overload Frame</a:t>
            </a:r>
            <a:r>
              <a:rPr lang="vi-VN"/>
              <a:t> hoạt động đúng (phát hiện dominant bit trong IFS → overload).</a:t>
            </a:r>
          </a:p>
          <a:p>
            <a:pPr>
              <a:buFont typeface="Arial" panose="020B0604020202020204" pitchFamily="34" charset="0"/>
              <a:buChar char="•"/>
            </a:pPr>
            <a:r>
              <a:rPr lang="vi-VN"/>
              <a:t>Giữ cho mạng CAN hoạt động đồng bộ và tránh xung đột.</a:t>
            </a:r>
          </a:p>
          <a:p>
            <a:r>
              <a:rPr lang="vi-VN" b="1">
                <a:effectLst/>
              </a:rPr>
              <a:t>Lưu ý nhỏ</a:t>
            </a:r>
            <a:r>
              <a:rPr lang="vi-VN">
                <a:effectLst/>
              </a:rPr>
              <a:t>: Một số tài liệu cũ hoặc nhầm lẫn hay nói “IFS là 7 bit” hoặc “Interframe Space là 7 bit”. Thực tế:</a:t>
            </a:r>
          </a:p>
          <a:p>
            <a:pPr>
              <a:buFont typeface="Arial" panose="020B0604020202020204" pitchFamily="34" charset="0"/>
              <a:buChar char="•"/>
            </a:pPr>
            <a:r>
              <a:rPr lang="vi-VN" b="1"/>
              <a:t>Intermission</a:t>
            </a:r>
            <a:r>
              <a:rPr lang="vi-VN"/>
              <a:t> = chính xác </a:t>
            </a:r>
            <a:r>
              <a:rPr lang="vi-VN" b="1"/>
              <a:t>3 bit recessive</a:t>
            </a:r>
            <a:r>
              <a:rPr lang="vi-VN"/>
              <a:t>.</a:t>
            </a:r>
          </a:p>
          <a:p>
            <a:pPr>
              <a:buFont typeface="Arial" panose="020B0604020202020204" pitchFamily="34" charset="0"/>
              <a:buChar char="•"/>
            </a:pPr>
            <a:r>
              <a:rPr lang="vi-VN"/>
              <a:t>Toàn bộ khoảng cách giữa hai frame đôi khi được gọi chung là Interframe Space (bao gồm EOF + IFS + idle).</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76</a:t>
            </a:fld>
            <a:endParaRPr lang="en-US"/>
          </a:p>
        </p:txBody>
      </p:sp>
    </p:spTree>
    <p:extLst>
      <p:ext uri="{BB962C8B-B14F-4D97-AF65-F5344CB8AC3E}">
        <p14:creationId xmlns:p14="http://schemas.microsoft.com/office/powerpoint/2010/main" val="2268423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a:t>
            </a:r>
            <a:r>
              <a:rPr lang="vi-VN"/>
              <a:t>đi.</a:t>
            </a:r>
            <a:endParaRPr lang="en-US"/>
          </a:p>
          <a:p>
            <a:endParaRPr lang="en-US"/>
          </a:p>
          <a:p>
            <a:r>
              <a:rPr lang="vi-VN" b="1">
                <a:effectLst/>
              </a:rPr>
              <a:t>IFS (Interframe Space / Intermission)</a:t>
            </a:r>
            <a:r>
              <a:rPr lang="vi-VN">
                <a:effectLst/>
              </a:rPr>
              <a:t> trong giao thức CAN là </a:t>
            </a:r>
            <a:r>
              <a:rPr lang="vi-VN" b="1">
                <a:effectLst/>
              </a:rPr>
              <a:t>3 bit recessive</a:t>
            </a:r>
            <a:r>
              <a:rPr lang="vi-VN">
                <a:effectLst/>
              </a:rPr>
              <a:t> (logic 1) nằm ngay sau </a:t>
            </a:r>
            <a:r>
              <a:rPr lang="vi-VN" b="1">
                <a:effectLst/>
              </a:rPr>
              <a:t>EOF (7 bit recessive)</a:t>
            </a:r>
            <a:r>
              <a:rPr lang="vi-VN">
                <a:effectLst/>
              </a:rPr>
              <a:t>.</a:t>
            </a:r>
          </a:p>
          <a:p>
            <a:r>
              <a:rPr lang="vi-VN">
                <a:effectLst/>
              </a:rPr>
              <a:t>Đây là phần </a:t>
            </a:r>
            <a:r>
              <a:rPr lang="vi-VN" b="1">
                <a:effectLst/>
              </a:rPr>
              <a:t>bắt buộc tối thiểu</a:t>
            </a:r>
            <a:r>
              <a:rPr lang="vi-VN">
                <a:effectLst/>
              </a:rPr>
              <a:t> giữa hai frame (data frame hoặc remote frame) liên tiếp.</a:t>
            </a:r>
          </a:p>
          <a:p>
            <a:r>
              <a:rPr lang="vi-VN" b="1"/>
              <a:t>Tại sao lại đúng 3 bit recessive?</a:t>
            </a:r>
          </a:p>
          <a:p>
            <a:r>
              <a:rPr lang="vi-VN">
                <a:effectLst/>
              </a:rPr>
              <a:t>Bosch thiết kế </a:t>
            </a:r>
            <a:r>
              <a:rPr lang="vi-VN" b="1">
                <a:effectLst/>
              </a:rPr>
              <a:t>3 bit</a:t>
            </a:r>
            <a:r>
              <a:rPr lang="vi-VN">
                <a:effectLst/>
              </a:rPr>
              <a:t> là con số </a:t>
            </a:r>
            <a:r>
              <a:rPr lang="vi-VN" b="1">
                <a:effectLst/>
              </a:rPr>
              <a:t>tối ưu</a:t>
            </a:r>
            <a:r>
              <a:rPr lang="vi-VN">
                <a:effectLst/>
              </a:rPr>
              <a:t>, không phải ngẫu nhiên. Dưới đây là các lý do chính:</a:t>
            </a:r>
          </a:p>
          <a:p>
            <a:pPr>
              <a:buFont typeface="+mj-lt"/>
              <a:buAutoNum type="arabicPeriod"/>
            </a:pPr>
            <a:r>
              <a:rPr lang="vi-VN" b="1"/>
              <a:t>Cho phép các node có thời gian xử lý nội bộ (internal processing time)</a:t>
            </a:r>
            <a:endParaRPr lang="vi-VN"/>
          </a:p>
          <a:p>
            <a:pPr marL="742950" lvl="1" indent="-285750">
              <a:buFont typeface="+mj-lt"/>
              <a:buAutoNum type="arabicPeriod"/>
            </a:pPr>
            <a:r>
              <a:rPr lang="vi-VN"/>
              <a:t>Sau khi nhận xong một frame, các ECU (node) cần thời gian để:</a:t>
            </a:r>
          </a:p>
          <a:p>
            <a:pPr marL="1143000" lvl="2" indent="-228600">
              <a:buFont typeface="+mj-lt"/>
              <a:buAutoNum type="arabicPeriod"/>
            </a:pPr>
            <a:r>
              <a:rPr lang="vi-VN"/>
              <a:t>Kiểm tra CRC hoàn tất.</a:t>
            </a:r>
          </a:p>
          <a:p>
            <a:pPr marL="1143000" lvl="2" indent="-228600">
              <a:buFont typeface="+mj-lt"/>
              <a:buAutoNum type="arabicPeriod"/>
            </a:pPr>
            <a:r>
              <a:rPr lang="vi-VN"/>
              <a:t>Lưu frame vào buffer/message queue.</a:t>
            </a:r>
          </a:p>
          <a:p>
            <a:pPr marL="1143000" lvl="2" indent="-228600">
              <a:buFont typeface="+mj-lt"/>
              <a:buAutoNum type="arabicPeriod"/>
            </a:pPr>
            <a:r>
              <a:rPr lang="vi-VN"/>
              <a:t>Cập nhật trạng thái lỗi (error counters).</a:t>
            </a:r>
          </a:p>
          <a:p>
            <a:pPr marL="1143000" lvl="2" indent="-228600">
              <a:buFont typeface="+mj-lt"/>
              <a:buAutoNum type="arabicPeriod"/>
            </a:pPr>
            <a:r>
              <a:rPr lang="vi-VN"/>
              <a:t>Chuẩn bị cho frame tiếp theo.</a:t>
            </a:r>
          </a:p>
          <a:p>
            <a:pPr marL="742950" lvl="1" indent="-285750">
              <a:buFont typeface="+mj-lt"/>
              <a:buAutoNum type="arabicPeriod"/>
            </a:pPr>
            <a:r>
              <a:rPr lang="vi-VN" b="1"/>
              <a:t>3 bit</a:t>
            </a:r>
            <a:r>
              <a:rPr lang="vi-VN"/>
              <a:t> là khoảng thời gian tối thiểu đủ cho hầu hết các bộ điều khiển CAN phần cứng (CAN controller) thực hiện các công việc này mà không bị quá tải.</a:t>
            </a:r>
          </a:p>
          <a:p>
            <a:pPr>
              <a:buFont typeface="+mj-lt"/>
              <a:buAutoNum type="arabicPeriod"/>
            </a:pPr>
            <a:r>
              <a:rPr lang="vi-VN" b="1"/>
              <a:t>Xác định rõ ràng trạng thái Bus Idle</a:t>
            </a:r>
            <a:endParaRPr lang="vi-VN"/>
          </a:p>
          <a:p>
            <a:pPr marL="742950" lvl="1" indent="-285750">
              <a:buFont typeface="+mj-lt"/>
              <a:buAutoNum type="arabicPeriod"/>
            </a:pPr>
            <a:r>
              <a:rPr lang="vi-VN"/>
              <a:t>Để một node biết bus đang </a:t>
            </a:r>
            <a:r>
              <a:rPr lang="vi-VN" b="1"/>
              <a:t>rảnh (Idle)</a:t>
            </a:r>
            <a:r>
              <a:rPr lang="vi-VN"/>
              <a:t> và có thể bắt đầu truyền frame mới, nó phải phát hiện </a:t>
            </a:r>
            <a:r>
              <a:rPr lang="vi-VN" b="1"/>
              <a:t>ít nhất 11 bit recessive liên tiếp</a:t>
            </a:r>
            <a:r>
              <a:rPr lang="vi-VN"/>
              <a:t>.</a:t>
            </a:r>
          </a:p>
          <a:p>
            <a:pPr marL="742950" lvl="1" indent="-285750">
              <a:buFont typeface="+mj-lt"/>
              <a:buAutoNum type="arabicPeriod"/>
            </a:pPr>
            <a:r>
              <a:rPr lang="vi-VN"/>
              <a:t>Cách tính: </a:t>
            </a:r>
            <a:r>
              <a:rPr lang="vi-VN" b="1"/>
              <a:t>1 bit ACK Delimiter</a:t>
            </a:r>
            <a:r>
              <a:rPr lang="vi-VN"/>
              <a:t> + </a:t>
            </a:r>
            <a:r>
              <a:rPr lang="vi-VN" b="1"/>
              <a:t>7 bit EOF</a:t>
            </a:r>
            <a:r>
              <a:rPr lang="vi-VN"/>
              <a:t> + </a:t>
            </a:r>
            <a:r>
              <a:rPr lang="vi-VN" b="1"/>
              <a:t>3 bit IFS</a:t>
            </a:r>
            <a:r>
              <a:rPr lang="vi-VN"/>
              <a:t> = </a:t>
            </a:r>
            <a:r>
              <a:rPr lang="vi-VN" b="1"/>
              <a:t>11 bit recessive</a:t>
            </a:r>
            <a:r>
              <a:rPr lang="vi-VN"/>
              <a:t>.</a:t>
            </a:r>
          </a:p>
          <a:p>
            <a:pPr marL="742950" lvl="1" indent="-285750">
              <a:buFont typeface="+mj-lt"/>
              <a:buAutoNum type="arabicPeriod"/>
            </a:pPr>
            <a:r>
              <a:rPr lang="vi-VN"/>
              <a:t>Đây là quy tắc quan trọng: Chỉ khi thấy đủ 11 bit recessive, node mới coi bus đã idle và được phép bắt đầu truyền (SOF = dominant bit).</a:t>
            </a:r>
          </a:p>
          <a:p>
            <a:pPr>
              <a:buFont typeface="+mj-lt"/>
              <a:buAutoNum type="arabicPeriod"/>
            </a:pPr>
            <a:r>
              <a:rPr lang="vi-VN" b="1"/>
              <a:t>Cho phép phát hiện và xử lý Overload Frame</a:t>
            </a:r>
            <a:endParaRPr lang="vi-VN"/>
          </a:p>
          <a:p>
            <a:pPr marL="742950" lvl="1" indent="-285750">
              <a:buFont typeface="+mj-lt"/>
              <a:buAutoNum type="arabicPeriod"/>
            </a:pPr>
            <a:r>
              <a:rPr lang="vi-VN"/>
              <a:t>Trong suốt </a:t>
            </a:r>
            <a:r>
              <a:rPr lang="vi-VN" b="1"/>
              <a:t>3 bit IFS</a:t>
            </a:r>
            <a:r>
              <a:rPr lang="vi-VN"/>
              <a:t>, </a:t>
            </a:r>
            <a:r>
              <a:rPr lang="vi-VN" b="1"/>
              <a:t>không node nào được phép bắt đầu truyền data/remote frame bình thường</a:t>
            </a:r>
            <a:r>
              <a:rPr lang="vi-VN"/>
              <a:t>.</a:t>
            </a:r>
          </a:p>
          <a:p>
            <a:pPr marL="742950" lvl="1" indent="-285750">
              <a:buFont typeface="+mj-lt"/>
              <a:buAutoNum type="arabicPeriod"/>
            </a:pPr>
            <a:r>
              <a:rPr lang="vi-VN"/>
              <a:t>Nếu bất kỳ node nào phát hiện </a:t>
            </a:r>
            <a:r>
              <a:rPr lang="vi-VN" b="1"/>
              <a:t>dominant bit</a:t>
            </a:r>
            <a:r>
              <a:rPr lang="vi-VN"/>
              <a:t> (0) trong khoảng IFS này (do nhiễu hoặc node cần gửi overload), nó sẽ truyền </a:t>
            </a:r>
            <a:r>
              <a:rPr lang="vi-VN" b="1"/>
              <a:t>Overload Frame</a:t>
            </a:r>
            <a:r>
              <a:rPr lang="vi-VN"/>
              <a:t> ngay lập tức.</a:t>
            </a:r>
          </a:p>
          <a:p>
            <a:pPr marL="742950" lvl="1" indent="-285750">
              <a:buFont typeface="+mj-lt"/>
              <a:buAutoNum type="arabicPeriod"/>
            </a:pPr>
            <a:r>
              <a:rPr lang="vi-VN"/>
              <a:t>3 bit tạo ra “khoảng cửa sổ” an toàn để phát hiện overload condition mà không làm nhiễu lẫn với frame bình thường.</a:t>
            </a:r>
          </a:p>
          <a:p>
            <a:pPr>
              <a:buFont typeface="+mj-lt"/>
              <a:buAutoNum type="arabicPeriod"/>
            </a:pPr>
            <a:r>
              <a:rPr lang="vi-VN" b="1"/>
              <a:t>Tối ưu giữa hiệu suất và độ tin cậy</a:t>
            </a:r>
            <a:endParaRPr lang="vi-VN"/>
          </a:p>
          <a:p>
            <a:pPr marL="742950" lvl="1" indent="-285750">
              <a:buFont typeface="+mj-lt"/>
              <a:buAutoNum type="arabicPeriod"/>
            </a:pPr>
            <a:r>
              <a:rPr lang="vi-VN"/>
              <a:t>Nếu ít hơn 3 bit (ví dụ 2 bit): Không đủ thời gian cho node xử lý nội bộ → một số ECU chậm có thể bỏ lỡ hoặc gây lỗi.</a:t>
            </a:r>
          </a:p>
          <a:p>
            <a:pPr marL="742950" lvl="1" indent="-285750">
              <a:buFont typeface="+mj-lt"/>
              <a:buAutoNum type="arabicPeriod"/>
            </a:pPr>
            <a:r>
              <a:rPr lang="vi-VN"/>
              <a:t>Nếu nhiều hơn 3 bit (ví dụ 4–5 bit): Lãng phí băng thông không cần thiết, làm giảm throughput tổng thể của bus.</a:t>
            </a:r>
          </a:p>
          <a:p>
            <a:pPr marL="742950" lvl="1" indent="-285750">
              <a:buFont typeface="+mj-lt"/>
              <a:buAutoNum type="arabicPeriod"/>
            </a:pPr>
            <a:r>
              <a:rPr lang="vi-VN" b="1"/>
              <a:t>3 bit</a:t>
            </a:r>
            <a:r>
              <a:rPr lang="vi-VN"/>
              <a:t> là giá trị cân bằng tốt nhất.</a:t>
            </a:r>
          </a:p>
          <a:p>
            <a:r>
              <a:rPr lang="vi-VN" b="1"/>
              <a:t>Tóm tắt vai trò của 3 bit IFS</a:t>
            </a:r>
          </a:p>
          <a:p>
            <a:pPr>
              <a:buFont typeface="Arial" panose="020B0604020202020204" pitchFamily="34" charset="0"/>
              <a:buChar char="•"/>
            </a:pPr>
            <a:r>
              <a:rPr lang="vi-VN"/>
              <a:t>Là </a:t>
            </a:r>
            <a:r>
              <a:rPr lang="vi-VN" b="1"/>
              <a:t>khoảng cách tối thiểu</a:t>
            </a:r>
            <a:r>
              <a:rPr lang="vi-VN"/>
              <a:t> giữa các frame.</a:t>
            </a:r>
          </a:p>
          <a:p>
            <a:pPr>
              <a:buFont typeface="Arial" panose="020B0604020202020204" pitchFamily="34" charset="0"/>
              <a:buChar char="•"/>
            </a:pPr>
            <a:r>
              <a:rPr lang="vi-VN"/>
              <a:t>Đảm bảo tất cả node có thời gian “nghỉ ngơi” và xử lý frame vừa nhận.</a:t>
            </a:r>
          </a:p>
          <a:p>
            <a:pPr>
              <a:buFont typeface="Arial" panose="020B0604020202020204" pitchFamily="34" charset="0"/>
              <a:buChar char="•"/>
            </a:pPr>
            <a:r>
              <a:rPr lang="vi-VN"/>
              <a:t>Hoàn thiện chuỗi </a:t>
            </a:r>
            <a:r>
              <a:rPr lang="vi-VN" b="1"/>
              <a:t>11 recessive bits</a:t>
            </a:r>
            <a:r>
              <a:rPr lang="vi-VN"/>
              <a:t> → xác định bus idle chính xác.</a:t>
            </a:r>
          </a:p>
          <a:p>
            <a:pPr>
              <a:buFont typeface="Arial" panose="020B0604020202020204" pitchFamily="34" charset="0"/>
              <a:buChar char="•"/>
            </a:pPr>
            <a:r>
              <a:rPr lang="vi-VN"/>
              <a:t>Cho phép cơ chế </a:t>
            </a:r>
            <a:r>
              <a:rPr lang="vi-VN" b="1"/>
              <a:t>Overload Frame</a:t>
            </a:r>
            <a:r>
              <a:rPr lang="vi-VN"/>
              <a:t> hoạt động đúng (phát hiện dominant bit trong IFS → overload).</a:t>
            </a:r>
          </a:p>
          <a:p>
            <a:pPr>
              <a:buFont typeface="Arial" panose="020B0604020202020204" pitchFamily="34" charset="0"/>
              <a:buChar char="•"/>
            </a:pPr>
            <a:r>
              <a:rPr lang="vi-VN"/>
              <a:t>Giữ cho mạng CAN hoạt động đồng bộ và tránh xung đột.</a:t>
            </a:r>
          </a:p>
          <a:p>
            <a:r>
              <a:rPr lang="vi-VN" b="1">
                <a:effectLst/>
              </a:rPr>
              <a:t>Lưu ý nhỏ</a:t>
            </a:r>
            <a:r>
              <a:rPr lang="vi-VN">
                <a:effectLst/>
              </a:rPr>
              <a:t>: Một số tài liệu cũ hoặc nhầm lẫn hay nói “IFS là 7 bit” hoặc “Interframe Space là 7 bit”. Thực tế:</a:t>
            </a:r>
          </a:p>
          <a:p>
            <a:pPr>
              <a:buFont typeface="Arial" panose="020B0604020202020204" pitchFamily="34" charset="0"/>
              <a:buChar char="•"/>
            </a:pPr>
            <a:r>
              <a:rPr lang="vi-VN" b="1"/>
              <a:t>Intermission</a:t>
            </a:r>
            <a:r>
              <a:rPr lang="vi-VN"/>
              <a:t> = chính xác </a:t>
            </a:r>
            <a:r>
              <a:rPr lang="vi-VN" b="1"/>
              <a:t>3 bit recessive</a:t>
            </a:r>
            <a:r>
              <a:rPr lang="vi-VN"/>
              <a:t>.</a:t>
            </a:r>
          </a:p>
          <a:p>
            <a:pPr>
              <a:buFont typeface="Arial" panose="020B0604020202020204" pitchFamily="34" charset="0"/>
              <a:buChar char="•"/>
            </a:pPr>
            <a:r>
              <a:rPr lang="vi-VN"/>
              <a:t>Toàn bộ khoảng cách giữa hai frame đôi khi được gọi chung là Interframe Space (bao gồm EOF + IFS + idle).</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77</a:t>
            </a:fld>
            <a:endParaRPr lang="en-US"/>
          </a:p>
        </p:txBody>
      </p:sp>
    </p:spTree>
    <p:extLst>
      <p:ext uri="{BB962C8B-B14F-4D97-AF65-F5344CB8AC3E}">
        <p14:creationId xmlns:p14="http://schemas.microsoft.com/office/powerpoint/2010/main" val="147511866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a:t>
            </a:r>
            <a:r>
              <a:rPr lang="vi-VN"/>
              <a:t>đi.</a:t>
            </a:r>
            <a:endParaRPr lang="en-US"/>
          </a:p>
          <a:p>
            <a:endParaRPr lang="en-US"/>
          </a:p>
          <a:p>
            <a:r>
              <a:rPr lang="vi-VN" b="1">
                <a:effectLst/>
              </a:rPr>
              <a:t>IFS (Interframe Space / Intermission)</a:t>
            </a:r>
            <a:r>
              <a:rPr lang="vi-VN">
                <a:effectLst/>
              </a:rPr>
              <a:t> trong giao thức CAN là </a:t>
            </a:r>
            <a:r>
              <a:rPr lang="vi-VN" b="1">
                <a:effectLst/>
              </a:rPr>
              <a:t>3 bit recessive</a:t>
            </a:r>
            <a:r>
              <a:rPr lang="vi-VN">
                <a:effectLst/>
              </a:rPr>
              <a:t> (logic 1) nằm ngay sau </a:t>
            </a:r>
            <a:r>
              <a:rPr lang="vi-VN" b="1">
                <a:effectLst/>
              </a:rPr>
              <a:t>EOF (7 bit recessive)</a:t>
            </a:r>
            <a:r>
              <a:rPr lang="vi-VN">
                <a:effectLst/>
              </a:rPr>
              <a:t>.</a:t>
            </a:r>
          </a:p>
          <a:p>
            <a:r>
              <a:rPr lang="vi-VN">
                <a:effectLst/>
              </a:rPr>
              <a:t>Đây là phần </a:t>
            </a:r>
            <a:r>
              <a:rPr lang="vi-VN" b="1">
                <a:effectLst/>
              </a:rPr>
              <a:t>bắt buộc tối thiểu</a:t>
            </a:r>
            <a:r>
              <a:rPr lang="vi-VN">
                <a:effectLst/>
              </a:rPr>
              <a:t> giữa hai frame (data frame hoặc remote frame) liên tiếp.</a:t>
            </a:r>
          </a:p>
          <a:p>
            <a:r>
              <a:rPr lang="vi-VN" b="1"/>
              <a:t>Tại sao lại đúng 3 bit recessive?</a:t>
            </a:r>
          </a:p>
          <a:p>
            <a:r>
              <a:rPr lang="vi-VN">
                <a:effectLst/>
              </a:rPr>
              <a:t>Bosch thiết kế </a:t>
            </a:r>
            <a:r>
              <a:rPr lang="vi-VN" b="1">
                <a:effectLst/>
              </a:rPr>
              <a:t>3 bit</a:t>
            </a:r>
            <a:r>
              <a:rPr lang="vi-VN">
                <a:effectLst/>
              </a:rPr>
              <a:t> là con số </a:t>
            </a:r>
            <a:r>
              <a:rPr lang="vi-VN" b="1">
                <a:effectLst/>
              </a:rPr>
              <a:t>tối ưu</a:t>
            </a:r>
            <a:r>
              <a:rPr lang="vi-VN">
                <a:effectLst/>
              </a:rPr>
              <a:t>, không phải ngẫu nhiên. Dưới đây là các lý do chính:</a:t>
            </a:r>
          </a:p>
          <a:p>
            <a:pPr>
              <a:buFont typeface="+mj-lt"/>
              <a:buAutoNum type="arabicPeriod"/>
            </a:pPr>
            <a:r>
              <a:rPr lang="vi-VN" b="1"/>
              <a:t>Cho phép các node có thời gian xử lý nội bộ (internal processing time)</a:t>
            </a:r>
            <a:endParaRPr lang="vi-VN"/>
          </a:p>
          <a:p>
            <a:pPr marL="742950" lvl="1" indent="-285750">
              <a:buFont typeface="+mj-lt"/>
              <a:buAutoNum type="arabicPeriod"/>
            </a:pPr>
            <a:r>
              <a:rPr lang="vi-VN"/>
              <a:t>Sau khi nhận xong một frame, các ECU (node) cần thời gian để:</a:t>
            </a:r>
          </a:p>
          <a:p>
            <a:pPr marL="1143000" lvl="2" indent="-228600">
              <a:buFont typeface="+mj-lt"/>
              <a:buAutoNum type="arabicPeriod"/>
            </a:pPr>
            <a:r>
              <a:rPr lang="vi-VN"/>
              <a:t>Kiểm tra CRC hoàn tất.</a:t>
            </a:r>
          </a:p>
          <a:p>
            <a:pPr marL="1143000" lvl="2" indent="-228600">
              <a:buFont typeface="+mj-lt"/>
              <a:buAutoNum type="arabicPeriod"/>
            </a:pPr>
            <a:r>
              <a:rPr lang="vi-VN"/>
              <a:t>Lưu frame vào buffer/message queue.</a:t>
            </a:r>
          </a:p>
          <a:p>
            <a:pPr marL="1143000" lvl="2" indent="-228600">
              <a:buFont typeface="+mj-lt"/>
              <a:buAutoNum type="arabicPeriod"/>
            </a:pPr>
            <a:r>
              <a:rPr lang="vi-VN"/>
              <a:t>Cập nhật trạng thái lỗi (error counters).</a:t>
            </a:r>
          </a:p>
          <a:p>
            <a:pPr marL="1143000" lvl="2" indent="-228600">
              <a:buFont typeface="+mj-lt"/>
              <a:buAutoNum type="arabicPeriod"/>
            </a:pPr>
            <a:r>
              <a:rPr lang="vi-VN"/>
              <a:t>Chuẩn bị cho frame tiếp theo.</a:t>
            </a:r>
          </a:p>
          <a:p>
            <a:pPr marL="742950" lvl="1" indent="-285750">
              <a:buFont typeface="+mj-lt"/>
              <a:buAutoNum type="arabicPeriod"/>
            </a:pPr>
            <a:r>
              <a:rPr lang="vi-VN" b="1"/>
              <a:t>3 bit</a:t>
            </a:r>
            <a:r>
              <a:rPr lang="vi-VN"/>
              <a:t> là khoảng thời gian tối thiểu đủ cho hầu hết các bộ điều khiển CAN phần cứng (CAN controller) thực hiện các công việc này mà không bị quá tải.</a:t>
            </a:r>
          </a:p>
          <a:p>
            <a:pPr>
              <a:buFont typeface="+mj-lt"/>
              <a:buAutoNum type="arabicPeriod"/>
            </a:pPr>
            <a:r>
              <a:rPr lang="vi-VN" b="1"/>
              <a:t>Xác định rõ ràng trạng thái Bus Idle</a:t>
            </a:r>
            <a:endParaRPr lang="vi-VN"/>
          </a:p>
          <a:p>
            <a:pPr marL="742950" lvl="1" indent="-285750">
              <a:buFont typeface="+mj-lt"/>
              <a:buAutoNum type="arabicPeriod"/>
            </a:pPr>
            <a:r>
              <a:rPr lang="vi-VN"/>
              <a:t>Để một node biết bus đang </a:t>
            </a:r>
            <a:r>
              <a:rPr lang="vi-VN" b="1"/>
              <a:t>rảnh (Idle)</a:t>
            </a:r>
            <a:r>
              <a:rPr lang="vi-VN"/>
              <a:t> và có thể bắt đầu truyền frame mới, nó phải phát hiện </a:t>
            </a:r>
            <a:r>
              <a:rPr lang="vi-VN" b="1"/>
              <a:t>ít nhất 11 bit recessive liên tiếp</a:t>
            </a:r>
            <a:r>
              <a:rPr lang="vi-VN"/>
              <a:t>.</a:t>
            </a:r>
          </a:p>
          <a:p>
            <a:pPr marL="742950" lvl="1" indent="-285750">
              <a:buFont typeface="+mj-lt"/>
              <a:buAutoNum type="arabicPeriod"/>
            </a:pPr>
            <a:r>
              <a:rPr lang="vi-VN"/>
              <a:t>Cách tính: </a:t>
            </a:r>
            <a:r>
              <a:rPr lang="vi-VN" b="1"/>
              <a:t>1 bit ACK Delimiter</a:t>
            </a:r>
            <a:r>
              <a:rPr lang="vi-VN"/>
              <a:t> + </a:t>
            </a:r>
            <a:r>
              <a:rPr lang="vi-VN" b="1"/>
              <a:t>7 bit EOF</a:t>
            </a:r>
            <a:r>
              <a:rPr lang="vi-VN"/>
              <a:t> + </a:t>
            </a:r>
            <a:r>
              <a:rPr lang="vi-VN" b="1"/>
              <a:t>3 bit IFS</a:t>
            </a:r>
            <a:r>
              <a:rPr lang="vi-VN"/>
              <a:t> = </a:t>
            </a:r>
            <a:r>
              <a:rPr lang="vi-VN" b="1"/>
              <a:t>11 bit recessive</a:t>
            </a:r>
            <a:r>
              <a:rPr lang="vi-VN"/>
              <a:t>.</a:t>
            </a:r>
          </a:p>
          <a:p>
            <a:pPr marL="742950" lvl="1" indent="-285750">
              <a:buFont typeface="+mj-lt"/>
              <a:buAutoNum type="arabicPeriod"/>
            </a:pPr>
            <a:r>
              <a:rPr lang="vi-VN"/>
              <a:t>Đây là quy tắc quan trọng: Chỉ khi thấy đủ 11 bit recessive, node mới coi bus đã idle và được phép bắt đầu truyền (SOF = dominant bit).</a:t>
            </a:r>
          </a:p>
          <a:p>
            <a:pPr>
              <a:buFont typeface="+mj-lt"/>
              <a:buAutoNum type="arabicPeriod"/>
            </a:pPr>
            <a:r>
              <a:rPr lang="vi-VN" b="1"/>
              <a:t>Cho phép phát hiện và xử lý Overload Frame</a:t>
            </a:r>
            <a:endParaRPr lang="vi-VN"/>
          </a:p>
          <a:p>
            <a:pPr marL="742950" lvl="1" indent="-285750">
              <a:buFont typeface="+mj-lt"/>
              <a:buAutoNum type="arabicPeriod"/>
            </a:pPr>
            <a:r>
              <a:rPr lang="vi-VN"/>
              <a:t>Trong suốt </a:t>
            </a:r>
            <a:r>
              <a:rPr lang="vi-VN" b="1"/>
              <a:t>3 bit IFS</a:t>
            </a:r>
            <a:r>
              <a:rPr lang="vi-VN"/>
              <a:t>, </a:t>
            </a:r>
            <a:r>
              <a:rPr lang="vi-VN" b="1"/>
              <a:t>không node nào được phép bắt đầu truyền data/remote frame bình thường</a:t>
            </a:r>
            <a:r>
              <a:rPr lang="vi-VN"/>
              <a:t>.</a:t>
            </a:r>
          </a:p>
          <a:p>
            <a:pPr marL="742950" lvl="1" indent="-285750">
              <a:buFont typeface="+mj-lt"/>
              <a:buAutoNum type="arabicPeriod"/>
            </a:pPr>
            <a:r>
              <a:rPr lang="vi-VN"/>
              <a:t>Nếu bất kỳ node nào phát hiện </a:t>
            </a:r>
            <a:r>
              <a:rPr lang="vi-VN" b="1"/>
              <a:t>dominant bit</a:t>
            </a:r>
            <a:r>
              <a:rPr lang="vi-VN"/>
              <a:t> (0) trong khoảng IFS này (do nhiễu hoặc node cần gửi overload), nó sẽ truyền </a:t>
            </a:r>
            <a:r>
              <a:rPr lang="vi-VN" b="1"/>
              <a:t>Overload Frame</a:t>
            </a:r>
            <a:r>
              <a:rPr lang="vi-VN"/>
              <a:t> ngay lập tức.</a:t>
            </a:r>
          </a:p>
          <a:p>
            <a:pPr marL="742950" lvl="1" indent="-285750">
              <a:buFont typeface="+mj-lt"/>
              <a:buAutoNum type="arabicPeriod"/>
            </a:pPr>
            <a:r>
              <a:rPr lang="vi-VN"/>
              <a:t>3 bit tạo ra “khoảng cửa sổ” an toàn để phát hiện overload condition mà không làm nhiễu lẫn với frame bình thường.</a:t>
            </a:r>
          </a:p>
          <a:p>
            <a:pPr>
              <a:buFont typeface="+mj-lt"/>
              <a:buAutoNum type="arabicPeriod"/>
            </a:pPr>
            <a:r>
              <a:rPr lang="vi-VN" b="1"/>
              <a:t>Tối ưu giữa hiệu suất và độ tin cậy</a:t>
            </a:r>
            <a:endParaRPr lang="vi-VN"/>
          </a:p>
          <a:p>
            <a:pPr marL="742950" lvl="1" indent="-285750">
              <a:buFont typeface="+mj-lt"/>
              <a:buAutoNum type="arabicPeriod"/>
            </a:pPr>
            <a:r>
              <a:rPr lang="vi-VN"/>
              <a:t>Nếu ít hơn 3 bit (ví dụ 2 bit): Không đủ thời gian cho node xử lý nội bộ → một số ECU chậm có thể bỏ lỡ hoặc gây lỗi.</a:t>
            </a:r>
          </a:p>
          <a:p>
            <a:pPr marL="742950" lvl="1" indent="-285750">
              <a:buFont typeface="+mj-lt"/>
              <a:buAutoNum type="arabicPeriod"/>
            </a:pPr>
            <a:r>
              <a:rPr lang="vi-VN"/>
              <a:t>Nếu nhiều hơn 3 bit (ví dụ 4–5 bit): Lãng phí băng thông không cần thiết, làm giảm throughput tổng thể của bus.</a:t>
            </a:r>
          </a:p>
          <a:p>
            <a:pPr marL="742950" lvl="1" indent="-285750">
              <a:buFont typeface="+mj-lt"/>
              <a:buAutoNum type="arabicPeriod"/>
            </a:pPr>
            <a:r>
              <a:rPr lang="vi-VN" b="1"/>
              <a:t>3 bit</a:t>
            </a:r>
            <a:r>
              <a:rPr lang="vi-VN"/>
              <a:t> là giá trị cân bằng tốt nhất.</a:t>
            </a:r>
          </a:p>
          <a:p>
            <a:r>
              <a:rPr lang="vi-VN" b="1"/>
              <a:t>Tóm tắt vai trò của 3 bit IFS</a:t>
            </a:r>
          </a:p>
          <a:p>
            <a:pPr>
              <a:buFont typeface="Arial" panose="020B0604020202020204" pitchFamily="34" charset="0"/>
              <a:buChar char="•"/>
            </a:pPr>
            <a:r>
              <a:rPr lang="vi-VN"/>
              <a:t>Là </a:t>
            </a:r>
            <a:r>
              <a:rPr lang="vi-VN" b="1"/>
              <a:t>khoảng cách tối thiểu</a:t>
            </a:r>
            <a:r>
              <a:rPr lang="vi-VN"/>
              <a:t> giữa các frame.</a:t>
            </a:r>
          </a:p>
          <a:p>
            <a:pPr>
              <a:buFont typeface="Arial" panose="020B0604020202020204" pitchFamily="34" charset="0"/>
              <a:buChar char="•"/>
            </a:pPr>
            <a:r>
              <a:rPr lang="vi-VN"/>
              <a:t>Đảm bảo tất cả node có thời gian “nghỉ ngơi” và xử lý frame vừa nhận.</a:t>
            </a:r>
          </a:p>
          <a:p>
            <a:pPr>
              <a:buFont typeface="Arial" panose="020B0604020202020204" pitchFamily="34" charset="0"/>
              <a:buChar char="•"/>
            </a:pPr>
            <a:r>
              <a:rPr lang="vi-VN"/>
              <a:t>Hoàn thiện chuỗi </a:t>
            </a:r>
            <a:r>
              <a:rPr lang="vi-VN" b="1"/>
              <a:t>11 recessive bits</a:t>
            </a:r>
            <a:r>
              <a:rPr lang="vi-VN"/>
              <a:t> → xác định bus idle chính xác.</a:t>
            </a:r>
          </a:p>
          <a:p>
            <a:pPr>
              <a:buFont typeface="Arial" panose="020B0604020202020204" pitchFamily="34" charset="0"/>
              <a:buChar char="•"/>
            </a:pPr>
            <a:r>
              <a:rPr lang="vi-VN"/>
              <a:t>Cho phép cơ chế </a:t>
            </a:r>
            <a:r>
              <a:rPr lang="vi-VN" b="1"/>
              <a:t>Overload Frame</a:t>
            </a:r>
            <a:r>
              <a:rPr lang="vi-VN"/>
              <a:t> hoạt động đúng (phát hiện dominant bit trong IFS → overload).</a:t>
            </a:r>
          </a:p>
          <a:p>
            <a:pPr>
              <a:buFont typeface="Arial" panose="020B0604020202020204" pitchFamily="34" charset="0"/>
              <a:buChar char="•"/>
            </a:pPr>
            <a:r>
              <a:rPr lang="vi-VN"/>
              <a:t>Giữ cho mạng CAN hoạt động đồng bộ và tránh xung đột.</a:t>
            </a:r>
          </a:p>
          <a:p>
            <a:r>
              <a:rPr lang="vi-VN" b="1">
                <a:effectLst/>
              </a:rPr>
              <a:t>Lưu ý nhỏ</a:t>
            </a:r>
            <a:r>
              <a:rPr lang="vi-VN">
                <a:effectLst/>
              </a:rPr>
              <a:t>: Một số tài liệu cũ hoặc nhầm lẫn hay nói “IFS là 7 bit” hoặc “Interframe Space là 7 bit”. Thực tế:</a:t>
            </a:r>
          </a:p>
          <a:p>
            <a:pPr>
              <a:buFont typeface="Arial" panose="020B0604020202020204" pitchFamily="34" charset="0"/>
              <a:buChar char="•"/>
            </a:pPr>
            <a:r>
              <a:rPr lang="vi-VN" b="1"/>
              <a:t>Intermission</a:t>
            </a:r>
            <a:r>
              <a:rPr lang="vi-VN"/>
              <a:t> = chính xác </a:t>
            </a:r>
            <a:r>
              <a:rPr lang="vi-VN" b="1"/>
              <a:t>3 bit recessive</a:t>
            </a:r>
            <a:r>
              <a:rPr lang="vi-VN"/>
              <a:t>.</a:t>
            </a:r>
          </a:p>
          <a:p>
            <a:pPr>
              <a:buFont typeface="Arial" panose="020B0604020202020204" pitchFamily="34" charset="0"/>
              <a:buChar char="•"/>
            </a:pPr>
            <a:r>
              <a:rPr lang="vi-VN"/>
              <a:t>Toàn bộ khoảng cách giữa hai frame đôi khi được gọi chung là Interframe Space (bao gồm EOF + IFS + idle).</a:t>
            </a:r>
          </a:p>
          <a:p>
            <a:endParaRPr lang="vi-VN" dirty="0"/>
          </a:p>
        </p:txBody>
      </p:sp>
      <p:sp>
        <p:nvSpPr>
          <p:cNvPr id="4" name="Slide Number Placeholder 3"/>
          <p:cNvSpPr>
            <a:spLocks noGrp="1"/>
          </p:cNvSpPr>
          <p:nvPr>
            <p:ph type="sldNum" sz="quarter" idx="5"/>
          </p:nvPr>
        </p:nvSpPr>
        <p:spPr/>
        <p:txBody>
          <a:bodyPr/>
          <a:lstStyle/>
          <a:p>
            <a:fld id="{E80A4903-7EF3-44C4-B3A5-356E0A49B13F}" type="slidenum">
              <a:rPr lang="en-US" smtClean="0"/>
              <a:t>78</a:t>
            </a:fld>
            <a:endParaRPr lang="en-US"/>
          </a:p>
        </p:txBody>
      </p:sp>
    </p:spTree>
    <p:extLst>
      <p:ext uri="{BB962C8B-B14F-4D97-AF65-F5344CB8AC3E}">
        <p14:creationId xmlns:p14="http://schemas.microsoft.com/office/powerpoint/2010/main" val="4879316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79</a:t>
            </a:fld>
            <a:endParaRPr lang="en-US"/>
          </a:p>
        </p:txBody>
      </p:sp>
    </p:spTree>
    <p:extLst>
      <p:ext uri="{BB962C8B-B14F-4D97-AF65-F5344CB8AC3E}">
        <p14:creationId xmlns:p14="http://schemas.microsoft.com/office/powerpoint/2010/main" val="25380479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80</a:t>
            </a:fld>
            <a:endParaRPr lang="en-US"/>
          </a:p>
        </p:txBody>
      </p:sp>
    </p:spTree>
    <p:extLst>
      <p:ext uri="{BB962C8B-B14F-4D97-AF65-F5344CB8AC3E}">
        <p14:creationId xmlns:p14="http://schemas.microsoft.com/office/powerpoint/2010/main" val="6731617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81</a:t>
            </a:fld>
            <a:endParaRPr lang="en-US"/>
          </a:p>
        </p:txBody>
      </p:sp>
    </p:spTree>
    <p:extLst>
      <p:ext uri="{BB962C8B-B14F-4D97-AF65-F5344CB8AC3E}">
        <p14:creationId xmlns:p14="http://schemas.microsoft.com/office/powerpoint/2010/main" val="42170363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82</a:t>
            </a:fld>
            <a:endParaRPr lang="en-US"/>
          </a:p>
        </p:txBody>
      </p:sp>
    </p:spTree>
    <p:extLst>
      <p:ext uri="{BB962C8B-B14F-4D97-AF65-F5344CB8AC3E}">
        <p14:creationId xmlns:p14="http://schemas.microsoft.com/office/powerpoint/2010/main" val="343630764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83</a:t>
            </a:fld>
            <a:endParaRPr lang="en-US"/>
          </a:p>
        </p:txBody>
      </p:sp>
    </p:spTree>
    <p:extLst>
      <p:ext uri="{BB962C8B-B14F-4D97-AF65-F5344CB8AC3E}">
        <p14:creationId xmlns:p14="http://schemas.microsoft.com/office/powerpoint/2010/main" val="11057520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84</a:t>
            </a:fld>
            <a:endParaRPr lang="en-US"/>
          </a:p>
        </p:txBody>
      </p:sp>
    </p:spTree>
    <p:extLst>
      <p:ext uri="{BB962C8B-B14F-4D97-AF65-F5344CB8AC3E}">
        <p14:creationId xmlns:p14="http://schemas.microsoft.com/office/powerpoint/2010/main" val="34151471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85</a:t>
            </a:fld>
            <a:endParaRPr lang="en-US"/>
          </a:p>
        </p:txBody>
      </p:sp>
    </p:spTree>
    <p:extLst>
      <p:ext uri="{BB962C8B-B14F-4D97-AF65-F5344CB8AC3E}">
        <p14:creationId xmlns:p14="http://schemas.microsoft.com/office/powerpoint/2010/main" val="38102205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86</a:t>
            </a:fld>
            <a:endParaRPr lang="en-US"/>
          </a:p>
        </p:txBody>
      </p:sp>
    </p:spTree>
    <p:extLst>
      <p:ext uri="{BB962C8B-B14F-4D97-AF65-F5344CB8AC3E}">
        <p14:creationId xmlns:p14="http://schemas.microsoft.com/office/powerpoint/2010/main" val="42006865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87</a:t>
            </a:fld>
            <a:endParaRPr lang="en-US"/>
          </a:p>
        </p:txBody>
      </p:sp>
    </p:spTree>
    <p:extLst>
      <p:ext uri="{BB962C8B-B14F-4D97-AF65-F5344CB8AC3E}">
        <p14:creationId xmlns:p14="http://schemas.microsoft.com/office/powerpoint/2010/main" val="408359274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88</a:t>
            </a:fld>
            <a:endParaRPr lang="en-US"/>
          </a:p>
        </p:txBody>
      </p:sp>
    </p:spTree>
    <p:extLst>
      <p:ext uri="{BB962C8B-B14F-4D97-AF65-F5344CB8AC3E}">
        <p14:creationId xmlns:p14="http://schemas.microsoft.com/office/powerpoint/2010/main" val="6266130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89</a:t>
            </a:fld>
            <a:endParaRPr lang="en-US"/>
          </a:p>
        </p:txBody>
      </p:sp>
    </p:spTree>
    <p:extLst>
      <p:ext uri="{BB962C8B-B14F-4D97-AF65-F5344CB8AC3E}">
        <p14:creationId xmlns:p14="http://schemas.microsoft.com/office/powerpoint/2010/main" val="23091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90</a:t>
            </a:fld>
            <a:endParaRPr lang="en-US"/>
          </a:p>
        </p:txBody>
      </p:sp>
    </p:spTree>
    <p:extLst>
      <p:ext uri="{BB962C8B-B14F-4D97-AF65-F5344CB8AC3E}">
        <p14:creationId xmlns:p14="http://schemas.microsoft.com/office/powerpoint/2010/main" val="295765142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91</a:t>
            </a:fld>
            <a:endParaRPr lang="en-US"/>
          </a:p>
        </p:txBody>
      </p:sp>
    </p:spTree>
    <p:extLst>
      <p:ext uri="{BB962C8B-B14F-4D97-AF65-F5344CB8AC3E}">
        <p14:creationId xmlns:p14="http://schemas.microsoft.com/office/powerpoint/2010/main" val="30871392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92</a:t>
            </a:fld>
            <a:endParaRPr lang="en-US"/>
          </a:p>
        </p:txBody>
      </p:sp>
    </p:spTree>
    <p:extLst>
      <p:ext uri="{BB962C8B-B14F-4D97-AF65-F5344CB8AC3E}">
        <p14:creationId xmlns:p14="http://schemas.microsoft.com/office/powerpoint/2010/main" val="62171777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93</a:t>
            </a:fld>
            <a:endParaRPr lang="en-US"/>
          </a:p>
        </p:txBody>
      </p:sp>
    </p:spTree>
    <p:extLst>
      <p:ext uri="{BB962C8B-B14F-4D97-AF65-F5344CB8AC3E}">
        <p14:creationId xmlns:p14="http://schemas.microsoft.com/office/powerpoint/2010/main" val="44830287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94</a:t>
            </a:fld>
            <a:endParaRPr lang="en-US"/>
          </a:p>
        </p:txBody>
      </p:sp>
    </p:spTree>
    <p:extLst>
      <p:ext uri="{BB962C8B-B14F-4D97-AF65-F5344CB8AC3E}">
        <p14:creationId xmlns:p14="http://schemas.microsoft.com/office/powerpoint/2010/main" val="329673638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Error Frame là gì?</a:t>
            </a:r>
          </a:p>
          <a:p>
            <a:r>
              <a:rPr lang="vi-VN" b="1">
                <a:effectLst/>
              </a:rPr>
              <a:t>Error Frame</a:t>
            </a:r>
            <a:r>
              <a:rPr lang="vi-VN">
                <a:effectLst/>
              </a:rPr>
              <a:t> (Khung lỗi) là một khung đặc biệt mà bất kỳ node nào trên bus CAN cũng có thể tự động truyền ra khi phát hiện lỗi trong quá trình giao tiếp.</a:t>
            </a:r>
          </a:p>
          <a:p>
            <a:r>
              <a:rPr lang="vi-VN">
                <a:effectLst/>
              </a:rPr>
              <a:t>Mục đích chính:</a:t>
            </a:r>
          </a:p>
          <a:p>
            <a:pPr>
              <a:buFont typeface="Arial" panose="020B0604020202020204" pitchFamily="34" charset="0"/>
              <a:buChar char="•"/>
            </a:pPr>
            <a:r>
              <a:rPr lang="vi-VN" b="1"/>
              <a:t>Phá hủy</a:t>
            </a:r>
            <a:r>
              <a:rPr lang="vi-VN"/>
              <a:t> ngay lập tức frame đang truyền (data frame hoặc remote frame) bị lỗi.</a:t>
            </a:r>
          </a:p>
          <a:p>
            <a:pPr>
              <a:buFont typeface="Arial" panose="020B0604020202020204" pitchFamily="34" charset="0"/>
              <a:buChar char="•"/>
            </a:pPr>
            <a:r>
              <a:rPr lang="vi-VN" b="1"/>
              <a:t>Thông báo</a:t>
            </a:r>
            <a:r>
              <a:rPr lang="vi-VN"/>
              <a:t> cho tất cả các node khác trên bus rằng có lỗi xảy ra.</a:t>
            </a:r>
          </a:p>
          <a:p>
            <a:pPr>
              <a:buFont typeface="Arial" panose="020B0604020202020204" pitchFamily="34" charset="0"/>
              <a:buChar char="•"/>
            </a:pPr>
            <a:r>
              <a:rPr lang="vi-VN"/>
              <a:t>Cho phép node gửi frame lỗi </a:t>
            </a:r>
            <a:r>
              <a:rPr lang="vi-VN" b="1"/>
              <a:t>tự động retransmit</a:t>
            </a:r>
            <a:r>
              <a:rPr lang="vi-VN"/>
              <a:t> (gửi lại) message sau khi lỗi được xử lý.</a:t>
            </a:r>
          </a:p>
          <a:p>
            <a:r>
              <a:rPr lang="vi-VN">
                <a:effectLst/>
              </a:rPr>
              <a:t>Error Frame </a:t>
            </a:r>
            <a:r>
              <a:rPr lang="vi-VN" b="1">
                <a:effectLst/>
              </a:rPr>
              <a:t>cố tình vi phạm</a:t>
            </a:r>
            <a:r>
              <a:rPr lang="vi-VN">
                <a:effectLst/>
              </a:rPr>
              <a:t> quy tắc của CAN (đặc biệt là quy tắc bit stuffing) để đảm bảo mọi node đều nhận ra có lỗi.</a:t>
            </a:r>
          </a:p>
          <a:p>
            <a:r>
              <a:rPr lang="vi-VN" b="1"/>
              <a:t>2. Cấu trúc của Error Frame</a:t>
            </a:r>
          </a:p>
          <a:p>
            <a:r>
              <a:rPr lang="vi-VN">
                <a:effectLst/>
              </a:rPr>
              <a:t>Error Frame gồm </a:t>
            </a:r>
            <a:r>
              <a:rPr lang="vi-VN" b="1">
                <a:effectLst/>
              </a:rPr>
              <a:t>2 phần</a:t>
            </a:r>
            <a:r>
              <a:rPr lang="vi-VN">
                <a:effectLst/>
              </a:rPr>
              <a:t> chính:</a:t>
            </a:r>
          </a:p>
          <a:p>
            <a:pPr>
              <a:buFont typeface="Arial" panose="020B0604020202020204" pitchFamily="34" charset="0"/>
              <a:buChar char="•"/>
            </a:pPr>
            <a:r>
              <a:rPr lang="vi-VN" b="1"/>
              <a:t>Error Flag</a:t>
            </a:r>
            <a:r>
              <a:rPr lang="vi-VN"/>
              <a:t> (Cờ lỗi): </a:t>
            </a:r>
            <a:r>
              <a:rPr lang="vi-VN" b="1"/>
              <a:t>6 bit</a:t>
            </a:r>
            <a:r>
              <a:rPr lang="vi-VN"/>
              <a:t> liên tiếp.</a:t>
            </a:r>
          </a:p>
          <a:p>
            <a:pPr>
              <a:buFont typeface="Arial" panose="020B0604020202020204" pitchFamily="34" charset="0"/>
              <a:buChar char="•"/>
            </a:pPr>
            <a:r>
              <a:rPr lang="vi-VN" b="1"/>
              <a:t>Error Delimiter</a:t>
            </a:r>
            <a:r>
              <a:rPr lang="vi-VN"/>
              <a:t> (Phân cách lỗi): </a:t>
            </a:r>
            <a:r>
              <a:rPr lang="vi-VN" b="1"/>
              <a:t>8 bit recessive</a:t>
            </a:r>
            <a:r>
              <a:rPr lang="vi-VN"/>
              <a:t> (11111111).</a:t>
            </a:r>
          </a:p>
          <a:p>
            <a:r>
              <a:rPr lang="vi-VN" b="1">
                <a:effectLst/>
              </a:rPr>
              <a:t>Error Flag</a:t>
            </a:r>
            <a:r>
              <a:rPr lang="vi-VN">
                <a:effectLst/>
              </a:rPr>
              <a:t> có </a:t>
            </a:r>
            <a:r>
              <a:rPr lang="vi-VN" b="1">
                <a:effectLst/>
              </a:rPr>
              <a:t>2 loại</a:t>
            </a:r>
            <a:r>
              <a:rPr lang="vi-VN">
                <a:effectLst/>
              </a:rPr>
              <a:t> tùy theo trạng thái lỗi của node:</a:t>
            </a:r>
          </a:p>
          <a:p>
            <a:r>
              <a:rPr lang="vi-VN"/>
              <a:t>Loại Error FlagGiá trị bitNode ở trạng thái nào?Đặc điểm</a:t>
            </a:r>
            <a:r>
              <a:rPr lang="vi-VN" b="1">
                <a:effectLst/>
              </a:rPr>
              <a:t>Active Error Flag</a:t>
            </a:r>
            <a:r>
              <a:rPr lang="vi-VN">
                <a:effectLst/>
              </a:rPr>
              <a:t>6 Dominant bits (000000)</a:t>
            </a:r>
            <a:r>
              <a:rPr lang="vi-VN" b="1">
                <a:effectLst/>
              </a:rPr>
              <a:t>Error Active</a:t>
            </a:r>
            <a:r>
              <a:rPr lang="vi-VN">
                <a:effectLst/>
              </a:rPr>
              <a:t> (bình thường)Rất mạnh, làm bus xuống thấp rõ ràng</a:t>
            </a:r>
            <a:r>
              <a:rPr lang="vi-VN" b="1">
                <a:effectLst/>
              </a:rPr>
              <a:t>Passive Error Flag</a:t>
            </a:r>
            <a:r>
              <a:rPr lang="vi-VN">
                <a:effectLst/>
              </a:rPr>
              <a:t>6 Recessive bits (111111)</a:t>
            </a:r>
            <a:r>
              <a:rPr lang="vi-VN" b="1">
                <a:effectLst/>
              </a:rPr>
              <a:t>Error Passive</a:t>
            </a:r>
            <a:r>
              <a:rPr lang="vi-VN">
                <a:effectLst/>
              </a:rPr>
              <a:t>Yếu hơn, chỉ thả nổi (ít ảnh hưởng bus)</a:t>
            </a:r>
          </a:p>
          <a:p>
            <a:r>
              <a:rPr lang="vi-VN">
                <a:effectLst/>
              </a:rPr>
              <a:t>Sau Error Flag là </a:t>
            </a:r>
            <a:r>
              <a:rPr lang="vi-VN" b="1">
                <a:effectLst/>
              </a:rPr>
              <a:t>Error Delimiter</a:t>
            </a:r>
            <a:r>
              <a:rPr lang="vi-VN">
                <a:effectLst/>
              </a:rPr>
              <a:t> (luôn là 8 recessive bits).</a:t>
            </a:r>
          </a:p>
          <a:p>
            <a:r>
              <a:rPr lang="vi-VN">
                <a:effectLst/>
              </a:rPr>
              <a:t>→ Tổng Error Frame có thể dài từ </a:t>
            </a:r>
            <a:r>
              <a:rPr lang="vi-VN" b="1">
                <a:effectLst/>
              </a:rPr>
              <a:t>14 bit</a:t>
            </a:r>
            <a:r>
              <a:rPr lang="vi-VN">
                <a:effectLst/>
              </a:rPr>
              <a:t> (6+8) đến </a:t>
            </a:r>
            <a:r>
              <a:rPr lang="vi-VN" b="1">
                <a:effectLst/>
              </a:rPr>
              <a:t>20 bit</a:t>
            </a:r>
            <a:r>
              <a:rPr lang="vi-VN">
                <a:effectLst/>
              </a:rPr>
              <a:t> (nếu nhiều node chồng Error Flag).</a:t>
            </a:r>
          </a:p>
          <a:p>
            <a:r>
              <a:rPr lang="vi-VN" b="1"/>
              <a:t>3. Error Frame hoạt động như thế nào?</a:t>
            </a:r>
          </a:p>
          <a:p>
            <a:r>
              <a:rPr lang="vi-VN">
                <a:effectLst/>
              </a:rPr>
              <a:t>Khi một node phát hiện lỗi (trong lúc đang truyền hoặc nhận frame):</a:t>
            </a:r>
          </a:p>
          <a:p>
            <a:pPr>
              <a:buFont typeface="+mj-lt"/>
              <a:buAutoNum type="arabicPeriod"/>
            </a:pPr>
            <a:r>
              <a:rPr lang="vi-VN"/>
              <a:t>Node đó </a:t>
            </a:r>
            <a:r>
              <a:rPr lang="vi-VN" b="1"/>
              <a:t>ngay lập tức</a:t>
            </a:r>
            <a:r>
              <a:rPr lang="vi-VN"/>
              <a:t> truyền </a:t>
            </a:r>
            <a:r>
              <a:rPr lang="vi-VN" b="1"/>
              <a:t>Error Flag</a:t>
            </a:r>
            <a:r>
              <a:rPr lang="vi-VN"/>
              <a:t> (6 bit).</a:t>
            </a:r>
          </a:p>
          <a:p>
            <a:pPr>
              <a:buFont typeface="+mj-lt"/>
              <a:buAutoNum type="arabicPeriod"/>
            </a:pPr>
            <a:r>
              <a:rPr lang="vi-VN"/>
              <a:t>Vì Error Flag vi phạm quy tắc bit stuffing (6 bit giống nhau liên tiếp), tất cả các node khác trên bus cũng sẽ </a:t>
            </a:r>
            <a:r>
              <a:rPr lang="vi-VN" b="1"/>
              <a:t>phát hiện lỗi</a:t>
            </a:r>
            <a:r>
              <a:rPr lang="vi-VN"/>
              <a:t> và truyền Error Flag của chính chúng.</a:t>
            </a:r>
          </a:p>
          <a:p>
            <a:pPr>
              <a:buFont typeface="+mj-lt"/>
              <a:buAutoNum type="arabicPeriod"/>
            </a:pPr>
            <a:r>
              <a:rPr lang="vi-VN"/>
              <a:t>Kết quả: Bus sẽ xuất hiện một chuỗi </a:t>
            </a:r>
            <a:r>
              <a:rPr lang="vi-VN" b="1"/>
              <a:t>6~12 bit dominant</a:t>
            </a:r>
            <a:r>
              <a:rPr lang="vi-VN"/>
              <a:t> (nếu có node Active) → phá hủy hoàn toàn frame đang truyền.</a:t>
            </a:r>
          </a:p>
          <a:p>
            <a:pPr>
              <a:buFont typeface="+mj-lt"/>
              <a:buAutoNum type="arabicPeriod"/>
            </a:pPr>
            <a:r>
              <a:rPr lang="vi-VN"/>
              <a:t>Sau đó tất cả node truyền </a:t>
            </a:r>
            <a:r>
              <a:rPr lang="vi-VN" b="1"/>
              <a:t>Error Delimiter</a:t>
            </a:r>
            <a:r>
              <a:rPr lang="vi-VN"/>
              <a:t> (8 recessive) để kết thúc Error Frame.</a:t>
            </a:r>
          </a:p>
          <a:p>
            <a:pPr>
              <a:buFont typeface="+mj-lt"/>
              <a:buAutoNum type="arabicPeriod"/>
            </a:pPr>
            <a:r>
              <a:rPr lang="vi-VN"/>
              <a:t>Bus trở về trạng thái </a:t>
            </a:r>
            <a:r>
              <a:rPr lang="vi-VN" b="1"/>
              <a:t>Idle</a:t>
            </a:r>
            <a:r>
              <a:rPr lang="vi-VN"/>
              <a:t> (sau 3 bit IFS).</a:t>
            </a:r>
          </a:p>
          <a:p>
            <a:pPr>
              <a:buFont typeface="+mj-lt"/>
              <a:buAutoNum type="arabicPeriod"/>
            </a:pPr>
            <a:r>
              <a:rPr lang="vi-VN"/>
              <a:t>Node truyền ban đầu sẽ </a:t>
            </a:r>
            <a:r>
              <a:rPr lang="vi-VN" b="1"/>
              <a:t>tự động gửi lại</a:t>
            </a:r>
            <a:r>
              <a:rPr lang="vi-VN"/>
              <a:t> message đó (retransmit) nếu lỗi không quá nghiêm trọng.</a:t>
            </a:r>
          </a:p>
          <a:p>
            <a:r>
              <a:rPr lang="vi-VN" b="1">
                <a:effectLst/>
              </a:rPr>
              <a:t>5 loại lỗi</a:t>
            </a:r>
            <a:r>
              <a:rPr lang="vi-VN">
                <a:effectLst/>
              </a:rPr>
              <a:t> mà CAN có thể phát hiện dẫn đến việc gửi Error Frame:</a:t>
            </a:r>
          </a:p>
          <a:p>
            <a:pPr>
              <a:buFont typeface="Arial" panose="020B0604020202020204" pitchFamily="34" charset="0"/>
              <a:buChar char="•"/>
            </a:pPr>
            <a:r>
              <a:rPr lang="vi-VN" b="1"/>
              <a:t>Bit Error</a:t>
            </a:r>
            <a:r>
              <a:rPr lang="vi-VN"/>
              <a:t> (Transmitter phát hiện)</a:t>
            </a:r>
          </a:p>
          <a:p>
            <a:pPr>
              <a:buFont typeface="Arial" panose="020B0604020202020204" pitchFamily="34" charset="0"/>
              <a:buChar char="•"/>
            </a:pPr>
            <a:r>
              <a:rPr lang="vi-VN" b="1"/>
              <a:t>Stuff Error</a:t>
            </a:r>
            <a:r>
              <a:rPr lang="vi-VN"/>
              <a:t> (Receiver phát hiện &gt;5 bit giống nhau)</a:t>
            </a:r>
          </a:p>
          <a:p>
            <a:pPr>
              <a:buFont typeface="Arial" panose="020B0604020202020204" pitchFamily="34" charset="0"/>
              <a:buChar char="•"/>
            </a:pPr>
            <a:r>
              <a:rPr lang="vi-VN" b="1"/>
              <a:t>Form Error</a:t>
            </a:r>
            <a:r>
              <a:rPr lang="vi-VN"/>
              <a:t> (Cấu trúc frame sai, ví dụ delimiter không đúng)</a:t>
            </a:r>
          </a:p>
          <a:p>
            <a:pPr>
              <a:buFont typeface="Arial" panose="020B0604020202020204" pitchFamily="34" charset="0"/>
              <a:buChar char="•"/>
            </a:pPr>
            <a:r>
              <a:rPr lang="vi-VN" b="1"/>
              <a:t>ACK Error</a:t>
            </a:r>
            <a:r>
              <a:rPr lang="vi-VN"/>
              <a:t> (Không có node nào ACK)</a:t>
            </a:r>
          </a:p>
          <a:p>
            <a:pPr>
              <a:buFont typeface="Arial" panose="020B0604020202020204" pitchFamily="34" charset="0"/>
              <a:buChar char="•"/>
            </a:pPr>
            <a:r>
              <a:rPr lang="vi-VN" b="1"/>
              <a:t>CRC Error</a:t>
            </a:r>
            <a:r>
              <a:rPr lang="vi-VN"/>
              <a:t> (CRC tính toán không khớp)</a:t>
            </a:r>
          </a:p>
          <a:p>
            <a:r>
              <a:rPr lang="vi-VN" b="1"/>
              <a:t>4. Phân loại Error Frame (theo trạng thái node)</a:t>
            </a:r>
          </a:p>
          <a:p>
            <a:r>
              <a:rPr lang="vi-VN">
                <a:effectLst/>
              </a:rPr>
              <a:t>CAN có cơ chế </a:t>
            </a:r>
            <a:r>
              <a:rPr lang="vi-VN" b="1">
                <a:effectLst/>
              </a:rPr>
              <a:t>Fault Confinement</a:t>
            </a:r>
            <a:r>
              <a:rPr lang="vi-VN">
                <a:effectLst/>
              </a:rPr>
              <a:t> (kiểm soát lỗi) thông qua 2 bộ đếm lỗi:</a:t>
            </a:r>
          </a:p>
          <a:p>
            <a:pPr>
              <a:buFont typeface="Arial" panose="020B0604020202020204" pitchFamily="34" charset="0"/>
              <a:buChar char="•"/>
            </a:pPr>
            <a:r>
              <a:rPr lang="vi-VN" b="1"/>
              <a:t>TEC</a:t>
            </a:r>
            <a:r>
              <a:rPr lang="vi-VN"/>
              <a:t> (Transmit Error Counter) – đếm lỗi khi truyền.</a:t>
            </a:r>
          </a:p>
          <a:p>
            <a:pPr>
              <a:buFont typeface="Arial" panose="020B0604020202020204" pitchFamily="34" charset="0"/>
              <a:buChar char="•"/>
            </a:pPr>
            <a:r>
              <a:rPr lang="vi-VN" b="1"/>
              <a:t>REC</a:t>
            </a:r>
            <a:r>
              <a:rPr lang="vi-VN"/>
              <a:t> (Receive Error Counter) – đếm lỗi khi nhận.</a:t>
            </a:r>
          </a:p>
          <a:p>
            <a:r>
              <a:rPr lang="vi-VN">
                <a:effectLst/>
              </a:rPr>
              <a:t>Dựa vào giá trị đếm lỗi, node có 3 trạng thái:</a:t>
            </a:r>
          </a:p>
          <a:p>
            <a:pPr>
              <a:buFont typeface="+mj-lt"/>
              <a:buAutoNum type="arabicPeriod"/>
            </a:pPr>
            <a:r>
              <a:rPr lang="vi-VN" b="1"/>
              <a:t>Error Active</a:t>
            </a:r>
            <a:r>
              <a:rPr lang="vi-VN"/>
              <a:t> (TEC ≤ 127 và REC ≤ 127)</a:t>
            </a:r>
          </a:p>
          <a:p>
            <a:pPr marL="742950" lvl="1" indent="-285750">
              <a:buFont typeface="+mj-lt"/>
              <a:buAutoNum type="arabicPeriod"/>
            </a:pPr>
            <a:r>
              <a:rPr lang="vi-VN"/>
              <a:t>Trạng thái bình thường, khỏe mạnh.</a:t>
            </a:r>
          </a:p>
          <a:p>
            <a:pPr marL="742950" lvl="1" indent="-285750">
              <a:buFont typeface="+mj-lt"/>
              <a:buAutoNum type="arabicPeriod"/>
            </a:pPr>
            <a:r>
              <a:rPr lang="vi-VN"/>
              <a:t>Sử dụng </a:t>
            </a:r>
            <a:r>
              <a:rPr lang="vi-VN" b="1"/>
              <a:t>Active Error Flag</a:t>
            </a:r>
            <a:r>
              <a:rPr lang="vi-VN"/>
              <a:t> (6 dominant).</a:t>
            </a:r>
          </a:p>
          <a:p>
            <a:pPr marL="742950" lvl="1" indent="-285750">
              <a:buFont typeface="+mj-lt"/>
              <a:buAutoNum type="arabicPeriod"/>
            </a:pPr>
            <a:r>
              <a:rPr lang="vi-VN"/>
              <a:t>Có thể truyền bình thường và tham gia arbitration.</a:t>
            </a:r>
          </a:p>
          <a:p>
            <a:pPr>
              <a:buFont typeface="+mj-lt"/>
              <a:buAutoNum type="arabicPeriod"/>
            </a:pPr>
            <a:r>
              <a:rPr lang="vi-VN" b="1"/>
              <a:t>Error Passive</a:t>
            </a:r>
            <a:r>
              <a:rPr lang="vi-VN"/>
              <a:t> (128 ≤ TEC ≤ 255 hoặc REC ≥ 128)</a:t>
            </a:r>
          </a:p>
          <a:p>
            <a:pPr marL="742950" lvl="1" indent="-285750">
              <a:buFont typeface="+mj-lt"/>
              <a:buAutoNum type="arabicPeriod"/>
            </a:pPr>
            <a:r>
              <a:rPr lang="vi-VN"/>
              <a:t>Node đã có nhiều lỗi, nhưng vẫn hoạt động được.</a:t>
            </a:r>
          </a:p>
          <a:p>
            <a:pPr marL="742950" lvl="1" indent="-285750">
              <a:buFont typeface="+mj-lt"/>
              <a:buAutoNum type="arabicPeriod"/>
            </a:pPr>
            <a:r>
              <a:rPr lang="vi-VN"/>
              <a:t>Sử dụng </a:t>
            </a:r>
            <a:r>
              <a:rPr lang="vi-VN" b="1"/>
              <a:t>Passive Error Flag</a:t>
            </a:r>
            <a:r>
              <a:rPr lang="vi-VN"/>
              <a:t> (6 recessive) → ít gây xáo trộn bus hơn.</a:t>
            </a:r>
          </a:p>
          <a:p>
            <a:pPr marL="742950" lvl="1" indent="-285750">
              <a:buFont typeface="+mj-lt"/>
              <a:buAutoNum type="arabicPeriod"/>
            </a:pPr>
            <a:r>
              <a:rPr lang="vi-VN"/>
              <a:t>Phải chờ thêm </a:t>
            </a:r>
            <a:r>
              <a:rPr lang="vi-VN" b="1"/>
              <a:t>8 bit Suspend Transmission</a:t>
            </a:r>
            <a:r>
              <a:rPr lang="vi-VN"/>
              <a:t> trước khi truyền lại.</a:t>
            </a:r>
          </a:p>
          <a:p>
            <a:pPr>
              <a:buFont typeface="+mj-lt"/>
              <a:buAutoNum type="arabicPeriod"/>
            </a:pPr>
            <a:r>
              <a:rPr lang="vi-VN" b="1"/>
              <a:t>Bus Off</a:t>
            </a:r>
            <a:r>
              <a:rPr lang="vi-VN"/>
              <a:t> (TEC ≥ 256)</a:t>
            </a:r>
          </a:p>
          <a:p>
            <a:pPr marL="742950" lvl="1" indent="-285750">
              <a:buFont typeface="+mj-lt"/>
              <a:buAutoNum type="arabicPeriod"/>
            </a:pPr>
            <a:r>
              <a:rPr lang="vi-VN"/>
              <a:t>Node </a:t>
            </a:r>
            <a:r>
              <a:rPr lang="vi-VN" b="1"/>
              <a:t>tắt hoàn toàn</a:t>
            </a:r>
            <a:r>
              <a:rPr lang="vi-VN"/>
              <a:t> việc truyền (không tham gia bus nữa).</a:t>
            </a:r>
          </a:p>
          <a:p>
            <a:pPr marL="742950" lvl="1" indent="-285750">
              <a:buFont typeface="+mj-lt"/>
              <a:buAutoNum type="arabicPeriod"/>
            </a:pPr>
            <a:r>
              <a:rPr lang="vi-VN"/>
              <a:t>Phải reset hoặc chờ 128 lần xuất hiện 11 bit recessive liên tiếp mới được trở lại trạng thái Error Active.</a:t>
            </a:r>
          </a:p>
          <a:p>
            <a:r>
              <a:rPr lang="vi-VN" b="1"/>
              <a:t>Tóm tắt dễ nhớ</a:t>
            </a:r>
          </a:p>
          <a:p>
            <a:pPr>
              <a:buFont typeface="Arial" panose="020B0604020202020204" pitchFamily="34" charset="0"/>
              <a:buChar char="•"/>
            </a:pPr>
            <a:r>
              <a:rPr lang="vi-VN" b="1"/>
              <a:t>Error Frame</a:t>
            </a:r>
            <a:r>
              <a:rPr lang="vi-VN"/>
              <a:t> = Công cụ “cứu hộ” tự động của CAN khi có lỗi.</a:t>
            </a:r>
          </a:p>
          <a:p>
            <a:pPr>
              <a:buFont typeface="Arial" panose="020B0604020202020204" pitchFamily="34" charset="0"/>
              <a:buChar char="•"/>
            </a:pPr>
            <a:r>
              <a:rPr lang="vi-VN"/>
              <a:t>Nó </a:t>
            </a:r>
            <a:r>
              <a:rPr lang="vi-VN" b="1"/>
              <a:t>phá frame lỗi</a:t>
            </a:r>
            <a:r>
              <a:rPr lang="vi-VN"/>
              <a:t> + </a:t>
            </a:r>
            <a:r>
              <a:rPr lang="vi-VN" b="1"/>
              <a:t>báo cho mọi node</a:t>
            </a:r>
            <a:r>
              <a:rPr lang="vi-VN"/>
              <a:t> + </a:t>
            </a:r>
            <a:r>
              <a:rPr lang="vi-VN" b="1"/>
              <a:t>cho phép retransmit</a:t>
            </a:r>
            <a:r>
              <a:rPr lang="vi-VN"/>
              <a:t>.</a:t>
            </a:r>
          </a:p>
          <a:p>
            <a:pPr>
              <a:buFont typeface="Arial" panose="020B0604020202020204" pitchFamily="34" charset="0"/>
              <a:buChar char="•"/>
            </a:pPr>
            <a:r>
              <a:rPr lang="vi-VN"/>
              <a:t>Phân biệt chủ yếu bằng </a:t>
            </a:r>
            <a:r>
              <a:rPr lang="vi-VN" b="1"/>
              <a:t>Error Flag</a:t>
            </a:r>
            <a:r>
              <a:rPr lang="vi-VN"/>
              <a:t>: 6 dominant (Active) hoặc 6 recessive (Passive).</a:t>
            </a:r>
          </a:p>
          <a:p>
            <a:pPr>
              <a:buFont typeface="Arial" panose="020B0604020202020204" pitchFamily="34" charset="0"/>
              <a:buChar char="•"/>
            </a:pPr>
            <a:r>
              <a:rPr lang="vi-VN"/>
              <a:t>Toàn bộ cơ chế này giúp CAN rất </a:t>
            </a:r>
            <a:r>
              <a:rPr lang="vi-VN" b="1"/>
              <a:t>bền bỉ</a:t>
            </a:r>
            <a:r>
              <a:rPr lang="vi-VN"/>
              <a:t> và đáng tin cậy trong môi trường ô tô khắc nghiệt.</a:t>
            </a:r>
          </a:p>
        </p:txBody>
      </p:sp>
      <p:sp>
        <p:nvSpPr>
          <p:cNvPr id="4" name="Slide Number Placeholder 3"/>
          <p:cNvSpPr>
            <a:spLocks noGrp="1"/>
          </p:cNvSpPr>
          <p:nvPr>
            <p:ph type="sldNum" sz="quarter" idx="5"/>
          </p:nvPr>
        </p:nvSpPr>
        <p:spPr/>
        <p:txBody>
          <a:bodyPr/>
          <a:lstStyle/>
          <a:p>
            <a:fld id="{E80A4903-7EF3-44C4-B3A5-356E0A49B13F}" type="slidenum">
              <a:rPr lang="en-US" smtClean="0"/>
              <a:t>95</a:t>
            </a:fld>
            <a:endParaRPr lang="en-US"/>
          </a:p>
        </p:txBody>
      </p:sp>
    </p:spTree>
    <p:extLst>
      <p:ext uri="{BB962C8B-B14F-4D97-AF65-F5344CB8AC3E}">
        <p14:creationId xmlns:p14="http://schemas.microsoft.com/office/powerpoint/2010/main" val="405342140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Tóm tắt ngắn gọn</a:t>
            </a:r>
          </a:p>
          <a:p>
            <a:pPr>
              <a:buFont typeface="Arial" panose="020B0604020202020204" pitchFamily="34" charset="0"/>
              <a:buChar char="•"/>
            </a:pPr>
            <a:r>
              <a:rPr lang="vi-VN" b="1"/>
              <a:t>Active Error Flag</a:t>
            </a:r>
            <a:r>
              <a:rPr lang="vi-VN"/>
              <a:t>: 6 bit Dominant (000000) → Dùng khi node ở trạng thái </a:t>
            </a:r>
            <a:r>
              <a:rPr lang="vi-VN" b="1"/>
              <a:t>Error Active</a:t>
            </a:r>
            <a:r>
              <a:rPr lang="vi-VN"/>
              <a:t> (trạng thái khỏe mạnh, bình thường).</a:t>
            </a:r>
          </a:p>
          <a:p>
            <a:pPr>
              <a:buFont typeface="Arial" panose="020B0604020202020204" pitchFamily="34" charset="0"/>
              <a:buChar char="•"/>
            </a:pPr>
            <a:r>
              <a:rPr lang="vi-VN" b="1"/>
              <a:t>Passive Error Flag</a:t>
            </a:r>
            <a:r>
              <a:rPr lang="vi-VN"/>
              <a:t>: 6 bit Recessive (111111) → Dùng khi node ở trạng thái </a:t>
            </a:r>
            <a:r>
              <a:rPr lang="vi-VN" b="1"/>
              <a:t>Error Passive</a:t>
            </a:r>
            <a:r>
              <a:rPr lang="vi-VN"/>
              <a:t> (node đã có khá nhiều lỗi).</a:t>
            </a:r>
          </a:p>
          <a:p>
            <a:r>
              <a:rPr lang="vi-VN" b="1"/>
              <a:t>2. Khi nào dùng Active Error Flag? Khi nào dùng Passive Error Flag?</a:t>
            </a:r>
          </a:p>
          <a:p>
            <a:r>
              <a:rPr lang="vi-VN">
                <a:effectLst/>
              </a:rPr>
              <a:t>CAN quy định dựa vào </a:t>
            </a:r>
            <a:r>
              <a:rPr lang="vi-VN" b="1">
                <a:effectLst/>
              </a:rPr>
              <a:t>2 bộ đếm lỗi</a:t>
            </a:r>
            <a:r>
              <a:rPr lang="vi-VN">
                <a:effectLst/>
              </a:rPr>
              <a:t> bên trong mỗi node:</a:t>
            </a:r>
          </a:p>
          <a:p>
            <a:pPr>
              <a:buFont typeface="Arial" panose="020B0604020202020204" pitchFamily="34" charset="0"/>
              <a:buChar char="•"/>
            </a:pPr>
            <a:r>
              <a:rPr lang="vi-VN" b="1"/>
              <a:t>TEC</a:t>
            </a:r>
            <a:r>
              <a:rPr lang="vi-VN"/>
              <a:t> = Transmit Error Counter (đếm lỗi khi truyền)</a:t>
            </a:r>
          </a:p>
          <a:p>
            <a:pPr>
              <a:buFont typeface="Arial" panose="020B0604020202020204" pitchFamily="34" charset="0"/>
              <a:buChar char="•"/>
            </a:pPr>
            <a:r>
              <a:rPr lang="vi-VN" b="1"/>
              <a:t>REC</a:t>
            </a:r>
            <a:r>
              <a:rPr lang="vi-VN"/>
              <a:t> = Receive Error Counter (đếm lỗi khi nhận)</a:t>
            </a:r>
          </a:p>
          <a:p>
            <a:r>
              <a:rPr lang="vi-VN"/>
              <a:t>Trạng thái của NodeĐiều kiện (theo chuẩn CAN)Loại Error Flag sử dụngÝ nghĩa</a:t>
            </a:r>
            <a:r>
              <a:rPr lang="vi-VN" b="1">
                <a:effectLst/>
              </a:rPr>
              <a:t>Error Active</a:t>
            </a:r>
            <a:r>
              <a:rPr lang="vi-VN">
                <a:effectLst/>
              </a:rPr>
              <a:t>TEC ≤ 127 </a:t>
            </a:r>
            <a:r>
              <a:rPr lang="vi-VN" b="1">
                <a:effectLst/>
              </a:rPr>
              <a:t>và</a:t>
            </a:r>
            <a:r>
              <a:rPr lang="vi-VN">
                <a:effectLst/>
              </a:rPr>
              <a:t> REC ≤ 127</a:t>
            </a:r>
            <a:r>
              <a:rPr lang="vi-VN" b="1">
                <a:effectLst/>
              </a:rPr>
              <a:t>Active Error Flag</a:t>
            </a:r>
            <a:r>
              <a:rPr lang="vi-VN">
                <a:effectLst/>
              </a:rPr>
              <a:t> (6 Dominant)Bình thường, khỏe mạnh. Có thể "phá" mạnh frame lỗi.</a:t>
            </a:r>
            <a:r>
              <a:rPr lang="vi-VN" b="1">
                <a:effectLst/>
              </a:rPr>
              <a:t>Error Passive</a:t>
            </a:r>
            <a:r>
              <a:rPr lang="vi-VN">
                <a:effectLst/>
              </a:rPr>
              <a:t>TEC ≥ 128 </a:t>
            </a:r>
            <a:r>
              <a:rPr lang="vi-VN" b="1">
                <a:effectLst/>
              </a:rPr>
              <a:t>hoặc</a:t>
            </a:r>
            <a:r>
              <a:rPr lang="vi-VN">
                <a:effectLst/>
              </a:rPr>
              <a:t> REC ≥ 128 (nhưng TEC ≤ 255)</a:t>
            </a:r>
            <a:r>
              <a:rPr lang="vi-VN" b="1">
                <a:effectLst/>
              </a:rPr>
              <a:t>Passive Error Flag</a:t>
            </a:r>
            <a:r>
              <a:rPr lang="vi-VN">
                <a:effectLst/>
              </a:rPr>
              <a:t> (6 Recessive)Node đang yếu, có nhiều lỗi. Vẫn tham gia bus nhưng "nhẹ tay" hơn.</a:t>
            </a:r>
            <a:r>
              <a:rPr lang="vi-VN" b="1">
                <a:effectLst/>
              </a:rPr>
              <a:t>Bus Off</a:t>
            </a:r>
            <a:r>
              <a:rPr lang="vi-VN">
                <a:effectLst/>
              </a:rPr>
              <a:t>TEC ≥ 256</a:t>
            </a:r>
            <a:r>
              <a:rPr lang="vi-VN" b="1">
                <a:effectLst/>
              </a:rPr>
              <a:t>Không truyền Error Flag nữa</a:t>
            </a:r>
            <a:r>
              <a:rPr lang="vi-VN">
                <a:effectLst/>
              </a:rPr>
              <a:t>Node bị ngắt hoàn toàn khỏi bus (không gửi được gì).</a:t>
            </a:r>
          </a:p>
          <a:p>
            <a:r>
              <a:rPr lang="vi-VN" b="1"/>
              <a:t>3. Giải thích chi tiết</a:t>
            </a:r>
          </a:p>
          <a:p>
            <a:r>
              <a:rPr lang="vi-VN" b="1">
                <a:effectLst/>
              </a:rPr>
              <a:t>a. Error Active (trạng thái mặc định)</a:t>
            </a:r>
            <a:endParaRPr lang="vi-VN">
              <a:effectLst/>
            </a:endParaRPr>
          </a:p>
          <a:p>
            <a:pPr>
              <a:buFont typeface="Arial" panose="020B0604020202020204" pitchFamily="34" charset="0"/>
              <a:buChar char="•"/>
            </a:pPr>
            <a:r>
              <a:rPr lang="vi-VN"/>
              <a:t>Đây là trạng thái bình thường của hầu hết các node trên xe.</a:t>
            </a:r>
          </a:p>
          <a:p>
            <a:pPr>
              <a:buFont typeface="Arial" panose="020B0604020202020204" pitchFamily="34" charset="0"/>
              <a:buChar char="•"/>
            </a:pPr>
            <a:r>
              <a:rPr lang="vi-VN"/>
              <a:t>Khi phát hiện lỗi → node truyền </a:t>
            </a:r>
            <a:r>
              <a:rPr lang="vi-VN" b="1"/>
              <a:t>6 bit Dominant</a:t>
            </a:r>
            <a:r>
              <a:rPr lang="vi-VN"/>
              <a:t> rất mạnh.</a:t>
            </a:r>
          </a:p>
          <a:p>
            <a:pPr>
              <a:buFont typeface="Arial" panose="020B0604020202020204" pitchFamily="34" charset="0"/>
              <a:buChar char="•"/>
            </a:pPr>
            <a:r>
              <a:rPr lang="vi-VN"/>
              <a:t>Tác dụng: Làm bus xuống mức thấp rõ ràng → tất cả node khác đều nhận ra có lỗi ngay lập tức và cùng truyền Error Flag → frame bị phá hủy nhanh chóng.</a:t>
            </a:r>
          </a:p>
          <a:p>
            <a:pPr>
              <a:buFont typeface="Arial" panose="020B0604020202020204" pitchFamily="34" charset="0"/>
              <a:buChar char="•"/>
            </a:pPr>
            <a:r>
              <a:rPr lang="vi-VN"/>
              <a:t>Node ở trạng thái này được phép tham gia đầy đủ vào bus (arbitration, truyền dữ liệu…).</a:t>
            </a:r>
          </a:p>
          <a:p>
            <a:r>
              <a:rPr lang="vi-VN" b="1">
                <a:effectLst/>
              </a:rPr>
              <a:t>b. Error Passive</a:t>
            </a:r>
            <a:endParaRPr lang="vi-VN">
              <a:effectLst/>
            </a:endParaRPr>
          </a:p>
          <a:p>
            <a:pPr>
              <a:buFont typeface="Arial" panose="020B0604020202020204" pitchFamily="34" charset="0"/>
              <a:buChar char="•"/>
            </a:pPr>
            <a:r>
              <a:rPr lang="vi-VN"/>
              <a:t>Khi một trong hai bộ đếm (TEC hoặc REC) </a:t>
            </a:r>
            <a:r>
              <a:rPr lang="vi-VN" b="1"/>
              <a:t>vượt quá 127</a:t>
            </a:r>
            <a:r>
              <a:rPr lang="vi-VN"/>
              <a:t> (tức ≥ 128), node chuyển sang trạng thái Error Passive.</a:t>
            </a:r>
          </a:p>
          <a:p>
            <a:pPr>
              <a:buFont typeface="Arial" panose="020B0604020202020204" pitchFamily="34" charset="0"/>
              <a:buChar char="•"/>
            </a:pPr>
            <a:r>
              <a:rPr lang="vi-VN"/>
              <a:t>Lúc này, khi phát hiện lỗi, node chỉ truyền </a:t>
            </a:r>
            <a:r>
              <a:rPr lang="vi-VN" b="1"/>
              <a:t>6 bit Recessive</a:t>
            </a:r>
            <a:r>
              <a:rPr lang="vi-VN"/>
              <a:t> (thả nổi).</a:t>
            </a:r>
          </a:p>
          <a:p>
            <a:pPr>
              <a:buFont typeface="Arial" panose="020B0604020202020204" pitchFamily="34" charset="0"/>
              <a:buChar char="•"/>
            </a:pPr>
            <a:r>
              <a:rPr lang="vi-VN"/>
              <a:t>Tác dụng:</a:t>
            </a:r>
          </a:p>
          <a:p>
            <a:pPr marL="742950" lvl="1" indent="-285750">
              <a:buFont typeface="Arial" panose="020B0604020202020204" pitchFamily="34" charset="0"/>
              <a:buChar char="•"/>
            </a:pPr>
            <a:r>
              <a:rPr lang="vi-VN"/>
              <a:t>Không “phá” mạnh bus như trước (vì recessive dễ bị dominant đè).</a:t>
            </a:r>
          </a:p>
          <a:p>
            <a:pPr marL="742950" lvl="1" indent="-285750">
              <a:buFont typeface="Arial" panose="020B0604020202020204" pitchFamily="34" charset="0"/>
              <a:buChar char="•"/>
            </a:pPr>
            <a:r>
              <a:rPr lang="vi-VN"/>
              <a:t>Giảm khả năng gây nhiễu thêm cho bus khi node đã bị lỗi nhiều.</a:t>
            </a:r>
          </a:p>
          <a:p>
            <a:pPr marL="742950" lvl="1" indent="-285750">
              <a:buFont typeface="Arial" panose="020B0604020202020204" pitchFamily="34" charset="0"/>
              <a:buChar char="•"/>
            </a:pPr>
            <a:r>
              <a:rPr lang="vi-VN"/>
              <a:t>Node vẫn có thể truyền và nhận, nhưng phải chờ thêm </a:t>
            </a:r>
            <a:r>
              <a:rPr lang="vi-VN" b="1"/>
              <a:t>8 bit Suspend Transmission</a:t>
            </a:r>
            <a:r>
              <a:rPr lang="vi-VN"/>
              <a:t> trước khi gửi frame mới.</a:t>
            </a:r>
          </a:p>
          <a:p>
            <a:r>
              <a:rPr lang="vi-VN" b="1">
                <a:effectLst/>
              </a:rPr>
              <a:t>c. Bus Off</a:t>
            </a:r>
            <a:endParaRPr lang="vi-VN">
              <a:effectLst/>
            </a:endParaRPr>
          </a:p>
          <a:p>
            <a:pPr>
              <a:buFont typeface="Arial" panose="020B0604020202020204" pitchFamily="34" charset="0"/>
              <a:buChar char="•"/>
            </a:pPr>
            <a:r>
              <a:rPr lang="vi-VN"/>
              <a:t>Chỉ xảy ra khi </a:t>
            </a:r>
            <a:r>
              <a:rPr lang="vi-VN" b="1"/>
              <a:t>TEC ≥ 256</a:t>
            </a:r>
            <a:r>
              <a:rPr lang="vi-VN"/>
              <a:t> (chủ yếu do lỗi truyền lặp lại nhiều lần).</a:t>
            </a:r>
          </a:p>
          <a:p>
            <a:pPr>
              <a:buFont typeface="Arial" panose="020B0604020202020204" pitchFamily="34" charset="0"/>
              <a:buChar char="•"/>
            </a:pPr>
            <a:r>
              <a:rPr lang="vi-VN"/>
              <a:t>Node hoàn toàn ngừng truyền, không tham gia bus nữa.</a:t>
            </a:r>
          </a:p>
          <a:p>
            <a:pPr>
              <a:buFont typeface="Arial" panose="020B0604020202020204" pitchFamily="34" charset="0"/>
              <a:buChar char="•"/>
            </a:pPr>
            <a:r>
              <a:rPr lang="vi-VN"/>
              <a:t>Để trở lại Error Active, node phải chờ </a:t>
            </a:r>
            <a:r>
              <a:rPr lang="vi-VN" b="1"/>
              <a:t>128 lần</a:t>
            </a:r>
            <a:r>
              <a:rPr lang="vi-VN"/>
              <a:t> xuất hiện chuỗi </a:t>
            </a:r>
            <a:r>
              <a:rPr lang="vi-VN" b="1"/>
              <a:t>11 bit recessive liên tiếp</a:t>
            </a:r>
            <a:r>
              <a:rPr lang="vi-VN"/>
              <a:t> (tức bus idle lâu).</a:t>
            </a:r>
          </a:p>
          <a:p>
            <a:r>
              <a:rPr lang="vi-VN" b="1"/>
              <a:t>4. Cách các bộ đếm thay đổi (tóm tắt)</a:t>
            </a:r>
          </a:p>
          <a:p>
            <a:pPr>
              <a:buFont typeface="Arial" panose="020B0604020202020204" pitchFamily="34" charset="0"/>
              <a:buChar char="•"/>
            </a:pPr>
            <a:r>
              <a:rPr lang="vi-VN"/>
              <a:t>Phát hiện lỗi khi </a:t>
            </a:r>
            <a:r>
              <a:rPr lang="vi-VN" b="1"/>
              <a:t>truyền</a:t>
            </a:r>
            <a:r>
              <a:rPr lang="vi-VN"/>
              <a:t>: TEC tăng +8 (thường).</a:t>
            </a:r>
          </a:p>
          <a:p>
            <a:pPr>
              <a:buFont typeface="Arial" panose="020B0604020202020204" pitchFamily="34" charset="0"/>
              <a:buChar char="•"/>
            </a:pPr>
            <a:r>
              <a:rPr lang="vi-VN"/>
              <a:t>Phát hiện lỗi khi </a:t>
            </a:r>
            <a:r>
              <a:rPr lang="vi-VN" b="1"/>
              <a:t>nhận</a:t>
            </a:r>
            <a:r>
              <a:rPr lang="vi-VN"/>
              <a:t>: REC tăng +1.</a:t>
            </a:r>
          </a:p>
          <a:p>
            <a:pPr>
              <a:buFont typeface="Arial" panose="020B0604020202020204" pitchFamily="34" charset="0"/>
              <a:buChar char="•"/>
            </a:pPr>
            <a:r>
              <a:rPr lang="vi-VN"/>
              <a:t>Khi truyền hoặc nhận thành công: các bộ đếm giảm dần (thường giảm 1).</a:t>
            </a:r>
          </a:p>
          <a:p>
            <a:r>
              <a:rPr lang="vi-VN">
                <a:effectLst/>
              </a:rPr>
              <a:t>Mục tiêu của cơ chế này là </a:t>
            </a:r>
            <a:r>
              <a:rPr lang="vi-VN" b="1">
                <a:effectLst/>
              </a:rPr>
              <a:t>Fault Confinement</a:t>
            </a:r>
            <a:r>
              <a:rPr lang="vi-VN">
                <a:effectLst/>
              </a:rPr>
              <a:t> (kiểm soát lỗi):</a:t>
            </a:r>
          </a:p>
          <a:p>
            <a:pPr>
              <a:buFont typeface="Arial" panose="020B0604020202020204" pitchFamily="34" charset="0"/>
              <a:buChar char="•"/>
            </a:pPr>
            <a:r>
              <a:rPr lang="vi-VN"/>
              <a:t>Node khỏe mạnh thì “la to” (Active Flag).</a:t>
            </a:r>
          </a:p>
          <a:p>
            <a:pPr>
              <a:buFont typeface="Arial" panose="020B0604020202020204" pitchFamily="34" charset="0"/>
              <a:buChar char="•"/>
            </a:pPr>
            <a:r>
              <a:rPr lang="vi-VN"/>
              <a:t>Node hay lỗi thì “la nhỏ” (Passive Flag) để không làm hỏng cả bus.</a:t>
            </a:r>
          </a:p>
          <a:p>
            <a:pPr>
              <a:buFont typeface="Arial" panose="020B0604020202020204" pitchFamily="34" charset="0"/>
              <a:buChar char="•"/>
            </a:pPr>
            <a:r>
              <a:rPr lang="vi-VN"/>
              <a:t>Node lỗi nặng thì tự cô lập (Bus Off).</a:t>
            </a:r>
          </a:p>
        </p:txBody>
      </p:sp>
      <p:sp>
        <p:nvSpPr>
          <p:cNvPr id="4" name="Slide Number Placeholder 3"/>
          <p:cNvSpPr>
            <a:spLocks noGrp="1"/>
          </p:cNvSpPr>
          <p:nvPr>
            <p:ph type="sldNum" sz="quarter" idx="5"/>
          </p:nvPr>
        </p:nvSpPr>
        <p:spPr/>
        <p:txBody>
          <a:bodyPr/>
          <a:lstStyle/>
          <a:p>
            <a:fld id="{E80A4903-7EF3-44C4-B3A5-356E0A49B13F}" type="slidenum">
              <a:rPr lang="en-US" smtClean="0"/>
              <a:t>96</a:t>
            </a:fld>
            <a:endParaRPr lang="en-US"/>
          </a:p>
        </p:txBody>
      </p:sp>
    </p:spTree>
    <p:extLst>
      <p:ext uri="{BB962C8B-B14F-4D97-AF65-F5344CB8AC3E}">
        <p14:creationId xmlns:p14="http://schemas.microsoft.com/office/powerpoint/2010/main" val="283015219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97</a:t>
            </a:fld>
            <a:endParaRPr lang="en-US"/>
          </a:p>
        </p:txBody>
      </p:sp>
    </p:spTree>
    <p:extLst>
      <p:ext uri="{BB962C8B-B14F-4D97-AF65-F5344CB8AC3E}">
        <p14:creationId xmlns:p14="http://schemas.microsoft.com/office/powerpoint/2010/main" val="81409800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98</a:t>
            </a:fld>
            <a:endParaRPr lang="en-US"/>
          </a:p>
        </p:txBody>
      </p:sp>
    </p:spTree>
    <p:extLst>
      <p:ext uri="{BB962C8B-B14F-4D97-AF65-F5344CB8AC3E}">
        <p14:creationId xmlns:p14="http://schemas.microsoft.com/office/powerpoint/2010/main" val="426050389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99</a:t>
            </a:fld>
            <a:endParaRPr lang="en-US"/>
          </a:p>
        </p:txBody>
      </p:sp>
    </p:spTree>
    <p:extLst>
      <p:ext uri="{BB962C8B-B14F-4D97-AF65-F5344CB8AC3E}">
        <p14:creationId xmlns:p14="http://schemas.microsoft.com/office/powerpoint/2010/main" val="345245528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100</a:t>
            </a:fld>
            <a:endParaRPr lang="en-US"/>
          </a:p>
        </p:txBody>
      </p:sp>
    </p:spTree>
    <p:extLst>
      <p:ext uri="{BB962C8B-B14F-4D97-AF65-F5344CB8AC3E}">
        <p14:creationId xmlns:p14="http://schemas.microsoft.com/office/powerpoint/2010/main" val="156459978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101</a:t>
            </a:fld>
            <a:endParaRPr lang="en-US"/>
          </a:p>
        </p:txBody>
      </p:sp>
    </p:spTree>
    <p:extLst>
      <p:ext uri="{BB962C8B-B14F-4D97-AF65-F5344CB8AC3E}">
        <p14:creationId xmlns:p14="http://schemas.microsoft.com/office/powerpoint/2010/main" val="68628772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102</a:t>
            </a:fld>
            <a:endParaRPr lang="en-US"/>
          </a:p>
        </p:txBody>
      </p:sp>
    </p:spTree>
    <p:extLst>
      <p:ext uri="{BB962C8B-B14F-4D97-AF65-F5344CB8AC3E}">
        <p14:creationId xmlns:p14="http://schemas.microsoft.com/office/powerpoint/2010/main" val="374666270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103</a:t>
            </a:fld>
            <a:endParaRPr lang="en-US"/>
          </a:p>
        </p:txBody>
      </p:sp>
    </p:spTree>
    <p:extLst>
      <p:ext uri="{BB962C8B-B14F-4D97-AF65-F5344CB8AC3E}">
        <p14:creationId xmlns:p14="http://schemas.microsoft.com/office/powerpoint/2010/main" val="5561814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104</a:t>
            </a:fld>
            <a:endParaRPr lang="en-US"/>
          </a:p>
        </p:txBody>
      </p:sp>
    </p:spTree>
    <p:extLst>
      <p:ext uri="{BB962C8B-B14F-4D97-AF65-F5344CB8AC3E}">
        <p14:creationId xmlns:p14="http://schemas.microsoft.com/office/powerpoint/2010/main" val="168881430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105</a:t>
            </a:fld>
            <a:endParaRPr lang="en-US"/>
          </a:p>
        </p:txBody>
      </p:sp>
    </p:spTree>
    <p:extLst>
      <p:ext uri="{BB962C8B-B14F-4D97-AF65-F5344CB8AC3E}">
        <p14:creationId xmlns:p14="http://schemas.microsoft.com/office/powerpoint/2010/main" val="132236614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Hai bộ đếm lỗi trong mỗi node CAN</a:t>
            </a:r>
          </a:p>
          <a:p>
            <a:r>
              <a:rPr lang="vi-VN">
                <a:effectLst/>
              </a:rPr>
              <a:t>Mỗi node (ECU) trên bus CAN đều có 2 bộ đếm 8-bit (hoặc 9-bit tùy controller):</a:t>
            </a:r>
          </a:p>
          <a:p>
            <a:pPr>
              <a:buFont typeface="Arial" panose="020B0604020202020204" pitchFamily="34" charset="0"/>
              <a:buChar char="•"/>
            </a:pPr>
            <a:r>
              <a:rPr lang="vi-VN" b="1"/>
              <a:t>TEC</a:t>
            </a:r>
            <a:r>
              <a:rPr lang="vi-VN"/>
              <a:t> (Transmit Error Counter): Đếm lỗi liên quan đến </a:t>
            </a:r>
            <a:r>
              <a:rPr lang="vi-VN" b="1"/>
              <a:t>truyền</a:t>
            </a:r>
            <a:r>
              <a:rPr lang="vi-VN"/>
              <a:t> (gửi message). Giá trị từ 0 → 255.</a:t>
            </a:r>
          </a:p>
          <a:p>
            <a:pPr>
              <a:buFont typeface="Arial" panose="020B0604020202020204" pitchFamily="34" charset="0"/>
              <a:buChar char="•"/>
            </a:pPr>
            <a:r>
              <a:rPr lang="vi-VN" b="1"/>
              <a:t>REC</a:t>
            </a:r>
            <a:r>
              <a:rPr lang="vi-VN"/>
              <a:t> (Receive Error Counter): Đếm lỗi liên quan đến </a:t>
            </a:r>
            <a:r>
              <a:rPr lang="vi-VN" b="1"/>
              <a:t>nhận</a:t>
            </a:r>
            <a:r>
              <a:rPr lang="vi-VN"/>
              <a:t> (nhận message). Giá trị từ 0 → 127 (thường).</a:t>
            </a:r>
          </a:p>
          <a:p>
            <a:r>
              <a:rPr lang="vi-VN">
                <a:effectLst/>
              </a:rPr>
              <a:t>Hai bộ đếm này quyết định trạng thái của node:</a:t>
            </a:r>
          </a:p>
          <a:p>
            <a:pPr>
              <a:buFont typeface="Arial" panose="020B0604020202020204" pitchFamily="34" charset="0"/>
              <a:buChar char="•"/>
            </a:pPr>
            <a:r>
              <a:rPr lang="vi-VN" b="1"/>
              <a:t>Error Active</a:t>
            </a:r>
            <a:r>
              <a:rPr lang="vi-VN"/>
              <a:t>: TEC ≤ 127 </a:t>
            </a:r>
            <a:r>
              <a:rPr lang="vi-VN" b="1"/>
              <a:t>và</a:t>
            </a:r>
            <a:r>
              <a:rPr lang="vi-VN"/>
              <a:t> REC ≤ 127 → dùng Active Error Flag (6 dominant).</a:t>
            </a:r>
          </a:p>
          <a:p>
            <a:pPr>
              <a:buFont typeface="Arial" panose="020B0604020202020204" pitchFamily="34" charset="0"/>
              <a:buChar char="•"/>
            </a:pPr>
            <a:r>
              <a:rPr lang="vi-VN" b="1"/>
              <a:t>Error Passive</a:t>
            </a:r>
            <a:r>
              <a:rPr lang="vi-VN"/>
              <a:t>: TEC ≥ 128 </a:t>
            </a:r>
            <a:r>
              <a:rPr lang="vi-VN" b="1"/>
              <a:t>hoặc</a:t>
            </a:r>
            <a:r>
              <a:rPr lang="vi-VN"/>
              <a:t> REC ≥ 128 (nhưng TEC ≤ 255) → dùng Passive Error Flag (6 recessive).</a:t>
            </a:r>
          </a:p>
          <a:p>
            <a:pPr>
              <a:buFont typeface="Arial" panose="020B0604020202020204" pitchFamily="34" charset="0"/>
              <a:buChar char="•"/>
            </a:pPr>
            <a:r>
              <a:rPr lang="vi-VN" b="1"/>
              <a:t>Bus Off</a:t>
            </a:r>
            <a:r>
              <a:rPr lang="vi-VN"/>
              <a:t>: TEC ≥ 256 → node bị ngắt hoàn toàn khỏi bus.</a:t>
            </a:r>
          </a:p>
          <a:p>
            <a:r>
              <a:rPr lang="vi-VN" b="1"/>
              <a:t>2. Quy tắc tăng/giảm cụ thể</a:t>
            </a:r>
          </a:p>
          <a:p>
            <a:r>
              <a:rPr lang="vi-VN" b="1"/>
              <a:t>Khi thành công (Error-free) – Giảm đếm</a:t>
            </a:r>
          </a:p>
          <a:p>
            <a:pPr>
              <a:buFont typeface="Arial" panose="020B0604020202020204" pitchFamily="34" charset="0"/>
              <a:buChar char="•"/>
            </a:pPr>
            <a:r>
              <a:rPr lang="vi-VN" b="1"/>
              <a:t>Truyền thành công</a:t>
            </a:r>
            <a:r>
              <a:rPr lang="vi-VN"/>
              <a:t> một message (Data hoặc Remote Frame): </a:t>
            </a:r>
            <a:r>
              <a:rPr lang="vi-VN" b="1"/>
              <a:t>TEC giảm 1</a:t>
            </a:r>
            <a:r>
              <a:rPr lang="vi-VN"/>
              <a:t> (nếu TEC &gt; 0).</a:t>
            </a:r>
          </a:p>
          <a:p>
            <a:pPr>
              <a:buFont typeface="Arial" panose="020B0604020202020204" pitchFamily="34" charset="0"/>
              <a:buChar char="•"/>
            </a:pPr>
            <a:r>
              <a:rPr lang="vi-VN" b="1"/>
              <a:t>Nhận thành công</a:t>
            </a:r>
            <a:r>
              <a:rPr lang="vi-VN"/>
              <a:t> một message: </a:t>
            </a:r>
            <a:r>
              <a:rPr lang="vi-VN" b="1"/>
              <a:t>REC giảm 1</a:t>
            </a:r>
            <a:r>
              <a:rPr lang="vi-VN"/>
              <a:t> (nếu REC &gt; 0).</a:t>
            </a:r>
          </a:p>
          <a:p>
            <a:r>
              <a:rPr lang="vi-VN">
                <a:effectLst/>
              </a:rPr>
              <a:t>→ Đây là cơ chế “tự hồi phục”. Node khỏe mạnh sẽ dần đưa đếm lỗi về 0 khi bus hoạt động bình thường.</a:t>
            </a:r>
          </a:p>
          <a:p>
            <a:r>
              <a:rPr lang="vi-VN" b="1"/>
              <a:t>Khi phát hiện lỗi – Tăng đếm (phức tạp hơn)</a:t>
            </a:r>
          </a:p>
          <a:p>
            <a:r>
              <a:rPr lang="vi-VN" b="1">
                <a:effectLst/>
              </a:rPr>
              <a:t>Quy tắc chung</a:t>
            </a:r>
            <a:r>
              <a:rPr lang="vi-VN">
                <a:effectLst/>
              </a:rPr>
              <a:t> (áp dụng cho hầu hết các trường hợp):</a:t>
            </a:r>
          </a:p>
          <a:p>
            <a:pPr>
              <a:buFont typeface="Arial" panose="020B0604020202020204" pitchFamily="34" charset="0"/>
              <a:buChar char="•"/>
            </a:pPr>
            <a:r>
              <a:rPr lang="vi-VN" b="1"/>
              <a:t>Transmitter</a:t>
            </a:r>
            <a:r>
              <a:rPr lang="vi-VN"/>
              <a:t> (node đang truyền) phát hiện lỗi hoặc phải gửi Error Flag: → </a:t>
            </a:r>
            <a:r>
              <a:rPr lang="vi-VN" b="1"/>
              <a:t>TEC tăng +8</a:t>
            </a:r>
            <a:r>
              <a:rPr lang="vi-VN"/>
              <a:t>.</a:t>
            </a:r>
          </a:p>
          <a:p>
            <a:pPr>
              <a:buFont typeface="Arial" panose="020B0604020202020204" pitchFamily="34" charset="0"/>
              <a:buChar char="•"/>
            </a:pPr>
            <a:r>
              <a:rPr lang="vi-VN" b="1"/>
              <a:t>Receiver</a:t>
            </a:r>
            <a:r>
              <a:rPr lang="vi-VN"/>
              <a:t> (node đang nhận) phát hiện lỗi: → </a:t>
            </a:r>
            <a:r>
              <a:rPr lang="vi-VN" b="1"/>
              <a:t>REC tăng +1</a:t>
            </a:r>
            <a:r>
              <a:rPr lang="vi-VN"/>
              <a:t> (thông thường).</a:t>
            </a:r>
          </a:p>
          <a:p>
            <a:r>
              <a:rPr lang="vi-VN" b="1">
                <a:effectLst/>
              </a:rPr>
              <a:t>Các ngoại lệ quan trọng</a:t>
            </a:r>
            <a:r>
              <a:rPr lang="vi-VN">
                <a:effectLst/>
              </a:rPr>
              <a:t> (khi tăng +8 cho REC hoặc không tăng):</a:t>
            </a:r>
          </a:p>
          <a:p>
            <a:pPr>
              <a:buFont typeface="Arial" panose="020B0604020202020204" pitchFamily="34" charset="0"/>
              <a:buChar char="•"/>
            </a:pPr>
            <a:r>
              <a:rPr lang="vi-VN"/>
              <a:t>Nếu </a:t>
            </a:r>
            <a:r>
              <a:rPr lang="vi-VN" b="1"/>
              <a:t>receiver</a:t>
            </a:r>
            <a:r>
              <a:rPr lang="vi-VN"/>
              <a:t> phát hiện lỗi và là nguyên nhân chính gây lỗi (ví dụ: receiver phát hiện dominant bit ngay sau khi gửi Error Flag của chính nó): → REC tăng </a:t>
            </a:r>
            <a:r>
              <a:rPr lang="vi-VN" b="1"/>
              <a:t>+8</a:t>
            </a:r>
            <a:r>
              <a:rPr lang="vi-VN"/>
              <a:t>.</a:t>
            </a:r>
          </a:p>
          <a:p>
            <a:pPr>
              <a:buFont typeface="Arial" panose="020B0604020202020204" pitchFamily="34" charset="0"/>
              <a:buChar char="•"/>
            </a:pPr>
            <a:r>
              <a:rPr lang="vi-VN"/>
              <a:t>Nếu </a:t>
            </a:r>
            <a:r>
              <a:rPr lang="vi-VN" b="1"/>
              <a:t>transmitter</a:t>
            </a:r>
            <a:r>
              <a:rPr lang="vi-VN"/>
              <a:t> đang ở trạng thái </a:t>
            </a:r>
            <a:r>
              <a:rPr lang="vi-VN" b="1"/>
              <a:t>Error Passive</a:t>
            </a:r>
            <a:r>
              <a:rPr lang="vi-VN"/>
              <a:t> và gặp </a:t>
            </a:r>
            <a:r>
              <a:rPr lang="vi-VN" b="1"/>
              <a:t>ACK Error</a:t>
            </a:r>
            <a:r>
              <a:rPr lang="vi-VN"/>
              <a:t> (không nhận được ACK dominant), nhưng không phát hiện dominant bit trong lúc gửi Passive Error Flag: → </a:t>
            </a:r>
            <a:r>
              <a:rPr lang="vi-VN" b="1"/>
              <a:t>Không tăng TEC</a:t>
            </a:r>
            <a:r>
              <a:rPr lang="vi-VN"/>
              <a:t> (ngoại lệ đặc biệt).</a:t>
            </a:r>
          </a:p>
          <a:p>
            <a:pPr>
              <a:buFont typeface="Arial" panose="020B0604020202020204" pitchFamily="34" charset="0"/>
              <a:buChar char="•"/>
            </a:pPr>
            <a:r>
              <a:rPr lang="vi-VN"/>
              <a:t>Nếu transmitter phát hiện </a:t>
            </a:r>
            <a:r>
              <a:rPr lang="vi-VN" b="1"/>
              <a:t>Bit Error</a:t>
            </a:r>
            <a:r>
              <a:rPr lang="vi-VN"/>
              <a:t> trong lúc gửi </a:t>
            </a:r>
            <a:r>
              <a:rPr lang="vi-VN" b="1"/>
              <a:t>Active Error Flag</a:t>
            </a:r>
            <a:r>
              <a:rPr lang="vi-VN"/>
              <a:t> hoặc </a:t>
            </a:r>
            <a:r>
              <a:rPr lang="vi-VN" b="1"/>
              <a:t>Overload Flag</a:t>
            </a:r>
            <a:r>
              <a:rPr lang="vi-VN"/>
              <a:t>: → TEC tăng </a:t>
            </a:r>
            <a:r>
              <a:rPr lang="vi-VN" b="1"/>
              <a:t>+8</a:t>
            </a:r>
            <a:r>
              <a:rPr lang="vi-VN"/>
              <a:t>.</a:t>
            </a:r>
          </a:p>
          <a:p>
            <a:pPr>
              <a:buFont typeface="Arial" panose="020B0604020202020204" pitchFamily="34" charset="0"/>
              <a:buChar char="•"/>
            </a:pPr>
            <a:r>
              <a:rPr lang="vi-VN"/>
              <a:t>Nếu transmitter gửi Error Flag do </a:t>
            </a:r>
            <a:r>
              <a:rPr lang="vi-VN" b="1"/>
              <a:t>Stuff Error</a:t>
            </a:r>
            <a:r>
              <a:rPr lang="vi-VN"/>
              <a:t> trong giai đoạn arbitration và bit phải là recessive nhưng bị dominant: → Có ngoại lệ không tăng hoặc tăng khác.</a:t>
            </a:r>
          </a:p>
          <a:p>
            <a:r>
              <a:rPr lang="vi-VN" b="1">
                <a:effectLst/>
              </a:rPr>
              <a:t>Tóm tắt dễ nhớ</a:t>
            </a:r>
            <a:r>
              <a:rPr lang="vi-VN">
                <a:effectLst/>
              </a:rPr>
              <a:t>:</a:t>
            </a:r>
          </a:p>
          <a:p>
            <a:pPr>
              <a:buFont typeface="Arial" panose="020B0604020202020204" pitchFamily="34" charset="0"/>
              <a:buChar char="•"/>
            </a:pPr>
            <a:r>
              <a:rPr lang="vi-VN"/>
              <a:t>Lỗi liên quan đến </a:t>
            </a:r>
            <a:r>
              <a:rPr lang="vi-VN" b="1"/>
              <a:t>truyền</a:t>
            </a:r>
            <a:r>
              <a:rPr lang="vi-VN"/>
              <a:t> (transmitter phát hiện) → TEC tăng mạnh </a:t>
            </a:r>
            <a:r>
              <a:rPr lang="vi-VN" b="1"/>
              <a:t>+8</a:t>
            </a:r>
            <a:r>
              <a:rPr lang="vi-VN"/>
              <a:t> (vì transmitter thường là “thủ phạm” chính).</a:t>
            </a:r>
          </a:p>
          <a:p>
            <a:pPr>
              <a:buFont typeface="Arial" panose="020B0604020202020204" pitchFamily="34" charset="0"/>
              <a:buChar char="•"/>
            </a:pPr>
            <a:r>
              <a:rPr lang="vi-VN"/>
              <a:t>Lỗi liên quan đến </a:t>
            </a:r>
            <a:r>
              <a:rPr lang="vi-VN" b="1"/>
              <a:t>nhận</a:t>
            </a:r>
            <a:r>
              <a:rPr lang="vi-VN"/>
              <a:t> (receiver phát hiện) → REC tăng nhẹ </a:t>
            </a:r>
            <a:r>
              <a:rPr lang="vi-VN" b="1"/>
              <a:t>+1</a:t>
            </a:r>
            <a:r>
              <a:rPr lang="vi-VN"/>
              <a:t> (trừ một số trường hợp đặc biệt tăng +8).</a:t>
            </a:r>
          </a:p>
          <a:p>
            <a:r>
              <a:rPr lang="vi-VN" b="1"/>
              <a:t>3. 5 loại lỗi chính và ảnh hưởng đến TEC/REC</a:t>
            </a:r>
          </a:p>
          <a:p>
            <a:r>
              <a:rPr lang="vi-VN">
                <a:effectLst/>
              </a:rPr>
              <a:t>CAN có 5 loại lỗi cơ bản:</a:t>
            </a:r>
          </a:p>
          <a:p>
            <a:pPr>
              <a:buFont typeface="+mj-lt"/>
              <a:buAutoNum type="arabicPeriod"/>
            </a:pPr>
            <a:r>
              <a:rPr lang="vi-VN" b="1"/>
              <a:t>Bit Error</a:t>
            </a:r>
            <a:r>
              <a:rPr lang="vi-VN"/>
              <a:t> (chủ yếu Transmitter phát hiện)</a:t>
            </a:r>
          </a:p>
          <a:p>
            <a:pPr marL="742950" lvl="1" indent="-285750">
              <a:buFont typeface="+mj-lt"/>
              <a:buAutoNum type="arabicPeriod"/>
            </a:pPr>
            <a:r>
              <a:rPr lang="vi-VN"/>
              <a:t>Transmitter gửi bit 0 nhưng thấy bus là 1 (hoặc ngược lại).</a:t>
            </a:r>
          </a:p>
          <a:p>
            <a:pPr marL="742950" lvl="1" indent="-285750">
              <a:buFont typeface="+mj-lt"/>
              <a:buAutoNum type="arabicPeriod"/>
            </a:pPr>
            <a:r>
              <a:rPr lang="vi-VN"/>
              <a:t>→ TEC tăng </a:t>
            </a:r>
            <a:r>
              <a:rPr lang="vi-VN" b="1"/>
              <a:t>+8</a:t>
            </a:r>
            <a:r>
              <a:rPr lang="vi-VN"/>
              <a:t>.</a:t>
            </a:r>
          </a:p>
          <a:p>
            <a:pPr>
              <a:buFont typeface="+mj-lt"/>
              <a:buAutoNum type="arabicPeriod"/>
            </a:pPr>
            <a:r>
              <a:rPr lang="vi-VN" b="1"/>
              <a:t>Stuff Error</a:t>
            </a:r>
            <a:r>
              <a:rPr lang="vi-VN"/>
              <a:t> (chủ yếu Receiver phát hiện)</a:t>
            </a:r>
          </a:p>
          <a:p>
            <a:pPr marL="742950" lvl="1" indent="-285750">
              <a:buFont typeface="+mj-lt"/>
              <a:buAutoNum type="arabicPeriod"/>
            </a:pPr>
            <a:r>
              <a:rPr lang="vi-VN"/>
              <a:t>Có 6 bit giống nhau liên tiếp (vi phạm bit stuffing).</a:t>
            </a:r>
          </a:p>
          <a:p>
            <a:pPr marL="742950" lvl="1" indent="-285750">
              <a:buFont typeface="+mj-lt"/>
              <a:buAutoNum type="arabicPeriod"/>
            </a:pPr>
            <a:r>
              <a:rPr lang="vi-VN"/>
              <a:t>→ Receiver: REC tăng </a:t>
            </a:r>
            <a:r>
              <a:rPr lang="vi-VN" b="1"/>
              <a:t>+1</a:t>
            </a:r>
            <a:r>
              <a:rPr lang="vi-VN"/>
              <a:t> (thường).</a:t>
            </a:r>
          </a:p>
          <a:p>
            <a:pPr>
              <a:buFont typeface="+mj-lt"/>
              <a:buAutoNum type="arabicPeriod"/>
            </a:pPr>
            <a:r>
              <a:rPr lang="vi-VN" b="1"/>
              <a:t>Form Error</a:t>
            </a:r>
            <a:r>
              <a:rPr lang="vi-VN"/>
              <a:t> (Receiver phát hiện)</a:t>
            </a:r>
          </a:p>
          <a:p>
            <a:pPr marL="742950" lvl="1" indent="-285750">
              <a:buFont typeface="+mj-lt"/>
              <a:buAutoNum type="arabicPeriod"/>
            </a:pPr>
            <a:r>
              <a:rPr lang="vi-VN"/>
              <a:t>Cấu trúc frame sai (ví dụ: CRC Delimiter, ACK Delimiter, EOF không phải recessive).</a:t>
            </a:r>
          </a:p>
          <a:p>
            <a:pPr marL="742950" lvl="1" indent="-285750">
              <a:buFont typeface="+mj-lt"/>
              <a:buAutoNum type="arabicPeriod"/>
            </a:pPr>
            <a:r>
              <a:rPr lang="vi-VN"/>
              <a:t>→ Receiver: REC tăng </a:t>
            </a:r>
            <a:r>
              <a:rPr lang="vi-VN" b="1"/>
              <a:t>+1</a:t>
            </a:r>
            <a:r>
              <a:rPr lang="vi-VN"/>
              <a:t>.</a:t>
            </a:r>
          </a:p>
          <a:p>
            <a:pPr>
              <a:buFont typeface="+mj-lt"/>
              <a:buAutoNum type="arabicPeriod"/>
            </a:pPr>
            <a:r>
              <a:rPr lang="vi-VN" b="1"/>
              <a:t>ACK Error</a:t>
            </a:r>
            <a:r>
              <a:rPr lang="vi-VN"/>
              <a:t> (Transmitter phát hiện)</a:t>
            </a:r>
          </a:p>
          <a:p>
            <a:pPr marL="742950" lvl="1" indent="-285750">
              <a:buFont typeface="+mj-lt"/>
              <a:buAutoNum type="arabicPeriod"/>
            </a:pPr>
            <a:r>
              <a:rPr lang="vi-VN"/>
              <a:t>Transmitter gửi xong nhưng không thấy dominant bit ở slot ACK (không node nào ACK).</a:t>
            </a:r>
          </a:p>
          <a:p>
            <a:pPr marL="742950" lvl="1" indent="-285750">
              <a:buFont typeface="+mj-lt"/>
              <a:buAutoNum type="arabicPeriod"/>
            </a:pPr>
            <a:r>
              <a:rPr lang="vi-VN"/>
              <a:t>→ TEC tăng </a:t>
            </a:r>
            <a:r>
              <a:rPr lang="vi-VN" b="1"/>
              <a:t>+8</a:t>
            </a:r>
            <a:r>
              <a:rPr lang="vi-VN"/>
              <a:t> (thường). Có ngoại lệ khi transmitter ở Error Passive.</a:t>
            </a:r>
          </a:p>
          <a:p>
            <a:pPr>
              <a:buFont typeface="+mj-lt"/>
              <a:buAutoNum type="arabicPeriod"/>
            </a:pPr>
            <a:r>
              <a:rPr lang="vi-VN" b="1"/>
              <a:t>CRC Error</a:t>
            </a:r>
            <a:r>
              <a:rPr lang="vi-VN"/>
              <a:t> (Receiver phát hiện)</a:t>
            </a:r>
          </a:p>
          <a:p>
            <a:pPr marL="742950" lvl="1" indent="-285750">
              <a:buFont typeface="+mj-lt"/>
              <a:buAutoNum type="arabicPeriod"/>
            </a:pPr>
            <a:r>
              <a:rPr lang="vi-VN"/>
              <a:t>CRC tính toán không khớp với CRC nhận được.</a:t>
            </a:r>
          </a:p>
          <a:p>
            <a:pPr marL="742950" lvl="1" indent="-285750">
              <a:buFont typeface="+mj-lt"/>
              <a:buAutoNum type="arabicPeriod"/>
            </a:pPr>
            <a:r>
              <a:rPr lang="vi-VN"/>
              <a:t>→ Receiver: REC tăng </a:t>
            </a:r>
            <a:r>
              <a:rPr lang="vi-VN" b="1"/>
              <a:t>+1</a:t>
            </a:r>
            <a:r>
              <a:rPr lang="vi-VN"/>
              <a:t>.</a:t>
            </a:r>
          </a:p>
          <a:p>
            <a:r>
              <a:rPr lang="vi-VN" b="1">
                <a:effectLst/>
              </a:rPr>
              <a:t>Lưu ý</a:t>
            </a:r>
            <a:r>
              <a:rPr lang="vi-VN">
                <a:effectLst/>
              </a:rPr>
              <a:t>: Khi một node gửi Error Frame, tất cả các node khác thường coi đó là lỗi nhận → REC của chúng tăng +1.</a:t>
            </a:r>
          </a:p>
          <a:p>
            <a:r>
              <a:rPr lang="vi-VN" b="1"/>
              <a:t>4. Mục đích của cơ chế này</a:t>
            </a:r>
          </a:p>
          <a:p>
            <a:pPr>
              <a:buFont typeface="Arial" panose="020B0604020202020204" pitchFamily="34" charset="0"/>
              <a:buChar char="•"/>
            </a:pPr>
            <a:r>
              <a:rPr lang="vi-VN" b="1"/>
              <a:t>TEC tăng nhanh hơn REC</a:t>
            </a:r>
            <a:r>
              <a:rPr lang="vi-VN"/>
              <a:t>: Vì lỗi thường do transmitter gây ra (dây hỏng, nhiễu ảnh hưởng transmitter mạnh hơn).</a:t>
            </a:r>
          </a:p>
          <a:p>
            <a:pPr>
              <a:buFont typeface="Arial" panose="020B0604020202020204" pitchFamily="34" charset="0"/>
              <a:buChar char="•"/>
            </a:pPr>
            <a:r>
              <a:rPr lang="vi-VN" b="1"/>
              <a:t>Tự động cô lập node lỗi</a:t>
            </a:r>
            <a:r>
              <a:rPr lang="vi-VN"/>
              <a:t>: Node hay lỗi sẽ nhanh chóng lên Error Passive → ít gây nhiễu bus hơn, rồi có thể lên Bus Off để không làm hỏng cả mạng.</a:t>
            </a:r>
          </a:p>
          <a:p>
            <a:pPr>
              <a:buFont typeface="Arial" panose="020B0604020202020204" pitchFamily="34" charset="0"/>
              <a:buChar char="•"/>
            </a:pPr>
            <a:r>
              <a:rPr lang="vi-VN" b="1"/>
              <a:t>Tự hồi phục</a:t>
            </a:r>
            <a:r>
              <a:rPr lang="vi-VN"/>
              <a:t>: Khi lỗi chỉ là nhiễu tạm thời, đếm giảm dần → node trở lại Error Active.</a:t>
            </a:r>
          </a:p>
        </p:txBody>
      </p:sp>
      <p:sp>
        <p:nvSpPr>
          <p:cNvPr id="4" name="Slide Number Placeholder 3"/>
          <p:cNvSpPr>
            <a:spLocks noGrp="1"/>
          </p:cNvSpPr>
          <p:nvPr>
            <p:ph type="sldNum" sz="quarter" idx="5"/>
          </p:nvPr>
        </p:nvSpPr>
        <p:spPr/>
        <p:txBody>
          <a:bodyPr/>
          <a:lstStyle/>
          <a:p>
            <a:fld id="{E80A4903-7EF3-44C4-B3A5-356E0A49B13F}" type="slidenum">
              <a:rPr lang="en-US" smtClean="0"/>
              <a:t>106</a:t>
            </a:fld>
            <a:endParaRPr lang="en-US"/>
          </a:p>
        </p:txBody>
      </p:sp>
    </p:spTree>
    <p:extLst>
      <p:ext uri="{BB962C8B-B14F-4D97-AF65-F5344CB8AC3E}">
        <p14:creationId xmlns:p14="http://schemas.microsoft.com/office/powerpoint/2010/main" val="110195983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IFS (Interframe Space)</a:t>
            </a:r>
            <a:r>
              <a:rPr lang="vi-VN" dirty="0"/>
              <a:t> là một khoảng thời gian dừng ngắn (khoảng cách giữa các khung) được đưa vào giữa hai khung CAN liên tiếp nhằm đảm bảo khoảng nghỉ tối thiểu để các thiết bị trong mạng có thể xử lý khung vừa nhận trước khi khung tiếp theo được truyền đi.</a:t>
            </a:r>
          </a:p>
        </p:txBody>
      </p:sp>
      <p:sp>
        <p:nvSpPr>
          <p:cNvPr id="4" name="Slide Number Placeholder 3"/>
          <p:cNvSpPr>
            <a:spLocks noGrp="1"/>
          </p:cNvSpPr>
          <p:nvPr>
            <p:ph type="sldNum" sz="quarter" idx="5"/>
          </p:nvPr>
        </p:nvSpPr>
        <p:spPr/>
        <p:txBody>
          <a:bodyPr/>
          <a:lstStyle/>
          <a:p>
            <a:fld id="{E80A4903-7EF3-44C4-B3A5-356E0A49B13F}" type="slidenum">
              <a:rPr lang="en-US" smtClean="0"/>
              <a:t>107</a:t>
            </a:fld>
            <a:endParaRPr lang="en-US"/>
          </a:p>
        </p:txBody>
      </p:sp>
    </p:spTree>
    <p:extLst>
      <p:ext uri="{BB962C8B-B14F-4D97-AF65-F5344CB8AC3E}">
        <p14:creationId xmlns:p14="http://schemas.microsoft.com/office/powerpoint/2010/main" val="141453632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108</a:t>
            </a:fld>
            <a:endParaRPr lang="en-US"/>
          </a:p>
        </p:txBody>
      </p:sp>
    </p:spTree>
    <p:extLst>
      <p:ext uri="{BB962C8B-B14F-4D97-AF65-F5344CB8AC3E}">
        <p14:creationId xmlns:p14="http://schemas.microsoft.com/office/powerpoint/2010/main" val="217915352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109</a:t>
            </a:fld>
            <a:endParaRPr lang="en-US"/>
          </a:p>
        </p:txBody>
      </p:sp>
    </p:spTree>
    <p:extLst>
      <p:ext uri="{BB962C8B-B14F-4D97-AF65-F5344CB8AC3E}">
        <p14:creationId xmlns:p14="http://schemas.microsoft.com/office/powerpoint/2010/main" val="68362463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110</a:t>
            </a:fld>
            <a:endParaRPr lang="en-US"/>
          </a:p>
        </p:txBody>
      </p:sp>
    </p:spTree>
    <p:extLst>
      <p:ext uri="{BB962C8B-B14F-4D97-AF65-F5344CB8AC3E}">
        <p14:creationId xmlns:p14="http://schemas.microsoft.com/office/powerpoint/2010/main" val="62189874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111</a:t>
            </a:fld>
            <a:endParaRPr lang="en-US"/>
          </a:p>
        </p:txBody>
      </p:sp>
    </p:spTree>
    <p:extLst>
      <p:ext uri="{BB962C8B-B14F-4D97-AF65-F5344CB8AC3E}">
        <p14:creationId xmlns:p14="http://schemas.microsoft.com/office/powerpoint/2010/main" val="312284070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112</a:t>
            </a:fld>
            <a:endParaRPr lang="en-US"/>
          </a:p>
        </p:txBody>
      </p:sp>
    </p:spTree>
    <p:extLst>
      <p:ext uri="{BB962C8B-B14F-4D97-AF65-F5344CB8AC3E}">
        <p14:creationId xmlns:p14="http://schemas.microsoft.com/office/powerpoint/2010/main" val="276747724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113</a:t>
            </a:fld>
            <a:endParaRPr lang="en-US"/>
          </a:p>
        </p:txBody>
      </p:sp>
    </p:spTree>
    <p:extLst>
      <p:ext uri="{BB962C8B-B14F-4D97-AF65-F5344CB8AC3E}">
        <p14:creationId xmlns:p14="http://schemas.microsoft.com/office/powerpoint/2010/main" val="378165387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114</a:t>
            </a:fld>
            <a:endParaRPr lang="en-US"/>
          </a:p>
        </p:txBody>
      </p:sp>
    </p:spTree>
    <p:extLst>
      <p:ext uri="{BB962C8B-B14F-4D97-AF65-F5344CB8AC3E}">
        <p14:creationId xmlns:p14="http://schemas.microsoft.com/office/powerpoint/2010/main" val="175298499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115</a:t>
            </a:fld>
            <a:endParaRPr lang="en-US"/>
          </a:p>
        </p:txBody>
      </p:sp>
    </p:spTree>
    <p:extLst>
      <p:ext uri="{BB962C8B-B14F-4D97-AF65-F5344CB8AC3E}">
        <p14:creationId xmlns:p14="http://schemas.microsoft.com/office/powerpoint/2010/main" val="393844076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1. Overload Frame là gì? Ý nghĩa</a:t>
            </a:r>
          </a:p>
          <a:p>
            <a:r>
              <a:rPr lang="vi-VN">
                <a:effectLst/>
              </a:rPr>
              <a:t>Overload Frame là một khung đặc biệt dùng để </a:t>
            </a:r>
            <a:r>
              <a:rPr lang="vi-VN" b="1">
                <a:effectLst/>
              </a:rPr>
              <a:t>yêu cầu thêm thời gian nghỉ</a:t>
            </a:r>
            <a:r>
              <a:rPr lang="vi-VN">
                <a:effectLst/>
              </a:rPr>
              <a:t> giữa các frame (Data Frame hoặc Remote Frame).</a:t>
            </a:r>
          </a:p>
          <a:p>
            <a:r>
              <a:rPr lang="vi-VN">
                <a:effectLst/>
              </a:rPr>
              <a:t>Nó </a:t>
            </a:r>
            <a:r>
              <a:rPr lang="vi-VN" b="1">
                <a:effectLst/>
              </a:rPr>
              <a:t>không phải là lỗi</a:t>
            </a:r>
            <a:r>
              <a:rPr lang="vi-VN">
                <a:effectLst/>
              </a:rPr>
              <a:t>, mà là cơ chế </a:t>
            </a:r>
            <a:r>
              <a:rPr lang="vi-VN" b="1">
                <a:effectLst/>
              </a:rPr>
              <a:t>điều chỉnh lưu lượng</a:t>
            </a:r>
            <a:r>
              <a:rPr lang="vi-VN">
                <a:effectLst/>
              </a:rPr>
              <a:t> (flow control) khi một node (ECU) chưa sẵn sàng nhận message tiếp theo.</a:t>
            </a:r>
          </a:p>
          <a:p>
            <a:r>
              <a:rPr lang="vi-VN" b="1">
                <a:effectLst/>
              </a:rPr>
              <a:t>Lý do cần Overload Frame</a:t>
            </a:r>
            <a:r>
              <a:rPr lang="vi-VN">
                <a:effectLst/>
              </a:rPr>
              <a:t>:</a:t>
            </a:r>
          </a:p>
          <a:p>
            <a:pPr>
              <a:buFont typeface="Arial" panose="020B0604020202020204" pitchFamily="34" charset="0"/>
              <a:buChar char="•"/>
            </a:pPr>
            <a:r>
              <a:rPr lang="vi-VN"/>
              <a:t>Node nhận quá nhanh (buffer đầy tạm thời).</a:t>
            </a:r>
          </a:p>
          <a:p>
            <a:pPr>
              <a:buFont typeface="Arial" panose="020B0604020202020204" pitchFamily="34" charset="0"/>
              <a:buChar char="•"/>
            </a:pPr>
            <a:r>
              <a:rPr lang="vi-VN"/>
              <a:t>Node đang bận xử lý công việc nội bộ (internal processing delay).</a:t>
            </a:r>
          </a:p>
          <a:p>
            <a:pPr>
              <a:buFont typeface="Arial" panose="020B0604020202020204" pitchFamily="34" charset="0"/>
              <a:buChar char="•"/>
            </a:pPr>
            <a:r>
              <a:rPr lang="vi-VN"/>
              <a:t>Node cần thêm thời gian để chuẩn bị nhận message mới.</a:t>
            </a:r>
          </a:p>
          <a:p>
            <a:r>
              <a:rPr lang="vi-VN" b="1">
                <a:effectLst/>
              </a:rPr>
              <a:t>Quan trọng</a:t>
            </a:r>
            <a:r>
              <a:rPr lang="vi-VN">
                <a:effectLst/>
              </a:rPr>
              <a:t>: Overload Frame </a:t>
            </a:r>
            <a:r>
              <a:rPr lang="vi-VN" b="1">
                <a:effectLst/>
              </a:rPr>
              <a:t>không làm tăng bộ đếm lỗi</a:t>
            </a:r>
            <a:r>
              <a:rPr lang="vi-VN">
                <a:effectLst/>
              </a:rPr>
              <a:t> (TEC/REC), và </a:t>
            </a:r>
            <a:r>
              <a:rPr lang="vi-VN" b="1">
                <a:effectLst/>
              </a:rPr>
              <a:t>không buộc retransmit</a:t>
            </a:r>
            <a:r>
              <a:rPr lang="vi-VN">
                <a:effectLst/>
              </a:rPr>
              <a:t> message trước đó (khác hoàn toàn với Error Frame).</a:t>
            </a:r>
          </a:p>
          <a:p>
            <a:r>
              <a:rPr lang="vi-VN" b="1"/>
              <a:t>2. Cấu trúc của Overload Frame</a:t>
            </a:r>
          </a:p>
          <a:p>
            <a:r>
              <a:rPr lang="vi-VN">
                <a:effectLst/>
              </a:rPr>
              <a:t>Overload Frame </a:t>
            </a:r>
            <a:r>
              <a:rPr lang="vi-VN" b="1">
                <a:effectLst/>
              </a:rPr>
              <a:t>giống hệt</a:t>
            </a:r>
            <a:r>
              <a:rPr lang="vi-VN">
                <a:effectLst/>
              </a:rPr>
              <a:t> một </a:t>
            </a:r>
            <a:r>
              <a:rPr lang="vi-VN" b="1">
                <a:effectLst/>
              </a:rPr>
              <a:t>Active Error Frame</a:t>
            </a:r>
            <a:r>
              <a:rPr lang="vi-VN">
                <a:effectLst/>
              </a:rPr>
              <a:t> về hình thức, gồm 2 phần:</a:t>
            </a:r>
          </a:p>
          <a:p>
            <a:pPr>
              <a:buFont typeface="Arial" panose="020B0604020202020204" pitchFamily="34" charset="0"/>
              <a:buChar char="•"/>
            </a:pPr>
            <a:r>
              <a:rPr lang="vi-VN" b="1"/>
              <a:t>Overload Flag</a:t>
            </a:r>
            <a:r>
              <a:rPr lang="vi-VN"/>
              <a:t>: </a:t>
            </a:r>
            <a:r>
              <a:rPr lang="vi-VN" b="1"/>
              <a:t>6 bit Dominant</a:t>
            </a:r>
            <a:r>
              <a:rPr lang="vi-VN"/>
              <a:t> liên tiếp (000000).</a:t>
            </a:r>
          </a:p>
          <a:p>
            <a:pPr>
              <a:buFont typeface="Arial" panose="020B0604020202020204" pitchFamily="34" charset="0"/>
              <a:buChar char="•"/>
            </a:pPr>
            <a:r>
              <a:rPr lang="vi-VN" b="1"/>
              <a:t>Overload Delimiter</a:t>
            </a:r>
            <a:r>
              <a:rPr lang="vi-VN"/>
              <a:t>: </a:t>
            </a:r>
            <a:r>
              <a:rPr lang="vi-VN" b="1"/>
              <a:t>8 bit Recessive</a:t>
            </a:r>
            <a:r>
              <a:rPr lang="vi-VN"/>
              <a:t> liên tiếp (11111111).</a:t>
            </a:r>
          </a:p>
          <a:p>
            <a:r>
              <a:rPr lang="vi-VN">
                <a:effectLst/>
              </a:rPr>
              <a:t>Tổng cộng: Có thể dài từ 6 đến 12 bit cho Flag (nếu nhiều node cùng gửi chồng lên) + 8 bit Delimiter.</a:t>
            </a:r>
          </a:p>
          <a:p>
            <a:r>
              <a:rPr lang="vi-VN" b="1">
                <a:effectLst/>
              </a:rPr>
              <a:t>Lưu ý quan trọng</a:t>
            </a:r>
            <a:r>
              <a:rPr lang="vi-VN">
                <a:effectLst/>
              </a:rPr>
              <a:t>:</a:t>
            </a:r>
          </a:p>
          <a:p>
            <a:pPr>
              <a:buFont typeface="Arial" panose="020B0604020202020204" pitchFamily="34" charset="0"/>
              <a:buChar char="•"/>
            </a:pPr>
            <a:r>
              <a:rPr lang="vi-VN"/>
              <a:t>Overload Frame </a:t>
            </a:r>
            <a:r>
              <a:rPr lang="vi-VN" b="1"/>
              <a:t>chỉ được phép truyền trong giai đoạn Interframe Space (IFS)</a:t>
            </a:r>
            <a:r>
              <a:rPr lang="vi-VN"/>
              <a:t>, cụ thể là trong </a:t>
            </a:r>
            <a:r>
              <a:rPr lang="vi-VN" b="1"/>
              <a:t>3 bit Intermission</a:t>
            </a:r>
            <a:r>
              <a:rPr lang="vi-VN"/>
              <a:t>.</a:t>
            </a:r>
          </a:p>
          <a:p>
            <a:pPr>
              <a:buFont typeface="Arial" panose="020B0604020202020204" pitchFamily="34" charset="0"/>
              <a:buChar char="•"/>
            </a:pPr>
            <a:r>
              <a:rPr lang="vi-VN"/>
              <a:t>Không được truyền giữa chừng một Data Frame như Error Frame.</a:t>
            </a:r>
          </a:p>
          <a:p>
            <a:r>
              <a:rPr lang="vi-VN" b="1"/>
              <a:t>3. Overload Frame hoạt động như thế nào?</a:t>
            </a:r>
          </a:p>
          <a:p>
            <a:pPr>
              <a:buFont typeface="+mj-lt"/>
              <a:buAutoNum type="arabicPeriod"/>
            </a:pPr>
            <a:r>
              <a:rPr lang="vi-VN"/>
              <a:t>Một node phát hiện mình </a:t>
            </a:r>
            <a:r>
              <a:rPr lang="vi-VN" b="1"/>
              <a:t>chưa sẵn sàng</a:t>
            </a:r>
            <a:r>
              <a:rPr lang="vi-VN"/>
              <a:t> nhận message tiếp theo (ví dụ: buffer nhận đầy hoặc đang xử lý dữ liệu).</a:t>
            </a:r>
          </a:p>
          <a:p>
            <a:pPr>
              <a:buFont typeface="+mj-lt"/>
              <a:buAutoNum type="arabicPeriod"/>
            </a:pPr>
            <a:r>
              <a:rPr lang="vi-VN"/>
              <a:t>Trong </a:t>
            </a:r>
            <a:r>
              <a:rPr lang="vi-VN" b="1"/>
              <a:t>3 bit Intermission</a:t>
            </a:r>
            <a:r>
              <a:rPr lang="vi-VN"/>
              <a:t> (phần IFS), node đó truyền </a:t>
            </a:r>
            <a:r>
              <a:rPr lang="vi-VN" b="1"/>
              <a:t>6 bit Dominant</a:t>
            </a:r>
            <a:r>
              <a:rPr lang="vi-VN"/>
              <a:t> (Overload Flag) ngay lập tức.</a:t>
            </a:r>
          </a:p>
          <a:p>
            <a:pPr>
              <a:buFont typeface="+mj-lt"/>
              <a:buAutoNum type="arabicPeriod"/>
            </a:pPr>
            <a:r>
              <a:rPr lang="vi-VN"/>
              <a:t>Các node khác trên bus thấy 6 dominant bits → cũng nhận ra Overload condition và có thể truyền Overload Flag chồng lên (tối đa 12 bit dominant).</a:t>
            </a:r>
          </a:p>
          <a:p>
            <a:pPr>
              <a:buFont typeface="+mj-lt"/>
              <a:buAutoNum type="arabicPeriod"/>
            </a:pPr>
            <a:r>
              <a:rPr lang="vi-VN"/>
              <a:t>Sau đó, tất cả node truyền </a:t>
            </a:r>
            <a:r>
              <a:rPr lang="vi-VN" b="1"/>
              <a:t>8 bit Recessive</a:t>
            </a:r>
            <a:r>
              <a:rPr lang="vi-VN"/>
              <a:t> (Overload Delimiter) để kết thúc Overload Frame.</a:t>
            </a:r>
          </a:p>
          <a:p>
            <a:pPr>
              <a:buFont typeface="+mj-lt"/>
              <a:buAutoNum type="arabicPeriod"/>
            </a:pPr>
            <a:r>
              <a:rPr lang="vi-VN"/>
              <a:t>Bus trở lại trạng thái Idle (hoặc có thể có Overload Frame thứ 2 nếu node vẫn chưa sẵn sàng).</a:t>
            </a:r>
          </a:p>
          <a:p>
            <a:pPr>
              <a:buFont typeface="+mj-lt"/>
              <a:buAutoNum type="arabicPeriod"/>
            </a:pPr>
            <a:r>
              <a:rPr lang="vi-VN"/>
              <a:t>Sau Overload Frame, các node phải chờ thêm thời gian trước khi truyền Data/Remote Frame mới.</a:t>
            </a:r>
          </a:p>
          <a:p>
            <a:r>
              <a:rPr lang="vi-VN">
                <a:effectLst/>
              </a:rPr>
              <a:t>→ Kết quả: Toàn bộ mạng bị </a:t>
            </a:r>
            <a:r>
              <a:rPr lang="vi-VN" b="1">
                <a:effectLst/>
              </a:rPr>
              <a:t>chèn thêm độ trễ</a:t>
            </a:r>
            <a:r>
              <a:rPr lang="vi-VN">
                <a:effectLst/>
              </a:rPr>
              <a:t>, cho node chậm có thêm thời gian xử lý.</a:t>
            </a:r>
          </a:p>
          <a:p>
            <a:r>
              <a:rPr lang="vi-VN" b="1">
                <a:effectLst/>
              </a:rPr>
              <a:t>Một node chỉ được gửi tối đa 2 Overload Frame liên tiếp</a:t>
            </a:r>
            <a:r>
              <a:rPr lang="vi-VN">
                <a:effectLst/>
              </a:rPr>
              <a:t>.</a:t>
            </a:r>
          </a:p>
          <a:p>
            <a:r>
              <a:rPr lang="vi-VN" b="1"/>
              <a:t>4. Hai điều kiện khiến node gửi Overload Frame</a:t>
            </a:r>
          </a:p>
          <a:p>
            <a:pPr>
              <a:buFont typeface="Arial" panose="020B0604020202020204" pitchFamily="34" charset="0"/>
              <a:buChar char="•"/>
            </a:pPr>
            <a:r>
              <a:rPr lang="vi-VN" b="1"/>
              <a:t>Điều kiện 1</a:t>
            </a:r>
            <a:r>
              <a:rPr lang="vi-VN"/>
              <a:t>: Node phát hiện </a:t>
            </a:r>
            <a:r>
              <a:rPr lang="vi-VN" b="1"/>
              <a:t>dominant bit</a:t>
            </a:r>
            <a:r>
              <a:rPr lang="vi-VN"/>
              <a:t> trong giai đoạn Interframe Space (điều này là bất hợp lệ nếu không phải Overload).</a:t>
            </a:r>
          </a:p>
          <a:p>
            <a:pPr>
              <a:buFont typeface="Arial" panose="020B0604020202020204" pitchFamily="34" charset="0"/>
              <a:buChar char="•"/>
            </a:pPr>
            <a:r>
              <a:rPr lang="vi-VN" b="1"/>
              <a:t>Điều kiện 2</a:t>
            </a:r>
            <a:r>
              <a:rPr lang="vi-VN"/>
              <a:t>: Do nguyên nhân nội bộ của node (internal condition) – node chưa sẵn sàng nhận message tiếp theo (buffer overload hoặc CPU bận).</a:t>
            </a:r>
          </a:p>
          <a:p>
            <a:r>
              <a:rPr lang="vi-VN" b="1"/>
              <a:t>5. Tại sao Overload Delimiter lại cần 8 bit recessive?</a:t>
            </a:r>
          </a:p>
          <a:p>
            <a:r>
              <a:rPr lang="vi-VN">
                <a:effectLst/>
              </a:rPr>
              <a:t>Lý do tương tự như </a:t>
            </a:r>
            <a:r>
              <a:rPr lang="vi-VN" b="1">
                <a:effectLst/>
              </a:rPr>
              <a:t>Error Delimiter</a:t>
            </a:r>
            <a:r>
              <a:rPr lang="vi-VN">
                <a:effectLst/>
              </a:rPr>
              <a:t> (cũng 8 bit recessive):</a:t>
            </a:r>
          </a:p>
          <a:p>
            <a:pPr>
              <a:buFont typeface="Arial" panose="020B0604020202020204" pitchFamily="34" charset="0"/>
              <a:buChar char="•"/>
            </a:pPr>
            <a:r>
              <a:rPr lang="vi-VN" b="1"/>
              <a:t>Đảm bảo phân biệt rõ ràng</a:t>
            </a:r>
            <a:r>
              <a:rPr lang="vi-VN"/>
              <a:t> và kết thúc sạch sẽ Overload Frame.</a:t>
            </a:r>
          </a:p>
          <a:p>
            <a:pPr>
              <a:buFont typeface="Arial" panose="020B0604020202020204" pitchFamily="34" charset="0"/>
              <a:buChar char="•"/>
            </a:pPr>
            <a:r>
              <a:rPr lang="vi-VN"/>
              <a:t>Tạo </a:t>
            </a:r>
            <a:r>
              <a:rPr lang="vi-VN" b="1"/>
              <a:t>sự chuyển đổi bit</a:t>
            </a:r>
            <a:r>
              <a:rPr lang="vi-VN"/>
              <a:t> (bit transition) cần thiết cho đồng bộ clock (vì NRZ encoding và phần này không dùng bit stuffing).</a:t>
            </a:r>
          </a:p>
          <a:p>
            <a:pPr>
              <a:buFont typeface="Arial" panose="020B0604020202020204" pitchFamily="34" charset="0"/>
              <a:buChar char="•"/>
            </a:pPr>
            <a:r>
              <a:rPr lang="vi-VN"/>
              <a:t>Cho tất cả node có thời gian </a:t>
            </a:r>
            <a:r>
              <a:rPr lang="vi-VN" b="1"/>
              <a:t>xử lý nội bộ</a:t>
            </a:r>
            <a:r>
              <a:rPr lang="vi-VN"/>
              <a:t> sau khi nhận Overload Flag.</a:t>
            </a:r>
          </a:p>
          <a:p>
            <a:pPr>
              <a:buFont typeface="Arial" panose="020B0604020202020204" pitchFamily="34" charset="0"/>
              <a:buChar char="•"/>
            </a:pPr>
            <a:r>
              <a:rPr lang="vi-VN"/>
              <a:t>Giúp phân biệt với các frame khác và tránh nhầm lẫn với Interframe Space (chỉ 3 recessive bits) hoặc EOF.</a:t>
            </a:r>
          </a:p>
          <a:p>
            <a:pPr>
              <a:buFont typeface="Arial" panose="020B0604020202020204" pitchFamily="34" charset="0"/>
              <a:buChar char="•"/>
            </a:pPr>
            <a:r>
              <a:rPr lang="vi-VN"/>
              <a:t>Đảm bảo bus ổn định trước khi quay lại trạng thái Idle hoặc frame tiếp theo.</a:t>
            </a:r>
          </a:p>
          <a:p>
            <a:r>
              <a:rPr lang="vi-VN">
                <a:effectLst/>
              </a:rPr>
              <a:t>Nếu chỉ dùng ít bit recessive hơn, các node có thể nhầm lẫn Overload Frame với nhiễu hoặc với Error Frame, dẫn đến hành vi không đồng bộ.</a:t>
            </a:r>
            <a:endParaRPr lang="en-US">
              <a:effectLst/>
            </a:endParaRPr>
          </a:p>
          <a:p>
            <a:endParaRPr lang="en-US">
              <a:effectLst/>
            </a:endParaRPr>
          </a:p>
          <a:p>
            <a:r>
              <a:rPr lang="vi-VN" b="1"/>
              <a:t>So sánh nhanh Overload Frame vs Error Frame</a:t>
            </a:r>
          </a:p>
          <a:p>
            <a:r>
              <a:rPr lang="vi-VN"/>
              <a:t>Đặc điểmError FrameOverload Frame</a:t>
            </a:r>
            <a:r>
              <a:rPr lang="vi-VN">
                <a:effectLst/>
              </a:rPr>
              <a:t>Mục đíchBáo lỗi, phá frameYêu cầu thêm thời gian nghỉCó tăng error counter?Có (TEC/REC)KhôngCó buộc retransmit?CóKhôngTruyền ở đâu?Bất kỳ lúc nào (giữa frame)Chỉ trong Interframe Space (IFS)Flag6 dominant (Active) hoặc 6 recessive (Passive)Luôn 6 dominantDelimiter8 recessive8 recessive</a:t>
            </a:r>
          </a:p>
          <a:p>
            <a:r>
              <a:rPr lang="vi-VN" b="1">
                <a:effectLst/>
              </a:rPr>
              <a:t>Kết luận</a:t>
            </a:r>
            <a:r>
              <a:rPr lang="vi-VN">
                <a:effectLst/>
              </a:rPr>
              <a:t>: Overload Frame là cơ chế “xin nghỉ” của node chậm, giúp mạng CAN linh hoạt hơn khi có node xử lý không kịp. Nó giống Error Frame về hình thức nhưng khác hoàn toàn về ý nghĩa và thời điểm truyền.</a:t>
            </a:r>
          </a:p>
          <a:p>
            <a:endParaRPr lang="vi-VN">
              <a:effectLst/>
            </a:endParaRPr>
          </a:p>
        </p:txBody>
      </p:sp>
      <p:sp>
        <p:nvSpPr>
          <p:cNvPr id="4" name="Slide Number Placeholder 3"/>
          <p:cNvSpPr>
            <a:spLocks noGrp="1"/>
          </p:cNvSpPr>
          <p:nvPr>
            <p:ph type="sldNum" sz="quarter" idx="5"/>
          </p:nvPr>
        </p:nvSpPr>
        <p:spPr/>
        <p:txBody>
          <a:bodyPr/>
          <a:lstStyle/>
          <a:p>
            <a:fld id="{E80A4903-7EF3-44C4-B3A5-356E0A49B13F}" type="slidenum">
              <a:rPr lang="en-US" smtClean="0"/>
              <a:t>116</a:t>
            </a:fld>
            <a:endParaRPr lang="en-US"/>
          </a:p>
        </p:txBody>
      </p:sp>
    </p:spTree>
    <p:extLst>
      <p:ext uri="{BB962C8B-B14F-4D97-AF65-F5344CB8AC3E}">
        <p14:creationId xmlns:p14="http://schemas.microsoft.com/office/powerpoint/2010/main" val="331180281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Phân tích chi tiết hình theo thời gian (từ trái sang phải):</a:t>
            </a:r>
          </a:p>
          <a:p>
            <a:pPr>
              <a:buFont typeface="+mj-lt"/>
              <a:buAutoNum type="arabicPeriod"/>
            </a:pPr>
            <a:r>
              <a:rPr lang="vi-VN" b="1"/>
              <a:t>Phần đầu (EOF)</a:t>
            </a:r>
            <a:r>
              <a:rPr lang="vi-VN"/>
              <a:t>:</a:t>
            </a:r>
          </a:p>
          <a:p>
            <a:pPr marL="742950" lvl="1" indent="-285750">
              <a:buFont typeface="+mj-lt"/>
              <a:buAutoNum type="arabicPeriod"/>
            </a:pPr>
            <a:r>
              <a:rPr lang="vi-VN"/>
              <a:t>Một Data Frame (hoặc Remote Frame) vừa kết thúc bằng </a:t>
            </a:r>
            <a:r>
              <a:rPr lang="vi-VN" b="1"/>
              <a:t>EOF</a:t>
            </a:r>
            <a:r>
              <a:rPr lang="vi-VN"/>
              <a:t> (7 bit recessive).</a:t>
            </a:r>
          </a:p>
          <a:p>
            <a:pPr>
              <a:buFont typeface="+mj-lt"/>
              <a:buAutoNum type="arabicPeriod"/>
            </a:pPr>
            <a:r>
              <a:rPr lang="vi-VN" b="1"/>
              <a:t>Bắt đầu Intermission (3 bit recessive)</a:t>
            </a:r>
            <a:r>
              <a:rPr lang="vi-VN"/>
              <a:t>:</a:t>
            </a:r>
          </a:p>
          <a:p>
            <a:pPr marL="742950" lvl="1" indent="-285750">
              <a:buFont typeface="+mj-lt"/>
              <a:buAutoNum type="arabicPeriod"/>
            </a:pPr>
            <a:r>
              <a:rPr lang="vi-VN"/>
              <a:t>Đây là khoảng thời gian nghỉ bắt buộc giữa các frame (IFS = Interframe Space).</a:t>
            </a:r>
          </a:p>
          <a:p>
            <a:pPr marL="742950" lvl="1" indent="-285750">
              <a:buFont typeface="+mj-lt"/>
              <a:buAutoNum type="arabicPeriod"/>
            </a:pPr>
            <a:r>
              <a:rPr lang="vi-VN" b="1"/>
              <a:t>Node A</a:t>
            </a:r>
            <a:r>
              <a:rPr lang="vi-VN"/>
              <a:t> phát hiện mình </a:t>
            </a:r>
            <a:r>
              <a:rPr lang="vi-VN" b="1"/>
              <a:t>chưa sẵn sàng</a:t>
            </a:r>
            <a:r>
              <a:rPr lang="vi-VN"/>
              <a:t> nhận message tiếp theo (buffer đầy hoặc đang bận xử lý nội bộ) → Node A truyền </a:t>
            </a:r>
            <a:r>
              <a:rPr lang="vi-VN" b="1"/>
              <a:t>Overload Flag</a:t>
            </a:r>
            <a:r>
              <a:rPr lang="vi-VN"/>
              <a:t> (6 bit Dominant) ngay từ bit đầu tiên của Intermission.</a:t>
            </a:r>
          </a:p>
          <a:p>
            <a:pPr marL="742950" lvl="1" indent="-285750">
              <a:buFont typeface="+mj-lt"/>
              <a:buAutoNum type="arabicPeriod"/>
            </a:pPr>
            <a:r>
              <a:rPr lang="vi-VN"/>
              <a:t>Vì bus là </a:t>
            </a:r>
            <a:r>
              <a:rPr lang="vi-VN" b="1"/>
              <a:t>wired-AND</a:t>
            </a:r>
            <a:r>
              <a:rPr lang="vi-VN"/>
              <a:t>, khi Node A kéo bus xuống Dominant (0), toàn bộ bus trở thành Dominant.</a:t>
            </a:r>
          </a:p>
          <a:p>
            <a:pPr>
              <a:buFont typeface="+mj-lt"/>
              <a:buAutoNum type="arabicPeriod"/>
            </a:pPr>
            <a:r>
              <a:rPr lang="vi-VN" b="1"/>
              <a:t>Node B và Node C phản ứng</a:t>
            </a:r>
            <a:r>
              <a:rPr lang="vi-VN"/>
              <a:t>:</a:t>
            </a:r>
          </a:p>
          <a:p>
            <a:pPr marL="742950" lvl="1" indent="-285750">
              <a:buFont typeface="+mj-lt"/>
              <a:buAutoNum type="arabicPeriod"/>
            </a:pPr>
            <a:r>
              <a:rPr lang="vi-VN"/>
              <a:t>Node B và Node C đang nghe bus. Chúng phát hiện </a:t>
            </a:r>
            <a:r>
              <a:rPr lang="vi-VN" b="1"/>
              <a:t>dominant bit xuất hiện ở bit 1 của Intermission</a:t>
            </a:r>
            <a:r>
              <a:rPr lang="vi-VN"/>
              <a:t> (điều này là bất thường vì Intermission phải là recessive).</a:t>
            </a:r>
          </a:p>
          <a:p>
            <a:pPr marL="742950" lvl="1" indent="-285750">
              <a:buFont typeface="+mj-lt"/>
              <a:buAutoNum type="arabicPeriod"/>
            </a:pPr>
            <a:r>
              <a:rPr lang="vi-VN"/>
              <a:t>→ Node B và Node C </a:t>
            </a:r>
            <a:r>
              <a:rPr lang="vi-VN" b="1"/>
              <a:t>cũng truyền Overload Flag</a:t>
            </a:r>
            <a:r>
              <a:rPr lang="vi-VN"/>
              <a:t> (6 bit Dominant) để hỗ trợ.</a:t>
            </a:r>
          </a:p>
          <a:p>
            <a:pPr marL="742950" lvl="1" indent="-285750">
              <a:buFont typeface="+mj-lt"/>
              <a:buAutoNum type="arabicPeriod"/>
            </a:pPr>
            <a:r>
              <a:rPr lang="vi-VN"/>
              <a:t>Kết quả: Bus bị giữ ở mức Dominant trong một khoảng thời gian (do nhiều node chồng Overload Flag lên nhau).</a:t>
            </a:r>
          </a:p>
          <a:p>
            <a:pPr>
              <a:buFont typeface="+mj-lt"/>
              <a:buAutoNum type="arabicPeriod"/>
            </a:pPr>
            <a:r>
              <a:rPr lang="vi-VN" b="1"/>
              <a:t>Phần Overload Delimiter (8 bit recessive)</a:t>
            </a:r>
            <a:r>
              <a:rPr lang="vi-VN"/>
              <a:t>:</a:t>
            </a:r>
          </a:p>
          <a:p>
            <a:pPr marL="742950" lvl="1" indent="-285750">
              <a:buFont typeface="+mj-lt"/>
              <a:buAutoNum type="arabicPeriod"/>
            </a:pPr>
            <a:r>
              <a:rPr lang="vi-VN"/>
              <a:t>Node A bắt đầu truyền bit recessive đầu tiên của </a:t>
            </a:r>
            <a:r>
              <a:rPr lang="vi-VN" b="1"/>
              <a:t>Overload Delimiter</a:t>
            </a:r>
            <a:r>
              <a:rPr lang="vi-VN"/>
              <a:t>.</a:t>
            </a:r>
          </a:p>
          <a:p>
            <a:pPr marL="742950" lvl="1" indent="-285750">
              <a:buFont typeface="+mj-lt"/>
              <a:buAutoNum type="arabicPeriod"/>
            </a:pPr>
            <a:r>
              <a:rPr lang="vi-VN"/>
              <a:t>Lúc đầu bus vẫn còn </a:t>
            </a:r>
            <a:r>
              <a:rPr lang="vi-VN" b="1"/>
              <a:t>Dominant</a:t>
            </a:r>
            <a:r>
              <a:rPr lang="vi-VN"/>
              <a:t> (vì Node B và C vẫn đang truyền Overload Flag).</a:t>
            </a:r>
          </a:p>
          <a:p>
            <a:pPr marL="742950" lvl="1" indent="-285750">
              <a:buFont typeface="+mj-lt"/>
              <a:buAutoNum type="arabicPeriod"/>
            </a:pPr>
            <a:r>
              <a:rPr lang="vi-VN"/>
              <a:t>Sau khi tất cả node hoàn thành Overload Flag, bus trở về </a:t>
            </a:r>
            <a:r>
              <a:rPr lang="vi-VN" b="1"/>
              <a:t>Recessive</a:t>
            </a:r>
            <a:r>
              <a:rPr lang="vi-VN"/>
              <a:t>.</a:t>
            </a:r>
          </a:p>
          <a:p>
            <a:pPr marL="742950" lvl="1" indent="-285750">
              <a:buFont typeface="+mj-lt"/>
              <a:buAutoNum type="arabicPeriod"/>
            </a:pPr>
            <a:r>
              <a:rPr lang="vi-VN"/>
              <a:t>Từ đây, tất cả các node (A, B, C) cùng truyền </a:t>
            </a:r>
            <a:r>
              <a:rPr lang="vi-VN" b="1"/>
              <a:t>7 bit recessive</a:t>
            </a:r>
            <a:r>
              <a:rPr lang="vi-VN"/>
              <a:t> còn lại của Delimiter.</a:t>
            </a:r>
          </a:p>
          <a:p>
            <a:pPr marL="742950" lvl="1" indent="-285750">
              <a:buFont typeface="+mj-lt"/>
              <a:buAutoNum type="arabicPeriod"/>
            </a:pPr>
            <a:r>
              <a:rPr lang="vi-VN"/>
              <a:t>Kết thúc Overload Frame.</a:t>
            </a:r>
          </a:p>
          <a:p>
            <a:pPr>
              <a:buFont typeface="+mj-lt"/>
              <a:buAutoNum type="arabicPeriod"/>
            </a:pPr>
            <a:r>
              <a:rPr lang="vi-VN" b="1"/>
              <a:t>Kết thúc</a:t>
            </a:r>
            <a:r>
              <a:rPr lang="vi-VN"/>
              <a:t>:</a:t>
            </a:r>
          </a:p>
          <a:p>
            <a:pPr marL="742950" lvl="1" indent="-285750">
              <a:buFont typeface="+mj-lt"/>
              <a:buAutoNum type="arabicPeriod"/>
            </a:pPr>
            <a:r>
              <a:rPr lang="vi-VN"/>
              <a:t>Sau Overload Frame là một khoảng </a:t>
            </a:r>
            <a:r>
              <a:rPr lang="vi-VN" b="1"/>
              <a:t>Intermission</a:t>
            </a:r>
            <a:r>
              <a:rPr lang="vi-VN"/>
              <a:t> mới (hoặc có thể tiếp tục Overload Frame thứ 2 nếu vẫn chưa sẵn sàng).</a:t>
            </a:r>
          </a:p>
          <a:p>
            <a:pPr marL="742950" lvl="1" indent="-285750">
              <a:buFont typeface="+mj-lt"/>
              <a:buAutoNum type="arabicPeriod"/>
            </a:pPr>
            <a:r>
              <a:rPr lang="vi-VN"/>
              <a:t>Bus trở về trạng thái Idle, và các node có thêm thời gian để xử lý trước khi frame tiếp theo được truyền.</a:t>
            </a:r>
          </a:p>
          <a:p>
            <a:r>
              <a:rPr lang="vi-VN" b="1"/>
              <a:t>Ý nghĩa chính của hình này:</a:t>
            </a:r>
          </a:p>
          <a:p>
            <a:pPr>
              <a:buFont typeface="Arial" panose="020B0604020202020204" pitchFamily="34" charset="0"/>
              <a:buChar char="•"/>
            </a:pPr>
            <a:r>
              <a:rPr lang="vi-VN" b="1"/>
              <a:t>Minh họa cơ chế đa node phối hợp</a:t>
            </a:r>
            <a:r>
              <a:rPr lang="vi-VN"/>
              <a:t>: Không chỉ một node gửi Overload Frame, mà khi một node kéo bus Dominant trong Intermission, các node khác sẽ </a:t>
            </a:r>
            <a:r>
              <a:rPr lang="vi-VN" b="1"/>
              <a:t>phát hiện và cùng tham gia</a:t>
            </a:r>
            <a:r>
              <a:rPr lang="vi-VN"/>
              <a:t> truyền Overload Flag. Đây là đặc tính </a:t>
            </a:r>
            <a:r>
              <a:rPr lang="vi-VN" b="1"/>
              <a:t>broadcast</a:t>
            </a:r>
            <a:r>
              <a:rPr lang="vi-VN"/>
              <a:t> và </a:t>
            </a:r>
            <a:r>
              <a:rPr lang="vi-VN" b="1"/>
              <a:t>wired-AND</a:t>
            </a:r>
            <a:r>
              <a:rPr lang="vi-VN"/>
              <a:t> của CAN.</a:t>
            </a:r>
          </a:p>
          <a:p>
            <a:pPr>
              <a:buFont typeface="Arial" panose="020B0604020202020204" pitchFamily="34" charset="0"/>
              <a:buChar char="•"/>
            </a:pPr>
            <a:r>
              <a:rPr lang="vi-VN" b="1"/>
              <a:t>Overload Frame không phải lỗi</a:t>
            </a:r>
            <a:r>
              <a:rPr lang="vi-VN"/>
              <a:t>: Nó chỉ dùng để </a:t>
            </a:r>
            <a:r>
              <a:rPr lang="vi-VN" b="1"/>
              <a:t>xin thêm thời gian nghỉ</a:t>
            </a:r>
            <a:r>
              <a:rPr lang="vi-VN"/>
              <a:t> giữa các frame, không làm tăng TEC/REC (không ảnh hưởng error counter).</a:t>
            </a:r>
          </a:p>
          <a:p>
            <a:pPr>
              <a:buFont typeface="Arial" panose="020B0604020202020204" pitchFamily="34" charset="0"/>
              <a:buChar char="•"/>
            </a:pPr>
            <a:r>
              <a:rPr lang="vi-VN" b="1"/>
              <a:t>Thời điểm quan trọng</a:t>
            </a:r>
            <a:r>
              <a:rPr lang="vi-VN"/>
              <a:t>: Overload Frame </a:t>
            </a:r>
            <a:r>
              <a:rPr lang="vi-VN" b="1"/>
              <a:t>chỉ được phép bắt đầu trong 3 bit Intermission</a:t>
            </a:r>
            <a:r>
              <a:rPr lang="vi-VN"/>
              <a:t>. Nếu dominant bit xuất hiện ở bit 1 hoặc 2 của Intermission → coi là Overload condition.</a:t>
            </a:r>
          </a:p>
          <a:p>
            <a:pPr>
              <a:buFont typeface="Arial" panose="020B0604020202020204" pitchFamily="34" charset="0"/>
              <a:buChar char="•"/>
            </a:pPr>
            <a:r>
              <a:rPr lang="vi-VN" b="1"/>
              <a:t>Hiệu quả</a:t>
            </a:r>
            <a:r>
              <a:rPr lang="vi-VN"/>
              <a:t>: Toàn bộ mạng bị chèn thêm độ trễ → cho phép các node chậm hơn có thời gian chuẩn bị nhận message tiếp theo.</a:t>
            </a:r>
          </a:p>
          <a:p>
            <a:r>
              <a:rPr lang="vi-VN" b="1">
                <a:effectLst/>
              </a:rPr>
              <a:t>Tóm tắt dễ hiểu</a:t>
            </a:r>
            <a:r>
              <a:rPr lang="vi-VN">
                <a:effectLst/>
              </a:rPr>
              <a:t>: Hình này cho thấy tình huống </a:t>
            </a:r>
            <a:r>
              <a:rPr lang="vi-VN" b="1">
                <a:effectLst/>
              </a:rPr>
              <a:t>Node A cần nghỉ</a:t>
            </a:r>
            <a:r>
              <a:rPr lang="vi-VN">
                <a:effectLst/>
              </a:rPr>
              <a:t> → nó “hét” bằng Overload Flag trong giai đoạn nghỉ giữa frame. Node B và C nghe thấy và cùng “hét theo”. Sau đó cả ba node cùng kết thúc bằng 8 bit recessive (Delimiter). Kết quả là bus bị “tạm dừng” thêm một khoảng thời gian để mọi node kịp xử lý.</a:t>
            </a:r>
          </a:p>
        </p:txBody>
      </p:sp>
      <p:sp>
        <p:nvSpPr>
          <p:cNvPr id="4" name="Slide Number Placeholder 3"/>
          <p:cNvSpPr>
            <a:spLocks noGrp="1"/>
          </p:cNvSpPr>
          <p:nvPr>
            <p:ph type="sldNum" sz="quarter" idx="5"/>
          </p:nvPr>
        </p:nvSpPr>
        <p:spPr/>
        <p:txBody>
          <a:bodyPr/>
          <a:lstStyle/>
          <a:p>
            <a:fld id="{E80A4903-7EF3-44C4-B3A5-356E0A49B13F}" type="slidenum">
              <a:rPr lang="en-US" smtClean="0"/>
              <a:t>117</a:t>
            </a:fld>
            <a:endParaRPr lang="en-US"/>
          </a:p>
        </p:txBody>
      </p:sp>
    </p:spTree>
    <p:extLst>
      <p:ext uri="{BB962C8B-B14F-4D97-AF65-F5344CB8AC3E}">
        <p14:creationId xmlns:p14="http://schemas.microsoft.com/office/powerpoint/2010/main" val="4287888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D5FC5-FA2A-6875-7B87-A107954D14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23DBD4-FAD8-0FB4-CE0B-2201D01C44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64A80F-CC77-465D-460B-A6A494D89D9A}"/>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5" name="Footer Placeholder 4">
            <a:extLst>
              <a:ext uri="{FF2B5EF4-FFF2-40B4-BE49-F238E27FC236}">
                <a16:creationId xmlns:a16="http://schemas.microsoft.com/office/drawing/2014/main" id="{DC6C2A09-DF31-DB90-CC5F-90AD9578EC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6B1D8-C42C-A19C-9887-BC7ECC377736}"/>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689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479B5-6071-D3DA-900E-9E33D7C06F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107471-DAFD-3524-A12A-EFF3702A09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F1EFB7-9166-C976-F9FC-D5EFB156A94C}"/>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5" name="Footer Placeholder 4">
            <a:extLst>
              <a:ext uri="{FF2B5EF4-FFF2-40B4-BE49-F238E27FC236}">
                <a16:creationId xmlns:a16="http://schemas.microsoft.com/office/drawing/2014/main" id="{C39E3831-6F98-0B50-73B6-7197F2A39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65E8E7-3404-4FC5-9D8C-BB985EC1479D}"/>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3849286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3A80-3A1A-73F4-A561-1AE0DE38C5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FB0C26-168C-A15D-9B7D-A21749F39D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3BAB10-0C7E-9881-D2E2-CE14A01495E1}"/>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5" name="Footer Placeholder 4">
            <a:extLst>
              <a:ext uri="{FF2B5EF4-FFF2-40B4-BE49-F238E27FC236}">
                <a16:creationId xmlns:a16="http://schemas.microsoft.com/office/drawing/2014/main" id="{CB185565-A067-17A8-94BD-5F833CAEE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2DECF-EECA-13DF-BB3B-1FA0F07A2DDD}"/>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3923215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E72F-1D9F-917C-642E-C2D9F2394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7D8017-D0A5-6F3B-6CEB-5F74549AED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25A3CE-3F03-F312-D7C1-BCAC3A00B7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3E83B3-EF25-4195-7376-FD131E3B1EBC}"/>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6" name="Footer Placeholder 5">
            <a:extLst>
              <a:ext uri="{FF2B5EF4-FFF2-40B4-BE49-F238E27FC236}">
                <a16:creationId xmlns:a16="http://schemas.microsoft.com/office/drawing/2014/main" id="{A5438F92-11DD-8826-FD6A-7164314CD4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B4248E-5E35-F936-C6DE-8ADBBE211334}"/>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576327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AE35A-E5B1-6E70-DAD4-CE3AADD97C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D54DA2-4E1F-48C2-815C-45C27ECFF8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E89141-278A-0203-6677-BB76B7953F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E11748-1DC2-E34B-8F35-5ECFE91AB3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33FED3-80C3-C739-D06B-93B3780F16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0588B-94AE-DF78-EBC9-090B0724D953}"/>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8" name="Footer Placeholder 7">
            <a:extLst>
              <a:ext uri="{FF2B5EF4-FFF2-40B4-BE49-F238E27FC236}">
                <a16:creationId xmlns:a16="http://schemas.microsoft.com/office/drawing/2014/main" id="{DB0E40BF-7A30-884B-0E1D-41E182F00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7A990C-868A-602A-5DBF-F0E9A9AA246B}"/>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69602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0A4EE-6504-8336-DEE2-C48BBB3F8A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E86FC6-DF33-6BF7-CA2E-900853FCA1A8}"/>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4" name="Footer Placeholder 3">
            <a:extLst>
              <a:ext uri="{FF2B5EF4-FFF2-40B4-BE49-F238E27FC236}">
                <a16:creationId xmlns:a16="http://schemas.microsoft.com/office/drawing/2014/main" id="{030C54EC-1A54-FE85-99BF-0F3A738FA7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23019E-5E44-0DA7-57EB-FB6D6ED61622}"/>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2992719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31617B-1838-15B7-AD70-636A2CC8B019}"/>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3" name="Footer Placeholder 2">
            <a:extLst>
              <a:ext uri="{FF2B5EF4-FFF2-40B4-BE49-F238E27FC236}">
                <a16:creationId xmlns:a16="http://schemas.microsoft.com/office/drawing/2014/main" id="{E88BCFBE-DAE3-F72A-AFED-C792B4F175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6F11A7-68C6-192E-E0F8-79361976F861}"/>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758504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C336C-F6D8-6330-5CA3-D25450153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E1052-6B7D-33F1-99C1-9D98BCC9C3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037245-A48A-5B25-EF1C-F136E1FBA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07DDDC-AE36-F065-C602-918D526841C2}"/>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6" name="Footer Placeholder 5">
            <a:extLst>
              <a:ext uri="{FF2B5EF4-FFF2-40B4-BE49-F238E27FC236}">
                <a16:creationId xmlns:a16="http://schemas.microsoft.com/office/drawing/2014/main" id="{708811AC-C145-108E-1FBF-1D5A435EC6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B18E0F-5979-EE83-9F37-1B87BF2D949F}"/>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3894319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EB67-CC07-9087-2CAB-692EEAC23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53C9B8-37C0-2872-84F2-7F476B9122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FAA2ED-F3A2-490F-63E2-44CCA3BE9E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4D93EC-CEA0-0021-5E31-34D039821AFB}"/>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6" name="Footer Placeholder 5">
            <a:extLst>
              <a:ext uri="{FF2B5EF4-FFF2-40B4-BE49-F238E27FC236}">
                <a16:creationId xmlns:a16="http://schemas.microsoft.com/office/drawing/2014/main" id="{FDBC948D-B635-B718-A3F6-F07478EDCF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02942F-9547-FF60-DA25-BEB1E398D564}"/>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3156225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05D17-AAAC-95A0-6424-4B4999A8C4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CEAD39-3389-0D4F-B7BB-2C27EBBBE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00F81E-B2B2-F950-2FFB-0DACB437DBA5}"/>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5" name="Footer Placeholder 4">
            <a:extLst>
              <a:ext uri="{FF2B5EF4-FFF2-40B4-BE49-F238E27FC236}">
                <a16:creationId xmlns:a16="http://schemas.microsoft.com/office/drawing/2014/main" id="{A4200FE8-3CE9-A968-89DD-5EC1FE7EAE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DA2CD-12A1-52A1-035B-A586A4963185}"/>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756504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80FDFE-2797-4B68-1ECE-F2FDBF7482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54D648-2CDD-AF1D-B030-A48C89BE41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ED5E05-F04E-BC38-DC14-859F262D6E6A}"/>
              </a:ext>
            </a:extLst>
          </p:cNvPr>
          <p:cNvSpPr>
            <a:spLocks noGrp="1"/>
          </p:cNvSpPr>
          <p:nvPr>
            <p:ph type="dt" sz="half" idx="10"/>
          </p:nvPr>
        </p:nvSpPr>
        <p:spPr/>
        <p:txBody>
          <a:bodyPr/>
          <a:lstStyle/>
          <a:p>
            <a:fld id="{F45A20FA-BBB2-4959-8210-E5348B2E48F7}" type="datetimeFigureOut">
              <a:rPr lang="en-US" smtClean="0"/>
              <a:t>5/24/2026</a:t>
            </a:fld>
            <a:endParaRPr lang="en-US"/>
          </a:p>
        </p:txBody>
      </p:sp>
      <p:sp>
        <p:nvSpPr>
          <p:cNvPr id="5" name="Footer Placeholder 4">
            <a:extLst>
              <a:ext uri="{FF2B5EF4-FFF2-40B4-BE49-F238E27FC236}">
                <a16:creationId xmlns:a16="http://schemas.microsoft.com/office/drawing/2014/main" id="{142D2A3F-BBF9-4413-0214-9C82E91493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186164-DF86-8569-78DF-BE5DE2649F3B}"/>
              </a:ext>
            </a:extLst>
          </p:cNvPr>
          <p:cNvSpPr>
            <a:spLocks noGrp="1"/>
          </p:cNvSpPr>
          <p:nvPr>
            <p:ph type="sldNum" sz="quarter" idx="12"/>
          </p:nvPr>
        </p:nvSpPr>
        <p:spPr/>
        <p:txBody>
          <a:bodyPr/>
          <a:lstStyle/>
          <a:p>
            <a:fld id="{9D22FDB3-BA8E-40F5-AD73-2478ADF01521}" type="slidenum">
              <a:rPr lang="en-US" smtClean="0"/>
              <a:t>‹#›</a:t>
            </a:fld>
            <a:endParaRPr lang="en-US"/>
          </a:p>
        </p:txBody>
      </p:sp>
    </p:spTree>
    <p:extLst>
      <p:ext uri="{BB962C8B-B14F-4D97-AF65-F5344CB8AC3E}">
        <p14:creationId xmlns:p14="http://schemas.microsoft.com/office/powerpoint/2010/main" val="1552558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27" name="Picture Placeholder 7"/>
          <p:cNvSpPr>
            <a:spLocks noGrp="1"/>
          </p:cNvSpPr>
          <p:nvPr>
            <p:ph type="pic" sz="quarter" idx="10" hasCustomPrompt="1"/>
          </p:nvPr>
        </p:nvSpPr>
        <p:spPr>
          <a:xfrm>
            <a:off x="0" y="0"/>
            <a:ext cx="12192000" cy="6858000"/>
          </a:xfrm>
          <a:prstGeom prst="rect">
            <a:avLst/>
          </a:prstGeom>
          <a:solidFill>
            <a:schemeClr val="tx2">
              <a:lumMod val="10000"/>
              <a:lumOff val="90000"/>
            </a:schemeClr>
          </a:solidFill>
          <a:ln w="19050">
            <a:noFill/>
          </a:ln>
        </p:spPr>
        <p:txBody>
          <a:bodyPr lIns="0" tIns="91440" rIns="0" bIns="1463040" anchor="b"/>
          <a:lstStyle>
            <a:lvl1pPr algn="ctr" rtl="0">
              <a:buNone/>
              <a:defRPr sz="1867">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2592949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26C942-0D59-3EAA-F1E6-425F47D5A3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845220-2112-6F1E-678F-5FA7BA4219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C1373E-7359-69E3-DA6A-2512326A4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5A20FA-BBB2-4959-8210-E5348B2E48F7}" type="datetimeFigureOut">
              <a:rPr lang="en-US" smtClean="0"/>
              <a:t>5/24/2026</a:t>
            </a:fld>
            <a:endParaRPr lang="en-US"/>
          </a:p>
        </p:txBody>
      </p:sp>
      <p:sp>
        <p:nvSpPr>
          <p:cNvPr id="5" name="Footer Placeholder 4">
            <a:extLst>
              <a:ext uri="{FF2B5EF4-FFF2-40B4-BE49-F238E27FC236}">
                <a16:creationId xmlns:a16="http://schemas.microsoft.com/office/drawing/2014/main" id="{A10305C4-F28F-8C9F-9C21-A15BE08FCC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B196D92-D324-5826-A616-2837FDB899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22FDB3-BA8E-40F5-AD73-2478ADF01521}" type="slidenum">
              <a:rPr lang="en-US" smtClean="0"/>
              <a:t>‹#›</a:t>
            </a:fld>
            <a:endParaRPr lang="en-US"/>
          </a:p>
        </p:txBody>
      </p:sp>
    </p:spTree>
    <p:extLst>
      <p:ext uri="{BB962C8B-B14F-4D97-AF65-F5344CB8AC3E}">
        <p14:creationId xmlns:p14="http://schemas.microsoft.com/office/powerpoint/2010/main" val="479304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1.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2.jpe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3.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5.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0.png"/><Relationship Id="rId7" Type="http://schemas.openxmlformats.org/officeDocument/2006/relationships/image" Target="../media/image17.emf"/><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package" Target="../embeddings/Microsoft_Excel_Worksheet.xlsx"/><Relationship Id="rId5" Type="http://schemas.openxmlformats.org/officeDocument/2006/relationships/image" Target="../media/image16.png"/><Relationship Id="rId4" Type="http://schemas.microsoft.com/office/2007/relationships/hdphoto" Target="../media/hdphoto1.wdp"/><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6.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0.png"/><Relationship Id="rId7" Type="http://schemas.openxmlformats.org/officeDocument/2006/relationships/image" Target="../media/image17.emf"/><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package" Target="../embeddings/Microsoft_Excel_Worksheet1.xlsx"/><Relationship Id="rId5" Type="http://schemas.openxmlformats.org/officeDocument/2006/relationships/image" Target="../media/image16.png"/><Relationship Id="rId4" Type="http://schemas.microsoft.com/office/2007/relationships/hdphoto" Target="../media/hdphoto1.wdp"/><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1.png"/><Relationship Id="rId2" Type="http://schemas.openxmlformats.org/officeDocument/2006/relationships/video" Target="../media/media1.mp4"/><Relationship Id="rId1" Type="http://schemas.microsoft.com/office/2007/relationships/media" Target="../media/media1.mp4"/><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2.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2.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2.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22.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24.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4.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4.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4.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4.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24.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5.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26.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30.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31.pn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6.png"/><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37.pn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38.png"/><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2.xml"/><Relationship Id="rId5" Type="http://schemas.openxmlformats.org/officeDocument/2006/relationships/image" Target="../media/image40.png"/><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1.wdp"/></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41.png"/><Relationship Id="rId4" Type="http://schemas.microsoft.com/office/2007/relationships/hdphoto" Target="../media/hdphoto1.wdp"/></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1.wdp"/></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32.png"/><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12.xml"/><Relationship Id="rId5" Type="http://schemas.openxmlformats.org/officeDocument/2006/relationships/image" Target="../media/image42.png"/><Relationship Id="rId4" Type="http://schemas.microsoft.com/office/2007/relationships/hdphoto" Target="../media/hdphoto1.wdp"/></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3.png"/><Relationship Id="rId4" Type="http://schemas.microsoft.com/office/2007/relationships/hdphoto" Target="../media/hdphoto1.wdp"/></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12.xml"/><Relationship Id="rId5" Type="http://schemas.openxmlformats.org/officeDocument/2006/relationships/image" Target="../media/image33.png"/><Relationship Id="rId4" Type="http://schemas.microsoft.com/office/2007/relationships/hdphoto" Target="../media/hdphoto1.wdp"/></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12.xml"/><Relationship Id="rId5" Type="http://schemas.openxmlformats.org/officeDocument/2006/relationships/image" Target="../media/image44.png"/><Relationship Id="rId4" Type="http://schemas.microsoft.com/office/2007/relationships/hdphoto" Target="../media/hdphoto1.wdp"/></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microsoft.com/office/2007/relationships/hdphoto" Target="../media/hdphoto1.wdp"/></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7.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png"/><Relationship Id="rId4" Type="http://schemas.microsoft.com/office/2007/relationships/hdphoto" Target="../media/hdphoto1.wdp"/></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microsoft.com/office/2007/relationships/hdphoto" Target="../media/hdphoto1.wdp"/></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12.xml"/><Relationship Id="rId6" Type="http://schemas.openxmlformats.org/officeDocument/2006/relationships/image" Target="../media/image49.jpeg"/><Relationship Id="rId5" Type="http://schemas.openxmlformats.org/officeDocument/2006/relationships/image" Target="../media/image48.png"/><Relationship Id="rId4" Type="http://schemas.microsoft.com/office/2007/relationships/hdphoto" Target="../media/hdphoto1.wdp"/></Relationships>
</file>

<file path=ppt/slides/_rels/slide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microsoft.com/office/2007/relationships/hdphoto" Target="../media/hdphoto1.wdp"/></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12.xml"/><Relationship Id="rId5" Type="http://schemas.openxmlformats.org/officeDocument/2006/relationships/image" Target="../media/image50.png"/><Relationship Id="rId4" Type="http://schemas.microsoft.com/office/2007/relationships/hdphoto" Target="../media/hdphoto1.wdp"/></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12.xml"/><Relationship Id="rId5" Type="http://schemas.openxmlformats.org/officeDocument/2006/relationships/image" Target="../media/image51.png"/><Relationship Id="rId4" Type="http://schemas.microsoft.com/office/2007/relationships/hdphoto" Target="../media/hdphoto1.wdp"/></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12.xml"/><Relationship Id="rId5" Type="http://schemas.openxmlformats.org/officeDocument/2006/relationships/image" Target="../media/image52.png"/><Relationship Id="rId4" Type="http://schemas.microsoft.com/office/2007/relationships/hdphoto" Target="../media/hdphoto1.wdp"/></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12.xml"/><Relationship Id="rId5" Type="http://schemas.openxmlformats.org/officeDocument/2006/relationships/image" Target="../media/image53.png"/><Relationship Id="rId4" Type="http://schemas.microsoft.com/office/2007/relationships/hdphoto" Target="../media/hdphoto1.wdp"/></Relationships>
</file>

<file path=ppt/slides/_rels/slide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12.xml"/><Relationship Id="rId5" Type="http://schemas.openxmlformats.org/officeDocument/2006/relationships/image" Target="../media/image54.png"/><Relationship Id="rId4" Type="http://schemas.microsoft.com/office/2007/relationships/hdphoto" Target="../media/hdphoto1.wdp"/></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12.xml"/><Relationship Id="rId5" Type="http://schemas.openxmlformats.org/officeDocument/2006/relationships/image" Target="../media/image54.png"/><Relationship Id="rId4" Type="http://schemas.microsoft.com/office/2007/relationships/hdphoto" Target="../media/hdphoto1.wdp"/></Relationships>
</file>

<file path=ppt/slides/_rels/slide6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0.png"/><Relationship Id="rId7" Type="http://schemas.openxmlformats.org/officeDocument/2006/relationships/image" Target="../media/image57.png"/><Relationship Id="rId2" Type="http://schemas.openxmlformats.org/officeDocument/2006/relationships/notesSlide" Target="../notesSlides/notesSlide59.xml"/><Relationship Id="rId1" Type="http://schemas.openxmlformats.org/officeDocument/2006/relationships/slideLayout" Target="../slideLayouts/slideLayout12.xml"/><Relationship Id="rId6" Type="http://schemas.openxmlformats.org/officeDocument/2006/relationships/image" Target="../media/image56.jpeg"/><Relationship Id="rId5" Type="http://schemas.openxmlformats.org/officeDocument/2006/relationships/image" Target="../media/image55.png"/><Relationship Id="rId4" Type="http://schemas.microsoft.com/office/2007/relationships/hdphoto" Target="../media/hdphoto1.wdp"/><Relationship Id="rId9" Type="http://schemas.openxmlformats.org/officeDocument/2006/relationships/image" Target="../media/image59.png"/></Relationships>
</file>

<file path=ppt/slides/_rels/slide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microsoft.com/office/2007/relationships/hdphoto" Target="../media/hdphoto1.wdp"/></Relationships>
</file>

<file path=ppt/slides/_rels/slide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5.xml"/><Relationship Id="rId1" Type="http://schemas.openxmlformats.org/officeDocument/2006/relationships/slideLayout" Target="../slideLayouts/slideLayout12.xml"/><Relationship Id="rId5" Type="http://schemas.openxmlformats.org/officeDocument/2006/relationships/image" Target="../media/image55.png"/><Relationship Id="rId4" Type="http://schemas.microsoft.com/office/2007/relationships/hdphoto" Target="../media/hdphoto1.wdp"/></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8.xml"/><Relationship Id="rId1" Type="http://schemas.openxmlformats.org/officeDocument/2006/relationships/slideLayout" Target="../slideLayouts/slideLayout12.xml"/><Relationship Id="rId5" Type="http://schemas.openxmlformats.org/officeDocument/2006/relationships/image" Target="../media/image60.jpeg"/><Relationship Id="rId4" Type="http://schemas.microsoft.com/office/2007/relationships/hdphoto" Target="../media/hdphoto1.wdp"/></Relationships>
</file>

<file path=ppt/slides/_rels/slide7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0.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2.xml"/><Relationship Id="rId1" Type="http://schemas.openxmlformats.org/officeDocument/2006/relationships/slideLayout" Target="../slideLayouts/slideLayout12.xml"/><Relationship Id="rId5" Type="http://schemas.openxmlformats.org/officeDocument/2006/relationships/image" Target="../media/image61.png"/><Relationship Id="rId4" Type="http://schemas.microsoft.com/office/2007/relationships/hdphoto" Target="../media/hdphoto1.wdp"/></Relationships>
</file>

<file path=ppt/slides/_rels/slide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3.xml"/><Relationship Id="rId1" Type="http://schemas.openxmlformats.org/officeDocument/2006/relationships/slideLayout" Target="../slideLayouts/slideLayout12.xml"/><Relationship Id="rId5" Type="http://schemas.openxmlformats.org/officeDocument/2006/relationships/image" Target="../media/image62.png"/><Relationship Id="rId4" Type="http://schemas.microsoft.com/office/2007/relationships/hdphoto" Target="../media/hdphoto1.wdp"/></Relationships>
</file>

<file path=ppt/slides/_rels/slide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4.xml"/><Relationship Id="rId1" Type="http://schemas.openxmlformats.org/officeDocument/2006/relationships/slideLayout" Target="../slideLayouts/slideLayout12.xml"/><Relationship Id="rId5" Type="http://schemas.openxmlformats.org/officeDocument/2006/relationships/image" Target="../media/image61.png"/><Relationship Id="rId4" Type="http://schemas.microsoft.com/office/2007/relationships/hdphoto" Target="../media/hdphoto1.wdp"/></Relationships>
</file>

<file path=ppt/slides/_rels/slide8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5.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8.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9.xml"/><Relationship Id="rId1" Type="http://schemas.openxmlformats.org/officeDocument/2006/relationships/slideLayout" Target="../slideLayouts/slideLayout12.xml"/><Relationship Id="rId5" Type="http://schemas.openxmlformats.org/officeDocument/2006/relationships/image" Target="../media/image63.png"/><Relationship Id="rId4" Type="http://schemas.microsoft.com/office/2007/relationships/hdphoto" Target="../media/hdphoto1.wdp"/></Relationships>
</file>

<file path=ppt/slides/_rels/slide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0.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2.xml"/><Relationship Id="rId1" Type="http://schemas.openxmlformats.org/officeDocument/2006/relationships/slideLayout" Target="../slideLayouts/slideLayout12.xml"/><Relationship Id="rId5" Type="http://schemas.openxmlformats.org/officeDocument/2006/relationships/image" Target="../media/image64.png"/><Relationship Id="rId4" Type="http://schemas.microsoft.com/office/2007/relationships/hdphoto" Target="../media/hdphoto1.wdp"/></Relationships>
</file>

<file path=ppt/slides/_rels/slide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3.xml"/><Relationship Id="rId1" Type="http://schemas.openxmlformats.org/officeDocument/2006/relationships/slideLayout" Target="../slideLayouts/slideLayout12.xml"/><Relationship Id="rId5" Type="http://schemas.openxmlformats.org/officeDocument/2006/relationships/image" Target="../media/image65.jpeg"/><Relationship Id="rId4" Type="http://schemas.microsoft.com/office/2007/relationships/hdphoto" Target="../media/hdphoto1.wdp"/></Relationships>
</file>

<file path=ppt/slides/_rels/slide9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4.xml"/><Relationship Id="rId1" Type="http://schemas.openxmlformats.org/officeDocument/2006/relationships/slideLayout" Target="../slideLayouts/slideLayout12.xml"/><Relationship Id="rId5" Type="http://schemas.openxmlformats.org/officeDocument/2006/relationships/image" Target="../media/image66.png"/><Relationship Id="rId4" Type="http://schemas.microsoft.com/office/2007/relationships/hdphoto" Target="../media/hdphoto1.wdp"/></Relationships>
</file>

<file path=ppt/slides/_rels/slide9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5.xml"/><Relationship Id="rId1" Type="http://schemas.openxmlformats.org/officeDocument/2006/relationships/slideLayout" Target="../slideLayouts/slideLayout12.xml"/><Relationship Id="rId5" Type="http://schemas.openxmlformats.org/officeDocument/2006/relationships/image" Target="../media/image67.png"/><Relationship Id="rId4" Type="http://schemas.microsoft.com/office/2007/relationships/hdphoto" Target="../media/hdphoto1.wdp"/></Relationships>
</file>

<file path=ppt/slides/_rels/slide9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9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7.xml"/><Relationship Id="rId1" Type="http://schemas.openxmlformats.org/officeDocument/2006/relationships/slideLayout" Target="../slideLayouts/slideLayout12.xml"/><Relationship Id="rId5" Type="http://schemas.openxmlformats.org/officeDocument/2006/relationships/image" Target="../media/image63.png"/><Relationship Id="rId4" Type="http://schemas.microsoft.com/office/2007/relationships/hdphoto" Target="../media/hdphoto1.wdp"/></Relationships>
</file>

<file path=ppt/slides/_rels/slide9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8.xml"/><Relationship Id="rId1" Type="http://schemas.openxmlformats.org/officeDocument/2006/relationships/slideLayout" Target="../slideLayouts/slideLayout12.xml"/><Relationship Id="rId5" Type="http://schemas.openxmlformats.org/officeDocument/2006/relationships/image" Target="../media/image68.png"/><Relationship Id="rId4" Type="http://schemas.microsoft.com/office/2007/relationships/hdphoto" Target="../media/hdphoto1.wdp"/></Relationships>
</file>

<file path=ppt/slides/_rels/slide9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9.xml"/><Relationship Id="rId1"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69.png"/><Relationship Id="rId4" Type="http://schemas.microsoft.com/office/2007/relationships/hdphoto" Target="../media/hdphoto1.wdp"/></Relationships>
</file>

<file path=ppt/slides/_rels/slide9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0.xml"/><Relationship Id="rId1" Type="http://schemas.openxmlformats.org/officeDocument/2006/relationships/slideLayout" Target="../slideLayouts/slideLayout12.xml"/><Relationship Id="rId6" Type="http://schemas.openxmlformats.org/officeDocument/2006/relationships/image" Target="../media/image72.png"/><Relationship Id="rId5" Type="http://schemas.openxmlformats.org/officeDocument/2006/relationships/image" Target="../media/image71.png"/><Relationship Id="rId4" Type="http://schemas.microsoft.com/office/2007/relationships/hdphoto" Target="../media/hdphoto1.wdp"/></Relationships>
</file>

<file path=ppt/slides/_rels/slide9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1.xml"/><Relationship Id="rId1" Type="http://schemas.openxmlformats.org/officeDocument/2006/relationships/slideLayout" Target="../slideLayouts/slideLayout12.xml"/><Relationship Id="rId6" Type="http://schemas.openxmlformats.org/officeDocument/2006/relationships/image" Target="../media/image72.png"/><Relationship Id="rId5" Type="http://schemas.openxmlformats.org/officeDocument/2006/relationships/image" Target="../media/image71.png"/><Relationship Id="rId4" Type="http://schemas.microsoft.com/office/2007/relationships/hdphoto" Target="../media/hdphoto1.wdp"/></Relationships>
</file>

<file path=ppt/slides/_rels/slide10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2.xml"/><Relationship Id="rId1" Type="http://schemas.openxmlformats.org/officeDocument/2006/relationships/slideLayout" Target="../slideLayouts/slideLayout12.xml"/><Relationship Id="rId6" Type="http://schemas.openxmlformats.org/officeDocument/2006/relationships/image" Target="../media/image74.png"/><Relationship Id="rId5" Type="http://schemas.openxmlformats.org/officeDocument/2006/relationships/image" Target="../media/image73.png"/><Relationship Id="rId4" Type="http://schemas.microsoft.com/office/2007/relationships/hdphoto" Target="../media/hdphoto1.wdp"/></Relationships>
</file>

<file path=ppt/slides/_rels/slide10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3.xml"/><Relationship Id="rId1" Type="http://schemas.openxmlformats.org/officeDocument/2006/relationships/slideLayout" Target="../slideLayouts/slideLayout12.xml"/><Relationship Id="rId6" Type="http://schemas.openxmlformats.org/officeDocument/2006/relationships/image" Target="../media/image76.png"/><Relationship Id="rId5" Type="http://schemas.openxmlformats.org/officeDocument/2006/relationships/image" Target="../media/image75.png"/><Relationship Id="rId4" Type="http://schemas.microsoft.com/office/2007/relationships/hdphoto" Target="../media/hdphoto1.wdp"/></Relationships>
</file>

<file path=ppt/slides/_rels/slide10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4.xml"/><Relationship Id="rId1" Type="http://schemas.openxmlformats.org/officeDocument/2006/relationships/slideLayout" Target="../slideLayouts/slideLayout12.xml"/><Relationship Id="rId6" Type="http://schemas.openxmlformats.org/officeDocument/2006/relationships/image" Target="../media/image78.png"/><Relationship Id="rId5" Type="http://schemas.openxmlformats.org/officeDocument/2006/relationships/image" Target="../media/image77.png"/><Relationship Id="rId4" Type="http://schemas.microsoft.com/office/2007/relationships/hdphoto" Target="../media/hdphoto1.wdp"/></Relationships>
</file>

<file path=ppt/slides/_rels/slide10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5.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0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0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0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8.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0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9.xml"/><Relationship Id="rId1" Type="http://schemas.openxmlformats.org/officeDocument/2006/relationships/slideLayout" Target="../slideLayouts/slideLayout12.xml"/><Relationship Id="rId5" Type="http://schemas.openxmlformats.org/officeDocument/2006/relationships/image" Target="../media/image79.png"/><Relationship Id="rId4" Type="http://schemas.microsoft.com/office/2007/relationships/hdphoto" Target="../media/hdphoto1.wdp"/></Relationships>
</file>

<file path=ppt/slides/_rels/slide10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0.xml"/><Relationship Id="rId1" Type="http://schemas.openxmlformats.org/officeDocument/2006/relationships/slideLayout" Target="../slideLayouts/slideLayout12.xml"/><Relationship Id="rId5" Type="http://schemas.openxmlformats.org/officeDocument/2006/relationships/image" Target="../media/image79.png"/><Relationship Id="rId4" Type="http://schemas.microsoft.com/office/2007/relationships/hdphoto" Target="../media/hdphoto1.wdp"/></Relationships>
</file>

<file path=ppt/slides/_rels/slide10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1.xml"/><Relationship Id="rId1" Type="http://schemas.openxmlformats.org/officeDocument/2006/relationships/slideLayout" Target="../slideLayouts/slideLayout12.xml"/><Relationship Id="rId5" Type="http://schemas.openxmlformats.org/officeDocument/2006/relationships/image" Target="../media/image79.png"/><Relationship Id="rId4" Type="http://schemas.microsoft.com/office/2007/relationships/hdphoto" Target="../media/hdphoto1.wdp"/></Relationships>
</file>

<file path=ppt/slides/_rels/slide1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2.xml"/><Relationship Id="rId1" Type="http://schemas.openxmlformats.org/officeDocument/2006/relationships/slideLayout" Target="../slideLayouts/slideLayout12.xml"/><Relationship Id="rId5" Type="http://schemas.openxmlformats.org/officeDocument/2006/relationships/image" Target="../media/image79.png"/><Relationship Id="rId4" Type="http://schemas.microsoft.com/office/2007/relationships/hdphoto" Target="../media/hdphoto1.wdp"/></Relationships>
</file>

<file path=ppt/slides/_rels/slide1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3.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5.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8.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9.xml"/><Relationship Id="rId1" Type="http://schemas.openxmlformats.org/officeDocument/2006/relationships/slideLayout" Target="../slideLayouts/slideLayout12.xml"/><Relationship Id="rId5" Type="http://schemas.openxmlformats.org/officeDocument/2006/relationships/image" Target="../media/image80.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0" y="-431552"/>
            <a:ext cx="12192000" cy="7888224"/>
          </a:xfrm>
        </p:spPr>
      </p:pic>
      <p:sp>
        <p:nvSpPr>
          <p:cNvPr id="9" name="Rectangle 8"/>
          <p:cNvSpPr/>
          <p:nvPr/>
        </p:nvSpPr>
        <p:spPr bwMode="auto">
          <a:xfrm>
            <a:off x="508000" y="1701800"/>
            <a:ext cx="6502400" cy="2217141"/>
          </a:xfrm>
          <a:prstGeom prst="rect">
            <a:avLst/>
          </a:prstGeom>
          <a:solidFill>
            <a:srgbClr val="3F4C55">
              <a:alpha val="70000"/>
            </a:srgbClr>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dirty="0"/>
          </a:p>
        </p:txBody>
      </p:sp>
      <p:sp>
        <p:nvSpPr>
          <p:cNvPr id="11" name="Footer Text"/>
          <p:cNvSpPr txBox="1"/>
          <p:nvPr/>
        </p:nvSpPr>
        <p:spPr>
          <a:xfrm>
            <a:off x="498229" y="1581262"/>
            <a:ext cx="6512171" cy="1559529"/>
          </a:xfrm>
          <a:prstGeom prst="rect">
            <a:avLst/>
          </a:prstGeom>
          <a:noFill/>
        </p:spPr>
        <p:txBody>
          <a:bodyPr wrap="square" lIns="121920" tIns="121920" rIns="121920" bIns="121920" rtlCol="0">
            <a:spAutoFit/>
          </a:bodyPr>
          <a:lstStyle/>
          <a:p>
            <a:pPr algn="ctr"/>
            <a:r>
              <a:rPr lang="en-US" sz="4267" b="1" dirty="0">
                <a:ln/>
                <a:solidFill>
                  <a:schemeClr val="tx1">
                    <a:lumMod val="10000"/>
                    <a:lumOff val="90000"/>
                  </a:schemeClr>
                </a:solidFill>
                <a:effectLst>
                  <a:outerShdw blurRad="38100" dist="19050" dir="2700000" algn="tl" rotWithShape="0">
                    <a:schemeClr val="dk1">
                      <a:lumMod val="50000"/>
                      <a:alpha val="40000"/>
                    </a:schemeClr>
                  </a:outerShdw>
                </a:effectLst>
              </a:rPr>
              <a:t>Controller Area Network </a:t>
            </a:r>
          </a:p>
          <a:p>
            <a:pPr algn="ctr"/>
            <a:r>
              <a:rPr lang="en-US" sz="4267" b="1" dirty="0">
                <a:ln/>
                <a:solidFill>
                  <a:schemeClr val="tx1">
                    <a:lumMod val="10000"/>
                    <a:lumOff val="90000"/>
                  </a:schemeClr>
                </a:solidFill>
                <a:effectLst>
                  <a:outerShdw blurRad="38100" dist="19050" dir="2700000" algn="tl" rotWithShape="0">
                    <a:schemeClr val="dk1">
                      <a:lumMod val="50000"/>
                      <a:alpha val="40000"/>
                    </a:schemeClr>
                  </a:outerShdw>
                </a:effectLst>
              </a:rPr>
              <a:t>(CAN bus)</a:t>
            </a:r>
          </a:p>
        </p:txBody>
      </p:sp>
      <p:sp>
        <p:nvSpPr>
          <p:cNvPr id="15" name="Footer Text"/>
          <p:cNvSpPr txBox="1"/>
          <p:nvPr/>
        </p:nvSpPr>
        <p:spPr>
          <a:xfrm>
            <a:off x="498229" y="3140663"/>
            <a:ext cx="6512171" cy="690123"/>
          </a:xfrm>
          <a:prstGeom prst="round2DiagRect">
            <a:avLst>
              <a:gd name="adj1" fmla="val 50000"/>
              <a:gd name="adj2" fmla="val 0"/>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lIns="121920" tIns="24384" rIns="121920" bIns="24384" rtlCol="0">
            <a:spAutoFit/>
          </a:bodyPr>
          <a:lstStyle/>
          <a:p>
            <a:pPr algn="ctr">
              <a:lnSpc>
                <a:spcPct val="150000"/>
              </a:lnSpc>
            </a:pPr>
            <a:r>
              <a:rPr lang="en-US" sz="2133" b="1">
                <a:solidFill>
                  <a:schemeClr val="bg1"/>
                </a:solidFill>
              </a:rPr>
              <a:t>CAN PROTOCOL</a:t>
            </a:r>
            <a:endParaRPr lang="en-US" sz="2133" dirty="0">
              <a:solidFill>
                <a:schemeClr val="bg1"/>
              </a:solidFill>
            </a:endParaRPr>
          </a:p>
        </p:txBody>
      </p:sp>
      <p:sp>
        <p:nvSpPr>
          <p:cNvPr id="2" name="TextBox 1"/>
          <p:cNvSpPr txBox="1"/>
          <p:nvPr/>
        </p:nvSpPr>
        <p:spPr>
          <a:xfrm>
            <a:off x="508001" y="3918941"/>
            <a:ext cx="1019831" cy="307777"/>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en-US" sz="1400">
                <a:solidFill>
                  <a:srgbClr val="30B9F8"/>
                </a:solidFill>
                <a:latin typeface="Century Gothic" panose="020B0502020202020204" pitchFamily="34" charset="0"/>
              </a:rPr>
              <a:t>HoangTM</a:t>
            </a:r>
            <a:endParaRPr lang="en-US" sz="1400" dirty="0">
              <a:solidFill>
                <a:srgbClr val="30B9F8"/>
              </a:solidFill>
              <a:latin typeface="Century Gothic" panose="020B0502020202020204" pitchFamily="34" charset="0"/>
            </a:endParaRPr>
          </a:p>
        </p:txBody>
      </p:sp>
    </p:spTree>
    <p:extLst>
      <p:ext uri="{BB962C8B-B14F-4D97-AF65-F5344CB8AC3E}">
        <p14:creationId xmlns:p14="http://schemas.microsoft.com/office/powerpoint/2010/main" val="1716822935"/>
      </p:ext>
    </p:extLst>
  </p:cSld>
  <p:clrMapOvr>
    <a:masterClrMapping/>
  </p:clrMapOvr>
  <mc:AlternateContent xmlns:mc="http://schemas.openxmlformats.org/markup-compatibility/2006" xmlns:p14="http://schemas.microsoft.com/office/powerpoint/2010/main">
    <mc:Choice Requires="p14">
      <p:transition spd="slow" p14:dur="900">
        <p14:flythrough dir="out" hasBounce="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80000" fill="hold" grpId="0" nodeType="withEffect">
                                  <p:stCondLst>
                                    <p:cond delay="0"/>
                                  </p:stCondLst>
                                  <p:iterate type="wd">
                                    <p:tmPct val="10000"/>
                                  </p:iterate>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800"/>
                            </p:stCondLst>
                            <p:childTnLst>
                              <p:par>
                                <p:cTn id="10" presetID="16" presetClass="entr" presetSubtype="37"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outVertic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990" y="0"/>
            <a:ext cx="12184020" cy="6858000"/>
          </a:xfrm>
        </p:spPr>
      </p:pic>
    </p:spTree>
    <p:extLst>
      <p:ext uri="{BB962C8B-B14F-4D97-AF65-F5344CB8AC3E}">
        <p14:creationId xmlns:p14="http://schemas.microsoft.com/office/powerpoint/2010/main" val="2306238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9FF9287-C568-635E-16EA-6237C4740C1B}"/>
              </a:ext>
            </a:extLst>
          </p:cNvPr>
          <p:cNvSpPr>
            <a:spLocks noGrp="1"/>
          </p:cNvSpPr>
          <p:nvPr>
            <p:ph type="pic" sz="quarter" idx="10"/>
          </p:nvPr>
        </p:nvSpPr>
        <p:spPr/>
      </p:sp>
      <p:pic>
        <p:nvPicPr>
          <p:cNvPr id="10" name="Picture 9">
            <a:extLst>
              <a:ext uri="{FF2B5EF4-FFF2-40B4-BE49-F238E27FC236}">
                <a16:creationId xmlns:a16="http://schemas.microsoft.com/office/drawing/2014/main" id="{254B6433-52C4-6500-EF73-3DC154C8B7E8}"/>
              </a:ext>
            </a:extLst>
          </p:cNvPr>
          <p:cNvPicPr>
            <a:picLocks noChangeAspect="1"/>
          </p:cNvPicPr>
          <p:nvPr/>
        </p:nvPicPr>
        <p:blipFill>
          <a:blip r:embed="rId2"/>
          <a:stretch>
            <a:fillRect/>
          </a:stretch>
        </p:blipFill>
        <p:spPr>
          <a:xfrm>
            <a:off x="0" y="330691"/>
            <a:ext cx="12192000" cy="6196617"/>
          </a:xfrm>
          <a:prstGeom prst="rect">
            <a:avLst/>
          </a:prstGeom>
        </p:spPr>
      </p:pic>
      <p:pic>
        <p:nvPicPr>
          <p:cNvPr id="12" name="Picture 11">
            <a:extLst>
              <a:ext uri="{FF2B5EF4-FFF2-40B4-BE49-F238E27FC236}">
                <a16:creationId xmlns:a16="http://schemas.microsoft.com/office/drawing/2014/main" id="{F3698F66-8234-C698-737B-562D8859C10E}"/>
              </a:ext>
            </a:extLst>
          </p:cNvPr>
          <p:cNvPicPr>
            <a:picLocks noChangeAspect="1"/>
          </p:cNvPicPr>
          <p:nvPr/>
        </p:nvPicPr>
        <p:blipFill>
          <a:blip r:embed="rId2"/>
          <a:stretch>
            <a:fillRect/>
          </a:stretch>
        </p:blipFill>
        <p:spPr>
          <a:xfrm>
            <a:off x="0" y="330691"/>
            <a:ext cx="12192000" cy="6196617"/>
          </a:xfrm>
          <a:prstGeom prst="rect">
            <a:avLst/>
          </a:prstGeom>
        </p:spPr>
      </p:pic>
    </p:spTree>
    <p:extLst>
      <p:ext uri="{BB962C8B-B14F-4D97-AF65-F5344CB8AC3E}">
        <p14:creationId xmlns:p14="http://schemas.microsoft.com/office/powerpoint/2010/main" val="3871749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9FF9287-C568-635E-16EA-6237C4740C1B}"/>
              </a:ext>
            </a:extLst>
          </p:cNvPr>
          <p:cNvSpPr>
            <a:spLocks noGrp="1"/>
          </p:cNvSpPr>
          <p:nvPr>
            <p:ph type="pic" sz="quarter" idx="10"/>
          </p:nvPr>
        </p:nvSpPr>
        <p:spPr/>
      </p:sp>
      <p:pic>
        <p:nvPicPr>
          <p:cNvPr id="8" name="Picture 7">
            <a:extLst>
              <a:ext uri="{FF2B5EF4-FFF2-40B4-BE49-F238E27FC236}">
                <a16:creationId xmlns:a16="http://schemas.microsoft.com/office/drawing/2014/main" id="{2B53C5E5-F3CF-2109-79C3-43C2F9C87DBC}"/>
              </a:ext>
            </a:extLst>
          </p:cNvPr>
          <p:cNvPicPr>
            <a:picLocks noChangeAspect="1"/>
          </p:cNvPicPr>
          <p:nvPr/>
        </p:nvPicPr>
        <p:blipFill>
          <a:blip r:embed="rId2"/>
          <a:stretch>
            <a:fillRect/>
          </a:stretch>
        </p:blipFill>
        <p:spPr>
          <a:xfrm>
            <a:off x="0" y="-117986"/>
            <a:ext cx="12192000" cy="6975986"/>
          </a:xfrm>
          <a:prstGeom prst="rect">
            <a:avLst/>
          </a:prstGeom>
        </p:spPr>
      </p:pic>
    </p:spTree>
    <p:extLst>
      <p:ext uri="{BB962C8B-B14F-4D97-AF65-F5344CB8AC3E}">
        <p14:creationId xmlns:p14="http://schemas.microsoft.com/office/powerpoint/2010/main" val="2333122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9FF9287-C568-635E-16EA-6237C4740C1B}"/>
              </a:ext>
            </a:extLst>
          </p:cNvPr>
          <p:cNvSpPr>
            <a:spLocks noGrp="1"/>
          </p:cNvSpPr>
          <p:nvPr>
            <p:ph type="pic" sz="quarter" idx="10"/>
          </p:nvPr>
        </p:nvSpPr>
        <p:spPr/>
      </p:sp>
      <p:pic>
        <p:nvPicPr>
          <p:cNvPr id="1026" name="Picture 2" descr="CÁC LOẠI MÁY BAY CHỞ HÀNG TRONG VẬN CHUYỂN ĐƯỜNG HÀNG KHÔNG - HML">
            <a:extLst>
              <a:ext uri="{FF2B5EF4-FFF2-40B4-BE49-F238E27FC236}">
                <a16:creationId xmlns:a16="http://schemas.microsoft.com/office/drawing/2014/main" id="{E00FF3B1-BC34-EA3A-97C9-FB191E49A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021" y="3552356"/>
            <a:ext cx="5734050" cy="33650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e điện Porsche Taycan chưa ra mắt đã có 20.000 đơn đặt hàng">
            <a:extLst>
              <a:ext uri="{FF2B5EF4-FFF2-40B4-BE49-F238E27FC236}">
                <a16:creationId xmlns:a16="http://schemas.microsoft.com/office/drawing/2014/main" id="{F2950F89-0BE7-A5CB-C1B0-7DF12BAECC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71" y="0"/>
            <a:ext cx="6426878" cy="355235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C97D218-A880-8C20-72C8-9600C1B0D727}"/>
              </a:ext>
            </a:extLst>
          </p:cNvPr>
          <p:cNvPicPr>
            <a:picLocks noChangeAspect="1"/>
          </p:cNvPicPr>
          <p:nvPr/>
        </p:nvPicPr>
        <p:blipFill>
          <a:blip r:embed="rId5"/>
          <a:stretch>
            <a:fillRect/>
          </a:stretch>
        </p:blipFill>
        <p:spPr>
          <a:xfrm>
            <a:off x="6489019" y="-59374"/>
            <a:ext cx="5702981" cy="2054533"/>
          </a:xfrm>
          <a:prstGeom prst="rect">
            <a:avLst/>
          </a:prstGeom>
        </p:spPr>
      </p:pic>
      <p:pic>
        <p:nvPicPr>
          <p:cNvPr id="5" name="Picture 4">
            <a:extLst>
              <a:ext uri="{FF2B5EF4-FFF2-40B4-BE49-F238E27FC236}">
                <a16:creationId xmlns:a16="http://schemas.microsoft.com/office/drawing/2014/main" id="{DD864269-6C5B-4C8B-8A5C-D7E14039956B}"/>
              </a:ext>
            </a:extLst>
          </p:cNvPr>
          <p:cNvPicPr>
            <a:picLocks noChangeAspect="1"/>
          </p:cNvPicPr>
          <p:nvPr/>
        </p:nvPicPr>
        <p:blipFill>
          <a:blip r:embed="rId6"/>
          <a:stretch>
            <a:fillRect/>
          </a:stretch>
        </p:blipFill>
        <p:spPr>
          <a:xfrm>
            <a:off x="6489021" y="1984215"/>
            <a:ext cx="5702980" cy="1564934"/>
          </a:xfrm>
          <a:prstGeom prst="rect">
            <a:avLst/>
          </a:prstGeom>
        </p:spPr>
      </p:pic>
      <p:pic>
        <p:nvPicPr>
          <p:cNvPr id="9" name="Picture 8">
            <a:extLst>
              <a:ext uri="{FF2B5EF4-FFF2-40B4-BE49-F238E27FC236}">
                <a16:creationId xmlns:a16="http://schemas.microsoft.com/office/drawing/2014/main" id="{97748B87-C496-9C58-7BCB-56B7D97E8CF7}"/>
              </a:ext>
            </a:extLst>
          </p:cNvPr>
          <p:cNvPicPr>
            <a:picLocks noChangeAspect="1"/>
          </p:cNvPicPr>
          <p:nvPr/>
        </p:nvPicPr>
        <p:blipFill>
          <a:blip r:embed="rId7"/>
          <a:stretch>
            <a:fillRect/>
          </a:stretch>
        </p:blipFill>
        <p:spPr>
          <a:xfrm>
            <a:off x="31071" y="3801421"/>
            <a:ext cx="6457950" cy="2609850"/>
          </a:xfrm>
          <a:prstGeom prst="rect">
            <a:avLst/>
          </a:prstGeom>
        </p:spPr>
      </p:pic>
    </p:spTree>
    <p:extLst>
      <p:ext uri="{BB962C8B-B14F-4D97-AF65-F5344CB8AC3E}">
        <p14:creationId xmlns:p14="http://schemas.microsoft.com/office/powerpoint/2010/main" val="351287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989647" cy="584775"/>
          </a:xfrm>
          <a:prstGeom prst="rect">
            <a:avLst/>
          </a:prstGeom>
          <a:noFill/>
        </p:spPr>
        <p:txBody>
          <a:bodyPr wrap="none" rtlCol="0">
            <a:spAutoFit/>
          </a:bodyPr>
          <a:lstStyle/>
          <a:p>
            <a:r>
              <a:rPr lang="en-US" sz="3200" b="1">
                <a:solidFill>
                  <a:schemeClr val="bg1"/>
                </a:solidFill>
              </a:rPr>
              <a:t>CAN là gì ?</a:t>
            </a:r>
            <a:endParaRPr lang="en-US" sz="3200" b="1" dirty="0">
              <a:solidFill>
                <a:schemeClr val="bg1"/>
              </a:solidFill>
            </a:endParaRPr>
          </a:p>
        </p:txBody>
      </p:sp>
      <p:sp>
        <p:nvSpPr>
          <p:cNvPr id="7" name="Rectangle 6"/>
          <p:cNvSpPr/>
          <p:nvPr/>
        </p:nvSpPr>
        <p:spPr>
          <a:xfrm>
            <a:off x="414527" y="1124396"/>
            <a:ext cx="11362943" cy="2246769"/>
          </a:xfrm>
          <a:prstGeom prst="rect">
            <a:avLst/>
          </a:prstGeom>
        </p:spPr>
        <p:txBody>
          <a:bodyPr wrap="square">
            <a:spAutoFit/>
          </a:bodyPr>
          <a:lstStyle/>
          <a:p>
            <a:r>
              <a:rPr lang="en-US" sz="1400">
                <a:solidFill>
                  <a:schemeClr val="bg1"/>
                </a:solidFill>
              </a:rPr>
              <a:t>	</a:t>
            </a:r>
            <a:r>
              <a:rPr lang="vi-VN" sz="1400">
                <a:solidFill>
                  <a:schemeClr val="bg1"/>
                </a:solidFill>
              </a:rPr>
              <a:t>Giao thức CAN (Controller Area Network) được Bosch phát triển cho các ứng dụng ô tô vào đầu thập niên 1980 và chính thức ra mắt vào năm 1986. Nó trở thành tiêu chuẩn ISO (ISO 11898) vào năm 1993 và được mở rộng vào năm 1995. CAN là giao thức nối tiếp, đa chủ (multimaster), đa điểm (multicast), cho phép bất kỳ nút mạng (node) nào cũng có thể gửi thông điệp khi bus rảnh, trong đó các thông điệp được ưu tiên thông qua quá trình phân xử (arbitration).</a:t>
            </a:r>
          </a:p>
          <a:p>
            <a:endParaRPr lang="vi-VN" sz="1400">
              <a:solidFill>
                <a:schemeClr val="bg1"/>
              </a:solidFill>
            </a:endParaRPr>
          </a:p>
          <a:p>
            <a:r>
              <a:rPr lang="en-US" sz="1400">
                <a:solidFill>
                  <a:schemeClr val="bg1"/>
                </a:solidFill>
              </a:rPr>
              <a:t>	</a:t>
            </a:r>
            <a:r>
              <a:rPr lang="vi-VN" sz="1400">
                <a:solidFill>
                  <a:schemeClr val="bg1"/>
                </a:solidFill>
              </a:rPr>
              <a:t>Mạng CAN thường sử dụng cáp xoắn đôi hai dây và có thể đạt tốc độ bit lên đến 1 Mbit/s ở khoảng cách ngắn (≤ 40 m). Các thông điệp có thể mang tới 8 byte dữ liệu và các mã định danh thông điệp (identifier) được sử dụng để xác định nội dung dữ liệu.</a:t>
            </a:r>
          </a:p>
          <a:p>
            <a:endParaRPr lang="vi-VN" sz="1400">
              <a:solidFill>
                <a:schemeClr val="bg1"/>
              </a:solidFill>
            </a:endParaRPr>
          </a:p>
          <a:p>
            <a:r>
              <a:rPr lang="en-US" sz="1400">
                <a:solidFill>
                  <a:schemeClr val="bg1"/>
                </a:solidFill>
              </a:rPr>
              <a:t>	</a:t>
            </a:r>
            <a:r>
              <a:rPr lang="vi-VN" sz="1400">
                <a:solidFill>
                  <a:schemeClr val="bg1"/>
                </a:solidFill>
              </a:rPr>
              <a:t>Đặc tả kỹ thuật CAN của Bosch đã trở thành tiêu chuẩn ISO (ISO 11898) vào năm 1993 (CAN 2.0A), và được mở rộng vào năm 1995 để cho phép các mã định danh thiết bị dài hơn (CAN 2.0B) và CAN FD.</a:t>
            </a:r>
            <a:endParaRPr lang="en-US" sz="1400" b="1" dirty="0">
              <a:solidFill>
                <a:schemeClr val="bg1"/>
              </a:solidFill>
            </a:endParaRPr>
          </a:p>
        </p:txBody>
      </p:sp>
      <p:sp>
        <p:nvSpPr>
          <p:cNvPr id="8" name="Rectangle 7"/>
          <p:cNvSpPr/>
          <p:nvPr/>
        </p:nvSpPr>
        <p:spPr>
          <a:xfrm>
            <a:off x="812800" y="6343331"/>
            <a:ext cx="10058400" cy="307777"/>
          </a:xfrm>
          <a:prstGeom prst="rect">
            <a:avLst/>
          </a:prstGeom>
        </p:spPr>
        <p:txBody>
          <a:bodyPr wrap="square">
            <a:spAutoFit/>
          </a:bodyPr>
          <a:lstStyle/>
          <a:p>
            <a:endParaRPr lang="en-US" sz="1400" dirty="0">
              <a:solidFill>
                <a:schemeClr val="bg1"/>
              </a:solidFill>
            </a:endParaRPr>
          </a:p>
        </p:txBody>
      </p:sp>
      <p:pic>
        <p:nvPicPr>
          <p:cNvPr id="9" name="Picture 8">
            <a:extLst>
              <a:ext uri="{FF2B5EF4-FFF2-40B4-BE49-F238E27FC236}">
                <a16:creationId xmlns:a16="http://schemas.microsoft.com/office/drawing/2014/main" id="{A8359A6B-3E79-7CF6-A036-1C12DC990234}"/>
              </a:ext>
            </a:extLst>
          </p:cNvPr>
          <p:cNvPicPr>
            <a:picLocks noChangeAspect="1"/>
          </p:cNvPicPr>
          <p:nvPr/>
        </p:nvPicPr>
        <p:blipFill>
          <a:blip r:embed="rId5"/>
          <a:stretch>
            <a:fillRect/>
          </a:stretch>
        </p:blipFill>
        <p:spPr>
          <a:xfrm>
            <a:off x="812800" y="3371165"/>
            <a:ext cx="10380453" cy="3421319"/>
          </a:xfrm>
          <a:prstGeom prst="rect">
            <a:avLst/>
          </a:prstGeom>
        </p:spPr>
      </p:pic>
    </p:spTree>
    <p:extLst>
      <p:ext uri="{BB962C8B-B14F-4D97-AF65-F5344CB8AC3E}">
        <p14:creationId xmlns:p14="http://schemas.microsoft.com/office/powerpoint/2010/main" val="4109480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2258182" cy="584775"/>
          </a:xfrm>
          <a:prstGeom prst="rect">
            <a:avLst/>
          </a:prstGeom>
          <a:noFill/>
        </p:spPr>
        <p:txBody>
          <a:bodyPr wrap="none" rtlCol="0">
            <a:spAutoFit/>
          </a:bodyPr>
          <a:lstStyle/>
          <a:p>
            <a:r>
              <a:rPr lang="en-US" sz="3200" b="1">
                <a:solidFill>
                  <a:schemeClr val="bg1"/>
                </a:solidFill>
              </a:rPr>
              <a:t>CAN version</a:t>
            </a:r>
            <a:endParaRPr lang="en-US" sz="3200" b="1" dirty="0">
              <a:solidFill>
                <a:schemeClr val="bg1"/>
              </a:solidFill>
            </a:endParaRPr>
          </a:p>
        </p:txBody>
      </p:sp>
      <p:sp>
        <p:nvSpPr>
          <p:cNvPr id="7" name="Rectangle 6"/>
          <p:cNvSpPr/>
          <p:nvPr/>
        </p:nvSpPr>
        <p:spPr>
          <a:xfrm>
            <a:off x="414527" y="1124396"/>
            <a:ext cx="11362943" cy="5478423"/>
          </a:xfrm>
          <a:prstGeom prst="rect">
            <a:avLst/>
          </a:prstGeom>
        </p:spPr>
        <p:txBody>
          <a:bodyPr wrap="square">
            <a:spAutoFit/>
          </a:bodyPr>
          <a:lstStyle/>
          <a:p>
            <a:r>
              <a:rPr lang="en-US" sz="1400">
                <a:solidFill>
                  <a:schemeClr val="bg1"/>
                </a:solidFill>
              </a:rPr>
              <a:t>🧩 1. </a:t>
            </a:r>
            <a:r>
              <a:rPr lang="vi-VN" sz="1400">
                <a:solidFill>
                  <a:schemeClr val="bg1"/>
                </a:solidFill>
              </a:rPr>
              <a:t>Theo chuẩn frame (quan trọng nhất)</a:t>
            </a:r>
            <a:endParaRPr lang="en-US" sz="1400">
              <a:solidFill>
                <a:schemeClr val="bg1"/>
              </a:solidFill>
            </a:endParaRPr>
          </a:p>
          <a:p>
            <a:endParaRPr lang="vi-VN" sz="1400">
              <a:solidFill>
                <a:schemeClr val="bg1"/>
              </a:solidFill>
            </a:endParaRPr>
          </a:p>
          <a:p>
            <a:r>
              <a:rPr lang="en-US" sz="1400">
                <a:solidFill>
                  <a:schemeClr val="bg1"/>
                </a:solidFill>
              </a:rPr>
              <a:t>✅ 1.1. </a:t>
            </a:r>
            <a:r>
              <a:rPr lang="vi-VN" sz="1400">
                <a:solidFill>
                  <a:schemeClr val="bg1"/>
                </a:solidFill>
              </a:rPr>
              <a:t>CAN 2.0A (Standard CAN)</a:t>
            </a:r>
          </a:p>
          <a:p>
            <a:endParaRPr lang="vi-VN" sz="1400">
              <a:solidFill>
                <a:schemeClr val="bg1"/>
              </a:solidFill>
            </a:endParaRPr>
          </a:p>
          <a:p>
            <a:pPr lvl="1"/>
            <a:r>
              <a:rPr lang="vi-VN" sz="1400">
                <a:solidFill>
                  <a:schemeClr val="bg1"/>
                </a:solidFill>
              </a:rPr>
              <a:t>ID: 11 bit</a:t>
            </a:r>
          </a:p>
          <a:p>
            <a:pPr lvl="1"/>
            <a:endParaRPr lang="vi-VN" sz="1400">
              <a:solidFill>
                <a:schemeClr val="bg1"/>
              </a:solidFill>
            </a:endParaRPr>
          </a:p>
          <a:p>
            <a:pPr lvl="1"/>
            <a:r>
              <a:rPr lang="vi-VN" sz="1400">
                <a:solidFill>
                  <a:schemeClr val="bg1"/>
                </a:solidFill>
              </a:rPr>
              <a:t>Frame ngắn hơn</a:t>
            </a:r>
          </a:p>
          <a:p>
            <a:pPr lvl="1"/>
            <a:endParaRPr lang="vi-VN" sz="1400">
              <a:solidFill>
                <a:schemeClr val="bg1"/>
              </a:solidFill>
            </a:endParaRPr>
          </a:p>
          <a:p>
            <a:pPr lvl="1"/>
            <a:r>
              <a:rPr lang="vi-VN" sz="1400">
                <a:solidFill>
                  <a:schemeClr val="bg1"/>
                </a:solidFill>
              </a:rPr>
              <a:t>Ít ID hơn</a:t>
            </a:r>
          </a:p>
          <a:p>
            <a:pPr lvl="1"/>
            <a:endParaRPr lang="vi-VN" sz="1400">
              <a:solidFill>
                <a:schemeClr val="bg1"/>
              </a:solidFill>
            </a:endParaRPr>
          </a:p>
          <a:p>
            <a:pPr lvl="1"/>
            <a:r>
              <a:rPr lang="en-US" sz="1400">
                <a:solidFill>
                  <a:schemeClr val="bg1"/>
                </a:solidFill>
              </a:rPr>
              <a:t>👉 </a:t>
            </a:r>
            <a:r>
              <a:rPr lang="vi-VN" sz="1400">
                <a:solidFill>
                  <a:schemeClr val="bg1"/>
                </a:solidFill>
              </a:rPr>
              <a:t>Số ID:</a:t>
            </a:r>
          </a:p>
          <a:p>
            <a:pPr lvl="1"/>
            <a:endParaRPr lang="vi-VN" sz="1400">
              <a:solidFill>
                <a:schemeClr val="bg1"/>
              </a:solidFill>
            </a:endParaRPr>
          </a:p>
          <a:p>
            <a:pPr lvl="1"/>
            <a:r>
              <a:rPr lang="vi-VN" sz="1400">
                <a:solidFill>
                  <a:schemeClr val="bg1"/>
                </a:solidFill>
              </a:rPr>
              <a:t>2¹¹ = 2048 ID</a:t>
            </a:r>
          </a:p>
          <a:p>
            <a:endParaRPr lang="vi-VN" sz="1400">
              <a:solidFill>
                <a:schemeClr val="bg1"/>
              </a:solidFill>
            </a:endParaRPr>
          </a:p>
          <a:p>
            <a:r>
              <a:rPr lang="en-US" sz="1400">
                <a:solidFill>
                  <a:schemeClr val="bg1"/>
                </a:solidFill>
              </a:rPr>
              <a:t>✅ 1.2. </a:t>
            </a:r>
            <a:r>
              <a:rPr lang="vi-VN" sz="1400">
                <a:solidFill>
                  <a:schemeClr val="bg1"/>
                </a:solidFill>
              </a:rPr>
              <a:t>CAN 2.0B (Extended CAN)</a:t>
            </a:r>
          </a:p>
          <a:p>
            <a:endParaRPr lang="vi-VN" sz="1400">
              <a:solidFill>
                <a:schemeClr val="bg1"/>
              </a:solidFill>
            </a:endParaRPr>
          </a:p>
          <a:p>
            <a:pPr lvl="1"/>
            <a:r>
              <a:rPr lang="vi-VN" sz="1400">
                <a:solidFill>
                  <a:schemeClr val="bg1"/>
                </a:solidFill>
              </a:rPr>
              <a:t>ID: 29 bit</a:t>
            </a:r>
          </a:p>
          <a:p>
            <a:pPr lvl="1"/>
            <a:endParaRPr lang="vi-VN" sz="1400">
              <a:solidFill>
                <a:schemeClr val="bg1"/>
              </a:solidFill>
            </a:endParaRPr>
          </a:p>
          <a:p>
            <a:pPr lvl="1"/>
            <a:r>
              <a:rPr lang="vi-VN" sz="1400">
                <a:solidFill>
                  <a:schemeClr val="bg1"/>
                </a:solidFill>
              </a:rPr>
              <a:t>Frame dài hơn</a:t>
            </a:r>
          </a:p>
          <a:p>
            <a:pPr lvl="1"/>
            <a:endParaRPr lang="vi-VN" sz="1400">
              <a:solidFill>
                <a:schemeClr val="bg1"/>
              </a:solidFill>
            </a:endParaRPr>
          </a:p>
          <a:p>
            <a:pPr lvl="1"/>
            <a:r>
              <a:rPr lang="vi-VN" sz="1400">
                <a:solidFill>
                  <a:schemeClr val="bg1"/>
                </a:solidFill>
              </a:rPr>
              <a:t>Nhiều ID hơn</a:t>
            </a:r>
          </a:p>
          <a:p>
            <a:pPr lvl="1"/>
            <a:endParaRPr lang="vi-VN" sz="1400">
              <a:solidFill>
                <a:schemeClr val="bg1"/>
              </a:solidFill>
            </a:endParaRPr>
          </a:p>
          <a:p>
            <a:pPr lvl="1"/>
            <a:r>
              <a:rPr lang="en-US" sz="1400">
                <a:solidFill>
                  <a:schemeClr val="bg1"/>
                </a:solidFill>
              </a:rPr>
              <a:t>👉 </a:t>
            </a:r>
            <a:r>
              <a:rPr lang="vi-VN" sz="1400">
                <a:solidFill>
                  <a:schemeClr val="bg1"/>
                </a:solidFill>
              </a:rPr>
              <a:t>Số ID:</a:t>
            </a:r>
          </a:p>
          <a:p>
            <a:pPr lvl="1"/>
            <a:endParaRPr lang="vi-VN" sz="1400">
              <a:solidFill>
                <a:schemeClr val="bg1"/>
              </a:solidFill>
            </a:endParaRPr>
          </a:p>
          <a:p>
            <a:pPr lvl="1"/>
            <a:r>
              <a:rPr lang="vi-VN" sz="1400">
                <a:solidFill>
                  <a:schemeClr val="bg1"/>
                </a:solidFill>
              </a:rPr>
              <a:t>2²⁹ ≈ 536 triệu ID</a:t>
            </a:r>
            <a:endParaRPr lang="en-US" sz="1400" b="1" dirty="0">
              <a:solidFill>
                <a:schemeClr val="bg1"/>
              </a:solidFill>
            </a:endParaRPr>
          </a:p>
        </p:txBody>
      </p:sp>
      <p:sp>
        <p:nvSpPr>
          <p:cNvPr id="8" name="Rectangle 7"/>
          <p:cNvSpPr/>
          <p:nvPr/>
        </p:nvSpPr>
        <p:spPr>
          <a:xfrm>
            <a:off x="812800" y="6343331"/>
            <a:ext cx="10058400" cy="307777"/>
          </a:xfrm>
          <a:prstGeom prst="rect">
            <a:avLst/>
          </a:prstGeom>
        </p:spPr>
        <p:txBody>
          <a:bodyPr wrap="square">
            <a:spAutoFit/>
          </a:bodyPr>
          <a:lstStyle/>
          <a:p>
            <a:endParaRPr lang="en-US" sz="1400" dirty="0">
              <a:solidFill>
                <a:schemeClr val="bg1"/>
              </a:solidFill>
            </a:endParaRPr>
          </a:p>
        </p:txBody>
      </p:sp>
      <p:sp>
        <p:nvSpPr>
          <p:cNvPr id="10" name="AutoShape 7" descr="Mạng khu vực điều khiển (bus CAN) là gì và cách ghi/giải mã dữ liệu bus CAN.  » SEMIKI.COM">
            <a:extLst>
              <a:ext uri="{FF2B5EF4-FFF2-40B4-BE49-F238E27FC236}">
                <a16:creationId xmlns:a16="http://schemas.microsoft.com/office/drawing/2014/main" id="{B43ED1C7-0AB6-68F4-BEA4-ABB97CFFF8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1" name="AutoShape 9" descr="Mạng khu vực điều khiển (bus CAN) là gì và cách ghi/giải mã dữ liệu bus CAN.  » SEMIKI.COM">
            <a:extLst>
              <a:ext uri="{FF2B5EF4-FFF2-40B4-BE49-F238E27FC236}">
                <a16:creationId xmlns:a16="http://schemas.microsoft.com/office/drawing/2014/main" id="{8776D0D2-7BEC-D177-25AE-AAD37E7B8A3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59" name="Picture 11" descr="What is CAN2.0 protocol?_Industry dynamics_Blog_">
            <a:extLst>
              <a:ext uri="{FF2B5EF4-FFF2-40B4-BE49-F238E27FC236}">
                <a16:creationId xmlns:a16="http://schemas.microsoft.com/office/drawing/2014/main" id="{FBA0BA98-8DC4-4D9C-8C9A-A2F29A05F2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321" y="217934"/>
            <a:ext cx="5694962" cy="6279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98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2258182" cy="584775"/>
          </a:xfrm>
          <a:prstGeom prst="rect">
            <a:avLst/>
          </a:prstGeom>
          <a:noFill/>
        </p:spPr>
        <p:txBody>
          <a:bodyPr wrap="none" rtlCol="0">
            <a:spAutoFit/>
          </a:bodyPr>
          <a:lstStyle/>
          <a:p>
            <a:r>
              <a:rPr lang="en-US" sz="3200" b="1">
                <a:solidFill>
                  <a:schemeClr val="bg1"/>
                </a:solidFill>
              </a:rPr>
              <a:t>CAN version</a:t>
            </a:r>
            <a:endParaRPr lang="en-US" sz="3200" b="1" dirty="0">
              <a:solidFill>
                <a:schemeClr val="bg1"/>
              </a:solidFill>
            </a:endParaRPr>
          </a:p>
        </p:txBody>
      </p:sp>
      <p:sp>
        <p:nvSpPr>
          <p:cNvPr id="7" name="Rectangle 6"/>
          <p:cNvSpPr/>
          <p:nvPr/>
        </p:nvSpPr>
        <p:spPr>
          <a:xfrm>
            <a:off x="414527" y="1124396"/>
            <a:ext cx="11362943" cy="6986528"/>
          </a:xfrm>
          <a:prstGeom prst="rect">
            <a:avLst/>
          </a:prstGeom>
        </p:spPr>
        <p:txBody>
          <a:bodyPr wrap="square" numCol="3">
            <a:spAutoFit/>
          </a:bodyPr>
          <a:lstStyle/>
          <a:p>
            <a:r>
              <a:rPr lang="vi-VN" sz="1400">
                <a:solidFill>
                  <a:schemeClr val="bg1"/>
                </a:solidFill>
              </a:rPr>
              <a:t>🚀 2. Theo thế hệ phát triển (nâng cao hơn)</a:t>
            </a:r>
          </a:p>
          <a:p>
            <a:endParaRPr lang="en-US" sz="1400">
              <a:solidFill>
                <a:schemeClr val="bg1"/>
              </a:solidFill>
            </a:endParaRPr>
          </a:p>
          <a:p>
            <a:r>
              <a:rPr lang="vi-VN" sz="1400">
                <a:solidFill>
                  <a:schemeClr val="bg1"/>
                </a:solidFill>
              </a:rPr>
              <a:t>✅ 2.1. Classical CAN (CAN truyền thống)</a:t>
            </a:r>
          </a:p>
          <a:p>
            <a:endParaRPr lang="vi-VN" sz="1400">
              <a:solidFill>
                <a:schemeClr val="bg1"/>
              </a:solidFill>
            </a:endParaRPr>
          </a:p>
          <a:p>
            <a:r>
              <a:rPr lang="vi-VN" sz="1400">
                <a:solidFill>
                  <a:schemeClr val="bg1"/>
                </a:solidFill>
              </a:rPr>
              <a:t>Chính là CAN 2.0A và 2.0B</a:t>
            </a:r>
          </a:p>
          <a:p>
            <a:endParaRPr lang="vi-VN" sz="1400">
              <a:solidFill>
                <a:schemeClr val="bg1"/>
              </a:solidFill>
            </a:endParaRPr>
          </a:p>
          <a:p>
            <a:r>
              <a:rPr lang="vi-VN" sz="1400">
                <a:solidFill>
                  <a:schemeClr val="bg1"/>
                </a:solidFill>
              </a:rPr>
              <a:t>Data tối đa: 8 byte</a:t>
            </a:r>
          </a:p>
          <a:p>
            <a:endParaRPr lang="vi-VN" sz="1400">
              <a:solidFill>
                <a:schemeClr val="bg1"/>
              </a:solidFill>
            </a:endParaRPr>
          </a:p>
          <a:p>
            <a:r>
              <a:rPr lang="vi-VN" sz="1400">
                <a:solidFill>
                  <a:schemeClr val="bg1"/>
                </a:solidFill>
              </a:rPr>
              <a:t>Tốc độ: tối đa ~1 Mbps</a:t>
            </a:r>
          </a:p>
          <a:p>
            <a:r>
              <a:rPr lang="en-US" sz="1400">
                <a:solidFill>
                  <a:schemeClr val="bg1"/>
                </a:solidFill>
              </a:rPr>
              <a:t>	</a:t>
            </a: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vi-VN"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b="1">
              <a:solidFill>
                <a:schemeClr val="bg1"/>
              </a:solidFill>
            </a:endParaRPr>
          </a:p>
          <a:p>
            <a:endParaRPr lang="en-US" sz="1400">
              <a:solidFill>
                <a:schemeClr val="bg1"/>
              </a:solidFill>
            </a:endParaRPr>
          </a:p>
          <a:p>
            <a:r>
              <a:rPr lang="vi-VN" sz="1400">
                <a:solidFill>
                  <a:schemeClr val="bg1"/>
                </a:solidFill>
              </a:rPr>
              <a:t>✅ 2.2. CAN FD (Flexible Data Rate)</a:t>
            </a:r>
          </a:p>
          <a:p>
            <a:endParaRPr lang="vi-VN" sz="1400">
              <a:solidFill>
                <a:schemeClr val="bg1"/>
              </a:solidFill>
            </a:endParaRPr>
          </a:p>
          <a:p>
            <a:r>
              <a:rPr lang="vi-VN" sz="1400">
                <a:solidFill>
                  <a:schemeClr val="bg1"/>
                </a:solidFill>
              </a:rPr>
              <a:t>👉 Phiên bản nâng cấp</a:t>
            </a:r>
          </a:p>
          <a:p>
            <a:endParaRPr lang="vi-VN" sz="1400">
              <a:solidFill>
                <a:schemeClr val="bg1"/>
              </a:solidFill>
            </a:endParaRPr>
          </a:p>
          <a:p>
            <a:r>
              <a:rPr lang="vi-VN" sz="1400">
                <a:solidFill>
                  <a:schemeClr val="bg1"/>
                </a:solidFill>
              </a:rPr>
              <a:t>Data: lên đến 64 byte</a:t>
            </a:r>
          </a:p>
          <a:p>
            <a:endParaRPr lang="vi-VN" sz="1400">
              <a:solidFill>
                <a:schemeClr val="bg1"/>
              </a:solidFill>
            </a:endParaRPr>
          </a:p>
          <a:p>
            <a:r>
              <a:rPr lang="vi-VN" sz="1400">
                <a:solidFill>
                  <a:schemeClr val="bg1"/>
                </a:solidFill>
              </a:rPr>
              <a:t>Tốc độ:</a:t>
            </a:r>
          </a:p>
          <a:p>
            <a:endParaRPr lang="vi-VN" sz="1400">
              <a:solidFill>
                <a:schemeClr val="bg1"/>
              </a:solidFill>
            </a:endParaRPr>
          </a:p>
          <a:p>
            <a:r>
              <a:rPr lang="vi-VN" sz="1400">
                <a:solidFill>
                  <a:schemeClr val="bg1"/>
                </a:solidFill>
              </a:rPr>
              <a:t>Arbitration: ~1 Mbps</a:t>
            </a:r>
          </a:p>
          <a:p>
            <a:endParaRPr lang="vi-VN" sz="1400">
              <a:solidFill>
                <a:schemeClr val="bg1"/>
              </a:solidFill>
            </a:endParaRPr>
          </a:p>
          <a:p>
            <a:r>
              <a:rPr lang="vi-VN" sz="1400">
                <a:solidFill>
                  <a:schemeClr val="bg1"/>
                </a:solidFill>
              </a:rPr>
              <a:t>Data phase: có thể lên 5–8 Mbps</a:t>
            </a:r>
          </a:p>
          <a:p>
            <a:endParaRPr lang="vi-VN" sz="1400">
              <a:solidFill>
                <a:schemeClr val="bg1"/>
              </a:solidFill>
            </a:endParaRPr>
          </a:p>
          <a:p>
            <a:r>
              <a:rPr lang="vi-VN" sz="1400">
                <a:solidFill>
                  <a:schemeClr val="bg1"/>
                </a:solidFill>
              </a:rPr>
              <a:t>👉 Ưu điểm:</a:t>
            </a:r>
          </a:p>
          <a:p>
            <a:endParaRPr lang="vi-VN" sz="1400">
              <a:solidFill>
                <a:schemeClr val="bg1"/>
              </a:solidFill>
            </a:endParaRPr>
          </a:p>
          <a:p>
            <a:r>
              <a:rPr lang="vi-VN" sz="1400">
                <a:solidFill>
                  <a:schemeClr val="bg1"/>
                </a:solidFill>
              </a:rPr>
              <a:t>Nhanh hơn</a:t>
            </a:r>
          </a:p>
          <a:p>
            <a:endParaRPr lang="vi-VN" sz="1400">
              <a:solidFill>
                <a:schemeClr val="bg1"/>
              </a:solidFill>
            </a:endParaRPr>
          </a:p>
          <a:p>
            <a:r>
              <a:rPr lang="vi-VN" sz="1400">
                <a:solidFill>
                  <a:schemeClr val="bg1"/>
                </a:solidFill>
              </a:rPr>
              <a:t>Gửi nhiều dữ liệu hơn</a:t>
            </a:r>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r>
              <a:rPr lang="vi-VN" sz="1400">
                <a:solidFill>
                  <a:schemeClr val="bg1"/>
                </a:solidFill>
              </a:rPr>
              <a:t>✅ 2.3. CAN XL (rất mới – nâng cao)</a:t>
            </a:r>
          </a:p>
          <a:p>
            <a:endParaRPr lang="vi-VN" sz="1400">
              <a:solidFill>
                <a:schemeClr val="bg1"/>
              </a:solidFill>
            </a:endParaRPr>
          </a:p>
          <a:p>
            <a:r>
              <a:rPr lang="vi-VN" sz="1400">
                <a:solidFill>
                  <a:schemeClr val="bg1"/>
                </a:solidFill>
              </a:rPr>
              <a:t>Data: lên đến 2048 byte</a:t>
            </a:r>
          </a:p>
          <a:p>
            <a:endParaRPr lang="vi-VN" sz="1400">
              <a:solidFill>
                <a:schemeClr val="bg1"/>
              </a:solidFill>
            </a:endParaRPr>
          </a:p>
          <a:p>
            <a:r>
              <a:rPr lang="vi-VN" sz="1400">
                <a:solidFill>
                  <a:schemeClr val="bg1"/>
                </a:solidFill>
              </a:rPr>
              <a:t>Tốc độ cao hơn nữa (~10 Mbps+)</a:t>
            </a:r>
          </a:p>
          <a:p>
            <a:endParaRPr lang="vi-VN" sz="1400">
              <a:solidFill>
                <a:schemeClr val="bg1"/>
              </a:solidFill>
            </a:endParaRPr>
          </a:p>
          <a:p>
            <a:r>
              <a:rPr lang="vi-VN" sz="1400">
                <a:solidFill>
                  <a:schemeClr val="bg1"/>
                </a:solidFill>
              </a:rPr>
              <a:t>Dùng cho:</a:t>
            </a:r>
          </a:p>
          <a:p>
            <a:endParaRPr lang="vi-VN" sz="1400">
              <a:solidFill>
                <a:schemeClr val="bg1"/>
              </a:solidFill>
            </a:endParaRPr>
          </a:p>
          <a:p>
            <a:r>
              <a:rPr lang="vi-VN" sz="1400">
                <a:solidFill>
                  <a:schemeClr val="bg1"/>
                </a:solidFill>
              </a:rPr>
              <a:t>Xe hiện đại</a:t>
            </a:r>
          </a:p>
          <a:p>
            <a:endParaRPr lang="vi-VN" sz="1400">
              <a:solidFill>
                <a:schemeClr val="bg1"/>
              </a:solidFill>
            </a:endParaRPr>
          </a:p>
          <a:p>
            <a:r>
              <a:rPr lang="vi-VN" sz="1400">
                <a:solidFill>
                  <a:schemeClr val="bg1"/>
                </a:solidFill>
              </a:rPr>
              <a:t>Automotive Ethernet cạnh tranh</a:t>
            </a:r>
            <a:endParaRPr lang="en-US" sz="1400">
              <a:solidFill>
                <a:schemeClr val="bg1"/>
              </a:solidFill>
            </a:endParaRPr>
          </a:p>
          <a:p>
            <a:endParaRPr lang="vi-VN" sz="1400">
              <a:solidFill>
                <a:schemeClr val="bg1"/>
              </a:solidFill>
            </a:endParaRPr>
          </a:p>
          <a:p>
            <a:endParaRPr lang="en-US" sz="1400" b="1" dirty="0">
              <a:solidFill>
                <a:schemeClr val="bg1"/>
              </a:solidFill>
            </a:endParaRPr>
          </a:p>
        </p:txBody>
      </p:sp>
      <p:sp>
        <p:nvSpPr>
          <p:cNvPr id="8" name="Rectangle 7"/>
          <p:cNvSpPr/>
          <p:nvPr/>
        </p:nvSpPr>
        <p:spPr>
          <a:xfrm>
            <a:off x="812800" y="6343331"/>
            <a:ext cx="10058400" cy="307777"/>
          </a:xfrm>
          <a:prstGeom prst="rect">
            <a:avLst/>
          </a:prstGeom>
        </p:spPr>
        <p:txBody>
          <a:bodyPr wrap="square">
            <a:spAutoFit/>
          </a:bodyPr>
          <a:lstStyle/>
          <a:p>
            <a:endParaRPr lang="en-US" sz="1400" dirty="0">
              <a:solidFill>
                <a:schemeClr val="bg1"/>
              </a:solidFill>
            </a:endParaRPr>
          </a:p>
        </p:txBody>
      </p:sp>
      <p:sp>
        <p:nvSpPr>
          <p:cNvPr id="10" name="AutoShape 7" descr="Mạng khu vực điều khiển (bus CAN) là gì và cách ghi/giải mã dữ liệu bus CAN.  » SEMIKI.COM">
            <a:extLst>
              <a:ext uri="{FF2B5EF4-FFF2-40B4-BE49-F238E27FC236}">
                <a16:creationId xmlns:a16="http://schemas.microsoft.com/office/drawing/2014/main" id="{B43ED1C7-0AB6-68F4-BEA4-ABB97CFFF8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1" name="AutoShape 9" descr="Mạng khu vực điều khiển (bus CAN) là gì và cách ghi/giải mã dữ liệu bus CAN.  » SEMIKI.COM">
            <a:extLst>
              <a:ext uri="{FF2B5EF4-FFF2-40B4-BE49-F238E27FC236}">
                <a16:creationId xmlns:a16="http://schemas.microsoft.com/office/drawing/2014/main" id="{8776D0D2-7BEC-D177-25AE-AAD37E7B8A3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2138950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045001" cy="584775"/>
          </a:xfrm>
          <a:prstGeom prst="rect">
            <a:avLst/>
          </a:prstGeom>
          <a:noFill/>
        </p:spPr>
        <p:txBody>
          <a:bodyPr wrap="none" rtlCol="0">
            <a:spAutoFit/>
          </a:bodyPr>
          <a:lstStyle/>
          <a:p>
            <a:r>
              <a:rPr lang="en-US" sz="3200" b="1">
                <a:solidFill>
                  <a:schemeClr val="bg1"/>
                </a:solidFill>
              </a:rPr>
              <a:t>How CAN work ?</a:t>
            </a:r>
            <a:endParaRPr lang="en-US" sz="3200" b="1" dirty="0">
              <a:solidFill>
                <a:schemeClr val="bg1"/>
              </a:solidFill>
            </a:endParaRPr>
          </a:p>
        </p:txBody>
      </p:sp>
      <p:pic>
        <p:nvPicPr>
          <p:cNvPr id="3" name="Picture 2">
            <a:extLst>
              <a:ext uri="{FF2B5EF4-FFF2-40B4-BE49-F238E27FC236}">
                <a16:creationId xmlns:a16="http://schemas.microsoft.com/office/drawing/2014/main" id="{4C5CE1F8-4A5A-9EA8-0DF0-9EC0DE1EFDC8}"/>
              </a:ext>
            </a:extLst>
          </p:cNvPr>
          <p:cNvPicPr>
            <a:picLocks noChangeAspect="1"/>
          </p:cNvPicPr>
          <p:nvPr/>
        </p:nvPicPr>
        <p:blipFill>
          <a:blip r:embed="rId5"/>
          <a:stretch>
            <a:fillRect/>
          </a:stretch>
        </p:blipFill>
        <p:spPr>
          <a:xfrm>
            <a:off x="1428127" y="1124396"/>
            <a:ext cx="9140674" cy="5508936"/>
          </a:xfrm>
          <a:prstGeom prst="rect">
            <a:avLst/>
          </a:prstGeom>
        </p:spPr>
      </p:pic>
    </p:spTree>
    <p:extLst>
      <p:ext uri="{BB962C8B-B14F-4D97-AF65-F5344CB8AC3E}">
        <p14:creationId xmlns:p14="http://schemas.microsoft.com/office/powerpoint/2010/main" val="2584704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2085827" cy="584775"/>
          </a:xfrm>
          <a:prstGeom prst="rect">
            <a:avLst/>
          </a:prstGeom>
          <a:noFill/>
        </p:spPr>
        <p:txBody>
          <a:bodyPr wrap="none" rtlCol="0">
            <a:spAutoFit/>
          </a:bodyPr>
          <a:lstStyle/>
          <a:p>
            <a:r>
              <a:rPr lang="en-US" sz="3200" b="1" dirty="0">
                <a:solidFill>
                  <a:schemeClr val="bg1"/>
                </a:solidFill>
              </a:rPr>
              <a:t>CAN SPEED</a:t>
            </a:r>
          </a:p>
        </p:txBody>
      </p:sp>
      <p:sp>
        <p:nvSpPr>
          <p:cNvPr id="7" name="Rectangle 6"/>
          <p:cNvSpPr/>
          <p:nvPr/>
        </p:nvSpPr>
        <p:spPr>
          <a:xfrm>
            <a:off x="414528" y="1124396"/>
            <a:ext cx="11167872" cy="1169551"/>
          </a:xfrm>
          <a:prstGeom prst="rect">
            <a:avLst/>
          </a:prstGeom>
        </p:spPr>
        <p:txBody>
          <a:bodyPr wrap="square">
            <a:spAutoFit/>
          </a:bodyPr>
          <a:lstStyle/>
          <a:p>
            <a:pPr marL="285750" indent="-285750">
              <a:buFont typeface="Arial" panose="020B0604020202020204" pitchFamily="34" charset="0"/>
              <a:buChar char="•"/>
            </a:pPr>
            <a:r>
              <a:rPr lang="vi-VN" sz="1400">
                <a:solidFill>
                  <a:schemeClr val="bg1"/>
                </a:solidFill>
              </a:rPr>
              <a:t>Các khung truyền CAN (CAN frames) có thể đạt tốc độ lên đến 1 Mbps với chiều dài bus tối đa là 40 m.</a:t>
            </a:r>
          </a:p>
          <a:p>
            <a:pPr marL="285750" indent="-285750">
              <a:buFont typeface="Arial" panose="020B0604020202020204" pitchFamily="34" charset="0"/>
              <a:buChar char="•"/>
            </a:pPr>
            <a:endParaRPr lang="vi-VN" sz="1400">
              <a:solidFill>
                <a:schemeClr val="bg1"/>
              </a:solidFill>
            </a:endParaRPr>
          </a:p>
          <a:p>
            <a:pPr marL="285750" indent="-285750">
              <a:buFont typeface="Arial" panose="020B0604020202020204" pitchFamily="34" charset="0"/>
              <a:buChar char="•"/>
            </a:pPr>
            <a:r>
              <a:rPr lang="vi-VN" sz="1400">
                <a:solidFill>
                  <a:schemeClr val="bg1"/>
                </a:solidFill>
              </a:rPr>
              <a:t>Khi chiều dài bus tăng quá mức tối đa này, tốc độ truyền dẫn sẽ giảm xuống.</a:t>
            </a:r>
          </a:p>
          <a:p>
            <a:pPr marL="285750" indent="-285750">
              <a:buFont typeface="Arial" panose="020B0604020202020204" pitchFamily="34" charset="0"/>
              <a:buChar char="•"/>
            </a:pPr>
            <a:endParaRPr lang="vi-VN" sz="1400">
              <a:solidFill>
                <a:schemeClr val="bg1"/>
              </a:solidFill>
            </a:endParaRPr>
          </a:p>
          <a:p>
            <a:pPr marL="285750" indent="-285750">
              <a:buFont typeface="Arial" panose="020B0604020202020204" pitchFamily="34" charset="0"/>
              <a:buChar char="•"/>
            </a:pPr>
            <a:r>
              <a:rPr lang="vi-VN" sz="1400">
                <a:solidFill>
                  <a:schemeClr val="bg1"/>
                </a:solidFill>
              </a:rPr>
              <a:t>Trong công nghiệp, mạng CAN thường được cấu hình ở tốc độ 500 kbps.</a:t>
            </a:r>
            <a:endParaRPr lang="en-US" sz="1400" b="1" dirty="0">
              <a:solidFill>
                <a:schemeClr val="bg1"/>
              </a:solidFill>
            </a:endParaRPr>
          </a:p>
        </p:txBody>
      </p:sp>
      <p:pic>
        <p:nvPicPr>
          <p:cNvPr id="2050" name="Picture 2">
            <a:extLst>
              <a:ext uri="{FF2B5EF4-FFF2-40B4-BE49-F238E27FC236}">
                <a16:creationId xmlns:a16="http://schemas.microsoft.com/office/drawing/2014/main" id="{6ABDC4A3-4B64-CF4F-F3CC-3E1C1536E3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3106" y="2677277"/>
            <a:ext cx="5845787" cy="3472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4992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161828" cy="584775"/>
          </a:xfrm>
          <a:prstGeom prst="rect">
            <a:avLst/>
          </a:prstGeom>
          <a:noFill/>
        </p:spPr>
        <p:txBody>
          <a:bodyPr wrap="none" rtlCol="0">
            <a:spAutoFit/>
          </a:bodyPr>
          <a:lstStyle/>
          <a:p>
            <a:r>
              <a:rPr lang="en-US" sz="3200" dirty="0">
                <a:solidFill>
                  <a:schemeClr val="bg1"/>
                </a:solidFill>
              </a:rPr>
              <a:t>CAN </a:t>
            </a:r>
            <a:r>
              <a:rPr lang="en-US" sz="3200">
                <a:solidFill>
                  <a:schemeClr val="bg1"/>
                </a:solidFill>
              </a:rPr>
              <a:t>DATA LIMIT   </a:t>
            </a:r>
            <a:endParaRPr lang="en-US" sz="3200" dirty="0">
              <a:solidFill>
                <a:schemeClr val="bg1"/>
              </a:solidFill>
            </a:endParaRPr>
          </a:p>
        </p:txBody>
      </p:sp>
      <p:sp>
        <p:nvSpPr>
          <p:cNvPr id="7" name="Rectangle 6"/>
          <p:cNvSpPr/>
          <p:nvPr/>
        </p:nvSpPr>
        <p:spPr>
          <a:xfrm>
            <a:off x="512064" y="1232211"/>
            <a:ext cx="11167872" cy="1815882"/>
          </a:xfrm>
          <a:prstGeom prst="rect">
            <a:avLst/>
          </a:prstGeom>
        </p:spPr>
        <p:txBody>
          <a:bodyPr wrap="square">
            <a:spAutoFit/>
          </a:bodyPr>
          <a:lstStyle/>
          <a:p>
            <a:r>
              <a:rPr lang="vi-VN" sz="1400">
                <a:solidFill>
                  <a:schemeClr val="bg1"/>
                </a:solidFill>
              </a:rPr>
              <a:t>Khung truyền (Frame)</a:t>
            </a:r>
            <a:r>
              <a:rPr lang="en-US" sz="1400">
                <a:solidFill>
                  <a:schemeClr val="bg1"/>
                </a:solidFill>
              </a:rPr>
              <a:t>:</a:t>
            </a:r>
            <a:endParaRPr lang="vi-VN" sz="1400">
              <a:solidFill>
                <a:schemeClr val="bg1"/>
              </a:solidFill>
            </a:endParaRPr>
          </a:p>
          <a:p>
            <a:pPr lvl="1"/>
            <a:r>
              <a:rPr lang="vi-VN" sz="1400">
                <a:solidFill>
                  <a:schemeClr val="bg1"/>
                </a:solidFill>
              </a:rPr>
              <a:t>Theo giao thức CAN, lượng dữ liệu tối đa có thể gửi trong mỗi khung truyền là bao nhiêu? </a:t>
            </a:r>
            <a:endParaRPr lang="en-US" sz="1400">
              <a:solidFill>
                <a:schemeClr val="bg1"/>
              </a:solidFill>
            </a:endParaRPr>
          </a:p>
          <a:p>
            <a:pPr marL="1200150" lvl="2" indent="-285750">
              <a:buFont typeface="Wingdings" panose="05000000000000000000" pitchFamily="2" charset="2"/>
              <a:buChar char="q"/>
            </a:pPr>
            <a:r>
              <a:rPr lang="vi-VN" sz="1400">
                <a:solidFill>
                  <a:schemeClr val="bg1"/>
                </a:solidFill>
              </a:rPr>
              <a:t> 8 Byte.</a:t>
            </a:r>
          </a:p>
          <a:p>
            <a:pPr lvl="1"/>
            <a:r>
              <a:rPr lang="vi-VN" sz="1400">
                <a:solidFill>
                  <a:schemeClr val="bg1"/>
                </a:solidFill>
              </a:rPr>
              <a:t>Kích thước dữ liệu có thay đổi được không? </a:t>
            </a:r>
            <a:endParaRPr lang="en-US" sz="1400">
              <a:solidFill>
                <a:schemeClr val="bg1"/>
              </a:solidFill>
            </a:endParaRPr>
          </a:p>
          <a:p>
            <a:pPr marL="1200150" lvl="2" indent="-285750">
              <a:buFont typeface="Wingdings" panose="05000000000000000000" pitchFamily="2" charset="2"/>
              <a:buChar char="q"/>
            </a:pPr>
            <a:r>
              <a:rPr lang="vi-VN" sz="1400">
                <a:solidFill>
                  <a:schemeClr val="bg1"/>
                </a:solidFill>
              </a:rPr>
              <a:t>Có, chúng ta có thể gửi 0 byte, 1 byte, 2 byte, v.v. Tối đa là 8 byte.</a:t>
            </a:r>
            <a:endParaRPr lang="en-US" sz="1400">
              <a:solidFill>
                <a:schemeClr val="bg1"/>
              </a:solidFill>
            </a:endParaRPr>
          </a:p>
          <a:p>
            <a:pPr lvl="1"/>
            <a:endParaRPr lang="vi-VN" sz="1400">
              <a:solidFill>
                <a:schemeClr val="bg1"/>
              </a:solidFill>
            </a:endParaRPr>
          </a:p>
          <a:p>
            <a:pPr lvl="1"/>
            <a:r>
              <a:rPr lang="vi-VN" sz="1400">
                <a:solidFill>
                  <a:schemeClr val="bg1"/>
                </a:solidFill>
              </a:rPr>
              <a:t>Có thể gửi dữ liệu theo đơn vị bit không? </a:t>
            </a:r>
            <a:endParaRPr lang="en-US" sz="1400">
              <a:solidFill>
                <a:schemeClr val="bg1"/>
              </a:solidFill>
            </a:endParaRPr>
          </a:p>
          <a:p>
            <a:pPr marL="1200150" lvl="2" indent="-285750">
              <a:buFont typeface="Wingdings" panose="05000000000000000000" pitchFamily="2" charset="2"/>
              <a:buChar char="q"/>
            </a:pPr>
            <a:r>
              <a:rPr lang="vi-VN" sz="1400">
                <a:solidFill>
                  <a:schemeClr val="bg1"/>
                </a:solidFill>
              </a:rPr>
              <a:t>Không. Dữ liệu được tính theo đơn vị byte. Luôn luôn là byte.</a:t>
            </a:r>
            <a:endParaRPr lang="en-US" sz="1400" dirty="0">
              <a:solidFill>
                <a:schemeClr val="bg1"/>
              </a:solidFill>
            </a:endParaRPr>
          </a:p>
        </p:txBody>
      </p:sp>
      <p:pic>
        <p:nvPicPr>
          <p:cNvPr id="3" name="Picture 2">
            <a:extLst>
              <a:ext uri="{FF2B5EF4-FFF2-40B4-BE49-F238E27FC236}">
                <a16:creationId xmlns:a16="http://schemas.microsoft.com/office/drawing/2014/main" id="{C594DBFA-0E43-E380-65DC-856E45F64A21}"/>
              </a:ext>
            </a:extLst>
          </p:cNvPr>
          <p:cNvPicPr>
            <a:picLocks noChangeAspect="1"/>
          </p:cNvPicPr>
          <p:nvPr/>
        </p:nvPicPr>
        <p:blipFill>
          <a:blip r:embed="rId5"/>
          <a:stretch>
            <a:fillRect/>
          </a:stretch>
        </p:blipFill>
        <p:spPr>
          <a:xfrm>
            <a:off x="414529" y="3309984"/>
            <a:ext cx="10906125" cy="3286125"/>
          </a:xfrm>
          <a:prstGeom prst="rect">
            <a:avLst/>
          </a:prstGeom>
        </p:spPr>
      </p:pic>
    </p:spTree>
    <p:extLst>
      <p:ext uri="{BB962C8B-B14F-4D97-AF65-F5344CB8AC3E}">
        <p14:creationId xmlns:p14="http://schemas.microsoft.com/office/powerpoint/2010/main" val="531640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800493" cy="584775"/>
          </a:xfrm>
          <a:prstGeom prst="rect">
            <a:avLst/>
          </a:prstGeom>
          <a:noFill/>
        </p:spPr>
        <p:txBody>
          <a:bodyPr wrap="none" rtlCol="0">
            <a:spAutoFit/>
          </a:bodyPr>
          <a:lstStyle/>
          <a:p>
            <a:r>
              <a:rPr lang="en-US" sz="3200" b="1" dirty="0">
                <a:solidFill>
                  <a:schemeClr val="bg1"/>
                </a:solidFill>
              </a:rPr>
              <a:t>CAN BUS </a:t>
            </a:r>
          </a:p>
        </p:txBody>
      </p:sp>
      <p:sp>
        <p:nvSpPr>
          <p:cNvPr id="7" name="Rectangle 6"/>
          <p:cNvSpPr/>
          <p:nvPr/>
        </p:nvSpPr>
        <p:spPr>
          <a:xfrm>
            <a:off x="414528" y="1124396"/>
            <a:ext cx="11167872" cy="523220"/>
          </a:xfrm>
          <a:prstGeom prst="rect">
            <a:avLst/>
          </a:prstGeom>
        </p:spPr>
        <p:txBody>
          <a:bodyPr wrap="square">
            <a:spAutoFit/>
          </a:bodyPr>
          <a:lstStyle/>
          <a:p>
            <a:pPr marL="285750" indent="-285750">
              <a:buFont typeface="Arial" panose="020B0604020202020204" pitchFamily="34" charset="0"/>
              <a:buChar char="•"/>
            </a:pPr>
            <a:r>
              <a:rPr lang="en-US" sz="1400">
                <a:solidFill>
                  <a:schemeClr val="bg1"/>
                </a:solidFill>
              </a:rPr>
              <a:t>Tại sao lại dùng cặp dây xoắn (twisted pair)?  Khả năng chống nhiễu (Noise Immunity).</a:t>
            </a:r>
          </a:p>
          <a:p>
            <a:pPr marL="285750" indent="-285750">
              <a:buFont typeface="Arial" panose="020B0604020202020204" pitchFamily="34" charset="0"/>
              <a:buChar char="•"/>
            </a:pPr>
            <a:r>
              <a:rPr lang="en-US" sz="1400">
                <a:solidFill>
                  <a:schemeClr val="bg1"/>
                </a:solidFill>
              </a:rPr>
              <a:t>Kết thúc bằng điện trở 120 ohm -&gt; Phối hợp trở kháng (Impedance matching).</a:t>
            </a:r>
            <a:endParaRPr lang="en-US" sz="1400" b="1" dirty="0">
              <a:solidFill>
                <a:schemeClr val="bg1"/>
              </a:solidFill>
            </a:endParaRPr>
          </a:p>
        </p:txBody>
      </p:sp>
      <p:pic>
        <p:nvPicPr>
          <p:cNvPr id="3" name="Picture 2">
            <a:extLst>
              <a:ext uri="{FF2B5EF4-FFF2-40B4-BE49-F238E27FC236}">
                <a16:creationId xmlns:a16="http://schemas.microsoft.com/office/drawing/2014/main" id="{5BE286B8-D24E-2FFB-C1FE-2A34D81D3E67}"/>
              </a:ext>
            </a:extLst>
          </p:cNvPr>
          <p:cNvPicPr>
            <a:picLocks noChangeAspect="1"/>
          </p:cNvPicPr>
          <p:nvPr/>
        </p:nvPicPr>
        <p:blipFill>
          <a:blip r:embed="rId5"/>
          <a:stretch>
            <a:fillRect/>
          </a:stretch>
        </p:blipFill>
        <p:spPr>
          <a:xfrm>
            <a:off x="495300" y="1753177"/>
            <a:ext cx="10963275" cy="2080870"/>
          </a:xfrm>
          <a:prstGeom prst="rect">
            <a:avLst/>
          </a:prstGeom>
        </p:spPr>
      </p:pic>
      <p:sp>
        <p:nvSpPr>
          <p:cNvPr id="6" name="TextBox 5">
            <a:extLst>
              <a:ext uri="{FF2B5EF4-FFF2-40B4-BE49-F238E27FC236}">
                <a16:creationId xmlns:a16="http://schemas.microsoft.com/office/drawing/2014/main" id="{75A562F9-68FA-CEF7-3723-2E97D42B3009}"/>
              </a:ext>
            </a:extLst>
          </p:cNvPr>
          <p:cNvSpPr txBox="1"/>
          <p:nvPr/>
        </p:nvSpPr>
        <p:spPr>
          <a:xfrm>
            <a:off x="403623" y="4040834"/>
            <a:ext cx="6172200" cy="1384995"/>
          </a:xfrm>
          <a:prstGeom prst="rect">
            <a:avLst/>
          </a:prstGeom>
          <a:noFill/>
        </p:spPr>
        <p:txBody>
          <a:bodyPr wrap="square">
            <a:spAutoFit/>
          </a:bodyPr>
          <a:lstStyle/>
          <a:p>
            <a:r>
              <a:rPr lang="vi-VN" sz="1400">
                <a:solidFill>
                  <a:schemeClr val="bg1"/>
                </a:solidFill>
              </a:rPr>
              <a:t>Mạng CAN sử dụng cặp dây xoắn đôi (Dual-Twisted pair) được gọi là CAN High (CANH) và CAN Low (CANL).</a:t>
            </a:r>
          </a:p>
          <a:p>
            <a:endParaRPr lang="vi-VN" sz="1400">
              <a:solidFill>
                <a:schemeClr val="bg1"/>
              </a:solidFill>
            </a:endParaRPr>
          </a:p>
          <a:p>
            <a:r>
              <a:rPr lang="vi-VN" sz="1400">
                <a:solidFill>
                  <a:schemeClr val="bg1"/>
                </a:solidFill>
              </a:rPr>
              <a:t>Cơ chế logic điện áp vi sai (Differential Voltage Logic):</a:t>
            </a:r>
          </a:p>
          <a:p>
            <a:r>
              <a:rPr lang="vi-VN" sz="1400">
                <a:solidFill>
                  <a:schemeClr val="bg1"/>
                </a:solidFill>
              </a:rPr>
              <a:t>* Logic 1 = Bit lặn (Recessive bit)</a:t>
            </a:r>
          </a:p>
          <a:p>
            <a:r>
              <a:rPr lang="vi-VN" sz="1400">
                <a:solidFill>
                  <a:schemeClr val="bg1"/>
                </a:solidFill>
              </a:rPr>
              <a:t>* Logic 0 = Bit trội (Dominant bit)</a:t>
            </a:r>
            <a:endParaRPr lang="en-US" sz="1400" b="1" dirty="0">
              <a:solidFill>
                <a:schemeClr val="bg1"/>
              </a:solidFill>
            </a:endParaRPr>
          </a:p>
        </p:txBody>
      </p:sp>
      <p:graphicFrame>
        <p:nvGraphicFramePr>
          <p:cNvPr id="8" name="Object 7">
            <a:extLst>
              <a:ext uri="{FF2B5EF4-FFF2-40B4-BE49-F238E27FC236}">
                <a16:creationId xmlns:a16="http://schemas.microsoft.com/office/drawing/2014/main" id="{4031B079-C703-6EBB-6355-E82A415B6D89}"/>
              </a:ext>
            </a:extLst>
          </p:cNvPr>
          <p:cNvGraphicFramePr>
            <a:graphicFrameLocks noChangeAspect="1"/>
          </p:cNvGraphicFramePr>
          <p:nvPr>
            <p:extLst>
              <p:ext uri="{D42A27DB-BD31-4B8C-83A1-F6EECF244321}">
                <p14:modId xmlns:p14="http://schemas.microsoft.com/office/powerpoint/2010/main" val="3195520045"/>
              </p:ext>
            </p:extLst>
          </p:nvPr>
        </p:nvGraphicFramePr>
        <p:xfrm>
          <a:off x="3025381" y="5425829"/>
          <a:ext cx="3550442" cy="1063751"/>
        </p:xfrm>
        <a:graphic>
          <a:graphicData uri="http://schemas.openxmlformats.org/presentationml/2006/ole">
            <mc:AlternateContent xmlns:mc="http://schemas.openxmlformats.org/markup-compatibility/2006">
              <mc:Choice xmlns:v="urn:schemas-microsoft-com:vml" Requires="v">
                <p:oleObj name="Worksheet" r:id="rId6" imgW="2447857" imgH="733515" progId="Excel.Sheet.12">
                  <p:embed/>
                </p:oleObj>
              </mc:Choice>
              <mc:Fallback>
                <p:oleObj name="Worksheet" r:id="rId6" imgW="2447857" imgH="733515" progId="Excel.Sheet.12">
                  <p:embed/>
                  <p:pic>
                    <p:nvPicPr>
                      <p:cNvPr id="8" name="Object 7">
                        <a:extLst>
                          <a:ext uri="{FF2B5EF4-FFF2-40B4-BE49-F238E27FC236}">
                            <a16:creationId xmlns:a16="http://schemas.microsoft.com/office/drawing/2014/main" id="{4031B079-C703-6EBB-6355-E82A415B6D89}"/>
                          </a:ext>
                        </a:extLst>
                      </p:cNvPr>
                      <p:cNvPicPr/>
                      <p:nvPr/>
                    </p:nvPicPr>
                    <p:blipFill>
                      <a:blip r:embed="rId7"/>
                      <a:stretch>
                        <a:fillRect/>
                      </a:stretch>
                    </p:blipFill>
                    <p:spPr>
                      <a:xfrm>
                        <a:off x="3025381" y="5425829"/>
                        <a:ext cx="3550442" cy="1063751"/>
                      </a:xfrm>
                      <a:prstGeom prst="rect">
                        <a:avLst/>
                      </a:prstGeom>
                      <a:solidFill>
                        <a:schemeClr val="bg1"/>
                      </a:solidFill>
                    </p:spPr>
                  </p:pic>
                </p:oleObj>
              </mc:Fallback>
            </mc:AlternateContent>
          </a:graphicData>
        </a:graphic>
      </p:graphicFrame>
      <p:pic>
        <p:nvPicPr>
          <p:cNvPr id="9" name="Picture 4" descr="Related image">
            <a:extLst>
              <a:ext uri="{FF2B5EF4-FFF2-40B4-BE49-F238E27FC236}">
                <a16:creationId xmlns:a16="http://schemas.microsoft.com/office/drawing/2014/main" id="{D83BF45A-718A-F5CF-D8D2-09317D90DE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9981" y="4006575"/>
            <a:ext cx="4538594" cy="250672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6DADA9F-AEA3-9EE5-36C5-475F14B127CD}"/>
              </a:ext>
            </a:extLst>
          </p:cNvPr>
          <p:cNvPicPr>
            <a:picLocks noChangeAspect="1"/>
          </p:cNvPicPr>
          <p:nvPr/>
        </p:nvPicPr>
        <p:blipFill>
          <a:blip r:embed="rId9"/>
          <a:stretch>
            <a:fillRect/>
          </a:stretch>
        </p:blipFill>
        <p:spPr>
          <a:xfrm>
            <a:off x="618307" y="5425828"/>
            <a:ext cx="1788767" cy="1063752"/>
          </a:xfrm>
          <a:prstGeom prst="rect">
            <a:avLst/>
          </a:prstGeom>
        </p:spPr>
      </p:pic>
    </p:spTree>
    <p:extLst>
      <p:ext uri="{BB962C8B-B14F-4D97-AF65-F5344CB8AC3E}">
        <p14:creationId xmlns:p14="http://schemas.microsoft.com/office/powerpoint/2010/main" val="3929329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800493" cy="584775"/>
          </a:xfrm>
          <a:prstGeom prst="rect">
            <a:avLst/>
          </a:prstGeom>
          <a:noFill/>
        </p:spPr>
        <p:txBody>
          <a:bodyPr wrap="none" rtlCol="0">
            <a:spAutoFit/>
          </a:bodyPr>
          <a:lstStyle/>
          <a:p>
            <a:r>
              <a:rPr lang="en-US" sz="3200" b="1" dirty="0">
                <a:solidFill>
                  <a:schemeClr val="bg1"/>
                </a:solidFill>
              </a:rPr>
              <a:t>CAN BUS </a:t>
            </a:r>
          </a:p>
        </p:txBody>
      </p:sp>
      <p:sp>
        <p:nvSpPr>
          <p:cNvPr id="7" name="Rectangle 6"/>
          <p:cNvSpPr/>
          <p:nvPr/>
        </p:nvSpPr>
        <p:spPr>
          <a:xfrm>
            <a:off x="414528" y="1124396"/>
            <a:ext cx="11167872" cy="3754874"/>
          </a:xfrm>
          <a:prstGeom prst="rect">
            <a:avLst/>
          </a:prstGeom>
        </p:spPr>
        <p:txBody>
          <a:bodyPr wrap="square">
            <a:spAutoFit/>
          </a:bodyPr>
          <a:lstStyle/>
          <a:p>
            <a:r>
              <a:rPr lang="vi-VN" sz="1400" b="1">
                <a:solidFill>
                  <a:schemeClr val="bg1">
                    <a:lumMod val="95000"/>
                  </a:schemeClr>
                </a:solidFill>
              </a:rPr>
              <a:t>1. Tăng khả năng chống nhiễu common-mode (nhiễu chung) – lý do quan trọng nhất</a:t>
            </a:r>
          </a:p>
          <a:p>
            <a:r>
              <a:rPr lang="vi-VN" sz="1400">
                <a:solidFill>
                  <a:schemeClr val="bg1">
                    <a:lumMod val="95000"/>
                  </a:schemeClr>
                </a:solidFill>
                <a:effectLst/>
              </a:rPr>
              <a:t>CAN sử dụng phương pháp truyền </a:t>
            </a:r>
            <a:r>
              <a:rPr lang="vi-VN" sz="1400" b="1">
                <a:solidFill>
                  <a:schemeClr val="bg1">
                    <a:lumMod val="95000"/>
                  </a:schemeClr>
                </a:solidFill>
                <a:effectLst/>
              </a:rPr>
              <a:t>differential signaling</a:t>
            </a:r>
            <a:r>
              <a:rPr lang="vi-VN" sz="1400">
                <a:solidFill>
                  <a:schemeClr val="bg1">
                    <a:lumMod val="95000"/>
                  </a:schemeClr>
                </a:solidFill>
                <a:effectLst/>
              </a:rPr>
              <a:t> (tín hiệu vi sai):</a:t>
            </a:r>
          </a:p>
          <a:p>
            <a:pPr lvl="1">
              <a:buFont typeface="Arial" panose="020B0604020202020204" pitchFamily="34" charset="0"/>
              <a:buChar char="•"/>
            </a:pPr>
            <a:r>
              <a:rPr lang="vi-VN" sz="1400">
                <a:solidFill>
                  <a:schemeClr val="bg1">
                    <a:lumMod val="95000"/>
                  </a:schemeClr>
                </a:solidFill>
              </a:rPr>
              <a:t>CAN_H và CAN_L luôn có sự chênh lệch điện áp ngược nhau (recessive ≈ 0V chênh lệch, dominant ≈ 2V chênh lệch).</a:t>
            </a:r>
          </a:p>
          <a:p>
            <a:pPr lvl="1">
              <a:buFont typeface="Arial" panose="020B0604020202020204" pitchFamily="34" charset="0"/>
              <a:buChar char="•"/>
            </a:pPr>
            <a:r>
              <a:rPr lang="vi-VN" sz="1400">
                <a:solidFill>
                  <a:schemeClr val="bg1">
                    <a:lumMod val="95000"/>
                  </a:schemeClr>
                </a:solidFill>
              </a:rPr>
              <a:t>Nhiễu điện từ (EMI) từ môi trường (động cơ, biến tần, cuộn dây đánh lửa, motor, inverter…) thường là </a:t>
            </a:r>
            <a:r>
              <a:rPr lang="vi-VN" sz="1400" b="1">
                <a:solidFill>
                  <a:schemeClr val="bg1">
                    <a:lumMod val="95000"/>
                  </a:schemeClr>
                </a:solidFill>
              </a:rPr>
              <a:t>common-mode noise</a:t>
            </a:r>
            <a:r>
              <a:rPr lang="vi-VN" sz="1400">
                <a:solidFill>
                  <a:schemeClr val="bg1">
                    <a:lumMod val="95000"/>
                  </a:schemeClr>
                </a:solidFill>
              </a:rPr>
              <a:t> → tác động </a:t>
            </a:r>
            <a:r>
              <a:rPr lang="vi-VN" sz="1400" b="1">
                <a:solidFill>
                  <a:schemeClr val="bg1">
                    <a:lumMod val="95000"/>
                  </a:schemeClr>
                </a:solidFill>
              </a:rPr>
              <a:t>gần như giống nhau</a:t>
            </a:r>
            <a:r>
              <a:rPr lang="vi-VN" sz="1400">
                <a:solidFill>
                  <a:schemeClr val="bg1">
                    <a:lumMod val="95000"/>
                  </a:schemeClr>
                </a:solidFill>
              </a:rPr>
              <a:t> lên cả hai dây.</a:t>
            </a:r>
          </a:p>
          <a:p>
            <a:pPr lvl="1"/>
            <a:r>
              <a:rPr lang="vi-VN" sz="1400">
                <a:solidFill>
                  <a:schemeClr val="bg1">
                    <a:lumMod val="95000"/>
                  </a:schemeClr>
                </a:solidFill>
                <a:effectLst/>
              </a:rPr>
              <a:t>Khi hai dây được </a:t>
            </a:r>
            <a:r>
              <a:rPr lang="vi-VN" sz="1400" b="1">
                <a:solidFill>
                  <a:schemeClr val="bg1">
                    <a:lumMod val="95000"/>
                  </a:schemeClr>
                </a:solidFill>
                <a:effectLst/>
              </a:rPr>
              <a:t>xoắn chặt với nhau</a:t>
            </a:r>
            <a:r>
              <a:rPr lang="vi-VN" sz="1400">
                <a:solidFill>
                  <a:schemeClr val="bg1">
                    <a:lumMod val="95000"/>
                  </a:schemeClr>
                </a:solidFill>
                <a:effectLst/>
              </a:rPr>
              <a:t>:</a:t>
            </a:r>
          </a:p>
          <a:p>
            <a:pPr lvl="1">
              <a:buFont typeface="Arial" panose="020B0604020202020204" pitchFamily="34" charset="0"/>
              <a:buChar char="•"/>
            </a:pPr>
            <a:r>
              <a:rPr lang="vi-VN" sz="1400">
                <a:solidFill>
                  <a:schemeClr val="bg1">
                    <a:lumMod val="95000"/>
                  </a:schemeClr>
                </a:solidFill>
              </a:rPr>
              <a:t>Mỗi đoạn xoắn nhỏ sẽ nhận nhiễu gần như bằng nhau nhưng </a:t>
            </a:r>
            <a:r>
              <a:rPr lang="vi-VN" sz="1400" b="1">
                <a:solidFill>
                  <a:schemeClr val="bg1">
                    <a:lumMod val="95000"/>
                  </a:schemeClr>
                </a:solidFill>
              </a:rPr>
              <a:t>ngược pha</a:t>
            </a:r>
            <a:r>
              <a:rPr lang="vi-VN" sz="1400">
                <a:solidFill>
                  <a:schemeClr val="bg1">
                    <a:lumMod val="95000"/>
                  </a:schemeClr>
                </a:solidFill>
              </a:rPr>
              <a:t> → nhiễu triệt tiêu lẫn nhau ở đầu thu.</a:t>
            </a:r>
          </a:p>
          <a:p>
            <a:pPr lvl="1">
              <a:buFont typeface="Arial" panose="020B0604020202020204" pitchFamily="34" charset="0"/>
              <a:buChar char="•"/>
            </a:pPr>
            <a:r>
              <a:rPr lang="vi-VN" sz="1400">
                <a:solidFill>
                  <a:schemeClr val="bg1">
                    <a:lumMod val="95000"/>
                  </a:schemeClr>
                </a:solidFill>
              </a:rPr>
              <a:t>Bộ thu differential chỉ quan tâm đến </a:t>
            </a:r>
            <a:r>
              <a:rPr lang="vi-VN" sz="1400" b="1">
                <a:solidFill>
                  <a:schemeClr val="bg1">
                    <a:lumMod val="95000"/>
                  </a:schemeClr>
                </a:solidFill>
              </a:rPr>
              <a:t>chênh lệch</a:t>
            </a:r>
            <a:r>
              <a:rPr lang="vi-VN" sz="1400">
                <a:solidFill>
                  <a:schemeClr val="bg1">
                    <a:lumMod val="95000"/>
                  </a:schemeClr>
                </a:solidFill>
              </a:rPr>
              <a:t> (CAN_H – CAN_L), nên nhiễu common-mode bị loại bỏ rất hiệu quả.</a:t>
            </a:r>
          </a:p>
          <a:p>
            <a:pPr lvl="1"/>
            <a:r>
              <a:rPr lang="vi-VN" sz="1400">
                <a:solidFill>
                  <a:schemeClr val="bg1">
                    <a:lumMod val="95000"/>
                  </a:schemeClr>
                </a:solidFill>
                <a:effectLst/>
              </a:rPr>
              <a:t>→ Nếu không xoắn (hoặc xoắn lỏng), nhiễu trên hai dây sẽ khác nhau → dễ gây lỗi bit, mất gói tin, đặc biệt khi chạy tốc độ cao (500 kbps – 1 Mbps) hoặc trong môi trường ô tô công nghiệp nhiễu mạnh.</a:t>
            </a:r>
          </a:p>
          <a:p>
            <a:r>
              <a:rPr lang="vi-VN" sz="1400" b="1">
                <a:solidFill>
                  <a:schemeClr val="bg1">
                    <a:lumMod val="95000"/>
                  </a:schemeClr>
                </a:solidFill>
              </a:rPr>
              <a:t>2. Giảm crosstalk và giữ trở kháng đặc tính ổn định</a:t>
            </a:r>
          </a:p>
          <a:p>
            <a:pPr lvl="1">
              <a:buFont typeface="Arial" panose="020B0604020202020204" pitchFamily="34" charset="0"/>
              <a:buChar char="•"/>
            </a:pPr>
            <a:r>
              <a:rPr lang="vi-VN" sz="1400">
                <a:solidFill>
                  <a:schemeClr val="bg1">
                    <a:lumMod val="95000"/>
                  </a:schemeClr>
                </a:solidFill>
              </a:rPr>
              <a:t>Xoắn giúp hai dây luôn ở </a:t>
            </a:r>
            <a:r>
              <a:rPr lang="vi-VN" sz="1400" b="1">
                <a:solidFill>
                  <a:schemeClr val="bg1">
                    <a:lumMod val="95000"/>
                  </a:schemeClr>
                </a:solidFill>
              </a:rPr>
              <a:t>khoảng cách gần nhau và đều đặn</a:t>
            </a:r>
            <a:r>
              <a:rPr lang="vi-VN" sz="1400">
                <a:solidFill>
                  <a:schemeClr val="bg1">
                    <a:lumMod val="95000"/>
                  </a:schemeClr>
                </a:solidFill>
              </a:rPr>
              <a:t> → giảm nhiễu chéo giữa CAN_H và CAN_L.</a:t>
            </a:r>
          </a:p>
          <a:p>
            <a:pPr lvl="1">
              <a:buFont typeface="Arial" panose="020B0604020202020204" pitchFamily="34" charset="0"/>
              <a:buChar char="•"/>
            </a:pPr>
            <a:r>
              <a:rPr lang="vi-VN" sz="1400">
                <a:solidFill>
                  <a:schemeClr val="bg1">
                    <a:lumMod val="95000"/>
                  </a:schemeClr>
                </a:solidFill>
              </a:rPr>
              <a:t>Giữ </a:t>
            </a:r>
            <a:r>
              <a:rPr lang="vi-VN" sz="1400" b="1">
                <a:solidFill>
                  <a:schemeClr val="bg1">
                    <a:lumMod val="95000"/>
                  </a:schemeClr>
                </a:solidFill>
              </a:rPr>
              <a:t>trở kháng đặc tính</a:t>
            </a:r>
            <a:r>
              <a:rPr lang="vi-VN" sz="1400">
                <a:solidFill>
                  <a:schemeClr val="bg1">
                    <a:lumMod val="95000"/>
                  </a:schemeClr>
                </a:solidFill>
              </a:rPr>
              <a:t> của cáp gần 120 </a:t>
            </a:r>
            <a:r>
              <a:rPr lang="el-GR" sz="1400">
                <a:solidFill>
                  <a:schemeClr val="bg1">
                    <a:lumMod val="95000"/>
                  </a:schemeClr>
                </a:solidFill>
              </a:rPr>
              <a:t>Ω </a:t>
            </a:r>
            <a:r>
              <a:rPr lang="vi-VN" sz="1400">
                <a:solidFill>
                  <a:schemeClr val="bg1">
                    <a:lumMod val="95000"/>
                  </a:schemeClr>
                </a:solidFill>
              </a:rPr>
              <a:t>ổn định dọc theo chiều dài → giảm phản xạ tín hiệu (reflection), rất quan trọng khi bus dài (lên đến 40 m ở 1 Mbps).</a:t>
            </a:r>
          </a:p>
          <a:p>
            <a:r>
              <a:rPr lang="vi-VN" sz="1400" b="1">
                <a:solidFill>
                  <a:schemeClr val="bg1">
                    <a:lumMod val="95000"/>
                  </a:schemeClr>
                </a:solidFill>
              </a:rPr>
              <a:t>3. Giảm phát xạ nhiễu ra ngoài (EMI radiation)</a:t>
            </a:r>
          </a:p>
          <a:p>
            <a:pPr lvl="1"/>
            <a:r>
              <a:rPr lang="vi-VN" sz="1400">
                <a:solidFill>
                  <a:schemeClr val="bg1">
                    <a:lumMod val="95000"/>
                  </a:schemeClr>
                </a:solidFill>
                <a:effectLst/>
              </a:rPr>
              <a:t>Dòng điện chạy trên CAN_H và CAN_L ngược chiều nhau → từ trường triệt tiêu nhau → giảm nhiễu bức xạ ra các dây khác (đặc biệt hữu ích trong xe hơi có rất nhiều hệ thống điện tử).</a:t>
            </a:r>
          </a:p>
        </p:txBody>
      </p:sp>
      <p:pic>
        <p:nvPicPr>
          <p:cNvPr id="3" name="Picture 2">
            <a:extLst>
              <a:ext uri="{FF2B5EF4-FFF2-40B4-BE49-F238E27FC236}">
                <a16:creationId xmlns:a16="http://schemas.microsoft.com/office/drawing/2014/main" id="{5BE286B8-D24E-2FFB-C1FE-2A34D81D3E67}"/>
              </a:ext>
            </a:extLst>
          </p:cNvPr>
          <p:cNvPicPr>
            <a:picLocks noChangeAspect="1"/>
          </p:cNvPicPr>
          <p:nvPr/>
        </p:nvPicPr>
        <p:blipFill>
          <a:blip r:embed="rId5"/>
          <a:stretch>
            <a:fillRect/>
          </a:stretch>
        </p:blipFill>
        <p:spPr>
          <a:xfrm>
            <a:off x="3188747" y="5262600"/>
            <a:ext cx="6015027" cy="1141674"/>
          </a:xfrm>
          <a:prstGeom prst="rect">
            <a:avLst/>
          </a:prstGeom>
        </p:spPr>
      </p:pic>
    </p:spTree>
    <p:extLst>
      <p:ext uri="{BB962C8B-B14F-4D97-AF65-F5344CB8AC3E}">
        <p14:creationId xmlns:p14="http://schemas.microsoft.com/office/powerpoint/2010/main" val="62560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800493" cy="584775"/>
          </a:xfrm>
          <a:prstGeom prst="rect">
            <a:avLst/>
          </a:prstGeom>
          <a:noFill/>
        </p:spPr>
        <p:txBody>
          <a:bodyPr wrap="none" rtlCol="0">
            <a:spAutoFit/>
          </a:bodyPr>
          <a:lstStyle/>
          <a:p>
            <a:r>
              <a:rPr lang="en-US" sz="3200" b="1" dirty="0">
                <a:solidFill>
                  <a:schemeClr val="bg1"/>
                </a:solidFill>
              </a:rPr>
              <a:t>CAN BUS </a:t>
            </a:r>
          </a:p>
        </p:txBody>
      </p:sp>
      <p:sp>
        <p:nvSpPr>
          <p:cNvPr id="7" name="Rectangle 6"/>
          <p:cNvSpPr/>
          <p:nvPr/>
        </p:nvSpPr>
        <p:spPr>
          <a:xfrm>
            <a:off x="414528" y="1124396"/>
            <a:ext cx="11167872" cy="523220"/>
          </a:xfrm>
          <a:prstGeom prst="rect">
            <a:avLst/>
          </a:prstGeom>
        </p:spPr>
        <p:txBody>
          <a:bodyPr wrap="square">
            <a:spAutoFit/>
          </a:bodyPr>
          <a:lstStyle/>
          <a:p>
            <a:pPr marL="285750" indent="-285750">
              <a:buFont typeface="Arial" panose="020B0604020202020204" pitchFamily="34" charset="0"/>
              <a:buChar char="•"/>
            </a:pPr>
            <a:r>
              <a:rPr lang="en-US" sz="1400">
                <a:solidFill>
                  <a:schemeClr val="bg1"/>
                </a:solidFill>
              </a:rPr>
              <a:t>Tại sao lại dùng cặp dây xoắn (twisted pair)?  Khả năng chống nhiễu (Noise Immunity).</a:t>
            </a:r>
          </a:p>
          <a:p>
            <a:pPr marL="285750" indent="-285750">
              <a:buFont typeface="Arial" panose="020B0604020202020204" pitchFamily="34" charset="0"/>
              <a:buChar char="•"/>
            </a:pPr>
            <a:r>
              <a:rPr lang="en-US" sz="1400">
                <a:solidFill>
                  <a:schemeClr val="bg1"/>
                </a:solidFill>
              </a:rPr>
              <a:t>Kết thúc bằng điện trở 120 ohm -&gt; Phối hợp trở kháng (Impedance matching).</a:t>
            </a:r>
            <a:endParaRPr lang="en-US" sz="1400" b="1" dirty="0">
              <a:solidFill>
                <a:schemeClr val="bg1"/>
              </a:solidFill>
            </a:endParaRPr>
          </a:p>
        </p:txBody>
      </p:sp>
      <p:pic>
        <p:nvPicPr>
          <p:cNvPr id="3" name="Picture 2">
            <a:extLst>
              <a:ext uri="{FF2B5EF4-FFF2-40B4-BE49-F238E27FC236}">
                <a16:creationId xmlns:a16="http://schemas.microsoft.com/office/drawing/2014/main" id="{5BE286B8-D24E-2FFB-C1FE-2A34D81D3E67}"/>
              </a:ext>
            </a:extLst>
          </p:cNvPr>
          <p:cNvPicPr>
            <a:picLocks noChangeAspect="1"/>
          </p:cNvPicPr>
          <p:nvPr/>
        </p:nvPicPr>
        <p:blipFill>
          <a:blip r:embed="rId5"/>
          <a:stretch>
            <a:fillRect/>
          </a:stretch>
        </p:blipFill>
        <p:spPr>
          <a:xfrm>
            <a:off x="495300" y="1753177"/>
            <a:ext cx="10963275" cy="2080870"/>
          </a:xfrm>
          <a:prstGeom prst="rect">
            <a:avLst/>
          </a:prstGeom>
        </p:spPr>
      </p:pic>
      <p:sp>
        <p:nvSpPr>
          <p:cNvPr id="6" name="TextBox 5">
            <a:extLst>
              <a:ext uri="{FF2B5EF4-FFF2-40B4-BE49-F238E27FC236}">
                <a16:creationId xmlns:a16="http://schemas.microsoft.com/office/drawing/2014/main" id="{75A562F9-68FA-CEF7-3723-2E97D42B3009}"/>
              </a:ext>
            </a:extLst>
          </p:cNvPr>
          <p:cNvSpPr txBox="1"/>
          <p:nvPr/>
        </p:nvSpPr>
        <p:spPr>
          <a:xfrm>
            <a:off x="403623" y="4040834"/>
            <a:ext cx="6172200" cy="1384995"/>
          </a:xfrm>
          <a:prstGeom prst="rect">
            <a:avLst/>
          </a:prstGeom>
          <a:noFill/>
        </p:spPr>
        <p:txBody>
          <a:bodyPr wrap="square">
            <a:spAutoFit/>
          </a:bodyPr>
          <a:lstStyle/>
          <a:p>
            <a:r>
              <a:rPr lang="vi-VN" sz="1400">
                <a:solidFill>
                  <a:schemeClr val="bg1"/>
                </a:solidFill>
              </a:rPr>
              <a:t>Mạng CAN sử dụng cặp dây xoắn đôi (Dual-Twisted pair) được gọi là CAN High (CANH) và CAN Low (CANL).</a:t>
            </a:r>
          </a:p>
          <a:p>
            <a:endParaRPr lang="vi-VN" sz="1400">
              <a:solidFill>
                <a:schemeClr val="bg1"/>
              </a:solidFill>
            </a:endParaRPr>
          </a:p>
          <a:p>
            <a:r>
              <a:rPr lang="vi-VN" sz="1400">
                <a:solidFill>
                  <a:schemeClr val="bg1"/>
                </a:solidFill>
              </a:rPr>
              <a:t>Cơ chế logic điện áp vi sai (Differential Voltage Logic):</a:t>
            </a:r>
          </a:p>
          <a:p>
            <a:r>
              <a:rPr lang="vi-VN" sz="1400">
                <a:solidFill>
                  <a:schemeClr val="bg1"/>
                </a:solidFill>
              </a:rPr>
              <a:t>* Logic 1 = Bit lặn (Recessive bit)</a:t>
            </a:r>
          </a:p>
          <a:p>
            <a:r>
              <a:rPr lang="vi-VN" sz="1400">
                <a:solidFill>
                  <a:schemeClr val="bg1"/>
                </a:solidFill>
              </a:rPr>
              <a:t>* Logic 0 = Bit trội (Dominant bit)</a:t>
            </a:r>
            <a:endParaRPr lang="en-US" sz="1400" b="1" dirty="0">
              <a:solidFill>
                <a:schemeClr val="bg1"/>
              </a:solidFill>
            </a:endParaRPr>
          </a:p>
        </p:txBody>
      </p:sp>
      <p:graphicFrame>
        <p:nvGraphicFramePr>
          <p:cNvPr id="8" name="Object 7">
            <a:extLst>
              <a:ext uri="{FF2B5EF4-FFF2-40B4-BE49-F238E27FC236}">
                <a16:creationId xmlns:a16="http://schemas.microsoft.com/office/drawing/2014/main" id="{4031B079-C703-6EBB-6355-E82A415B6D89}"/>
              </a:ext>
            </a:extLst>
          </p:cNvPr>
          <p:cNvGraphicFramePr>
            <a:graphicFrameLocks noChangeAspect="1"/>
          </p:cNvGraphicFramePr>
          <p:nvPr/>
        </p:nvGraphicFramePr>
        <p:xfrm>
          <a:off x="3025381" y="5425829"/>
          <a:ext cx="3550442" cy="1063751"/>
        </p:xfrm>
        <a:graphic>
          <a:graphicData uri="http://schemas.openxmlformats.org/presentationml/2006/ole">
            <mc:AlternateContent xmlns:mc="http://schemas.openxmlformats.org/markup-compatibility/2006">
              <mc:Choice xmlns:v="urn:schemas-microsoft-com:vml" Requires="v">
                <p:oleObj name="Worksheet" r:id="rId6" imgW="2447857" imgH="733515" progId="Excel.Sheet.12">
                  <p:embed/>
                </p:oleObj>
              </mc:Choice>
              <mc:Fallback>
                <p:oleObj name="Worksheet" r:id="rId6" imgW="2447857" imgH="733515" progId="Excel.Sheet.12">
                  <p:embed/>
                  <p:pic>
                    <p:nvPicPr>
                      <p:cNvPr id="8" name="Object 7">
                        <a:extLst>
                          <a:ext uri="{FF2B5EF4-FFF2-40B4-BE49-F238E27FC236}">
                            <a16:creationId xmlns:a16="http://schemas.microsoft.com/office/drawing/2014/main" id="{4031B079-C703-6EBB-6355-E82A415B6D89}"/>
                          </a:ext>
                        </a:extLst>
                      </p:cNvPr>
                      <p:cNvPicPr/>
                      <p:nvPr/>
                    </p:nvPicPr>
                    <p:blipFill>
                      <a:blip r:embed="rId7"/>
                      <a:stretch>
                        <a:fillRect/>
                      </a:stretch>
                    </p:blipFill>
                    <p:spPr>
                      <a:xfrm>
                        <a:off x="3025381" y="5425829"/>
                        <a:ext cx="3550442" cy="1063751"/>
                      </a:xfrm>
                      <a:prstGeom prst="rect">
                        <a:avLst/>
                      </a:prstGeom>
                      <a:solidFill>
                        <a:schemeClr val="bg1"/>
                      </a:solidFill>
                    </p:spPr>
                  </p:pic>
                </p:oleObj>
              </mc:Fallback>
            </mc:AlternateContent>
          </a:graphicData>
        </a:graphic>
      </p:graphicFrame>
      <p:pic>
        <p:nvPicPr>
          <p:cNvPr id="9" name="Picture 4" descr="Related image">
            <a:extLst>
              <a:ext uri="{FF2B5EF4-FFF2-40B4-BE49-F238E27FC236}">
                <a16:creationId xmlns:a16="http://schemas.microsoft.com/office/drawing/2014/main" id="{D83BF45A-718A-F5CF-D8D2-09317D90DE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9981" y="4006575"/>
            <a:ext cx="4538594" cy="250672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375FE8C0-2D94-F75F-4467-D321A5613CC9}"/>
              </a:ext>
            </a:extLst>
          </p:cNvPr>
          <p:cNvPicPr>
            <a:picLocks noChangeAspect="1"/>
          </p:cNvPicPr>
          <p:nvPr/>
        </p:nvPicPr>
        <p:blipFill>
          <a:blip r:embed="rId5"/>
          <a:stretch>
            <a:fillRect/>
          </a:stretch>
        </p:blipFill>
        <p:spPr>
          <a:xfrm>
            <a:off x="3188747" y="5262600"/>
            <a:ext cx="6015027" cy="1141674"/>
          </a:xfrm>
          <a:prstGeom prst="rect">
            <a:avLst/>
          </a:prstGeom>
        </p:spPr>
      </p:pic>
      <p:pic>
        <p:nvPicPr>
          <p:cNvPr id="10" name="Picture 9">
            <a:extLst>
              <a:ext uri="{FF2B5EF4-FFF2-40B4-BE49-F238E27FC236}">
                <a16:creationId xmlns:a16="http://schemas.microsoft.com/office/drawing/2014/main" id="{97EC196A-FFE1-A337-3223-EABC9EAA6D5E}"/>
              </a:ext>
            </a:extLst>
          </p:cNvPr>
          <p:cNvPicPr>
            <a:picLocks noChangeAspect="1"/>
          </p:cNvPicPr>
          <p:nvPr/>
        </p:nvPicPr>
        <p:blipFill>
          <a:blip r:embed="rId9"/>
          <a:stretch>
            <a:fillRect/>
          </a:stretch>
        </p:blipFill>
        <p:spPr>
          <a:xfrm>
            <a:off x="0" y="189052"/>
            <a:ext cx="12192000" cy="6479896"/>
          </a:xfrm>
          <a:prstGeom prst="rect">
            <a:avLst/>
          </a:prstGeom>
        </p:spPr>
      </p:pic>
    </p:spTree>
    <p:extLst>
      <p:ext uri="{BB962C8B-B14F-4D97-AF65-F5344CB8AC3E}">
        <p14:creationId xmlns:p14="http://schemas.microsoft.com/office/powerpoint/2010/main" val="128420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5">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5658921" cy="584775"/>
          </a:xfrm>
          <a:prstGeom prst="rect">
            <a:avLst/>
          </a:prstGeom>
          <a:noFill/>
        </p:spPr>
        <p:txBody>
          <a:bodyPr wrap="none" rtlCol="0">
            <a:spAutoFit/>
          </a:bodyPr>
          <a:lstStyle/>
          <a:p>
            <a:r>
              <a:rPr lang="en-US" sz="3200" b="1" dirty="0">
                <a:solidFill>
                  <a:schemeClr val="bg1"/>
                </a:solidFill>
              </a:rPr>
              <a:t>WHY CAN BUS NEED 120 OHM ?</a:t>
            </a:r>
          </a:p>
        </p:txBody>
      </p:sp>
      <p:pic>
        <p:nvPicPr>
          <p:cNvPr id="5" name="Video 3">
            <a:hlinkClick r:id="" action="ppaction://media"/>
            <a:extLst>
              <a:ext uri="{FF2B5EF4-FFF2-40B4-BE49-F238E27FC236}">
                <a16:creationId xmlns:a16="http://schemas.microsoft.com/office/drawing/2014/main" id="{05B3E1A3-DA78-C01D-B160-4BD17B8BA15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940043" y="1168976"/>
            <a:ext cx="10689470" cy="5199982"/>
          </a:xfrm>
          <a:prstGeom prst="rect">
            <a:avLst/>
          </a:prstGeom>
        </p:spPr>
      </p:pic>
    </p:spTree>
    <p:extLst>
      <p:ext uri="{BB962C8B-B14F-4D97-AF65-F5344CB8AC3E}">
        <p14:creationId xmlns:p14="http://schemas.microsoft.com/office/powerpoint/2010/main" val="112819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54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510233"/>
            <a:ext cx="1800493" cy="584775"/>
          </a:xfrm>
          <a:prstGeom prst="rect">
            <a:avLst/>
          </a:prstGeom>
          <a:noFill/>
        </p:spPr>
        <p:txBody>
          <a:bodyPr wrap="none" rtlCol="0">
            <a:spAutoFit/>
          </a:bodyPr>
          <a:lstStyle/>
          <a:p>
            <a:r>
              <a:rPr lang="en-US" sz="3200" b="1">
                <a:solidFill>
                  <a:schemeClr val="bg1"/>
                </a:solidFill>
              </a:rPr>
              <a:t>CAN BUS </a:t>
            </a:r>
            <a:endParaRPr lang="en-US" sz="3200" b="1" dirty="0">
              <a:solidFill>
                <a:schemeClr val="bg1"/>
              </a:solidFill>
            </a:endParaRPr>
          </a:p>
        </p:txBody>
      </p:sp>
      <p:sp>
        <p:nvSpPr>
          <p:cNvPr id="7" name="Rectangle 6"/>
          <p:cNvSpPr/>
          <p:nvPr/>
        </p:nvSpPr>
        <p:spPr>
          <a:xfrm>
            <a:off x="414528" y="1124396"/>
            <a:ext cx="11167872" cy="5262979"/>
          </a:xfrm>
          <a:prstGeom prst="rect">
            <a:avLst/>
          </a:prstGeom>
        </p:spPr>
        <p:txBody>
          <a:bodyPr wrap="square">
            <a:spAutoFit/>
          </a:bodyPr>
          <a:lstStyle/>
          <a:p>
            <a:r>
              <a:rPr lang="vi-VN" sz="1400" b="1">
                <a:solidFill>
                  <a:schemeClr val="bg1"/>
                </a:solidFill>
              </a:rPr>
              <a:t>📡 Tránh phản xạ tín hiệu (signal reflection)</a:t>
            </a:r>
          </a:p>
          <a:p>
            <a:r>
              <a:rPr lang="vi-VN" sz="1400">
                <a:solidFill>
                  <a:schemeClr val="bg1"/>
                </a:solidFill>
              </a:rPr>
              <a:t>CAN sử dụng đường truyền dạng </a:t>
            </a:r>
            <a:r>
              <a:rPr lang="vi-VN" sz="1400" b="1">
                <a:solidFill>
                  <a:schemeClr val="bg1"/>
                </a:solidFill>
              </a:rPr>
              <a:t>differential (CAN_H và CAN_L)</a:t>
            </a:r>
            <a:r>
              <a:rPr lang="vi-VN" sz="1400">
                <a:solidFill>
                  <a:schemeClr val="bg1"/>
                </a:solidFill>
              </a:rPr>
              <a:t> giống như một đường dây dài (transmission line).</a:t>
            </a:r>
          </a:p>
          <a:p>
            <a:pPr>
              <a:buFont typeface="Arial" panose="020B0604020202020204" pitchFamily="34" charset="0"/>
              <a:buChar char="•"/>
            </a:pPr>
            <a:r>
              <a:rPr lang="en-US" sz="1400">
                <a:solidFill>
                  <a:schemeClr val="bg1"/>
                </a:solidFill>
              </a:rPr>
              <a:t> </a:t>
            </a:r>
            <a:r>
              <a:rPr lang="vi-VN" sz="1400">
                <a:solidFill>
                  <a:schemeClr val="bg1"/>
                </a:solidFill>
              </a:rPr>
              <a:t>Khi tín hiệu chạy đến cuối dây mà </a:t>
            </a:r>
            <a:r>
              <a:rPr lang="vi-VN" sz="1400" b="1">
                <a:solidFill>
                  <a:schemeClr val="bg1"/>
                </a:solidFill>
              </a:rPr>
              <a:t>không có điện trở</a:t>
            </a:r>
            <a:r>
              <a:rPr lang="vi-VN" sz="1400">
                <a:solidFill>
                  <a:schemeClr val="bg1"/>
                </a:solidFill>
              </a:rPr>
              <a:t>, nó sẽ bị </a:t>
            </a:r>
            <a:r>
              <a:rPr lang="vi-VN" sz="1400" b="1">
                <a:solidFill>
                  <a:schemeClr val="bg1"/>
                </a:solidFill>
              </a:rPr>
              <a:t>phản xạ ngược lại</a:t>
            </a:r>
            <a:r>
              <a:rPr lang="vi-VN" sz="1400">
                <a:solidFill>
                  <a:schemeClr val="bg1"/>
                </a:solidFill>
              </a:rPr>
              <a:t> </a:t>
            </a:r>
          </a:p>
          <a:p>
            <a:pPr>
              <a:buFont typeface="Arial" panose="020B0604020202020204" pitchFamily="34" charset="0"/>
              <a:buChar char="•"/>
            </a:pPr>
            <a:r>
              <a:rPr lang="en-US" sz="1400">
                <a:solidFill>
                  <a:schemeClr val="bg1"/>
                </a:solidFill>
              </a:rPr>
              <a:t> </a:t>
            </a:r>
            <a:r>
              <a:rPr lang="vi-VN" sz="1400">
                <a:solidFill>
                  <a:schemeClr val="bg1"/>
                </a:solidFill>
              </a:rPr>
              <a:t>Phản xạ → gây nhiễu → sai dữ liệu </a:t>
            </a:r>
          </a:p>
          <a:p>
            <a:r>
              <a:rPr lang="vi-VN" sz="1400">
                <a:solidFill>
                  <a:schemeClr val="bg1"/>
                </a:solidFill>
              </a:rPr>
              <a:t>👉 Hai điện trở (thường </a:t>
            </a:r>
            <a:r>
              <a:rPr lang="vi-VN" sz="1400" b="1">
                <a:solidFill>
                  <a:schemeClr val="bg1"/>
                </a:solidFill>
              </a:rPr>
              <a:t>120</a:t>
            </a:r>
            <a:r>
              <a:rPr lang="el-GR" sz="1400" b="1">
                <a:solidFill>
                  <a:schemeClr val="bg1"/>
                </a:solidFill>
              </a:rPr>
              <a:t>Ω </a:t>
            </a:r>
            <a:r>
              <a:rPr lang="vi-VN" sz="1400" b="1">
                <a:solidFill>
                  <a:schemeClr val="bg1"/>
                </a:solidFill>
              </a:rPr>
              <a:t>mỗi cái</a:t>
            </a:r>
            <a:r>
              <a:rPr lang="vi-VN" sz="1400">
                <a:solidFill>
                  <a:schemeClr val="bg1"/>
                </a:solidFill>
              </a:rPr>
              <a:t>) được đặt </a:t>
            </a:r>
            <a:r>
              <a:rPr lang="vi-VN" sz="1400" b="1">
                <a:solidFill>
                  <a:schemeClr val="bg1"/>
                </a:solidFill>
              </a:rPr>
              <a:t>ở 2 đầu bus</a:t>
            </a:r>
            <a:r>
              <a:rPr lang="vi-VN" sz="1400">
                <a:solidFill>
                  <a:schemeClr val="bg1"/>
                </a:solidFill>
              </a:rPr>
              <a:t> để:</a:t>
            </a:r>
          </a:p>
          <a:p>
            <a:pPr>
              <a:buFont typeface="Arial" panose="020B0604020202020204" pitchFamily="34" charset="0"/>
              <a:buChar char="•"/>
            </a:pPr>
            <a:r>
              <a:rPr lang="vi-VN" sz="1400">
                <a:solidFill>
                  <a:schemeClr val="bg1"/>
                </a:solidFill>
              </a:rPr>
              <a:t>Hấp thụ tín hiệu </a:t>
            </a:r>
          </a:p>
          <a:p>
            <a:pPr>
              <a:buFont typeface="Arial" panose="020B0604020202020204" pitchFamily="34" charset="0"/>
              <a:buChar char="•"/>
            </a:pPr>
            <a:r>
              <a:rPr lang="vi-VN" sz="1400">
                <a:solidFill>
                  <a:schemeClr val="bg1"/>
                </a:solidFill>
              </a:rPr>
              <a:t>Ngăn tín hiệu phản xạ</a:t>
            </a:r>
            <a:endParaRPr lang="en-US" sz="1400">
              <a:solidFill>
                <a:schemeClr val="bg1"/>
              </a:solidFill>
            </a:endParaRPr>
          </a:p>
          <a:p>
            <a:endParaRPr lang="en-US" sz="1400">
              <a:solidFill>
                <a:schemeClr val="bg1"/>
              </a:solidFill>
            </a:endParaRPr>
          </a:p>
          <a:p>
            <a:r>
              <a:rPr lang="vi-VN" sz="1400" b="1">
                <a:solidFill>
                  <a:schemeClr val="bg1"/>
                </a:solidFill>
              </a:rPr>
              <a:t>Tạo mức điện áp ổn định khi idle</a:t>
            </a:r>
          </a:p>
          <a:p>
            <a:r>
              <a:rPr lang="vi-VN" sz="1400">
                <a:solidFill>
                  <a:schemeClr val="bg1"/>
                </a:solidFill>
              </a:rPr>
              <a:t>Khi bus không truyền:</a:t>
            </a:r>
          </a:p>
          <a:p>
            <a:pPr>
              <a:buFont typeface="Arial" panose="020B0604020202020204" pitchFamily="34" charset="0"/>
              <a:buChar char="•"/>
            </a:pPr>
            <a:r>
              <a:rPr lang="en-US" sz="1400">
                <a:solidFill>
                  <a:schemeClr val="bg1"/>
                </a:solidFill>
              </a:rPr>
              <a:t> </a:t>
            </a:r>
            <a:r>
              <a:rPr lang="vi-VN" sz="1400">
                <a:solidFill>
                  <a:schemeClr val="bg1"/>
                </a:solidFill>
              </a:rPr>
              <a:t>CAN_H ≈ 2.5V </a:t>
            </a:r>
          </a:p>
          <a:p>
            <a:pPr>
              <a:buFont typeface="Arial" panose="020B0604020202020204" pitchFamily="34" charset="0"/>
              <a:buChar char="•"/>
            </a:pPr>
            <a:r>
              <a:rPr lang="en-US" sz="1400">
                <a:solidFill>
                  <a:schemeClr val="bg1"/>
                </a:solidFill>
              </a:rPr>
              <a:t> </a:t>
            </a:r>
            <a:r>
              <a:rPr lang="vi-VN" sz="1400">
                <a:solidFill>
                  <a:schemeClr val="bg1"/>
                </a:solidFill>
              </a:rPr>
              <a:t>CAN_L ≈ 2.5V </a:t>
            </a:r>
          </a:p>
          <a:p>
            <a:r>
              <a:rPr lang="vi-VN" sz="1400">
                <a:solidFill>
                  <a:schemeClr val="bg1"/>
                </a:solidFill>
              </a:rPr>
              <a:t>Hai điện trở giúp:</a:t>
            </a:r>
          </a:p>
          <a:p>
            <a:pPr>
              <a:buFont typeface="Arial" panose="020B0604020202020204" pitchFamily="34" charset="0"/>
              <a:buChar char="•"/>
            </a:pPr>
            <a:r>
              <a:rPr lang="en-US" sz="1400">
                <a:solidFill>
                  <a:schemeClr val="bg1"/>
                </a:solidFill>
              </a:rPr>
              <a:t> </a:t>
            </a:r>
            <a:r>
              <a:rPr lang="vi-VN" sz="1400">
                <a:solidFill>
                  <a:schemeClr val="bg1"/>
                </a:solidFill>
              </a:rPr>
              <a:t>Giữ trạng thái cân bằng </a:t>
            </a:r>
          </a:p>
          <a:p>
            <a:pPr>
              <a:buFont typeface="Arial" panose="020B0604020202020204" pitchFamily="34" charset="0"/>
              <a:buChar char="•"/>
            </a:pPr>
            <a:r>
              <a:rPr lang="en-US" sz="1400">
                <a:solidFill>
                  <a:schemeClr val="bg1"/>
                </a:solidFill>
              </a:rPr>
              <a:t> </a:t>
            </a:r>
            <a:r>
              <a:rPr lang="vi-VN" sz="1400">
                <a:solidFill>
                  <a:schemeClr val="bg1"/>
                </a:solidFill>
              </a:rPr>
              <a:t>Tránh nhiễu ngẫu nhiên</a:t>
            </a:r>
          </a:p>
          <a:p>
            <a:endParaRPr lang="en-US" sz="1400">
              <a:solidFill>
                <a:schemeClr val="bg1"/>
              </a:solidFill>
            </a:endParaRPr>
          </a:p>
          <a:p>
            <a:r>
              <a:rPr lang="vi-VN" sz="1400" b="1">
                <a:solidFill>
                  <a:schemeClr val="bg1"/>
                </a:solidFill>
              </a:rPr>
              <a:t>📍 Vì sao phải là 2 điện trở, không phải 1?</a:t>
            </a:r>
          </a:p>
          <a:p>
            <a:pPr>
              <a:buFont typeface="Arial" panose="020B0604020202020204" pitchFamily="34" charset="0"/>
              <a:buChar char="•"/>
            </a:pPr>
            <a:r>
              <a:rPr lang="vi-VN" sz="1400">
                <a:solidFill>
                  <a:schemeClr val="bg1"/>
                </a:solidFill>
              </a:rPr>
              <a:t>CAN là </a:t>
            </a:r>
            <a:r>
              <a:rPr lang="vi-VN" sz="1400" b="1">
                <a:solidFill>
                  <a:schemeClr val="bg1"/>
                </a:solidFill>
              </a:rPr>
              <a:t>bus tuyến tính (linear bus)</a:t>
            </a:r>
            <a:r>
              <a:rPr lang="vi-VN" sz="1400">
                <a:solidFill>
                  <a:schemeClr val="bg1"/>
                </a:solidFill>
              </a:rPr>
              <a:t> → có </a:t>
            </a:r>
            <a:r>
              <a:rPr lang="vi-VN" sz="1400" b="1">
                <a:solidFill>
                  <a:schemeClr val="bg1"/>
                </a:solidFill>
              </a:rPr>
              <a:t>2 đầu</a:t>
            </a:r>
            <a:r>
              <a:rPr lang="vi-VN" sz="1400">
                <a:solidFill>
                  <a:schemeClr val="bg1"/>
                </a:solidFill>
              </a:rPr>
              <a:t> </a:t>
            </a:r>
          </a:p>
          <a:p>
            <a:pPr>
              <a:buFont typeface="Arial" panose="020B0604020202020204" pitchFamily="34" charset="0"/>
              <a:buChar char="•"/>
            </a:pPr>
            <a:r>
              <a:rPr lang="vi-VN" sz="1400">
                <a:solidFill>
                  <a:schemeClr val="bg1"/>
                </a:solidFill>
              </a:rPr>
              <a:t>Mỗi đầu cần 1 termination resistor </a:t>
            </a:r>
          </a:p>
          <a:p>
            <a:r>
              <a:rPr lang="vi-VN" sz="1400">
                <a:solidFill>
                  <a:schemeClr val="bg1"/>
                </a:solidFill>
              </a:rPr>
              <a:t>👉 Nếu:</a:t>
            </a:r>
          </a:p>
          <a:p>
            <a:pPr>
              <a:buFont typeface="Arial" panose="020B0604020202020204" pitchFamily="34" charset="0"/>
              <a:buChar char="•"/>
            </a:pPr>
            <a:r>
              <a:rPr lang="en-US" sz="1400">
                <a:solidFill>
                  <a:schemeClr val="bg1"/>
                </a:solidFill>
              </a:rPr>
              <a:t> </a:t>
            </a:r>
            <a:r>
              <a:rPr lang="vi-VN" sz="1400">
                <a:solidFill>
                  <a:schemeClr val="bg1"/>
                </a:solidFill>
              </a:rPr>
              <a:t>❌ Chỉ có 1 điện trở → vẫn bị phản xạ ở đầu còn lại </a:t>
            </a:r>
          </a:p>
          <a:p>
            <a:pPr>
              <a:buFont typeface="Arial" panose="020B0604020202020204" pitchFamily="34" charset="0"/>
              <a:buChar char="•"/>
            </a:pPr>
            <a:r>
              <a:rPr lang="en-US" sz="1400">
                <a:solidFill>
                  <a:schemeClr val="bg1"/>
                </a:solidFill>
              </a:rPr>
              <a:t> </a:t>
            </a:r>
            <a:r>
              <a:rPr lang="vi-VN" sz="1400">
                <a:solidFill>
                  <a:schemeClr val="bg1"/>
                </a:solidFill>
              </a:rPr>
              <a:t>❌ Nhiều hơn 2 → sai trở kháng → tín hiệu yếu / lỗi </a:t>
            </a:r>
          </a:p>
          <a:p>
            <a:pPr>
              <a:buFont typeface="Arial" panose="020B0604020202020204" pitchFamily="34" charset="0"/>
              <a:buChar char="•"/>
            </a:pPr>
            <a:r>
              <a:rPr lang="en-US" sz="1400">
                <a:solidFill>
                  <a:schemeClr val="bg1"/>
                </a:solidFill>
              </a:rPr>
              <a:t> </a:t>
            </a:r>
            <a:r>
              <a:rPr lang="vi-VN" sz="1400">
                <a:solidFill>
                  <a:schemeClr val="bg1"/>
                </a:solidFill>
              </a:rPr>
              <a:t>❌ Không có → truyền không ổn định, lỗi CRC</a:t>
            </a:r>
          </a:p>
          <a:p>
            <a:endParaRPr lang="vi-VN" sz="1400">
              <a:solidFill>
                <a:schemeClr val="bg1"/>
              </a:solidFill>
            </a:endParaRPr>
          </a:p>
        </p:txBody>
      </p:sp>
      <p:pic>
        <p:nvPicPr>
          <p:cNvPr id="2" name="Picture 4" descr="Introduction to CAN Bus Protocol. CAN stands for Controller ...">
            <a:extLst>
              <a:ext uri="{FF2B5EF4-FFF2-40B4-BE49-F238E27FC236}">
                <a16:creationId xmlns:a16="http://schemas.microsoft.com/office/drawing/2014/main" id="{584C3E01-A574-69EB-B596-4CDA5A85C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0799" y="2606039"/>
            <a:ext cx="6486673" cy="2875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0683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1362943" cy="461665"/>
          </a:xfrm>
          <a:prstGeom prst="rect">
            <a:avLst/>
          </a:prstGeom>
          <a:noFill/>
        </p:spPr>
        <p:txBody>
          <a:bodyPr wrap="square" rtlCol="0">
            <a:spAutoFit/>
          </a:bodyPr>
          <a:lstStyle/>
          <a:p>
            <a:r>
              <a:rPr lang="vi-VN" sz="2400" b="1">
                <a:solidFill>
                  <a:schemeClr val="bg1"/>
                </a:solidFill>
                <a:effectLst/>
              </a:rPr>
              <a:t>Tại sao điện trở kết thúc (termination resistor) trên bus CAN phải là 120 </a:t>
            </a:r>
            <a:r>
              <a:rPr lang="el-GR" sz="2400" b="1">
                <a:solidFill>
                  <a:schemeClr val="bg1"/>
                </a:solidFill>
                <a:effectLst/>
              </a:rPr>
              <a:t>Ω</a:t>
            </a:r>
            <a:r>
              <a:rPr lang="en-US" sz="2400" b="1">
                <a:solidFill>
                  <a:schemeClr val="bg1"/>
                </a:solidFill>
                <a:effectLst/>
              </a:rPr>
              <a:t> ?</a:t>
            </a:r>
            <a:endParaRPr lang="vi-VN" sz="2400" b="1">
              <a:solidFill>
                <a:schemeClr val="bg1"/>
              </a:solidFill>
              <a:effectLst/>
            </a:endParaRPr>
          </a:p>
        </p:txBody>
      </p:sp>
      <p:sp>
        <p:nvSpPr>
          <p:cNvPr id="7" name="Rectangle 6"/>
          <p:cNvSpPr/>
          <p:nvPr/>
        </p:nvSpPr>
        <p:spPr>
          <a:xfrm>
            <a:off x="414528" y="1124396"/>
            <a:ext cx="11167872" cy="2585323"/>
          </a:xfrm>
          <a:prstGeom prst="rect">
            <a:avLst/>
          </a:prstGeom>
        </p:spPr>
        <p:txBody>
          <a:bodyPr wrap="square">
            <a:spAutoFit/>
          </a:bodyPr>
          <a:lstStyle/>
          <a:p>
            <a:r>
              <a:rPr lang="vi-VN" b="1">
                <a:solidFill>
                  <a:schemeClr val="bg1"/>
                </a:solidFill>
              </a:rPr>
              <a:t>Lý do chính: Phù hợp với trở kháng đặc trưng (Characteristic Impedance) của dây bus</a:t>
            </a:r>
          </a:p>
          <a:p>
            <a:pPr>
              <a:buFont typeface="Arial" panose="020B0604020202020204" pitchFamily="34" charset="0"/>
              <a:buChar char="•"/>
            </a:pPr>
            <a:r>
              <a:rPr lang="vi-VN">
                <a:solidFill>
                  <a:schemeClr val="bg1"/>
                </a:solidFill>
              </a:rPr>
              <a:t>Bus CAN sử dụng </a:t>
            </a:r>
            <a:r>
              <a:rPr lang="vi-VN" b="1">
                <a:solidFill>
                  <a:schemeClr val="bg1"/>
                </a:solidFill>
              </a:rPr>
              <a:t>cáp xoắn đôi (twisted pair)</a:t>
            </a:r>
            <a:r>
              <a:rPr lang="vi-VN">
                <a:solidFill>
                  <a:schemeClr val="bg1"/>
                </a:solidFill>
              </a:rPr>
              <a:t> gồm 2 dây CAN_H và CAN_L. Đây là một </a:t>
            </a:r>
            <a:r>
              <a:rPr lang="vi-VN" b="1">
                <a:solidFill>
                  <a:schemeClr val="bg1"/>
                </a:solidFill>
              </a:rPr>
              <a:t>transmission line</a:t>
            </a:r>
            <a:r>
              <a:rPr lang="vi-VN">
                <a:solidFill>
                  <a:schemeClr val="bg1"/>
                </a:solidFill>
              </a:rPr>
              <a:t> (đường truyền tín hiệu).</a:t>
            </a:r>
          </a:p>
          <a:p>
            <a:pPr>
              <a:buFont typeface="Arial" panose="020B0604020202020204" pitchFamily="34" charset="0"/>
              <a:buChar char="•"/>
            </a:pPr>
            <a:r>
              <a:rPr lang="vi-VN">
                <a:solidFill>
                  <a:schemeClr val="bg1"/>
                </a:solidFill>
              </a:rPr>
              <a:t>Mọi đường truyền tín hiệu đều có một giá trị </a:t>
            </a:r>
            <a:r>
              <a:rPr lang="vi-VN" b="1">
                <a:solidFill>
                  <a:schemeClr val="bg1"/>
                </a:solidFill>
              </a:rPr>
              <a:t>trở kháng đặc trưng (Z0)</a:t>
            </a:r>
            <a:r>
              <a:rPr lang="vi-VN">
                <a:solidFill>
                  <a:schemeClr val="bg1"/>
                </a:solidFill>
              </a:rPr>
              <a:t>, phụ thuộc vào:</a:t>
            </a:r>
          </a:p>
          <a:p>
            <a:pPr marL="742950" lvl="1" indent="-285750">
              <a:buFont typeface="Arial" panose="020B0604020202020204" pitchFamily="34" charset="0"/>
              <a:buChar char="•"/>
            </a:pPr>
            <a:r>
              <a:rPr lang="vi-VN">
                <a:solidFill>
                  <a:schemeClr val="bg1"/>
                </a:solidFill>
              </a:rPr>
              <a:t>Khoảng cách giữa 2 dây</a:t>
            </a:r>
          </a:p>
          <a:p>
            <a:pPr marL="742950" lvl="1" indent="-285750">
              <a:buFont typeface="Arial" panose="020B0604020202020204" pitchFamily="34" charset="0"/>
              <a:buChar char="•"/>
            </a:pPr>
            <a:r>
              <a:rPr lang="vi-VN">
                <a:solidFill>
                  <a:schemeClr val="bg1"/>
                </a:solidFill>
              </a:rPr>
              <a:t>Đường kính dây</a:t>
            </a:r>
          </a:p>
          <a:p>
            <a:pPr marL="742950" lvl="1" indent="-285750">
              <a:buFont typeface="Arial" panose="020B0604020202020204" pitchFamily="34" charset="0"/>
              <a:buChar char="•"/>
            </a:pPr>
            <a:r>
              <a:rPr lang="vi-VN">
                <a:solidFill>
                  <a:schemeClr val="bg1"/>
                </a:solidFill>
              </a:rPr>
              <a:t>Chất liệu cách điện</a:t>
            </a:r>
          </a:p>
          <a:p>
            <a:pPr marL="742950" lvl="1" indent="-285750">
              <a:buFont typeface="Arial" panose="020B0604020202020204" pitchFamily="34" charset="0"/>
              <a:buChar char="•"/>
            </a:pPr>
            <a:r>
              <a:rPr lang="vi-VN">
                <a:solidFill>
                  <a:schemeClr val="bg1"/>
                </a:solidFill>
              </a:rPr>
              <a:t>Độ xoắn của dây</a:t>
            </a:r>
          </a:p>
          <a:p>
            <a:pPr>
              <a:buFont typeface="Arial" panose="020B0604020202020204" pitchFamily="34" charset="0"/>
              <a:buChar char="•"/>
            </a:pPr>
            <a:r>
              <a:rPr lang="vi-VN">
                <a:solidFill>
                  <a:schemeClr val="bg1"/>
                </a:solidFill>
              </a:rPr>
              <a:t>Với loại cáp tiêu chuẩn dùng cho CAN (theo chuẩn </a:t>
            </a:r>
            <a:r>
              <a:rPr lang="vi-VN" b="1">
                <a:solidFill>
                  <a:schemeClr val="bg1"/>
                </a:solidFill>
              </a:rPr>
              <a:t>ISO 11898-2</a:t>
            </a:r>
            <a:r>
              <a:rPr lang="vi-VN">
                <a:solidFill>
                  <a:schemeClr val="bg1"/>
                </a:solidFill>
              </a:rPr>
              <a:t> – High Speed CAN), </a:t>
            </a:r>
            <a:r>
              <a:rPr lang="vi-VN" b="1">
                <a:solidFill>
                  <a:schemeClr val="bg1"/>
                </a:solidFill>
              </a:rPr>
              <a:t>Z0 ≈ 120 </a:t>
            </a:r>
            <a:r>
              <a:rPr lang="el-GR" b="1">
                <a:solidFill>
                  <a:schemeClr val="bg1"/>
                </a:solidFill>
              </a:rPr>
              <a:t>Ω</a:t>
            </a:r>
            <a:r>
              <a:rPr lang="el-GR">
                <a:solidFill>
                  <a:schemeClr val="bg1"/>
                </a:solidFill>
              </a:rPr>
              <a:t>.</a:t>
            </a:r>
          </a:p>
        </p:txBody>
      </p:sp>
      <p:pic>
        <p:nvPicPr>
          <p:cNvPr id="2" name="Picture 4" descr="Introduction to CAN Bus Protocol. CAN stands for Controller ...">
            <a:extLst>
              <a:ext uri="{FF2B5EF4-FFF2-40B4-BE49-F238E27FC236}">
                <a16:creationId xmlns:a16="http://schemas.microsoft.com/office/drawing/2014/main" id="{584C3E01-A574-69EB-B596-4CDA5A85C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9570" y="3874158"/>
            <a:ext cx="6292860" cy="278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04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1362943" cy="461665"/>
          </a:xfrm>
          <a:prstGeom prst="rect">
            <a:avLst/>
          </a:prstGeom>
          <a:noFill/>
        </p:spPr>
        <p:txBody>
          <a:bodyPr wrap="square" rtlCol="0">
            <a:spAutoFit/>
          </a:bodyPr>
          <a:lstStyle/>
          <a:p>
            <a:r>
              <a:rPr lang="vi-VN" sz="2400" b="1">
                <a:solidFill>
                  <a:schemeClr val="bg1"/>
                </a:solidFill>
                <a:effectLst/>
              </a:rPr>
              <a:t>Tại sao điện trở kết thúc (termination resistor) trên bus CAN phải là 120 </a:t>
            </a:r>
            <a:r>
              <a:rPr lang="el-GR" sz="2400" b="1">
                <a:solidFill>
                  <a:schemeClr val="bg1"/>
                </a:solidFill>
                <a:effectLst/>
              </a:rPr>
              <a:t>Ω</a:t>
            </a:r>
            <a:r>
              <a:rPr lang="en-US" sz="2400" b="1">
                <a:solidFill>
                  <a:schemeClr val="bg1"/>
                </a:solidFill>
                <a:effectLst/>
              </a:rPr>
              <a:t> ?</a:t>
            </a:r>
            <a:endParaRPr lang="vi-VN" sz="2400" b="1">
              <a:solidFill>
                <a:schemeClr val="bg1"/>
              </a:solidFill>
              <a:effectLst/>
            </a:endParaRPr>
          </a:p>
        </p:txBody>
      </p:sp>
      <p:sp>
        <p:nvSpPr>
          <p:cNvPr id="7" name="Rectangle 6"/>
          <p:cNvSpPr/>
          <p:nvPr/>
        </p:nvSpPr>
        <p:spPr>
          <a:xfrm>
            <a:off x="414528" y="1124396"/>
            <a:ext cx="11167872" cy="2956066"/>
          </a:xfrm>
          <a:prstGeom prst="rect">
            <a:avLst/>
          </a:prstGeom>
        </p:spPr>
        <p:txBody>
          <a:bodyPr wrap="square">
            <a:spAutoFit/>
          </a:bodyPr>
          <a:lstStyle/>
          <a:p>
            <a:pPr>
              <a:lnSpc>
                <a:spcPct val="150000"/>
              </a:lnSpc>
            </a:pPr>
            <a:r>
              <a:rPr lang="vi-VN" b="1">
                <a:solidFill>
                  <a:schemeClr val="bg1"/>
                </a:solidFill>
                <a:effectLst/>
              </a:rPr>
              <a:t>Nguyên tắc cơ bản của transmission line</a:t>
            </a:r>
            <a:r>
              <a:rPr lang="vi-VN">
                <a:solidFill>
                  <a:schemeClr val="bg1"/>
                </a:solidFill>
                <a:effectLst/>
              </a:rPr>
              <a:t>: Để truyền tín hiệu mà </a:t>
            </a:r>
            <a:r>
              <a:rPr lang="vi-VN" b="1">
                <a:solidFill>
                  <a:schemeClr val="bg1"/>
                </a:solidFill>
                <a:effectLst/>
              </a:rPr>
              <a:t>không bị phản xạ (reflection)</a:t>
            </a:r>
            <a:r>
              <a:rPr lang="vi-VN">
                <a:solidFill>
                  <a:schemeClr val="bg1"/>
                </a:solidFill>
                <a:effectLst/>
              </a:rPr>
              <a:t>, trở kháng tải ở </a:t>
            </a:r>
            <a:r>
              <a:rPr lang="vi-VN" b="1">
                <a:solidFill>
                  <a:schemeClr val="bg1"/>
                </a:solidFill>
                <a:effectLst/>
              </a:rPr>
              <a:t>hai đầu cuối đường truyền</a:t>
            </a:r>
            <a:r>
              <a:rPr lang="vi-VN">
                <a:solidFill>
                  <a:schemeClr val="bg1"/>
                </a:solidFill>
                <a:effectLst/>
              </a:rPr>
              <a:t> phải </a:t>
            </a:r>
            <a:r>
              <a:rPr lang="vi-VN" b="1">
                <a:solidFill>
                  <a:schemeClr val="bg1"/>
                </a:solidFill>
                <a:effectLst/>
              </a:rPr>
              <a:t>bằng đúng Z0</a:t>
            </a:r>
            <a:r>
              <a:rPr lang="vi-VN">
                <a:solidFill>
                  <a:schemeClr val="bg1"/>
                </a:solidFill>
                <a:effectLst/>
              </a:rPr>
              <a:t> của dây.</a:t>
            </a:r>
          </a:p>
          <a:p>
            <a:pPr>
              <a:lnSpc>
                <a:spcPct val="150000"/>
              </a:lnSpc>
            </a:pPr>
            <a:r>
              <a:rPr lang="vi-VN">
                <a:solidFill>
                  <a:schemeClr val="bg1"/>
                </a:solidFill>
                <a:effectLst/>
              </a:rPr>
              <a:t>→ </a:t>
            </a:r>
            <a:r>
              <a:rPr lang="vi-VN">
                <a:solidFill>
                  <a:schemeClr val="bg1"/>
                </a:solidFill>
                <a:effectLst/>
                <a:latin typeface="Arial (Body)"/>
              </a:rPr>
              <a:t>Nếu không khớp → tín hiệu đến cuối dây sẽ </a:t>
            </a:r>
            <a:r>
              <a:rPr lang="vi-VN" b="1">
                <a:solidFill>
                  <a:schemeClr val="bg1"/>
                </a:solidFill>
                <a:effectLst/>
                <a:latin typeface="Arial (Body)"/>
              </a:rPr>
              <a:t>bị bật ngược trở lại</a:t>
            </a:r>
            <a:r>
              <a:rPr lang="vi-VN">
                <a:solidFill>
                  <a:schemeClr val="bg1"/>
                </a:solidFill>
                <a:effectLst/>
                <a:latin typeface="Arial (Body)"/>
              </a:rPr>
              <a:t> (giống như sóng nước đập vào tường rồ</a:t>
            </a:r>
            <a:r>
              <a:rPr lang="en-US">
                <a:solidFill>
                  <a:schemeClr val="bg1"/>
                </a:solidFill>
                <a:latin typeface="Arial (Body)"/>
              </a:rPr>
              <a:t>i dội lại</a:t>
            </a:r>
            <a:r>
              <a:rPr lang="en-US" altLang="ja-JP">
                <a:solidFill>
                  <a:schemeClr val="bg1"/>
                </a:solidFill>
                <a:effectLst/>
              </a:rPr>
              <a:t>), </a:t>
            </a:r>
            <a:r>
              <a:rPr lang="vi-VN">
                <a:solidFill>
                  <a:schemeClr val="bg1"/>
                </a:solidFill>
                <a:effectLst/>
              </a:rPr>
              <a:t>gây ra </a:t>
            </a:r>
            <a:r>
              <a:rPr lang="vi-VN" b="1">
                <a:solidFill>
                  <a:schemeClr val="bg1"/>
                </a:solidFill>
                <a:effectLst/>
              </a:rPr>
              <a:t>ringing</a:t>
            </a:r>
            <a:r>
              <a:rPr lang="vi-VN">
                <a:solidFill>
                  <a:schemeClr val="bg1"/>
                </a:solidFill>
                <a:effectLst/>
              </a:rPr>
              <a:t> (dao động), méo dạng sóng, lỗi bit, và giao tiếp không ổn định.</a:t>
            </a:r>
          </a:p>
          <a:p>
            <a:pPr>
              <a:lnSpc>
                <a:spcPct val="150000"/>
              </a:lnSpc>
            </a:pPr>
            <a:r>
              <a:rPr lang="vi-VN" b="1">
                <a:solidFill>
                  <a:schemeClr val="bg1"/>
                </a:solidFill>
                <a:effectLst/>
              </a:rPr>
              <a:t>Vì vậy</a:t>
            </a:r>
            <a:r>
              <a:rPr lang="vi-VN">
                <a:solidFill>
                  <a:schemeClr val="bg1"/>
                </a:solidFill>
                <a:effectLst/>
              </a:rPr>
              <a:t>: Người ta đặt </a:t>
            </a:r>
            <a:r>
              <a:rPr lang="vi-VN" b="1">
                <a:solidFill>
                  <a:schemeClr val="bg1"/>
                </a:solidFill>
                <a:effectLst/>
              </a:rPr>
              <a:t>2 điện trở 120 </a:t>
            </a:r>
            <a:r>
              <a:rPr lang="el-GR" b="1">
                <a:solidFill>
                  <a:schemeClr val="bg1"/>
                </a:solidFill>
                <a:effectLst/>
              </a:rPr>
              <a:t>Ω</a:t>
            </a:r>
            <a:r>
              <a:rPr lang="el-GR">
                <a:solidFill>
                  <a:schemeClr val="bg1"/>
                </a:solidFill>
                <a:effectLst/>
              </a:rPr>
              <a:t>, </a:t>
            </a:r>
            <a:r>
              <a:rPr lang="vi-VN">
                <a:solidFill>
                  <a:schemeClr val="bg1"/>
                </a:solidFill>
                <a:effectLst/>
              </a:rPr>
              <a:t>mỗi cái ở </a:t>
            </a:r>
            <a:r>
              <a:rPr lang="vi-VN" b="1">
                <a:solidFill>
                  <a:schemeClr val="bg1"/>
                </a:solidFill>
                <a:effectLst/>
              </a:rPr>
              <a:t>mỗi đầu cuối vật lý</a:t>
            </a:r>
            <a:r>
              <a:rPr lang="vi-VN">
                <a:solidFill>
                  <a:schemeClr val="bg1"/>
                </a:solidFill>
                <a:effectLst/>
              </a:rPr>
              <a:t> của bus (một đầu gần node đầu tiên, một đầu gần node cuối cùng). Hai điện trở 120 </a:t>
            </a:r>
            <a:r>
              <a:rPr lang="el-GR">
                <a:solidFill>
                  <a:schemeClr val="bg1"/>
                </a:solidFill>
                <a:effectLst/>
              </a:rPr>
              <a:t>Ω </a:t>
            </a:r>
            <a:r>
              <a:rPr lang="vi-VN">
                <a:solidFill>
                  <a:schemeClr val="bg1"/>
                </a:solidFill>
                <a:effectLst/>
              </a:rPr>
              <a:t>nối song song → tổng trở kháng nhìn thấy trên bus là </a:t>
            </a:r>
            <a:r>
              <a:rPr lang="vi-VN" b="1">
                <a:solidFill>
                  <a:schemeClr val="bg1"/>
                </a:solidFill>
                <a:effectLst/>
              </a:rPr>
              <a:t>60 </a:t>
            </a:r>
            <a:r>
              <a:rPr lang="el-GR" b="1">
                <a:solidFill>
                  <a:schemeClr val="bg1"/>
                </a:solidFill>
                <a:effectLst/>
              </a:rPr>
              <a:t>Ω</a:t>
            </a:r>
            <a:r>
              <a:rPr lang="el-GR">
                <a:solidFill>
                  <a:schemeClr val="bg1"/>
                </a:solidFill>
                <a:effectLst/>
              </a:rPr>
              <a:t> (</a:t>
            </a:r>
            <a:r>
              <a:rPr lang="vi-VN">
                <a:solidFill>
                  <a:schemeClr val="bg1"/>
                </a:solidFill>
                <a:effectLst/>
              </a:rPr>
              <a:t>đây là giá trị đo được khi tắt nguồn và đo giữa CAN_H và CAN_L).</a:t>
            </a:r>
          </a:p>
        </p:txBody>
      </p:sp>
      <p:pic>
        <p:nvPicPr>
          <p:cNvPr id="2" name="Picture 4" descr="Introduction to CAN Bus Protocol. CAN stands for Controller ...">
            <a:extLst>
              <a:ext uri="{FF2B5EF4-FFF2-40B4-BE49-F238E27FC236}">
                <a16:creationId xmlns:a16="http://schemas.microsoft.com/office/drawing/2014/main" id="{584C3E01-A574-69EB-B596-4CDA5A85C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7885" y="4289328"/>
            <a:ext cx="5356230" cy="237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44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433768"/>
            <a:ext cx="11362943" cy="586699"/>
          </a:xfrm>
          <a:prstGeom prst="rect">
            <a:avLst/>
          </a:prstGeom>
          <a:noFill/>
        </p:spPr>
        <p:txBody>
          <a:bodyPr wrap="square" rtlCol="0">
            <a:spAutoFit/>
          </a:bodyPr>
          <a:lstStyle/>
          <a:p>
            <a:pPr>
              <a:lnSpc>
                <a:spcPct val="150000"/>
              </a:lnSpc>
            </a:pPr>
            <a:r>
              <a:rPr lang="vi-VN" sz="2400" b="1">
                <a:solidFill>
                  <a:schemeClr val="bg1"/>
                </a:solidFill>
              </a:rPr>
              <a:t>Tại sao không dùng giá trị khác (ví dụ 100 </a:t>
            </a:r>
            <a:r>
              <a:rPr lang="el-GR" sz="2400" b="1">
                <a:solidFill>
                  <a:schemeClr val="bg1"/>
                </a:solidFill>
              </a:rPr>
              <a:t>Ω, 150 Ω, 60 Ω...)?</a:t>
            </a:r>
          </a:p>
        </p:txBody>
      </p:sp>
      <p:sp>
        <p:nvSpPr>
          <p:cNvPr id="7" name="Rectangle 6"/>
          <p:cNvSpPr/>
          <p:nvPr/>
        </p:nvSpPr>
        <p:spPr>
          <a:xfrm>
            <a:off x="414528" y="1124396"/>
            <a:ext cx="11167872" cy="2534027"/>
          </a:xfrm>
          <a:prstGeom prst="rect">
            <a:avLst/>
          </a:prstGeom>
        </p:spPr>
        <p:txBody>
          <a:bodyPr wrap="square">
            <a:spAutoFit/>
          </a:bodyPr>
          <a:lstStyle/>
          <a:p>
            <a:pPr>
              <a:lnSpc>
                <a:spcPct val="150000"/>
              </a:lnSpc>
              <a:buFont typeface="Arial" panose="020B0604020202020204" pitchFamily="34" charset="0"/>
              <a:buChar char="•"/>
            </a:pPr>
            <a:r>
              <a:rPr lang="vi-VN" b="1">
                <a:solidFill>
                  <a:schemeClr val="bg1"/>
                </a:solidFill>
              </a:rPr>
              <a:t>Nếu dùng sai giá trị</a:t>
            </a:r>
            <a:r>
              <a:rPr lang="vi-VN">
                <a:solidFill>
                  <a:schemeClr val="bg1"/>
                </a:solidFill>
              </a:rPr>
              <a:t> (không khớp Z0):</a:t>
            </a:r>
          </a:p>
          <a:p>
            <a:pPr marL="742950" lvl="1" indent="-285750">
              <a:lnSpc>
                <a:spcPct val="150000"/>
              </a:lnSpc>
              <a:buFont typeface="Arial" panose="020B0604020202020204" pitchFamily="34" charset="0"/>
              <a:buChar char="•"/>
            </a:pPr>
            <a:r>
              <a:rPr lang="vi-VN" b="1">
                <a:solidFill>
                  <a:schemeClr val="bg1"/>
                </a:solidFill>
              </a:rPr>
              <a:t>Phản xạ tín hiệu</a:t>
            </a:r>
            <a:r>
              <a:rPr lang="vi-VN">
                <a:solidFill>
                  <a:schemeClr val="bg1"/>
                </a:solidFill>
              </a:rPr>
              <a:t> tăng → waveform bị ringing mạnh, biên độ nhiễu lớn.</a:t>
            </a:r>
          </a:p>
          <a:p>
            <a:pPr marL="742950" lvl="1" indent="-285750">
              <a:lnSpc>
                <a:spcPct val="150000"/>
              </a:lnSpc>
              <a:buFont typeface="Arial" panose="020B0604020202020204" pitchFamily="34" charset="0"/>
              <a:buChar char="•"/>
            </a:pPr>
            <a:r>
              <a:rPr lang="vi-VN">
                <a:solidFill>
                  <a:schemeClr val="bg1"/>
                </a:solidFill>
              </a:rPr>
              <a:t>Tỷ lệ lỗi (error frame) tăng cao, đặc biệt khi tốc độ cao (500 kbps hoặc 1 Mbps) hoặc bus dài (hàng chục mét).</a:t>
            </a:r>
          </a:p>
          <a:p>
            <a:pPr marL="742950" lvl="1" indent="-285750">
              <a:lnSpc>
                <a:spcPct val="150000"/>
              </a:lnSpc>
              <a:buFont typeface="Arial" panose="020B0604020202020204" pitchFamily="34" charset="0"/>
              <a:buChar char="•"/>
            </a:pPr>
            <a:r>
              <a:rPr lang="vi-VN">
                <a:solidFill>
                  <a:schemeClr val="bg1"/>
                </a:solidFill>
              </a:rPr>
              <a:t>Transceiver khó nhận biết chính xác trạng thái </a:t>
            </a:r>
            <a:r>
              <a:rPr lang="vi-VN" b="1">
                <a:solidFill>
                  <a:schemeClr val="bg1"/>
                </a:solidFill>
              </a:rPr>
              <a:t>Dominant (0)</a:t>
            </a:r>
            <a:r>
              <a:rPr lang="vi-VN">
                <a:solidFill>
                  <a:schemeClr val="bg1"/>
                </a:solidFill>
              </a:rPr>
              <a:t> và </a:t>
            </a:r>
            <a:r>
              <a:rPr lang="vi-VN" b="1">
                <a:solidFill>
                  <a:schemeClr val="bg1"/>
                </a:solidFill>
              </a:rPr>
              <a:t>Recessive (1)</a:t>
            </a:r>
            <a:r>
              <a:rPr lang="vi-VN">
                <a:solidFill>
                  <a:schemeClr val="bg1"/>
                </a:solidFill>
              </a:rPr>
              <a:t>.</a:t>
            </a:r>
          </a:p>
          <a:p>
            <a:pPr marL="742950" lvl="1" indent="-285750">
              <a:lnSpc>
                <a:spcPct val="150000"/>
              </a:lnSpc>
              <a:buFont typeface="Arial" panose="020B0604020202020204" pitchFamily="34" charset="0"/>
              <a:buChar char="•"/>
            </a:pPr>
            <a:r>
              <a:rPr lang="vi-VN">
                <a:solidFill>
                  <a:schemeClr val="bg1"/>
                </a:solidFill>
              </a:rPr>
              <a:t>Bus dễ rơi vào trạng thái lỗi (Error Passive hoặc Bus-Off).</a:t>
            </a:r>
          </a:p>
        </p:txBody>
      </p:sp>
      <p:pic>
        <p:nvPicPr>
          <p:cNvPr id="2" name="Picture 4" descr="Introduction to CAN Bus Protocol. CAN stands for Controller ...">
            <a:extLst>
              <a:ext uri="{FF2B5EF4-FFF2-40B4-BE49-F238E27FC236}">
                <a16:creationId xmlns:a16="http://schemas.microsoft.com/office/drawing/2014/main" id="{584C3E01-A574-69EB-B596-4CDA5A85C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7885" y="4289328"/>
            <a:ext cx="5356230" cy="237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60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433768"/>
            <a:ext cx="11362943" cy="586699"/>
          </a:xfrm>
          <a:prstGeom prst="rect">
            <a:avLst/>
          </a:prstGeom>
          <a:noFill/>
        </p:spPr>
        <p:txBody>
          <a:bodyPr wrap="square" rtlCol="0">
            <a:spAutoFit/>
          </a:bodyPr>
          <a:lstStyle/>
          <a:p>
            <a:pPr>
              <a:lnSpc>
                <a:spcPct val="150000"/>
              </a:lnSpc>
            </a:pPr>
            <a:r>
              <a:rPr lang="vi-VN" sz="2400" b="1">
                <a:solidFill>
                  <a:schemeClr val="bg1"/>
                </a:solidFill>
              </a:rPr>
              <a:t>Tại sao không dùng giá trị khác (ví dụ 100 </a:t>
            </a:r>
            <a:r>
              <a:rPr lang="el-GR" sz="2400" b="1">
                <a:solidFill>
                  <a:schemeClr val="bg1"/>
                </a:solidFill>
              </a:rPr>
              <a:t>Ω, 150 Ω, 60 Ω...)?</a:t>
            </a:r>
          </a:p>
        </p:txBody>
      </p:sp>
      <p:sp>
        <p:nvSpPr>
          <p:cNvPr id="7" name="Rectangle 6"/>
          <p:cNvSpPr/>
          <p:nvPr/>
        </p:nvSpPr>
        <p:spPr>
          <a:xfrm>
            <a:off x="414528" y="1124396"/>
            <a:ext cx="11167872" cy="1294072"/>
          </a:xfrm>
          <a:prstGeom prst="rect">
            <a:avLst/>
          </a:prstGeom>
        </p:spPr>
        <p:txBody>
          <a:bodyPr wrap="square">
            <a:spAutoFit/>
          </a:bodyPr>
          <a:lstStyle/>
          <a:p>
            <a:pPr>
              <a:lnSpc>
                <a:spcPct val="150000"/>
              </a:lnSpc>
            </a:pPr>
            <a:r>
              <a:rPr lang="vi-VN">
                <a:solidFill>
                  <a:schemeClr val="bg1"/>
                </a:solidFill>
                <a:effectLst/>
              </a:rPr>
              <a:t>Tại sao không dùng 1 điện trở 60 </a:t>
            </a:r>
            <a:r>
              <a:rPr lang="el-GR">
                <a:solidFill>
                  <a:schemeClr val="bg1"/>
                </a:solidFill>
                <a:effectLst/>
              </a:rPr>
              <a:t>Ω </a:t>
            </a:r>
            <a:r>
              <a:rPr lang="vi-VN">
                <a:solidFill>
                  <a:schemeClr val="bg1"/>
                </a:solidFill>
                <a:effectLst/>
              </a:rPr>
              <a:t>ở giữa? Đây là lỗi phổ biến. Dùng 1 cái 60 </a:t>
            </a:r>
            <a:r>
              <a:rPr lang="el-GR">
                <a:solidFill>
                  <a:schemeClr val="bg1"/>
                </a:solidFill>
                <a:effectLst/>
              </a:rPr>
              <a:t>Ω </a:t>
            </a:r>
            <a:r>
              <a:rPr lang="vi-VN">
                <a:solidFill>
                  <a:schemeClr val="bg1"/>
                </a:solidFill>
                <a:effectLst/>
              </a:rPr>
              <a:t>chỉ làm tổng trở kháng đúng 60 </a:t>
            </a:r>
            <a:r>
              <a:rPr lang="el-GR">
                <a:solidFill>
                  <a:schemeClr val="bg1"/>
                </a:solidFill>
                <a:effectLst/>
              </a:rPr>
              <a:t>Ω, </a:t>
            </a:r>
            <a:r>
              <a:rPr lang="vi-VN">
                <a:solidFill>
                  <a:schemeClr val="bg1"/>
                </a:solidFill>
                <a:effectLst/>
              </a:rPr>
              <a:t>nhưng không triệt tiêu phản xạ ở hai đầu. Tín hiệu vẫn bật ngược từ hai đầu bus → vẫn bị ringing. Chuẩn quy định phải có 2 cái 120 </a:t>
            </a:r>
            <a:r>
              <a:rPr lang="el-GR">
                <a:solidFill>
                  <a:schemeClr val="bg1"/>
                </a:solidFill>
                <a:effectLst/>
              </a:rPr>
              <a:t>Ω </a:t>
            </a:r>
            <a:r>
              <a:rPr lang="vi-VN">
                <a:solidFill>
                  <a:schemeClr val="bg1"/>
                </a:solidFill>
                <a:effectLst/>
              </a:rPr>
              <a:t>ở hai đầu cuối.</a:t>
            </a:r>
          </a:p>
        </p:txBody>
      </p:sp>
      <p:pic>
        <p:nvPicPr>
          <p:cNvPr id="2" name="Picture 4" descr="Introduction to CAN Bus Protocol. CAN stands for Controller ...">
            <a:extLst>
              <a:ext uri="{FF2B5EF4-FFF2-40B4-BE49-F238E27FC236}">
                <a16:creationId xmlns:a16="http://schemas.microsoft.com/office/drawing/2014/main" id="{584C3E01-A574-69EB-B596-4CDA5A85C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0349" y="3833812"/>
            <a:ext cx="5356230" cy="2374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1DE0AA6-0374-F13E-EAF2-FD4E733A297C}"/>
              </a:ext>
            </a:extLst>
          </p:cNvPr>
          <p:cNvPicPr>
            <a:picLocks noChangeAspect="1"/>
          </p:cNvPicPr>
          <p:nvPr/>
        </p:nvPicPr>
        <p:blipFill>
          <a:blip r:embed="rId6"/>
          <a:stretch>
            <a:fillRect/>
          </a:stretch>
        </p:blipFill>
        <p:spPr>
          <a:xfrm>
            <a:off x="3320350" y="2579444"/>
            <a:ext cx="5356229" cy="1071246"/>
          </a:xfrm>
          <a:prstGeom prst="rect">
            <a:avLst/>
          </a:prstGeom>
        </p:spPr>
      </p:pic>
    </p:spTree>
    <p:extLst>
      <p:ext uri="{BB962C8B-B14F-4D97-AF65-F5344CB8AC3E}">
        <p14:creationId xmlns:p14="http://schemas.microsoft.com/office/powerpoint/2010/main" val="216223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433768"/>
            <a:ext cx="11362943" cy="586699"/>
          </a:xfrm>
          <a:prstGeom prst="rect">
            <a:avLst/>
          </a:prstGeom>
          <a:noFill/>
        </p:spPr>
        <p:txBody>
          <a:bodyPr wrap="square" rtlCol="0">
            <a:spAutoFit/>
          </a:bodyPr>
          <a:lstStyle/>
          <a:p>
            <a:pPr>
              <a:lnSpc>
                <a:spcPct val="150000"/>
              </a:lnSpc>
            </a:pPr>
            <a:r>
              <a:rPr lang="vi-VN" sz="2400" b="1">
                <a:solidFill>
                  <a:schemeClr val="bg1"/>
                </a:solidFill>
              </a:rPr>
              <a:t>Tại sao không dùng giá trị khác (ví dụ 100 </a:t>
            </a:r>
            <a:r>
              <a:rPr lang="el-GR" sz="2400" b="1">
                <a:solidFill>
                  <a:schemeClr val="bg1"/>
                </a:solidFill>
              </a:rPr>
              <a:t>Ω, 150 Ω, 60 Ω...)?</a:t>
            </a:r>
          </a:p>
        </p:txBody>
      </p:sp>
      <p:sp>
        <p:nvSpPr>
          <p:cNvPr id="7" name="Rectangle 6"/>
          <p:cNvSpPr/>
          <p:nvPr/>
        </p:nvSpPr>
        <p:spPr>
          <a:xfrm>
            <a:off x="414528" y="1124396"/>
            <a:ext cx="11167872" cy="4196020"/>
          </a:xfrm>
          <a:prstGeom prst="rect">
            <a:avLst/>
          </a:prstGeom>
        </p:spPr>
        <p:txBody>
          <a:bodyPr wrap="square">
            <a:spAutoFit/>
          </a:bodyPr>
          <a:lstStyle/>
          <a:p>
            <a:pPr marL="285750" indent="-285750">
              <a:lnSpc>
                <a:spcPct val="150000"/>
              </a:lnSpc>
              <a:buFont typeface="Arial" panose="020B0604020202020204" pitchFamily="34" charset="0"/>
              <a:buChar char="•"/>
            </a:pPr>
            <a:r>
              <a:rPr lang="vi-VN">
                <a:solidFill>
                  <a:schemeClr val="bg1"/>
                </a:solidFill>
                <a:effectLst/>
              </a:rPr>
              <a:t>Tại sao không dùng 1 điện trở 60 </a:t>
            </a:r>
            <a:r>
              <a:rPr lang="el-GR">
                <a:solidFill>
                  <a:schemeClr val="bg1"/>
                </a:solidFill>
                <a:effectLst/>
              </a:rPr>
              <a:t>Ω </a:t>
            </a:r>
            <a:r>
              <a:rPr lang="vi-VN">
                <a:solidFill>
                  <a:schemeClr val="bg1"/>
                </a:solidFill>
                <a:effectLst/>
              </a:rPr>
              <a:t>ở giữa?</a:t>
            </a:r>
          </a:p>
          <a:p>
            <a:pPr>
              <a:lnSpc>
                <a:spcPct val="150000"/>
              </a:lnSpc>
            </a:pPr>
            <a:r>
              <a:rPr lang="vi-VN">
                <a:solidFill>
                  <a:schemeClr val="bg1"/>
                </a:solidFill>
                <a:effectLst/>
              </a:rPr>
              <a:t>Đây là lỗi phổ biến. Dùng 1 cái 60 </a:t>
            </a:r>
            <a:r>
              <a:rPr lang="el-GR">
                <a:solidFill>
                  <a:schemeClr val="bg1"/>
                </a:solidFill>
                <a:effectLst/>
              </a:rPr>
              <a:t>Ω </a:t>
            </a:r>
            <a:r>
              <a:rPr lang="vi-VN">
                <a:solidFill>
                  <a:schemeClr val="bg1"/>
                </a:solidFill>
                <a:effectLst/>
              </a:rPr>
              <a:t>chỉ làm tổng trở kháng đúng 60 </a:t>
            </a:r>
            <a:r>
              <a:rPr lang="el-GR">
                <a:solidFill>
                  <a:schemeClr val="bg1"/>
                </a:solidFill>
                <a:effectLst/>
              </a:rPr>
              <a:t>Ω, </a:t>
            </a:r>
            <a:r>
              <a:rPr lang="vi-VN">
                <a:solidFill>
                  <a:schemeClr val="bg1"/>
                </a:solidFill>
                <a:effectLst/>
              </a:rPr>
              <a:t>nhưng không triệt tiêu phản xạ ở hai đầu. Tín hiệu vẫn bật ngược từ hai đầu bus → vẫn bị ringing. Chuẩn quy định phải có 2 cái 120 </a:t>
            </a:r>
            <a:r>
              <a:rPr lang="el-GR">
                <a:solidFill>
                  <a:schemeClr val="bg1"/>
                </a:solidFill>
                <a:effectLst/>
              </a:rPr>
              <a:t>Ω </a:t>
            </a:r>
            <a:r>
              <a:rPr lang="vi-VN">
                <a:solidFill>
                  <a:schemeClr val="bg1"/>
                </a:solidFill>
                <a:effectLst/>
              </a:rPr>
              <a:t>ở hai đầu cuối.</a:t>
            </a:r>
          </a:p>
          <a:p>
            <a:pPr marL="285750" indent="-285750">
              <a:lnSpc>
                <a:spcPct val="150000"/>
              </a:lnSpc>
              <a:buFont typeface="Arial" panose="020B0604020202020204" pitchFamily="34" charset="0"/>
              <a:buChar char="•"/>
            </a:pPr>
            <a:r>
              <a:rPr lang="vi-VN">
                <a:solidFill>
                  <a:schemeClr val="bg1"/>
                </a:solidFill>
                <a:effectLst/>
              </a:rPr>
              <a:t>Tại sao không dùng giá trị lớn hơn (ví dụ 300 </a:t>
            </a:r>
            <a:r>
              <a:rPr lang="el-GR">
                <a:solidFill>
                  <a:schemeClr val="bg1"/>
                </a:solidFill>
                <a:effectLst/>
              </a:rPr>
              <a:t>Ω)?</a:t>
            </a:r>
          </a:p>
          <a:p>
            <a:pPr>
              <a:lnSpc>
                <a:spcPct val="150000"/>
              </a:lnSpc>
            </a:pPr>
            <a:r>
              <a:rPr lang="vi-VN">
                <a:solidFill>
                  <a:schemeClr val="bg1"/>
                </a:solidFill>
                <a:effectLst/>
              </a:rPr>
              <a:t>Trở kháng tải cao → bus khó kéo xuống trạng thái recessive nhanh, dễ bị nhiễu, thời gian chuyển trạng thái chậm.</a:t>
            </a:r>
          </a:p>
          <a:p>
            <a:pPr marL="285750" indent="-285750">
              <a:lnSpc>
                <a:spcPct val="150000"/>
              </a:lnSpc>
              <a:buFont typeface="Arial" panose="020B0604020202020204" pitchFamily="34" charset="0"/>
              <a:buChar char="•"/>
            </a:pPr>
            <a:r>
              <a:rPr lang="vi-VN">
                <a:solidFill>
                  <a:schemeClr val="bg1"/>
                </a:solidFill>
                <a:effectLst/>
              </a:rPr>
              <a:t>Tại sao không dùng giá trị nhỏ hơn (ví dụ 50 </a:t>
            </a:r>
            <a:r>
              <a:rPr lang="el-GR">
                <a:solidFill>
                  <a:schemeClr val="bg1"/>
                </a:solidFill>
                <a:effectLst/>
              </a:rPr>
              <a:t>Ω)?</a:t>
            </a:r>
          </a:p>
          <a:p>
            <a:pPr>
              <a:lnSpc>
                <a:spcPct val="150000"/>
              </a:lnSpc>
            </a:pPr>
            <a:r>
              <a:rPr lang="vi-VN">
                <a:solidFill>
                  <a:schemeClr val="bg1"/>
                </a:solidFill>
                <a:effectLst/>
              </a:rPr>
              <a:t>Tải quá nặng → transceiver phải cung cấp dòng lớn hơn, tiêu hao công suất nhiều, tín hiệu Dominant yếu đi, dễ nóng chip.</a:t>
            </a:r>
          </a:p>
        </p:txBody>
      </p:sp>
      <p:pic>
        <p:nvPicPr>
          <p:cNvPr id="9" name="Picture 8">
            <a:extLst>
              <a:ext uri="{FF2B5EF4-FFF2-40B4-BE49-F238E27FC236}">
                <a16:creationId xmlns:a16="http://schemas.microsoft.com/office/drawing/2014/main" id="{F7A5930F-F3A7-9A90-0191-49EBB5F1743A}"/>
              </a:ext>
            </a:extLst>
          </p:cNvPr>
          <p:cNvPicPr>
            <a:picLocks noChangeAspect="1"/>
          </p:cNvPicPr>
          <p:nvPr/>
        </p:nvPicPr>
        <p:blipFill>
          <a:blip r:embed="rId5"/>
          <a:stretch>
            <a:fillRect/>
          </a:stretch>
        </p:blipFill>
        <p:spPr>
          <a:xfrm>
            <a:off x="4286250" y="5267942"/>
            <a:ext cx="6106477" cy="1094682"/>
          </a:xfrm>
          <a:prstGeom prst="rect">
            <a:avLst/>
          </a:prstGeom>
        </p:spPr>
      </p:pic>
    </p:spTree>
    <p:extLst>
      <p:ext uri="{BB962C8B-B14F-4D97-AF65-F5344CB8AC3E}">
        <p14:creationId xmlns:p14="http://schemas.microsoft.com/office/powerpoint/2010/main" val="656530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433768"/>
            <a:ext cx="11362943" cy="586699"/>
          </a:xfrm>
          <a:prstGeom prst="rect">
            <a:avLst/>
          </a:prstGeom>
          <a:noFill/>
        </p:spPr>
        <p:txBody>
          <a:bodyPr wrap="square" rtlCol="0">
            <a:spAutoFit/>
          </a:bodyPr>
          <a:lstStyle/>
          <a:p>
            <a:pPr>
              <a:lnSpc>
                <a:spcPct val="150000"/>
              </a:lnSpc>
            </a:pPr>
            <a:r>
              <a:rPr lang="vi-VN" sz="2400" b="1">
                <a:solidFill>
                  <a:schemeClr val="bg1"/>
                </a:solidFill>
              </a:rPr>
              <a:t>Tại sao không dùng giá trị khác (ví dụ 100 </a:t>
            </a:r>
            <a:r>
              <a:rPr lang="el-GR" sz="2400" b="1">
                <a:solidFill>
                  <a:schemeClr val="bg1"/>
                </a:solidFill>
              </a:rPr>
              <a:t>Ω, 150 Ω, 60 Ω...)?</a:t>
            </a:r>
          </a:p>
        </p:txBody>
      </p:sp>
      <p:sp>
        <p:nvSpPr>
          <p:cNvPr id="7" name="Rectangle 6"/>
          <p:cNvSpPr/>
          <p:nvPr/>
        </p:nvSpPr>
        <p:spPr>
          <a:xfrm>
            <a:off x="414528" y="1124396"/>
            <a:ext cx="11167872" cy="4196020"/>
          </a:xfrm>
          <a:prstGeom prst="rect">
            <a:avLst/>
          </a:prstGeom>
        </p:spPr>
        <p:txBody>
          <a:bodyPr wrap="square">
            <a:spAutoFit/>
          </a:bodyPr>
          <a:lstStyle/>
          <a:p>
            <a:pPr marL="285750" indent="-285750">
              <a:lnSpc>
                <a:spcPct val="150000"/>
              </a:lnSpc>
              <a:buFont typeface="Arial" panose="020B0604020202020204" pitchFamily="34" charset="0"/>
              <a:buChar char="•"/>
            </a:pPr>
            <a:r>
              <a:rPr lang="vi-VN">
                <a:solidFill>
                  <a:schemeClr val="bg1"/>
                </a:solidFill>
                <a:effectLst/>
              </a:rPr>
              <a:t>Tại sao không dùng 1 điện trở 60 </a:t>
            </a:r>
            <a:r>
              <a:rPr lang="el-GR">
                <a:solidFill>
                  <a:schemeClr val="bg1"/>
                </a:solidFill>
                <a:effectLst/>
              </a:rPr>
              <a:t>Ω </a:t>
            </a:r>
            <a:r>
              <a:rPr lang="vi-VN">
                <a:solidFill>
                  <a:schemeClr val="bg1"/>
                </a:solidFill>
                <a:effectLst/>
              </a:rPr>
              <a:t>ở giữa?</a:t>
            </a:r>
          </a:p>
          <a:p>
            <a:pPr>
              <a:lnSpc>
                <a:spcPct val="150000"/>
              </a:lnSpc>
            </a:pPr>
            <a:r>
              <a:rPr lang="vi-VN">
                <a:solidFill>
                  <a:schemeClr val="bg1"/>
                </a:solidFill>
                <a:effectLst/>
              </a:rPr>
              <a:t>Đây là lỗi phổ biến. Dùng 1 cái 60 </a:t>
            </a:r>
            <a:r>
              <a:rPr lang="el-GR">
                <a:solidFill>
                  <a:schemeClr val="bg1"/>
                </a:solidFill>
                <a:effectLst/>
              </a:rPr>
              <a:t>Ω </a:t>
            </a:r>
            <a:r>
              <a:rPr lang="vi-VN">
                <a:solidFill>
                  <a:schemeClr val="bg1"/>
                </a:solidFill>
                <a:effectLst/>
              </a:rPr>
              <a:t>chỉ làm tổng trở kháng đúng 60 </a:t>
            </a:r>
            <a:r>
              <a:rPr lang="el-GR">
                <a:solidFill>
                  <a:schemeClr val="bg1"/>
                </a:solidFill>
                <a:effectLst/>
              </a:rPr>
              <a:t>Ω, </a:t>
            </a:r>
            <a:r>
              <a:rPr lang="vi-VN">
                <a:solidFill>
                  <a:schemeClr val="bg1"/>
                </a:solidFill>
                <a:effectLst/>
              </a:rPr>
              <a:t>nhưng không triệt tiêu phản xạ ở hai đầu. Tín hiệu vẫn bật ngược từ hai đầu bus → vẫn bị ringing. Chuẩn quy định phải có 2 cái 120 </a:t>
            </a:r>
            <a:r>
              <a:rPr lang="el-GR">
                <a:solidFill>
                  <a:schemeClr val="bg1"/>
                </a:solidFill>
                <a:effectLst/>
              </a:rPr>
              <a:t>Ω </a:t>
            </a:r>
            <a:r>
              <a:rPr lang="vi-VN">
                <a:solidFill>
                  <a:schemeClr val="bg1"/>
                </a:solidFill>
                <a:effectLst/>
              </a:rPr>
              <a:t>ở hai đầu cuối.</a:t>
            </a:r>
          </a:p>
          <a:p>
            <a:pPr marL="285750" indent="-285750">
              <a:lnSpc>
                <a:spcPct val="150000"/>
              </a:lnSpc>
              <a:buFont typeface="Arial" panose="020B0604020202020204" pitchFamily="34" charset="0"/>
              <a:buChar char="•"/>
            </a:pPr>
            <a:r>
              <a:rPr lang="vi-VN">
                <a:solidFill>
                  <a:schemeClr val="bg1"/>
                </a:solidFill>
                <a:effectLst/>
              </a:rPr>
              <a:t>Tại sao không dùng giá trị lớn hơn (ví dụ 300 </a:t>
            </a:r>
            <a:r>
              <a:rPr lang="el-GR">
                <a:solidFill>
                  <a:schemeClr val="bg1"/>
                </a:solidFill>
                <a:effectLst/>
              </a:rPr>
              <a:t>Ω)?</a:t>
            </a:r>
          </a:p>
          <a:p>
            <a:pPr>
              <a:lnSpc>
                <a:spcPct val="150000"/>
              </a:lnSpc>
            </a:pPr>
            <a:r>
              <a:rPr lang="vi-VN">
                <a:solidFill>
                  <a:schemeClr val="bg1"/>
                </a:solidFill>
                <a:effectLst/>
              </a:rPr>
              <a:t>Trở kháng tải cao → bus khó kéo xuống trạng thái recessive nhanh, dễ bị nhiễu, thời gian chuyển trạng thái chậm.</a:t>
            </a:r>
          </a:p>
          <a:p>
            <a:pPr marL="285750" indent="-285750">
              <a:lnSpc>
                <a:spcPct val="150000"/>
              </a:lnSpc>
              <a:buFont typeface="Arial" panose="020B0604020202020204" pitchFamily="34" charset="0"/>
              <a:buChar char="•"/>
            </a:pPr>
            <a:r>
              <a:rPr lang="vi-VN">
                <a:solidFill>
                  <a:schemeClr val="bg1"/>
                </a:solidFill>
                <a:effectLst/>
              </a:rPr>
              <a:t>Tại sao không dùng giá trị nhỏ hơn (ví dụ 50 </a:t>
            </a:r>
            <a:r>
              <a:rPr lang="el-GR">
                <a:solidFill>
                  <a:schemeClr val="bg1"/>
                </a:solidFill>
                <a:effectLst/>
              </a:rPr>
              <a:t>Ω)?</a:t>
            </a:r>
          </a:p>
          <a:p>
            <a:pPr>
              <a:lnSpc>
                <a:spcPct val="150000"/>
              </a:lnSpc>
            </a:pPr>
            <a:r>
              <a:rPr lang="vi-VN">
                <a:solidFill>
                  <a:schemeClr val="bg1"/>
                </a:solidFill>
                <a:effectLst/>
              </a:rPr>
              <a:t>Tải quá nặng → transceiver phải cung cấp dòng lớn hơn, tiêu hao công suất nhiều, tín hiệu Dominant yếu đi, dễ nóng chip.</a:t>
            </a:r>
          </a:p>
        </p:txBody>
      </p:sp>
      <p:pic>
        <p:nvPicPr>
          <p:cNvPr id="9" name="Picture 8">
            <a:extLst>
              <a:ext uri="{FF2B5EF4-FFF2-40B4-BE49-F238E27FC236}">
                <a16:creationId xmlns:a16="http://schemas.microsoft.com/office/drawing/2014/main" id="{F7A5930F-F3A7-9A90-0191-49EBB5F1743A}"/>
              </a:ext>
            </a:extLst>
          </p:cNvPr>
          <p:cNvPicPr>
            <a:picLocks noChangeAspect="1"/>
          </p:cNvPicPr>
          <p:nvPr/>
        </p:nvPicPr>
        <p:blipFill>
          <a:blip r:embed="rId5"/>
          <a:stretch>
            <a:fillRect/>
          </a:stretch>
        </p:blipFill>
        <p:spPr>
          <a:xfrm>
            <a:off x="4286250" y="5267942"/>
            <a:ext cx="6106477" cy="1094682"/>
          </a:xfrm>
          <a:prstGeom prst="rect">
            <a:avLst/>
          </a:prstGeom>
        </p:spPr>
      </p:pic>
    </p:spTree>
    <p:extLst>
      <p:ext uri="{BB962C8B-B14F-4D97-AF65-F5344CB8AC3E}">
        <p14:creationId xmlns:p14="http://schemas.microsoft.com/office/powerpoint/2010/main" val="2610374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332409"/>
            <a:ext cx="11362943" cy="1131848"/>
          </a:xfrm>
          <a:prstGeom prst="rect">
            <a:avLst/>
          </a:prstGeom>
          <a:noFill/>
        </p:spPr>
        <p:txBody>
          <a:bodyPr wrap="square" rtlCol="0">
            <a:spAutoFit/>
          </a:bodyPr>
          <a:lstStyle/>
          <a:p>
            <a:pPr>
              <a:lnSpc>
                <a:spcPct val="150000"/>
              </a:lnSpc>
            </a:pPr>
            <a:r>
              <a:rPr lang="vi-VN" sz="2400" b="1">
                <a:solidFill>
                  <a:schemeClr val="bg1"/>
                </a:solidFill>
                <a:effectLst/>
              </a:rPr>
              <a:t>Trở kháng tải cao → bus khó kéo xuống trạng thái recessive nhanh, dễ bị nhiễu, thời gian chuyển trạng thái chậm.</a:t>
            </a:r>
          </a:p>
        </p:txBody>
      </p:sp>
      <p:sp>
        <p:nvSpPr>
          <p:cNvPr id="7" name="Rectangle 6"/>
          <p:cNvSpPr/>
          <p:nvPr/>
        </p:nvSpPr>
        <p:spPr>
          <a:xfrm>
            <a:off x="414528" y="1720195"/>
            <a:ext cx="11167872" cy="4196020"/>
          </a:xfrm>
          <a:prstGeom prst="rect">
            <a:avLst/>
          </a:prstGeom>
        </p:spPr>
        <p:txBody>
          <a:bodyPr wrap="square">
            <a:spAutoFit/>
          </a:bodyPr>
          <a:lstStyle/>
          <a:p>
            <a:pPr>
              <a:lnSpc>
                <a:spcPct val="150000"/>
              </a:lnSpc>
            </a:pPr>
            <a:r>
              <a:rPr lang="vi-VN">
                <a:solidFill>
                  <a:schemeClr val="bg1"/>
                </a:solidFill>
                <a:effectLst/>
              </a:rPr>
              <a:t>1. Trở kháng tải cao → bus khó về Recessive</a:t>
            </a:r>
          </a:p>
          <a:p>
            <a:pPr>
              <a:lnSpc>
                <a:spcPct val="150000"/>
              </a:lnSpc>
            </a:pPr>
            <a:r>
              <a:rPr lang="vi-VN">
                <a:solidFill>
                  <a:schemeClr val="bg1"/>
                </a:solidFill>
                <a:effectLst/>
              </a:rPr>
              <a:t>Bus CAN hoạt động theo nguyên tắc differential: receiver đọc hiệu điện áp Vdiff = CANH − CANL. Khi ở trạng thái Recessive, cả hai dây phải ở cùng mức 2.5V (Vdiff = 0V). Để đạt được điều đó, điện trở đầu cuối (termination resistor 120</a:t>
            </a:r>
            <a:r>
              <a:rPr lang="el-GR">
                <a:solidFill>
                  <a:schemeClr val="bg1"/>
                </a:solidFill>
                <a:effectLst/>
              </a:rPr>
              <a:t>Ω) </a:t>
            </a:r>
            <a:r>
              <a:rPr lang="vi-VN">
                <a:solidFill>
                  <a:schemeClr val="bg1"/>
                </a:solidFill>
                <a:effectLst/>
              </a:rPr>
              <a:t>đóng vai trò kéo cả hai dây về điểm cân bằng.</a:t>
            </a:r>
          </a:p>
          <a:p>
            <a:pPr>
              <a:lnSpc>
                <a:spcPct val="150000"/>
              </a:lnSpc>
            </a:pPr>
            <a:r>
              <a:rPr lang="vi-VN">
                <a:solidFill>
                  <a:schemeClr val="bg1"/>
                </a:solidFill>
                <a:effectLst/>
              </a:rPr>
              <a:t>Nếu trở kháng tải quá cao (termination sai, đứt cáp, thiếu điện trở):</a:t>
            </a:r>
            <a:endParaRPr lang="en-US">
              <a:solidFill>
                <a:schemeClr val="bg1"/>
              </a:solidFill>
              <a:effectLst/>
            </a:endParaRPr>
          </a:p>
          <a:p>
            <a:pPr>
              <a:lnSpc>
                <a:spcPct val="150000"/>
              </a:lnSpc>
            </a:pPr>
            <a:endParaRPr lang="vi-VN">
              <a:solidFill>
                <a:schemeClr val="bg1"/>
              </a:solidFill>
              <a:effectLst/>
            </a:endParaRPr>
          </a:p>
          <a:p>
            <a:pPr marL="342900" indent="-342900">
              <a:lnSpc>
                <a:spcPct val="150000"/>
              </a:lnSpc>
              <a:buFont typeface="Arial" panose="020B0604020202020204" pitchFamily="34" charset="0"/>
              <a:buChar char="•"/>
            </a:pPr>
            <a:r>
              <a:rPr lang="vi-VN">
                <a:solidFill>
                  <a:schemeClr val="bg1"/>
                </a:solidFill>
                <a:effectLst/>
              </a:rPr>
              <a:t>Không có đường xả điện tích nhanh từ bus</a:t>
            </a:r>
          </a:p>
          <a:p>
            <a:pPr marL="342900" indent="-342900">
              <a:lnSpc>
                <a:spcPct val="150000"/>
              </a:lnSpc>
              <a:buFont typeface="Arial" panose="020B0604020202020204" pitchFamily="34" charset="0"/>
              <a:buChar char="•"/>
            </a:pPr>
            <a:r>
              <a:rPr lang="vi-VN">
                <a:solidFill>
                  <a:schemeClr val="bg1"/>
                </a:solidFill>
                <a:effectLst/>
              </a:rPr>
              <a:t>CANH và CANL "lưỡng lự" không về 2.5V kịp trong một bit time</a:t>
            </a:r>
          </a:p>
          <a:p>
            <a:pPr marL="342900" indent="-342900">
              <a:lnSpc>
                <a:spcPct val="150000"/>
              </a:lnSpc>
              <a:buFont typeface="Arial" panose="020B0604020202020204" pitchFamily="34" charset="0"/>
              <a:buChar char="•"/>
            </a:pPr>
            <a:r>
              <a:rPr lang="vi-VN">
                <a:solidFill>
                  <a:schemeClr val="bg1"/>
                </a:solidFill>
                <a:effectLst/>
              </a:rPr>
              <a:t>Xuất hiện ringing (dao động tắt dần như đường gạch đứt ở waveform) → receiver có thể đọc nhầm bit</a:t>
            </a:r>
          </a:p>
          <a:p>
            <a:pPr marL="342900" indent="-342900">
              <a:lnSpc>
                <a:spcPct val="150000"/>
              </a:lnSpc>
              <a:buFont typeface="Arial" panose="020B0604020202020204" pitchFamily="34" charset="0"/>
              <a:buChar char="•"/>
            </a:pPr>
            <a:r>
              <a:rPr lang="vi-VN">
                <a:solidFill>
                  <a:schemeClr val="bg1"/>
                </a:solidFill>
                <a:effectLst/>
              </a:rPr>
              <a:t>Tốc độ baud càng cao thì lỗi này càng nghiêm trọng vì bit time rất ngắn</a:t>
            </a:r>
          </a:p>
        </p:txBody>
      </p:sp>
      <p:pic>
        <p:nvPicPr>
          <p:cNvPr id="9" name="Picture 8">
            <a:extLst>
              <a:ext uri="{FF2B5EF4-FFF2-40B4-BE49-F238E27FC236}">
                <a16:creationId xmlns:a16="http://schemas.microsoft.com/office/drawing/2014/main" id="{F7A5930F-F3A7-9A90-0191-49EBB5F1743A}"/>
              </a:ext>
            </a:extLst>
          </p:cNvPr>
          <p:cNvPicPr>
            <a:picLocks noChangeAspect="1"/>
          </p:cNvPicPr>
          <p:nvPr/>
        </p:nvPicPr>
        <p:blipFill>
          <a:blip r:embed="rId5"/>
          <a:stretch>
            <a:fillRect/>
          </a:stretch>
        </p:blipFill>
        <p:spPr>
          <a:xfrm>
            <a:off x="7914324" y="4408436"/>
            <a:ext cx="3972876" cy="712200"/>
          </a:xfrm>
          <a:prstGeom prst="rect">
            <a:avLst/>
          </a:prstGeom>
        </p:spPr>
      </p:pic>
    </p:spTree>
    <p:extLst>
      <p:ext uri="{BB962C8B-B14F-4D97-AF65-F5344CB8AC3E}">
        <p14:creationId xmlns:p14="http://schemas.microsoft.com/office/powerpoint/2010/main" val="2465641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332409"/>
            <a:ext cx="11362943" cy="1131848"/>
          </a:xfrm>
          <a:prstGeom prst="rect">
            <a:avLst/>
          </a:prstGeom>
          <a:noFill/>
        </p:spPr>
        <p:txBody>
          <a:bodyPr wrap="square" rtlCol="0">
            <a:spAutoFit/>
          </a:bodyPr>
          <a:lstStyle/>
          <a:p>
            <a:pPr>
              <a:lnSpc>
                <a:spcPct val="150000"/>
              </a:lnSpc>
            </a:pPr>
            <a:r>
              <a:rPr lang="vi-VN" sz="2400" b="1">
                <a:solidFill>
                  <a:schemeClr val="bg1"/>
                </a:solidFill>
                <a:effectLst/>
              </a:rPr>
              <a:t>Trở kháng tải cao → bus khó kéo xuống trạng thái recessive nhanh, dễ bị nhiễu, thời gian chuyển trạng thái chậm.</a:t>
            </a:r>
          </a:p>
        </p:txBody>
      </p:sp>
      <p:sp>
        <p:nvSpPr>
          <p:cNvPr id="7" name="Rectangle 6"/>
          <p:cNvSpPr/>
          <p:nvPr/>
        </p:nvSpPr>
        <p:spPr>
          <a:xfrm>
            <a:off x="414528" y="1720195"/>
            <a:ext cx="11167872" cy="4196020"/>
          </a:xfrm>
          <a:prstGeom prst="rect">
            <a:avLst/>
          </a:prstGeom>
        </p:spPr>
        <p:txBody>
          <a:bodyPr wrap="square">
            <a:spAutoFit/>
          </a:bodyPr>
          <a:lstStyle/>
          <a:p>
            <a:pPr>
              <a:lnSpc>
                <a:spcPct val="150000"/>
              </a:lnSpc>
            </a:pPr>
            <a:r>
              <a:rPr lang="vi-VN">
                <a:solidFill>
                  <a:schemeClr val="bg1"/>
                </a:solidFill>
                <a:effectLst/>
              </a:rPr>
              <a:t>1. Trở kháng tải cao → bus khó về Recessive</a:t>
            </a:r>
          </a:p>
          <a:p>
            <a:pPr>
              <a:lnSpc>
                <a:spcPct val="150000"/>
              </a:lnSpc>
            </a:pPr>
            <a:r>
              <a:rPr lang="vi-VN">
                <a:solidFill>
                  <a:schemeClr val="bg1"/>
                </a:solidFill>
                <a:effectLst/>
              </a:rPr>
              <a:t>Bus CAN hoạt động theo nguyên tắc differential: receiver đọc hiệu điện áp Vdiff = CANH − CANL. Khi ở trạng thái Recessive, cả hai dây phải ở cùng mức 2.5V (Vdiff = 0V). Để đạt được điều đó, điện trở đầu cuối (termination resistor 120</a:t>
            </a:r>
            <a:r>
              <a:rPr lang="el-GR">
                <a:solidFill>
                  <a:schemeClr val="bg1"/>
                </a:solidFill>
                <a:effectLst/>
              </a:rPr>
              <a:t>Ω) </a:t>
            </a:r>
            <a:r>
              <a:rPr lang="vi-VN">
                <a:solidFill>
                  <a:schemeClr val="bg1"/>
                </a:solidFill>
                <a:effectLst/>
              </a:rPr>
              <a:t>đóng vai trò kéo cả hai dây về điểm cân bằng.</a:t>
            </a:r>
          </a:p>
          <a:p>
            <a:pPr>
              <a:lnSpc>
                <a:spcPct val="150000"/>
              </a:lnSpc>
            </a:pPr>
            <a:r>
              <a:rPr lang="vi-VN">
                <a:solidFill>
                  <a:schemeClr val="bg1"/>
                </a:solidFill>
                <a:effectLst/>
              </a:rPr>
              <a:t>Nếu trở kháng tải quá cao (termination sai, đứt cáp, thiếu điện trở):</a:t>
            </a:r>
            <a:endParaRPr lang="en-US">
              <a:solidFill>
                <a:schemeClr val="bg1"/>
              </a:solidFill>
              <a:effectLst/>
            </a:endParaRPr>
          </a:p>
          <a:p>
            <a:pPr>
              <a:lnSpc>
                <a:spcPct val="150000"/>
              </a:lnSpc>
            </a:pPr>
            <a:endParaRPr lang="vi-VN">
              <a:solidFill>
                <a:schemeClr val="bg1"/>
              </a:solidFill>
              <a:effectLst/>
            </a:endParaRPr>
          </a:p>
          <a:p>
            <a:pPr marL="342900" indent="-342900">
              <a:lnSpc>
                <a:spcPct val="150000"/>
              </a:lnSpc>
              <a:buFont typeface="Arial" panose="020B0604020202020204" pitchFamily="34" charset="0"/>
              <a:buChar char="•"/>
            </a:pPr>
            <a:r>
              <a:rPr lang="vi-VN">
                <a:solidFill>
                  <a:schemeClr val="bg1"/>
                </a:solidFill>
                <a:effectLst/>
              </a:rPr>
              <a:t>Không có đường xả điện tích nhanh từ bus</a:t>
            </a:r>
          </a:p>
          <a:p>
            <a:pPr marL="342900" indent="-342900">
              <a:lnSpc>
                <a:spcPct val="150000"/>
              </a:lnSpc>
              <a:buFont typeface="Arial" panose="020B0604020202020204" pitchFamily="34" charset="0"/>
              <a:buChar char="•"/>
            </a:pPr>
            <a:r>
              <a:rPr lang="vi-VN">
                <a:solidFill>
                  <a:schemeClr val="bg1"/>
                </a:solidFill>
                <a:effectLst/>
              </a:rPr>
              <a:t>CANH và CANL "lưỡng lự" không về 2.5V kịp trong một bit time</a:t>
            </a:r>
          </a:p>
          <a:p>
            <a:pPr marL="342900" indent="-342900">
              <a:lnSpc>
                <a:spcPct val="150000"/>
              </a:lnSpc>
              <a:buFont typeface="Arial" panose="020B0604020202020204" pitchFamily="34" charset="0"/>
              <a:buChar char="•"/>
            </a:pPr>
            <a:r>
              <a:rPr lang="vi-VN">
                <a:solidFill>
                  <a:schemeClr val="bg1"/>
                </a:solidFill>
                <a:effectLst/>
              </a:rPr>
              <a:t>Xuất hiện ringing (dao động tắt dần như đường gạch đứt ở waveform) → receiver có thể đọc nhầm bit</a:t>
            </a:r>
          </a:p>
          <a:p>
            <a:pPr marL="342900" indent="-342900">
              <a:lnSpc>
                <a:spcPct val="150000"/>
              </a:lnSpc>
              <a:buFont typeface="Arial" panose="020B0604020202020204" pitchFamily="34" charset="0"/>
              <a:buChar char="•"/>
            </a:pPr>
            <a:r>
              <a:rPr lang="vi-VN">
                <a:solidFill>
                  <a:schemeClr val="bg1"/>
                </a:solidFill>
                <a:effectLst/>
              </a:rPr>
              <a:t>Tốc độ baud càng cao thì lỗi này càng nghiêm trọng vì bit time rất ngắn</a:t>
            </a:r>
          </a:p>
        </p:txBody>
      </p:sp>
      <p:pic>
        <p:nvPicPr>
          <p:cNvPr id="9" name="Picture 8">
            <a:extLst>
              <a:ext uri="{FF2B5EF4-FFF2-40B4-BE49-F238E27FC236}">
                <a16:creationId xmlns:a16="http://schemas.microsoft.com/office/drawing/2014/main" id="{F7A5930F-F3A7-9A90-0191-49EBB5F1743A}"/>
              </a:ext>
            </a:extLst>
          </p:cNvPr>
          <p:cNvPicPr>
            <a:picLocks noChangeAspect="1"/>
          </p:cNvPicPr>
          <p:nvPr/>
        </p:nvPicPr>
        <p:blipFill>
          <a:blip r:embed="rId5"/>
          <a:stretch>
            <a:fillRect/>
          </a:stretch>
        </p:blipFill>
        <p:spPr>
          <a:xfrm>
            <a:off x="7914324" y="4408436"/>
            <a:ext cx="3972876" cy="712200"/>
          </a:xfrm>
          <a:prstGeom prst="rect">
            <a:avLst/>
          </a:prstGeom>
        </p:spPr>
      </p:pic>
    </p:spTree>
    <p:extLst>
      <p:ext uri="{BB962C8B-B14F-4D97-AF65-F5344CB8AC3E}">
        <p14:creationId xmlns:p14="http://schemas.microsoft.com/office/powerpoint/2010/main" val="3889233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8" y="433768"/>
            <a:ext cx="11362943" cy="1131848"/>
          </a:xfrm>
          <a:prstGeom prst="rect">
            <a:avLst/>
          </a:prstGeom>
          <a:noFill/>
        </p:spPr>
        <p:txBody>
          <a:bodyPr wrap="square" rtlCol="0">
            <a:spAutoFit/>
          </a:bodyPr>
          <a:lstStyle/>
          <a:p>
            <a:pPr>
              <a:lnSpc>
                <a:spcPct val="150000"/>
              </a:lnSpc>
            </a:pPr>
            <a:r>
              <a:rPr lang="vi-VN" sz="2400" b="1">
                <a:solidFill>
                  <a:schemeClr val="bg1"/>
                </a:solidFill>
                <a:effectLst/>
              </a:rPr>
              <a:t>Tải quá nặng → transceiver phải cung cấp dòng lớn hơn, tiêu hao công suất nhiều, tín hiệu Dominant yếu đi, dễ nóng chip.</a:t>
            </a:r>
          </a:p>
        </p:txBody>
      </p:sp>
      <p:sp>
        <p:nvSpPr>
          <p:cNvPr id="7" name="Rectangle 6"/>
          <p:cNvSpPr/>
          <p:nvPr/>
        </p:nvSpPr>
        <p:spPr>
          <a:xfrm>
            <a:off x="414528" y="1720195"/>
            <a:ext cx="11167872" cy="4196020"/>
          </a:xfrm>
          <a:prstGeom prst="rect">
            <a:avLst/>
          </a:prstGeom>
        </p:spPr>
        <p:txBody>
          <a:bodyPr wrap="square">
            <a:spAutoFit/>
          </a:bodyPr>
          <a:lstStyle/>
          <a:p>
            <a:pPr>
              <a:lnSpc>
                <a:spcPct val="150000"/>
              </a:lnSpc>
            </a:pPr>
            <a:r>
              <a:rPr lang="vi-VN">
                <a:solidFill>
                  <a:schemeClr val="bg1"/>
                </a:solidFill>
                <a:effectLst/>
              </a:rPr>
              <a:t>Khi bus ở trạng thái Dominant, transceiver phải chủ động kéo CANH lên 3.5V và CANL xuống 1.5V bằng cách bơm/hút dòng điện qua bus. Toàn bộ trở kháng của bus (tất cả các node song song + hai termination) chính là "tải" mà transceiver phải chịu.</a:t>
            </a:r>
          </a:p>
          <a:p>
            <a:pPr>
              <a:lnSpc>
                <a:spcPct val="150000"/>
              </a:lnSpc>
            </a:pPr>
            <a:r>
              <a:rPr lang="vi-VN">
                <a:solidFill>
                  <a:schemeClr val="bg1"/>
                </a:solidFill>
                <a:effectLst/>
              </a:rPr>
              <a:t>Nếu quá nhiều node (hoặc termination không đúng giá trị) → trở kháng tổng giảm xuống → theo định luật Ohm I = V/R, để duy trì đủ Vdiff = 2V thì dòng cần cấp sẽ tăng. Hệ quả:</a:t>
            </a:r>
          </a:p>
          <a:p>
            <a:pPr>
              <a:lnSpc>
                <a:spcPct val="150000"/>
              </a:lnSpc>
            </a:pPr>
            <a:endParaRPr lang="vi-VN">
              <a:solidFill>
                <a:schemeClr val="bg1"/>
              </a:solidFill>
              <a:effectLst/>
            </a:endParaRPr>
          </a:p>
          <a:p>
            <a:pPr>
              <a:lnSpc>
                <a:spcPct val="150000"/>
              </a:lnSpc>
            </a:pPr>
            <a:r>
              <a:rPr lang="vi-VN">
                <a:solidFill>
                  <a:schemeClr val="bg1"/>
                </a:solidFill>
                <a:effectLst/>
              </a:rPr>
              <a:t>Transceiver tiêu hao công suất P = I²·R nhiều hơn → chip nóng</a:t>
            </a:r>
          </a:p>
          <a:p>
            <a:pPr>
              <a:lnSpc>
                <a:spcPct val="150000"/>
              </a:lnSpc>
            </a:pPr>
            <a:r>
              <a:rPr lang="vi-VN">
                <a:solidFill>
                  <a:schemeClr val="bg1"/>
                </a:solidFill>
                <a:effectLst/>
              </a:rPr>
              <a:t>Điện áp Dominant bị "kéo thấp" hơn mức chuẩn → receiver ở node xa có thể không nhận ra là Dominant → lỗi arbitration</a:t>
            </a:r>
          </a:p>
          <a:p>
            <a:pPr>
              <a:lnSpc>
                <a:spcPct val="150000"/>
              </a:lnSpc>
            </a:pPr>
            <a:r>
              <a:rPr lang="vi-VN">
                <a:solidFill>
                  <a:schemeClr val="bg1"/>
                </a:solidFill>
                <a:effectLst/>
              </a:rPr>
              <a:t>Nguy cơ transceiver vượt ngưỡng dòng tối đa → hỏng chip</a:t>
            </a:r>
          </a:p>
        </p:txBody>
      </p:sp>
      <p:pic>
        <p:nvPicPr>
          <p:cNvPr id="9" name="Picture 8">
            <a:extLst>
              <a:ext uri="{FF2B5EF4-FFF2-40B4-BE49-F238E27FC236}">
                <a16:creationId xmlns:a16="http://schemas.microsoft.com/office/drawing/2014/main" id="{F7A5930F-F3A7-9A90-0191-49EBB5F1743A}"/>
              </a:ext>
            </a:extLst>
          </p:cNvPr>
          <p:cNvPicPr>
            <a:picLocks noChangeAspect="1"/>
          </p:cNvPicPr>
          <p:nvPr/>
        </p:nvPicPr>
        <p:blipFill>
          <a:blip r:embed="rId5"/>
          <a:stretch>
            <a:fillRect/>
          </a:stretch>
        </p:blipFill>
        <p:spPr>
          <a:xfrm>
            <a:off x="7143750" y="5542015"/>
            <a:ext cx="4174807" cy="748400"/>
          </a:xfrm>
          <a:prstGeom prst="rect">
            <a:avLst/>
          </a:prstGeom>
        </p:spPr>
      </p:pic>
    </p:spTree>
    <p:extLst>
      <p:ext uri="{BB962C8B-B14F-4D97-AF65-F5344CB8AC3E}">
        <p14:creationId xmlns:p14="http://schemas.microsoft.com/office/powerpoint/2010/main" val="1194444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5665333" cy="584775"/>
          </a:xfrm>
          <a:prstGeom prst="rect">
            <a:avLst/>
          </a:prstGeom>
          <a:noFill/>
        </p:spPr>
        <p:txBody>
          <a:bodyPr wrap="none" rtlCol="0">
            <a:spAutoFit/>
          </a:bodyPr>
          <a:lstStyle/>
          <a:p>
            <a:r>
              <a:rPr lang="vi-VN" sz="3200" b="1">
                <a:solidFill>
                  <a:schemeClr val="bg1"/>
                </a:solidFill>
              </a:rPr>
              <a:t>Termination resistor làm gì?</a:t>
            </a:r>
            <a:endParaRPr lang="en-US" sz="3200" b="1" dirty="0">
              <a:solidFill>
                <a:schemeClr val="bg1"/>
              </a:solidFill>
            </a:endParaRPr>
          </a:p>
        </p:txBody>
      </p:sp>
      <p:sp>
        <p:nvSpPr>
          <p:cNvPr id="7" name="Rectangle 6"/>
          <p:cNvSpPr/>
          <p:nvPr/>
        </p:nvSpPr>
        <p:spPr>
          <a:xfrm>
            <a:off x="414528" y="1124396"/>
            <a:ext cx="11167872" cy="3903441"/>
          </a:xfrm>
          <a:prstGeom prst="rect">
            <a:avLst/>
          </a:prstGeom>
        </p:spPr>
        <p:txBody>
          <a:bodyPr wrap="square">
            <a:spAutoFit/>
          </a:bodyPr>
          <a:lstStyle/>
          <a:p>
            <a:pPr>
              <a:lnSpc>
                <a:spcPct val="200000"/>
              </a:lnSpc>
            </a:pPr>
            <a:r>
              <a:rPr lang="vi-VN" sz="1400">
                <a:solidFill>
                  <a:schemeClr val="bg1"/>
                </a:solidFill>
              </a:rPr>
              <a:t>Hai điện trở 120</a:t>
            </a:r>
            <a:r>
              <a:rPr lang="el-GR" sz="1400">
                <a:solidFill>
                  <a:schemeClr val="bg1"/>
                </a:solidFill>
              </a:rPr>
              <a:t>Ω </a:t>
            </a:r>
            <a:r>
              <a:rPr lang="vi-VN" sz="1400">
                <a:solidFill>
                  <a:schemeClr val="bg1"/>
                </a:solidFill>
              </a:rPr>
              <a:t>ở hai đầu cáp mắc song song với nhau → trở kháng tổng = 60</a:t>
            </a:r>
            <a:r>
              <a:rPr lang="el-GR" sz="1400">
                <a:solidFill>
                  <a:schemeClr val="bg1"/>
                </a:solidFill>
              </a:rPr>
              <a:t>Ω. </a:t>
            </a:r>
            <a:r>
              <a:rPr lang="vi-VN" sz="1400">
                <a:solidFill>
                  <a:schemeClr val="bg1"/>
                </a:solidFill>
              </a:rPr>
              <a:t>Chúng có hai vai trò chính:</a:t>
            </a:r>
            <a:endParaRPr lang="en-US" sz="1400">
              <a:solidFill>
                <a:schemeClr val="bg1"/>
              </a:solidFill>
            </a:endParaRPr>
          </a:p>
          <a:p>
            <a:pPr>
              <a:lnSpc>
                <a:spcPct val="200000"/>
              </a:lnSpc>
            </a:pPr>
            <a:endParaRPr lang="vi-VN" sz="1400">
              <a:solidFill>
                <a:schemeClr val="bg1"/>
              </a:solidFill>
            </a:endParaRPr>
          </a:p>
          <a:p>
            <a:pPr>
              <a:lnSpc>
                <a:spcPct val="200000"/>
              </a:lnSpc>
            </a:pPr>
            <a:r>
              <a:rPr lang="vi-VN" sz="1400">
                <a:solidFill>
                  <a:schemeClr val="bg1"/>
                </a:solidFill>
              </a:rPr>
              <a:t>Vai trò 1 — Kéo bus về Recessive nhanh: Sau khi truyền xong một bit Dominant, transceiver nhả ra (hi-Z). Khi đó dòng điện trên bus xả qua cặp 60</a:t>
            </a:r>
            <a:r>
              <a:rPr lang="el-GR" sz="1400">
                <a:solidFill>
                  <a:schemeClr val="bg1"/>
                </a:solidFill>
              </a:rPr>
              <a:t>Ω, </a:t>
            </a:r>
            <a:r>
              <a:rPr lang="vi-VN" sz="1400">
                <a:solidFill>
                  <a:schemeClr val="bg1"/>
                </a:solidFill>
              </a:rPr>
              <a:t>kéo cả CANH và CANL về cùng mức 2.5V trong thời gian ngắn nhất. Không có termination → không có đường xả</a:t>
            </a:r>
            <a:endParaRPr lang="en-US" sz="1400">
              <a:solidFill>
                <a:schemeClr val="bg1"/>
              </a:solidFill>
            </a:endParaRPr>
          </a:p>
          <a:p>
            <a:pPr>
              <a:lnSpc>
                <a:spcPct val="200000"/>
              </a:lnSpc>
            </a:pPr>
            <a:endParaRPr lang="vi-VN" sz="1400">
              <a:solidFill>
                <a:schemeClr val="bg1"/>
              </a:solidFill>
            </a:endParaRPr>
          </a:p>
          <a:p>
            <a:pPr>
              <a:lnSpc>
                <a:spcPct val="200000"/>
              </a:lnSpc>
            </a:pPr>
            <a:r>
              <a:rPr lang="vi-VN" sz="1400">
                <a:solidFill>
                  <a:schemeClr val="bg1"/>
                </a:solidFill>
              </a:rPr>
              <a:t>Vai trò 2 — Triệt nhiễu common-mode: Nhiễu điện từ trường (EMI) cảm ứng bằng nhau vào cả CANH và CANL (vì hai dây đi cùng nhau, bện xoắn). Receiver chỉ nhìn vào Vdiff = CANH − CANL: nhiễu trên cả hai dây bằng nhau → triệt tiêu hoàn toàn trong phép trừ này. Termination giúp duy trì sự cân bằng trở kháng của hai dây, đảm bảo nhiễu thực sự cảm ứng đồng đều → common-mode rejection hoạt động hiệu quả.</a:t>
            </a:r>
          </a:p>
        </p:txBody>
      </p:sp>
      <p:pic>
        <p:nvPicPr>
          <p:cNvPr id="5" name="Picture 4">
            <a:extLst>
              <a:ext uri="{FF2B5EF4-FFF2-40B4-BE49-F238E27FC236}">
                <a16:creationId xmlns:a16="http://schemas.microsoft.com/office/drawing/2014/main" id="{6B3A6926-E54C-BC9B-E50D-A50082FE55F4}"/>
              </a:ext>
            </a:extLst>
          </p:cNvPr>
          <p:cNvPicPr>
            <a:picLocks noChangeAspect="1"/>
          </p:cNvPicPr>
          <p:nvPr/>
        </p:nvPicPr>
        <p:blipFill>
          <a:blip r:embed="rId5"/>
          <a:stretch>
            <a:fillRect/>
          </a:stretch>
        </p:blipFill>
        <p:spPr>
          <a:xfrm>
            <a:off x="6537960" y="5467854"/>
            <a:ext cx="4174807" cy="748400"/>
          </a:xfrm>
          <a:prstGeom prst="rect">
            <a:avLst/>
          </a:prstGeom>
        </p:spPr>
      </p:pic>
    </p:spTree>
    <p:extLst>
      <p:ext uri="{BB962C8B-B14F-4D97-AF65-F5344CB8AC3E}">
        <p14:creationId xmlns:p14="http://schemas.microsoft.com/office/powerpoint/2010/main" val="1366511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707519" cy="584775"/>
          </a:xfrm>
          <a:prstGeom prst="rect">
            <a:avLst/>
          </a:prstGeom>
          <a:noFill/>
        </p:spPr>
        <p:txBody>
          <a:bodyPr wrap="none" rtlCol="0">
            <a:spAutoFit/>
          </a:bodyPr>
          <a:lstStyle/>
          <a:p>
            <a:r>
              <a:rPr lang="en-US" sz="3200" b="1">
                <a:solidFill>
                  <a:schemeClr val="bg1"/>
                </a:solidFill>
              </a:rPr>
              <a:t>CAN BUS</a:t>
            </a:r>
            <a:endParaRPr lang="en-US" sz="3200" b="1" dirty="0">
              <a:solidFill>
                <a:schemeClr val="bg1"/>
              </a:solidFill>
            </a:endParaRPr>
          </a:p>
        </p:txBody>
      </p:sp>
      <p:pic>
        <p:nvPicPr>
          <p:cNvPr id="3" name="Picture 2">
            <a:extLst>
              <a:ext uri="{FF2B5EF4-FFF2-40B4-BE49-F238E27FC236}">
                <a16:creationId xmlns:a16="http://schemas.microsoft.com/office/drawing/2014/main" id="{C9C35666-CE05-3905-01CC-B7B860C769E3}"/>
              </a:ext>
            </a:extLst>
          </p:cNvPr>
          <p:cNvPicPr>
            <a:picLocks noChangeAspect="1"/>
          </p:cNvPicPr>
          <p:nvPr/>
        </p:nvPicPr>
        <p:blipFill>
          <a:blip r:embed="rId5"/>
          <a:stretch>
            <a:fillRect/>
          </a:stretch>
        </p:blipFill>
        <p:spPr>
          <a:xfrm>
            <a:off x="3381376" y="455869"/>
            <a:ext cx="6391274" cy="5856812"/>
          </a:xfrm>
          <a:prstGeom prst="rect">
            <a:avLst/>
          </a:prstGeom>
        </p:spPr>
      </p:pic>
    </p:spTree>
    <p:extLst>
      <p:ext uri="{BB962C8B-B14F-4D97-AF65-F5344CB8AC3E}">
        <p14:creationId xmlns:p14="http://schemas.microsoft.com/office/powerpoint/2010/main" val="880554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4759188" cy="584775"/>
          </a:xfrm>
          <a:prstGeom prst="rect">
            <a:avLst/>
          </a:prstGeom>
          <a:noFill/>
        </p:spPr>
        <p:txBody>
          <a:bodyPr wrap="none" rtlCol="0">
            <a:spAutoFit/>
          </a:bodyPr>
          <a:lstStyle/>
          <a:p>
            <a:r>
              <a:rPr lang="en-US" sz="3200" b="1" dirty="0">
                <a:solidFill>
                  <a:schemeClr val="bg1"/>
                </a:solidFill>
              </a:rPr>
              <a:t>CAN NETWORK TOPOLOGY</a:t>
            </a:r>
          </a:p>
        </p:txBody>
      </p:sp>
    </p:spTree>
    <p:extLst>
      <p:ext uri="{BB962C8B-B14F-4D97-AF65-F5344CB8AC3E}">
        <p14:creationId xmlns:p14="http://schemas.microsoft.com/office/powerpoint/2010/main" val="1941422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4759188" cy="584775"/>
          </a:xfrm>
          <a:prstGeom prst="rect">
            <a:avLst/>
          </a:prstGeom>
          <a:noFill/>
        </p:spPr>
        <p:txBody>
          <a:bodyPr wrap="none" rtlCol="0">
            <a:spAutoFit/>
          </a:bodyPr>
          <a:lstStyle/>
          <a:p>
            <a:r>
              <a:rPr lang="en-US" sz="3200" b="1" dirty="0">
                <a:solidFill>
                  <a:schemeClr val="bg1"/>
                </a:solidFill>
              </a:rPr>
              <a:t>CAN NETWORK TOPOLOGY</a:t>
            </a:r>
          </a:p>
        </p:txBody>
      </p:sp>
    </p:spTree>
    <p:extLst>
      <p:ext uri="{BB962C8B-B14F-4D97-AF65-F5344CB8AC3E}">
        <p14:creationId xmlns:p14="http://schemas.microsoft.com/office/powerpoint/2010/main" val="2987913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4759188" cy="584775"/>
          </a:xfrm>
          <a:prstGeom prst="rect">
            <a:avLst/>
          </a:prstGeom>
          <a:noFill/>
        </p:spPr>
        <p:txBody>
          <a:bodyPr wrap="none" rtlCol="0">
            <a:spAutoFit/>
          </a:bodyPr>
          <a:lstStyle/>
          <a:p>
            <a:r>
              <a:rPr lang="en-US" sz="3200" b="1" dirty="0">
                <a:solidFill>
                  <a:schemeClr val="bg1"/>
                </a:solidFill>
              </a:rPr>
              <a:t>CAN NETWORK TOPOLOGY</a:t>
            </a:r>
          </a:p>
        </p:txBody>
      </p:sp>
      <p:pic>
        <p:nvPicPr>
          <p:cNvPr id="2" name="Picture 1">
            <a:extLst>
              <a:ext uri="{FF2B5EF4-FFF2-40B4-BE49-F238E27FC236}">
                <a16:creationId xmlns:a16="http://schemas.microsoft.com/office/drawing/2014/main" id="{A928A493-5CB2-2ED9-E166-04A2BD927F11}"/>
              </a:ext>
            </a:extLst>
          </p:cNvPr>
          <p:cNvPicPr>
            <a:picLocks noChangeAspect="1"/>
          </p:cNvPicPr>
          <p:nvPr/>
        </p:nvPicPr>
        <p:blipFill>
          <a:blip r:embed="rId5"/>
          <a:stretch>
            <a:fillRect/>
          </a:stretch>
        </p:blipFill>
        <p:spPr>
          <a:xfrm>
            <a:off x="511425" y="1972368"/>
            <a:ext cx="10974078" cy="3553883"/>
          </a:xfrm>
          <a:prstGeom prst="rect">
            <a:avLst/>
          </a:prstGeom>
        </p:spPr>
      </p:pic>
    </p:spTree>
    <p:extLst>
      <p:ext uri="{BB962C8B-B14F-4D97-AF65-F5344CB8AC3E}">
        <p14:creationId xmlns:p14="http://schemas.microsoft.com/office/powerpoint/2010/main" val="2436426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1212493" cy="584775"/>
          </a:xfrm>
          <a:prstGeom prst="rect">
            <a:avLst/>
          </a:prstGeom>
          <a:noFill/>
        </p:spPr>
        <p:txBody>
          <a:bodyPr wrap="none" rtlCol="0">
            <a:spAutoFit/>
          </a:bodyPr>
          <a:lstStyle/>
          <a:p>
            <a:r>
              <a:rPr lang="vi-VN" sz="3200" b="1">
                <a:solidFill>
                  <a:schemeClr val="bg1"/>
                </a:solidFill>
                <a:effectLst/>
              </a:rPr>
              <a:t>Một node CAN (Controller Area Network) gồm những gì?</a:t>
            </a:r>
            <a:endParaRPr lang="vi-VN" sz="3200">
              <a:solidFill>
                <a:schemeClr val="bg1"/>
              </a:solidFill>
              <a:effectLst/>
            </a:endParaRPr>
          </a:p>
        </p:txBody>
      </p:sp>
      <p:sp>
        <p:nvSpPr>
          <p:cNvPr id="7" name="Rectangle 6"/>
          <p:cNvSpPr/>
          <p:nvPr/>
        </p:nvSpPr>
        <p:spPr>
          <a:xfrm>
            <a:off x="406402" y="1201270"/>
            <a:ext cx="11167872" cy="2637710"/>
          </a:xfrm>
          <a:prstGeom prst="rect">
            <a:avLst/>
          </a:prstGeom>
        </p:spPr>
        <p:txBody>
          <a:bodyPr wrap="square">
            <a:spAutoFit/>
          </a:bodyPr>
          <a:lstStyle/>
          <a:p>
            <a:pPr>
              <a:lnSpc>
                <a:spcPct val="150000"/>
              </a:lnSpc>
            </a:pPr>
            <a:r>
              <a:rPr lang="vi-VN" sz="1400">
                <a:solidFill>
                  <a:schemeClr val="bg1"/>
                </a:solidFill>
                <a:effectLst/>
              </a:rPr>
              <a:t>Một </a:t>
            </a:r>
            <a:r>
              <a:rPr lang="vi-VN" sz="1400" b="1">
                <a:solidFill>
                  <a:schemeClr val="bg1"/>
                </a:solidFill>
                <a:effectLst/>
              </a:rPr>
              <a:t>node CAN</a:t>
            </a:r>
            <a:r>
              <a:rPr lang="vi-VN" sz="1400">
                <a:solidFill>
                  <a:schemeClr val="bg1"/>
                </a:solidFill>
                <a:effectLst/>
              </a:rPr>
              <a:t> (hay còn gọi là ECU - Electronic Control Unit trong ô tô, hoặc thiết bị node trong công nghiệp) là một thiết bị độc lập kết nối vào đường bus CAN. Nó có khả năng </a:t>
            </a:r>
            <a:r>
              <a:rPr lang="vi-VN" sz="1400" b="1">
                <a:solidFill>
                  <a:schemeClr val="bg1"/>
                </a:solidFill>
                <a:effectLst/>
              </a:rPr>
              <a:t>gửi và nhận thông điệp CAN</a:t>
            </a:r>
            <a:r>
              <a:rPr lang="vi-VN" sz="1400">
                <a:solidFill>
                  <a:schemeClr val="bg1"/>
                </a:solidFill>
                <a:effectLst/>
              </a:rPr>
              <a:t> theo giao thức chuẩn ISO 11898.</a:t>
            </a:r>
          </a:p>
          <a:p>
            <a:pPr>
              <a:lnSpc>
                <a:spcPct val="150000"/>
              </a:lnSpc>
            </a:pPr>
            <a:r>
              <a:rPr lang="vi-VN" sz="1400">
                <a:solidFill>
                  <a:schemeClr val="bg1"/>
                </a:solidFill>
                <a:effectLst/>
              </a:rPr>
              <a:t>Cấu tạo phần cứng cốt lõi của </a:t>
            </a:r>
            <a:r>
              <a:rPr lang="vi-VN" sz="1400" b="1">
                <a:solidFill>
                  <a:schemeClr val="bg1"/>
                </a:solidFill>
                <a:effectLst/>
              </a:rPr>
              <a:t>1 node CAN</a:t>
            </a:r>
            <a:r>
              <a:rPr lang="vi-VN" sz="1400">
                <a:solidFill>
                  <a:schemeClr val="bg1"/>
                </a:solidFill>
                <a:effectLst/>
              </a:rPr>
              <a:t> bao gồm </a:t>
            </a:r>
            <a:r>
              <a:rPr lang="vi-VN" sz="1400" b="1">
                <a:solidFill>
                  <a:schemeClr val="bg1"/>
                </a:solidFill>
                <a:effectLst/>
              </a:rPr>
              <a:t>3 khối chính</a:t>
            </a:r>
            <a:r>
              <a:rPr lang="vi-VN" sz="1400">
                <a:solidFill>
                  <a:schemeClr val="bg1"/>
                </a:solidFill>
                <a:effectLst/>
              </a:rPr>
              <a:t> (có thể tích hợp một phần):</a:t>
            </a:r>
          </a:p>
          <a:p>
            <a:pPr>
              <a:lnSpc>
                <a:spcPct val="150000"/>
              </a:lnSpc>
              <a:buFont typeface="+mj-lt"/>
              <a:buAutoNum type="arabicPeriod"/>
            </a:pPr>
            <a:r>
              <a:rPr lang="vi-VN" sz="1400" b="1">
                <a:solidFill>
                  <a:schemeClr val="bg1"/>
                </a:solidFill>
              </a:rPr>
              <a:t>Microcontroller (MCU)</a:t>
            </a:r>
            <a:r>
              <a:rPr lang="vi-VN" sz="1400">
                <a:solidFill>
                  <a:schemeClr val="bg1"/>
                </a:solidFill>
              </a:rPr>
              <a:t> – Bộ vi điều khiển (bộ não của node).</a:t>
            </a:r>
          </a:p>
          <a:p>
            <a:pPr>
              <a:lnSpc>
                <a:spcPct val="150000"/>
              </a:lnSpc>
              <a:buFont typeface="+mj-lt"/>
              <a:buAutoNum type="arabicPeriod"/>
            </a:pPr>
            <a:r>
              <a:rPr lang="vi-VN" sz="1400" b="1">
                <a:solidFill>
                  <a:schemeClr val="bg1"/>
                </a:solidFill>
              </a:rPr>
              <a:t>CAN Controller</a:t>
            </a:r>
            <a:r>
              <a:rPr lang="vi-VN" sz="1400">
                <a:solidFill>
                  <a:schemeClr val="bg1"/>
                </a:solidFill>
              </a:rPr>
              <a:t> – Bộ điều khiển CAN (thường tích hợp sẵn trong MCU hiện đại).</a:t>
            </a:r>
          </a:p>
          <a:p>
            <a:pPr>
              <a:lnSpc>
                <a:spcPct val="150000"/>
              </a:lnSpc>
              <a:buFont typeface="+mj-lt"/>
              <a:buAutoNum type="arabicPeriod"/>
            </a:pPr>
            <a:r>
              <a:rPr lang="vi-VN" sz="1400" b="1">
                <a:solidFill>
                  <a:schemeClr val="bg1"/>
                </a:solidFill>
              </a:rPr>
              <a:t>CAN Transceiver</a:t>
            </a:r>
            <a:r>
              <a:rPr lang="vi-VN" sz="1400">
                <a:solidFill>
                  <a:schemeClr val="bg1"/>
                </a:solidFill>
              </a:rPr>
              <a:t> – Bộ thu phát CAN (luôn là chip riêng).</a:t>
            </a:r>
          </a:p>
          <a:p>
            <a:pPr>
              <a:lnSpc>
                <a:spcPct val="150000"/>
              </a:lnSpc>
            </a:pPr>
            <a:r>
              <a:rPr lang="vi-VN" sz="1400">
                <a:solidFill>
                  <a:schemeClr val="bg1"/>
                </a:solidFill>
                <a:effectLst/>
              </a:rPr>
              <a:t>Ngoài ra còn có các khối hỗ trợ: nguồn điện, clock, bảo vệ ESD, connector, v.v. Nhưng 3 khối trên là </a:t>
            </a:r>
            <a:r>
              <a:rPr lang="vi-VN" sz="1400" b="1">
                <a:solidFill>
                  <a:schemeClr val="bg1"/>
                </a:solidFill>
                <a:effectLst/>
              </a:rPr>
              <a:t>bắt buộc</a:t>
            </a:r>
            <a:r>
              <a:rPr lang="vi-VN" sz="1400">
                <a:solidFill>
                  <a:schemeClr val="bg1"/>
                </a:solidFill>
                <a:effectLst/>
              </a:rPr>
              <a:t> để node có thể giao tiếp CAN.</a:t>
            </a:r>
          </a:p>
        </p:txBody>
      </p:sp>
      <p:sp>
        <p:nvSpPr>
          <p:cNvPr id="2" name="AutoShape 2" descr="CAN Controller vs CAN Transceiver | SonnePower">
            <a:extLst>
              <a:ext uri="{FF2B5EF4-FFF2-40B4-BE49-F238E27FC236}">
                <a16:creationId xmlns:a16="http://schemas.microsoft.com/office/drawing/2014/main" id="{4D7A6A1E-28AF-E2F8-081B-0BBC79146D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5" name="Picture 4">
            <a:extLst>
              <a:ext uri="{FF2B5EF4-FFF2-40B4-BE49-F238E27FC236}">
                <a16:creationId xmlns:a16="http://schemas.microsoft.com/office/drawing/2014/main" id="{A648FA77-0FEE-912D-E579-6534CEDFFBB3}"/>
              </a:ext>
            </a:extLst>
          </p:cNvPr>
          <p:cNvPicPr>
            <a:picLocks noChangeAspect="1"/>
          </p:cNvPicPr>
          <p:nvPr/>
        </p:nvPicPr>
        <p:blipFill>
          <a:blip r:embed="rId5"/>
          <a:stretch>
            <a:fillRect/>
          </a:stretch>
        </p:blipFill>
        <p:spPr>
          <a:xfrm>
            <a:off x="971549" y="3838980"/>
            <a:ext cx="5980939" cy="2761690"/>
          </a:xfrm>
          <a:prstGeom prst="rect">
            <a:avLst/>
          </a:prstGeom>
        </p:spPr>
      </p:pic>
      <p:pic>
        <p:nvPicPr>
          <p:cNvPr id="1028" name="Picture 4" descr="Using CAN (bxCAN) in Normal mode with STM32 microc... - STMicroelectronics  Community">
            <a:extLst>
              <a:ext uri="{FF2B5EF4-FFF2-40B4-BE49-F238E27FC236}">
                <a16:creationId xmlns:a16="http://schemas.microsoft.com/office/drawing/2014/main" id="{DA77F944-660F-F65F-F47E-9710A1869C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46620" y="3823685"/>
            <a:ext cx="4327654" cy="2750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97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1212493" cy="584775"/>
          </a:xfrm>
          <a:prstGeom prst="rect">
            <a:avLst/>
          </a:prstGeom>
          <a:noFill/>
        </p:spPr>
        <p:txBody>
          <a:bodyPr wrap="none" rtlCol="0">
            <a:spAutoFit/>
          </a:bodyPr>
          <a:lstStyle/>
          <a:p>
            <a:r>
              <a:rPr lang="vi-VN" sz="3200" b="1">
                <a:solidFill>
                  <a:schemeClr val="bg1"/>
                </a:solidFill>
                <a:effectLst/>
              </a:rPr>
              <a:t>Một node CAN (Controller Area Network) gồm những gì?</a:t>
            </a:r>
            <a:endParaRPr lang="vi-VN" sz="3200">
              <a:solidFill>
                <a:schemeClr val="bg1"/>
              </a:solidFill>
              <a:effectLst/>
            </a:endParaRPr>
          </a:p>
        </p:txBody>
      </p:sp>
      <p:sp>
        <p:nvSpPr>
          <p:cNvPr id="7" name="Rectangle 6"/>
          <p:cNvSpPr/>
          <p:nvPr/>
        </p:nvSpPr>
        <p:spPr>
          <a:xfrm>
            <a:off x="406402" y="1201270"/>
            <a:ext cx="11167872" cy="2637710"/>
          </a:xfrm>
          <a:prstGeom prst="rect">
            <a:avLst/>
          </a:prstGeom>
        </p:spPr>
        <p:txBody>
          <a:bodyPr wrap="square">
            <a:spAutoFit/>
          </a:bodyPr>
          <a:lstStyle/>
          <a:p>
            <a:pPr>
              <a:lnSpc>
                <a:spcPct val="150000"/>
              </a:lnSpc>
            </a:pPr>
            <a:r>
              <a:rPr lang="vi-VN" sz="1400">
                <a:solidFill>
                  <a:schemeClr val="bg1"/>
                </a:solidFill>
                <a:effectLst/>
              </a:rPr>
              <a:t>Một </a:t>
            </a:r>
            <a:r>
              <a:rPr lang="vi-VN" sz="1400" b="1">
                <a:solidFill>
                  <a:schemeClr val="bg1"/>
                </a:solidFill>
                <a:effectLst/>
              </a:rPr>
              <a:t>node CAN</a:t>
            </a:r>
            <a:r>
              <a:rPr lang="vi-VN" sz="1400">
                <a:solidFill>
                  <a:schemeClr val="bg1"/>
                </a:solidFill>
                <a:effectLst/>
              </a:rPr>
              <a:t> (hay còn gọi là ECU - Electronic Control Unit trong ô tô, hoặc thiết bị node trong công nghiệp) là một thiết bị độc lập kết nối vào đường bus CAN. Nó có khả năng </a:t>
            </a:r>
            <a:r>
              <a:rPr lang="vi-VN" sz="1400" b="1">
                <a:solidFill>
                  <a:schemeClr val="bg1"/>
                </a:solidFill>
                <a:effectLst/>
              </a:rPr>
              <a:t>gửi và nhận thông điệp CAN</a:t>
            </a:r>
            <a:r>
              <a:rPr lang="vi-VN" sz="1400">
                <a:solidFill>
                  <a:schemeClr val="bg1"/>
                </a:solidFill>
                <a:effectLst/>
              </a:rPr>
              <a:t> theo giao thức chuẩn ISO 11898.</a:t>
            </a:r>
          </a:p>
          <a:p>
            <a:pPr>
              <a:lnSpc>
                <a:spcPct val="150000"/>
              </a:lnSpc>
            </a:pPr>
            <a:r>
              <a:rPr lang="vi-VN" sz="1400">
                <a:solidFill>
                  <a:schemeClr val="bg1"/>
                </a:solidFill>
                <a:effectLst/>
              </a:rPr>
              <a:t>Cấu tạo phần cứng cốt lõi của </a:t>
            </a:r>
            <a:r>
              <a:rPr lang="vi-VN" sz="1400" b="1">
                <a:solidFill>
                  <a:schemeClr val="bg1"/>
                </a:solidFill>
                <a:effectLst/>
              </a:rPr>
              <a:t>1 node CAN</a:t>
            </a:r>
            <a:r>
              <a:rPr lang="vi-VN" sz="1400">
                <a:solidFill>
                  <a:schemeClr val="bg1"/>
                </a:solidFill>
                <a:effectLst/>
              </a:rPr>
              <a:t> bao gồm </a:t>
            </a:r>
            <a:r>
              <a:rPr lang="vi-VN" sz="1400" b="1">
                <a:solidFill>
                  <a:schemeClr val="bg1"/>
                </a:solidFill>
                <a:effectLst/>
              </a:rPr>
              <a:t>3 khối chính</a:t>
            </a:r>
            <a:r>
              <a:rPr lang="vi-VN" sz="1400">
                <a:solidFill>
                  <a:schemeClr val="bg1"/>
                </a:solidFill>
                <a:effectLst/>
              </a:rPr>
              <a:t> (có thể tích hợp một phần):</a:t>
            </a:r>
          </a:p>
          <a:p>
            <a:pPr>
              <a:lnSpc>
                <a:spcPct val="150000"/>
              </a:lnSpc>
              <a:buFont typeface="+mj-lt"/>
              <a:buAutoNum type="arabicPeriod"/>
            </a:pPr>
            <a:r>
              <a:rPr lang="vi-VN" sz="1400" b="1">
                <a:solidFill>
                  <a:schemeClr val="bg1"/>
                </a:solidFill>
              </a:rPr>
              <a:t>Microcontroller (MCU)</a:t>
            </a:r>
            <a:r>
              <a:rPr lang="vi-VN" sz="1400">
                <a:solidFill>
                  <a:schemeClr val="bg1"/>
                </a:solidFill>
              </a:rPr>
              <a:t> – Bộ vi điều khiển (bộ não của node).</a:t>
            </a:r>
          </a:p>
          <a:p>
            <a:pPr>
              <a:lnSpc>
                <a:spcPct val="150000"/>
              </a:lnSpc>
              <a:buFont typeface="+mj-lt"/>
              <a:buAutoNum type="arabicPeriod"/>
            </a:pPr>
            <a:r>
              <a:rPr lang="vi-VN" sz="1400" b="1">
                <a:solidFill>
                  <a:schemeClr val="bg1"/>
                </a:solidFill>
              </a:rPr>
              <a:t>CAN Controller</a:t>
            </a:r>
            <a:r>
              <a:rPr lang="vi-VN" sz="1400">
                <a:solidFill>
                  <a:schemeClr val="bg1"/>
                </a:solidFill>
              </a:rPr>
              <a:t> – Bộ điều khiển CAN (thường tích hợp sẵn trong MCU hiện đại).</a:t>
            </a:r>
          </a:p>
          <a:p>
            <a:pPr>
              <a:lnSpc>
                <a:spcPct val="150000"/>
              </a:lnSpc>
              <a:buFont typeface="+mj-lt"/>
              <a:buAutoNum type="arabicPeriod"/>
            </a:pPr>
            <a:r>
              <a:rPr lang="vi-VN" sz="1400" b="1">
                <a:solidFill>
                  <a:schemeClr val="bg1"/>
                </a:solidFill>
              </a:rPr>
              <a:t>CAN Transceiver</a:t>
            </a:r>
            <a:r>
              <a:rPr lang="vi-VN" sz="1400">
                <a:solidFill>
                  <a:schemeClr val="bg1"/>
                </a:solidFill>
              </a:rPr>
              <a:t> – Bộ thu phát CAN (luôn là chip riêng).</a:t>
            </a:r>
          </a:p>
          <a:p>
            <a:pPr>
              <a:lnSpc>
                <a:spcPct val="150000"/>
              </a:lnSpc>
            </a:pPr>
            <a:r>
              <a:rPr lang="vi-VN" sz="1400">
                <a:solidFill>
                  <a:schemeClr val="bg1"/>
                </a:solidFill>
                <a:effectLst/>
              </a:rPr>
              <a:t>Ngoài ra còn có các khối hỗ trợ: nguồn điện, clock, bảo vệ ESD, connector, v.v. Nhưng 3 khối trên là </a:t>
            </a:r>
            <a:r>
              <a:rPr lang="vi-VN" sz="1400" b="1">
                <a:solidFill>
                  <a:schemeClr val="bg1"/>
                </a:solidFill>
                <a:effectLst/>
              </a:rPr>
              <a:t>bắt buộc</a:t>
            </a:r>
            <a:r>
              <a:rPr lang="vi-VN" sz="1400">
                <a:solidFill>
                  <a:schemeClr val="bg1"/>
                </a:solidFill>
                <a:effectLst/>
              </a:rPr>
              <a:t> để node có thể giao tiếp CAN.</a:t>
            </a:r>
          </a:p>
        </p:txBody>
      </p:sp>
      <p:sp>
        <p:nvSpPr>
          <p:cNvPr id="2" name="AutoShape 2" descr="CAN Controller vs CAN Transceiver | SonnePower">
            <a:extLst>
              <a:ext uri="{FF2B5EF4-FFF2-40B4-BE49-F238E27FC236}">
                <a16:creationId xmlns:a16="http://schemas.microsoft.com/office/drawing/2014/main" id="{4D7A6A1E-28AF-E2F8-081B-0BBC79146D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1555811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11212493" cy="584775"/>
          </a:xfrm>
          <a:prstGeom prst="rect">
            <a:avLst/>
          </a:prstGeom>
          <a:noFill/>
        </p:spPr>
        <p:txBody>
          <a:bodyPr wrap="none" rtlCol="0">
            <a:spAutoFit/>
          </a:bodyPr>
          <a:lstStyle/>
          <a:p>
            <a:r>
              <a:rPr lang="vi-VN" sz="3200" b="1">
                <a:solidFill>
                  <a:schemeClr val="bg1"/>
                </a:solidFill>
                <a:effectLst/>
              </a:rPr>
              <a:t>Một node CAN (Controller Area Network) gồm những gì?</a:t>
            </a:r>
            <a:endParaRPr lang="vi-VN" sz="3200">
              <a:solidFill>
                <a:schemeClr val="bg1"/>
              </a:solidFill>
              <a:effectLst/>
            </a:endParaRPr>
          </a:p>
        </p:txBody>
      </p:sp>
      <p:sp>
        <p:nvSpPr>
          <p:cNvPr id="7" name="Rectangle 6"/>
          <p:cNvSpPr/>
          <p:nvPr/>
        </p:nvSpPr>
        <p:spPr>
          <a:xfrm>
            <a:off x="406402" y="1201270"/>
            <a:ext cx="11167872" cy="5196102"/>
          </a:xfrm>
          <a:prstGeom prst="rect">
            <a:avLst/>
          </a:prstGeom>
        </p:spPr>
        <p:txBody>
          <a:bodyPr wrap="square">
            <a:spAutoFit/>
          </a:bodyPr>
          <a:lstStyle/>
          <a:p>
            <a:pPr>
              <a:lnSpc>
                <a:spcPct val="200000"/>
              </a:lnSpc>
            </a:pPr>
            <a:r>
              <a:rPr lang="vi-VN" sz="1400" b="1">
                <a:solidFill>
                  <a:schemeClr val="bg1"/>
                </a:solidFill>
              </a:rPr>
              <a:t>1. Microcontroller (MCU) – Bộ vi điều khiển</a:t>
            </a:r>
          </a:p>
          <a:p>
            <a:pPr>
              <a:lnSpc>
                <a:spcPct val="200000"/>
              </a:lnSpc>
            </a:pPr>
            <a:r>
              <a:rPr lang="vi-VN" sz="1400" b="1">
                <a:solidFill>
                  <a:schemeClr val="bg1"/>
                </a:solidFill>
                <a:effectLst/>
              </a:rPr>
              <a:t>Làm gì?</a:t>
            </a:r>
            <a:r>
              <a:rPr lang="vi-VN" sz="1400">
                <a:solidFill>
                  <a:schemeClr val="bg1"/>
                </a:solidFill>
                <a:effectLst/>
              </a:rPr>
              <a:t> Đây là “bộ não” của node. MCU chạy chương trình firmware, xử lý dữ liệu từ cảm biến (sensor), điều khiển actuator (động cơ, đèn, van…), tính toán logic ứng dụng, và giao tiếp với CAN Controller để gửi/nhận dữ liệu CAN.</a:t>
            </a:r>
          </a:p>
          <a:p>
            <a:pPr marL="285750" indent="-285750">
              <a:lnSpc>
                <a:spcPct val="200000"/>
              </a:lnSpc>
              <a:buFont typeface="Arial" panose="020B0604020202020204" pitchFamily="34" charset="0"/>
              <a:buChar char="•"/>
            </a:pPr>
            <a:r>
              <a:rPr lang="vi-VN" sz="1400" b="1">
                <a:solidFill>
                  <a:schemeClr val="bg1"/>
                </a:solidFill>
                <a:effectLst/>
              </a:rPr>
              <a:t>Tại sao cần? Không có thì sao?</a:t>
            </a:r>
            <a:r>
              <a:rPr lang="vi-VN" sz="1400">
                <a:solidFill>
                  <a:schemeClr val="bg1"/>
                </a:solidFill>
                <a:effectLst/>
              </a:rPr>
              <a:t> Không có MCU thì node </a:t>
            </a:r>
            <a:r>
              <a:rPr lang="vi-VN" sz="1400" b="1">
                <a:solidFill>
                  <a:schemeClr val="bg1"/>
                </a:solidFill>
                <a:effectLst/>
              </a:rPr>
              <a:t>không có trí tuệ</a:t>
            </a:r>
            <a:r>
              <a:rPr lang="vi-VN" sz="1400">
                <a:solidFill>
                  <a:schemeClr val="bg1"/>
                </a:solidFill>
                <a:effectLst/>
              </a:rPr>
              <a:t>. Node chỉ còn lại 2 chip vô tri (Controller + Transceiver) → không thể biết phải gửi cái gì, không xử lý được dữ liệu nhận được, không thực hiện được bất kỳ chức năng nào của hệ thống (ví dụ: ECU động cơ không biết cách tính lượng xăng phun). Node trở thành “cục gạch” vô dụng.</a:t>
            </a:r>
          </a:p>
          <a:p>
            <a:pPr>
              <a:lnSpc>
                <a:spcPct val="200000"/>
              </a:lnSpc>
            </a:pPr>
            <a:r>
              <a:rPr lang="vi-VN" sz="1400" b="1">
                <a:solidFill>
                  <a:schemeClr val="bg1"/>
                </a:solidFill>
                <a:effectLst/>
              </a:rPr>
              <a:t>Hoạt động trong node như thế nào?</a:t>
            </a:r>
          </a:p>
          <a:p>
            <a:pPr marL="742950" lvl="1" indent="-285750">
              <a:lnSpc>
                <a:spcPct val="200000"/>
              </a:lnSpc>
              <a:buFont typeface="Arial" panose="020B0604020202020204" pitchFamily="34" charset="0"/>
              <a:buChar char="•"/>
            </a:pPr>
            <a:r>
              <a:rPr lang="vi-VN" sz="1400">
                <a:solidFill>
                  <a:schemeClr val="bg1"/>
                </a:solidFill>
              </a:rPr>
              <a:t>MCU kết nối với CAN Controller qua </a:t>
            </a:r>
            <a:r>
              <a:rPr lang="vi-VN" sz="1400" b="1">
                <a:solidFill>
                  <a:schemeClr val="bg1"/>
                </a:solidFill>
              </a:rPr>
              <a:t>bus nội bộ</a:t>
            </a:r>
            <a:r>
              <a:rPr lang="vi-VN" sz="1400">
                <a:solidFill>
                  <a:schemeClr val="bg1"/>
                </a:solidFill>
              </a:rPr>
              <a:t> (nếu tích hợp) hoặc </a:t>
            </a:r>
            <a:r>
              <a:rPr lang="vi-VN" sz="1400" b="1">
                <a:solidFill>
                  <a:schemeClr val="bg1"/>
                </a:solidFill>
              </a:rPr>
              <a:t>SPI / UART</a:t>
            </a:r>
            <a:r>
              <a:rPr lang="vi-VN" sz="1400">
                <a:solidFill>
                  <a:schemeClr val="bg1"/>
                </a:solidFill>
              </a:rPr>
              <a:t> (nếu CAN Controller riêng).</a:t>
            </a:r>
          </a:p>
          <a:p>
            <a:pPr marL="742950" lvl="1" indent="-285750">
              <a:lnSpc>
                <a:spcPct val="200000"/>
              </a:lnSpc>
              <a:buFont typeface="Arial" panose="020B0604020202020204" pitchFamily="34" charset="0"/>
              <a:buChar char="•"/>
            </a:pPr>
            <a:r>
              <a:rPr lang="vi-VN" sz="1400">
                <a:solidFill>
                  <a:schemeClr val="bg1"/>
                </a:solidFill>
              </a:rPr>
              <a:t>Khi cần gửi: MCU viết dữ liệu + ID tin nhắn vào buffer TX của CAN Controller.</a:t>
            </a:r>
          </a:p>
          <a:p>
            <a:pPr marL="742950" lvl="1" indent="-285750">
              <a:lnSpc>
                <a:spcPct val="200000"/>
              </a:lnSpc>
              <a:buFont typeface="Arial" panose="020B0604020202020204" pitchFamily="34" charset="0"/>
              <a:buChar char="•"/>
            </a:pPr>
            <a:r>
              <a:rPr lang="vi-VN" sz="1400">
                <a:solidFill>
                  <a:schemeClr val="bg1"/>
                </a:solidFill>
              </a:rPr>
              <a:t>Khi nhận: CAN Controller báo interrupt → MCU đọc buffer RX, xử lý dữ liệu (ví dụ: cập nhật giá trị cảm biến).</a:t>
            </a:r>
          </a:p>
          <a:p>
            <a:pPr marL="742950" lvl="1" indent="-285750">
              <a:lnSpc>
                <a:spcPct val="200000"/>
              </a:lnSpc>
              <a:buFont typeface="Arial" panose="020B0604020202020204" pitchFamily="34" charset="0"/>
              <a:buChar char="•"/>
            </a:pPr>
            <a:r>
              <a:rPr lang="vi-VN" sz="1400">
                <a:solidFill>
                  <a:schemeClr val="bg1"/>
                </a:solidFill>
              </a:rPr>
              <a:t>MCU còn quản lý toàn bộ timing, diagnostic (UDS), sleep/wakeup mode của node.</a:t>
            </a:r>
          </a:p>
          <a:p>
            <a:pPr>
              <a:lnSpc>
                <a:spcPct val="200000"/>
              </a:lnSpc>
            </a:pPr>
            <a:r>
              <a:rPr lang="vi-VN" sz="1400" b="1">
                <a:solidFill>
                  <a:schemeClr val="bg1"/>
                </a:solidFill>
                <a:effectLst/>
              </a:rPr>
              <a:t>Ví dụ chip phổ biến:</a:t>
            </a:r>
            <a:r>
              <a:rPr lang="vi-VN" sz="1400">
                <a:solidFill>
                  <a:schemeClr val="bg1"/>
                </a:solidFill>
                <a:effectLst/>
              </a:rPr>
              <a:t> STM32, PIC, AVR, S32K (NXP), TC27x (Infineon)…</a:t>
            </a:r>
          </a:p>
        </p:txBody>
      </p:sp>
      <p:sp>
        <p:nvSpPr>
          <p:cNvPr id="2" name="AutoShape 2" descr="CAN Controller vs CAN Transceiver | SonnePower">
            <a:extLst>
              <a:ext uri="{FF2B5EF4-FFF2-40B4-BE49-F238E27FC236}">
                <a16:creationId xmlns:a16="http://schemas.microsoft.com/office/drawing/2014/main" id="{4D7A6A1E-28AF-E2F8-081B-0BBC79146D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561768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06402" y="217845"/>
            <a:ext cx="11212493" cy="584775"/>
          </a:xfrm>
          <a:prstGeom prst="rect">
            <a:avLst/>
          </a:prstGeom>
          <a:noFill/>
        </p:spPr>
        <p:txBody>
          <a:bodyPr wrap="none" rtlCol="0">
            <a:spAutoFit/>
          </a:bodyPr>
          <a:lstStyle/>
          <a:p>
            <a:r>
              <a:rPr lang="vi-VN" sz="3200" b="1">
                <a:solidFill>
                  <a:schemeClr val="bg1"/>
                </a:solidFill>
                <a:effectLst/>
              </a:rPr>
              <a:t>Một node CAN (Controller Area Network) gồm những gì?</a:t>
            </a:r>
            <a:endParaRPr lang="vi-VN" sz="3200">
              <a:solidFill>
                <a:schemeClr val="bg1"/>
              </a:solidFill>
              <a:effectLst/>
            </a:endParaRPr>
          </a:p>
        </p:txBody>
      </p:sp>
      <p:sp>
        <p:nvSpPr>
          <p:cNvPr id="7" name="Rectangle 6"/>
          <p:cNvSpPr/>
          <p:nvPr/>
        </p:nvSpPr>
        <p:spPr>
          <a:xfrm>
            <a:off x="428712" y="802620"/>
            <a:ext cx="11167872" cy="5869364"/>
          </a:xfrm>
          <a:prstGeom prst="rect">
            <a:avLst/>
          </a:prstGeom>
        </p:spPr>
        <p:txBody>
          <a:bodyPr wrap="square">
            <a:spAutoFit/>
          </a:bodyPr>
          <a:lstStyle/>
          <a:p>
            <a:pPr>
              <a:lnSpc>
                <a:spcPct val="150000"/>
              </a:lnSpc>
            </a:pPr>
            <a:r>
              <a:rPr lang="vi-VN" sz="1400" b="1">
                <a:solidFill>
                  <a:schemeClr val="bg1"/>
                </a:solidFill>
              </a:rPr>
              <a:t>2. CAN Controller – Bộ điều khiển CAN (Data Link Layer)</a:t>
            </a:r>
          </a:p>
          <a:p>
            <a:pPr>
              <a:lnSpc>
                <a:spcPct val="150000"/>
              </a:lnSpc>
            </a:pPr>
            <a:r>
              <a:rPr lang="vi-VN" sz="1400" b="1">
                <a:solidFill>
                  <a:schemeClr val="bg1"/>
                </a:solidFill>
                <a:effectLst/>
              </a:rPr>
              <a:t>Làm gì?</a:t>
            </a:r>
            <a:r>
              <a:rPr lang="vi-VN" sz="1400">
                <a:solidFill>
                  <a:schemeClr val="bg1"/>
                </a:solidFill>
                <a:effectLst/>
              </a:rPr>
              <a:t> Thực hiện </a:t>
            </a:r>
            <a:r>
              <a:rPr lang="vi-VN" sz="1400" b="1">
                <a:solidFill>
                  <a:schemeClr val="bg1"/>
                </a:solidFill>
                <a:effectLst/>
              </a:rPr>
              <a:t>toàn bộ giao thức CAN layer 2</a:t>
            </a:r>
            <a:r>
              <a:rPr lang="vi-VN" sz="1400">
                <a:solidFill>
                  <a:schemeClr val="bg1"/>
                </a:solidFill>
                <a:effectLst/>
              </a:rPr>
              <a:t> (theo ISO 11898-1):</a:t>
            </a:r>
          </a:p>
          <a:p>
            <a:pPr>
              <a:lnSpc>
                <a:spcPct val="150000"/>
              </a:lnSpc>
              <a:buFont typeface="Arial" panose="020B0604020202020204" pitchFamily="34" charset="0"/>
              <a:buChar char="•"/>
            </a:pPr>
            <a:r>
              <a:rPr lang="vi-VN" sz="1400">
                <a:solidFill>
                  <a:schemeClr val="bg1"/>
                </a:solidFill>
              </a:rPr>
              <a:t>Đóng gói tin nhắn thành CAN frame (SOF, ID, DLC, Data, CRC, ACK, EOF).</a:t>
            </a:r>
          </a:p>
          <a:p>
            <a:pPr>
              <a:lnSpc>
                <a:spcPct val="150000"/>
              </a:lnSpc>
              <a:buFont typeface="Arial" panose="020B0604020202020204" pitchFamily="34" charset="0"/>
              <a:buChar char="•"/>
            </a:pPr>
            <a:r>
              <a:rPr lang="vi-VN" sz="1400">
                <a:solidFill>
                  <a:schemeClr val="bg1"/>
                </a:solidFill>
              </a:rPr>
              <a:t>Bit stuffing, CRC check, error detection &amp; handling (error active/passive, bus-off).</a:t>
            </a:r>
          </a:p>
          <a:p>
            <a:pPr>
              <a:lnSpc>
                <a:spcPct val="150000"/>
              </a:lnSpc>
              <a:buFont typeface="Arial" panose="020B0604020202020204" pitchFamily="34" charset="0"/>
              <a:buChar char="•"/>
            </a:pPr>
            <a:r>
              <a:rPr lang="vi-VN" sz="1400">
                <a:solidFill>
                  <a:schemeClr val="bg1"/>
                </a:solidFill>
              </a:rPr>
              <a:t>Arbitration (CSMA/CA) – tranh chấp bus khi nhiều node gửi cùng lúc.</a:t>
            </a:r>
          </a:p>
          <a:p>
            <a:pPr>
              <a:lnSpc>
                <a:spcPct val="150000"/>
              </a:lnSpc>
              <a:buFont typeface="Arial" panose="020B0604020202020204" pitchFamily="34" charset="0"/>
              <a:buChar char="•"/>
            </a:pPr>
            <a:r>
              <a:rPr lang="vi-VN" sz="1400">
                <a:solidFill>
                  <a:schemeClr val="bg1"/>
                </a:solidFill>
              </a:rPr>
              <a:t>Message filtering (Acceptance Filter) – chỉ nhận tin nhắn có ID phù hợp.</a:t>
            </a:r>
          </a:p>
          <a:p>
            <a:pPr>
              <a:lnSpc>
                <a:spcPct val="150000"/>
              </a:lnSpc>
              <a:buFont typeface="Arial" panose="020B0604020202020204" pitchFamily="34" charset="0"/>
              <a:buChar char="•"/>
            </a:pPr>
            <a:r>
              <a:rPr lang="vi-VN" sz="1400">
                <a:solidFill>
                  <a:schemeClr val="bg1"/>
                </a:solidFill>
              </a:rPr>
              <a:t>Quản lý buffer TX/RX (FIFO hoặc mailbox).</a:t>
            </a:r>
          </a:p>
          <a:p>
            <a:pPr>
              <a:lnSpc>
                <a:spcPct val="150000"/>
              </a:lnSpc>
            </a:pPr>
            <a:r>
              <a:rPr lang="vi-VN" sz="1400" b="1">
                <a:solidFill>
                  <a:schemeClr val="bg1"/>
                </a:solidFill>
                <a:effectLst/>
              </a:rPr>
              <a:t>Tại sao cần? Không có thì sao?</a:t>
            </a:r>
            <a:r>
              <a:rPr lang="vi-VN" sz="1400">
                <a:solidFill>
                  <a:schemeClr val="bg1"/>
                </a:solidFill>
                <a:effectLst/>
              </a:rPr>
              <a:t> CAN là giao thức rất nghiêm ngặt về timing và lỗi. Nếu không có CAN Controller, MCU phải tự viết </a:t>
            </a:r>
            <a:r>
              <a:rPr lang="vi-VN" sz="1400" b="1">
                <a:solidFill>
                  <a:schemeClr val="bg1"/>
                </a:solidFill>
                <a:effectLst/>
              </a:rPr>
              <a:t>toàn bộ protocol bằng software</a:t>
            </a:r>
            <a:r>
              <a:rPr lang="vi-VN" sz="1400">
                <a:solidFill>
                  <a:schemeClr val="bg1"/>
                </a:solidFill>
                <a:effectLst/>
              </a:rPr>
              <a:t> (bit-banging) → cực kỳ phức tạp, không realtime, tiêu tốn CPU 100%, dễ lỗi, không đạt tốc độ cao (500kbps hoặc 1Mbps). Hầu như </a:t>
            </a:r>
            <a:r>
              <a:rPr lang="vi-VN" sz="1400" b="1">
                <a:solidFill>
                  <a:schemeClr val="bg1"/>
                </a:solidFill>
                <a:effectLst/>
              </a:rPr>
              <a:t>không khả thi</a:t>
            </a:r>
            <a:r>
              <a:rPr lang="vi-VN" sz="1400">
                <a:solidFill>
                  <a:schemeClr val="bg1"/>
                </a:solidFill>
                <a:effectLst/>
              </a:rPr>
              <a:t> trong thực tế.</a:t>
            </a:r>
          </a:p>
          <a:p>
            <a:pPr>
              <a:lnSpc>
                <a:spcPct val="150000"/>
              </a:lnSpc>
            </a:pPr>
            <a:r>
              <a:rPr lang="vi-VN" sz="1400" b="1">
                <a:solidFill>
                  <a:schemeClr val="bg1"/>
                </a:solidFill>
                <a:effectLst/>
              </a:rPr>
              <a:t>Hoạt động trong node như thế nào?</a:t>
            </a:r>
            <a:endParaRPr lang="vi-VN" sz="1400">
              <a:solidFill>
                <a:schemeClr val="bg1"/>
              </a:solidFill>
              <a:effectLst/>
            </a:endParaRPr>
          </a:p>
          <a:p>
            <a:pPr>
              <a:lnSpc>
                <a:spcPct val="150000"/>
              </a:lnSpc>
              <a:buFont typeface="Arial" panose="020B0604020202020204" pitchFamily="34" charset="0"/>
              <a:buChar char="•"/>
            </a:pPr>
            <a:r>
              <a:rPr lang="vi-VN" sz="1400">
                <a:solidFill>
                  <a:schemeClr val="bg1"/>
                </a:solidFill>
              </a:rPr>
              <a:t>Nhận lệnh từ MCU (ví dụ: “gửi ID 0x123, data 8 byte”).</a:t>
            </a:r>
          </a:p>
          <a:p>
            <a:pPr>
              <a:lnSpc>
                <a:spcPct val="150000"/>
              </a:lnSpc>
              <a:buFont typeface="Arial" panose="020B0604020202020204" pitchFamily="34" charset="0"/>
              <a:buChar char="•"/>
            </a:pPr>
            <a:r>
              <a:rPr lang="vi-VN" sz="1400">
                <a:solidFill>
                  <a:schemeClr val="bg1"/>
                </a:solidFill>
              </a:rPr>
              <a:t>Tự động thêm SOF, CRC, stuff bit…</a:t>
            </a:r>
          </a:p>
          <a:p>
            <a:pPr>
              <a:lnSpc>
                <a:spcPct val="150000"/>
              </a:lnSpc>
              <a:buFont typeface="Arial" panose="020B0604020202020204" pitchFamily="34" charset="0"/>
              <a:buChar char="•"/>
            </a:pPr>
            <a:r>
              <a:rPr lang="vi-VN" sz="1400">
                <a:solidFill>
                  <a:schemeClr val="bg1"/>
                </a:solidFill>
              </a:rPr>
              <a:t>Gửi bit stream serial ra chân TXD → Transceiver.</a:t>
            </a:r>
          </a:p>
          <a:p>
            <a:pPr>
              <a:lnSpc>
                <a:spcPct val="150000"/>
              </a:lnSpc>
              <a:buFont typeface="Arial" panose="020B0604020202020204" pitchFamily="34" charset="0"/>
              <a:buChar char="•"/>
            </a:pPr>
            <a:r>
              <a:rPr lang="vi-VN" sz="1400">
                <a:solidFill>
                  <a:schemeClr val="bg1"/>
                </a:solidFill>
              </a:rPr>
              <a:t>Nhận bit stream từ Transceiver (RXD) → decode frame, check lỗi, lưu vào buffer, báo interrupt cho MCU nếu pass filter.</a:t>
            </a:r>
          </a:p>
          <a:p>
            <a:pPr>
              <a:lnSpc>
                <a:spcPct val="150000"/>
              </a:lnSpc>
              <a:buFont typeface="Arial" panose="020B0604020202020204" pitchFamily="34" charset="0"/>
              <a:buChar char="•"/>
            </a:pPr>
            <a:r>
              <a:rPr lang="vi-VN" sz="1400">
                <a:solidFill>
                  <a:schemeClr val="bg1"/>
                </a:solidFill>
              </a:rPr>
              <a:t>Hỗ trợ các mode: Normal, Loopback, Silent, Sleep.</a:t>
            </a:r>
          </a:p>
          <a:p>
            <a:pPr>
              <a:lnSpc>
                <a:spcPct val="150000"/>
              </a:lnSpc>
            </a:pPr>
            <a:r>
              <a:rPr lang="vi-VN" sz="1400" b="1">
                <a:solidFill>
                  <a:schemeClr val="bg1"/>
                </a:solidFill>
                <a:effectLst/>
              </a:rPr>
              <a:t>Lưu ý quan trọng:</a:t>
            </a:r>
            <a:endParaRPr lang="vi-VN" sz="1400">
              <a:solidFill>
                <a:schemeClr val="bg1"/>
              </a:solidFill>
              <a:effectLst/>
            </a:endParaRPr>
          </a:p>
          <a:p>
            <a:pPr>
              <a:lnSpc>
                <a:spcPct val="150000"/>
              </a:lnSpc>
              <a:buFont typeface="Arial" panose="020B0604020202020204" pitchFamily="34" charset="0"/>
              <a:buChar char="•"/>
            </a:pPr>
            <a:r>
              <a:rPr lang="vi-VN" sz="1400">
                <a:solidFill>
                  <a:schemeClr val="bg1"/>
                </a:solidFill>
              </a:rPr>
              <a:t>Trong MCU hiện đại (STM32, NXP S32, Renesas RH850…), CAN Controller </a:t>
            </a:r>
            <a:r>
              <a:rPr lang="vi-VN" sz="1400" b="1">
                <a:solidFill>
                  <a:schemeClr val="bg1"/>
                </a:solidFill>
              </a:rPr>
              <a:t>đã tích hợp sẵn</a:t>
            </a:r>
            <a:r>
              <a:rPr lang="vi-VN" sz="1400">
                <a:solidFill>
                  <a:schemeClr val="bg1"/>
                </a:solidFill>
              </a:rPr>
              <a:t> (gọi là bxCAN, fdCAN, CAN FD…).</a:t>
            </a:r>
          </a:p>
        </p:txBody>
      </p:sp>
      <p:sp>
        <p:nvSpPr>
          <p:cNvPr id="2" name="AutoShape 2" descr="CAN Controller vs CAN Transceiver | SonnePower">
            <a:extLst>
              <a:ext uri="{FF2B5EF4-FFF2-40B4-BE49-F238E27FC236}">
                <a16:creationId xmlns:a16="http://schemas.microsoft.com/office/drawing/2014/main" id="{4D7A6A1E-28AF-E2F8-081B-0BBC79146D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1366420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06402" y="358915"/>
            <a:ext cx="11212493" cy="584775"/>
          </a:xfrm>
          <a:prstGeom prst="rect">
            <a:avLst/>
          </a:prstGeom>
          <a:noFill/>
        </p:spPr>
        <p:txBody>
          <a:bodyPr wrap="none" rtlCol="0">
            <a:spAutoFit/>
          </a:bodyPr>
          <a:lstStyle/>
          <a:p>
            <a:r>
              <a:rPr lang="vi-VN" sz="3200" b="1">
                <a:solidFill>
                  <a:schemeClr val="bg1"/>
                </a:solidFill>
                <a:effectLst/>
              </a:rPr>
              <a:t>Một node CAN (Controller Area Network) gồm những gì?</a:t>
            </a:r>
            <a:endParaRPr lang="vi-VN" sz="3200">
              <a:solidFill>
                <a:schemeClr val="bg1"/>
              </a:solidFill>
              <a:effectLst/>
            </a:endParaRPr>
          </a:p>
        </p:txBody>
      </p:sp>
      <p:sp>
        <p:nvSpPr>
          <p:cNvPr id="7" name="Rectangle 6"/>
          <p:cNvSpPr/>
          <p:nvPr/>
        </p:nvSpPr>
        <p:spPr>
          <a:xfrm>
            <a:off x="406402" y="1201270"/>
            <a:ext cx="11167872" cy="4801314"/>
          </a:xfrm>
          <a:prstGeom prst="rect">
            <a:avLst/>
          </a:prstGeom>
        </p:spPr>
        <p:txBody>
          <a:bodyPr wrap="square">
            <a:spAutoFit/>
          </a:bodyPr>
          <a:lstStyle/>
          <a:p>
            <a:r>
              <a:rPr lang="vi-VN" b="1">
                <a:solidFill>
                  <a:schemeClr val="bg1"/>
                </a:solidFill>
              </a:rPr>
              <a:t>3. CAN Transceiver – Bộ thu phát CAN (Physical Layer)</a:t>
            </a:r>
          </a:p>
          <a:p>
            <a:r>
              <a:rPr lang="vi-VN" b="1">
                <a:solidFill>
                  <a:schemeClr val="bg1"/>
                </a:solidFill>
                <a:effectLst/>
              </a:rPr>
              <a:t>Làm gì?</a:t>
            </a:r>
            <a:r>
              <a:rPr lang="vi-VN">
                <a:solidFill>
                  <a:schemeClr val="bg1"/>
                </a:solidFill>
                <a:effectLst/>
              </a:rPr>
              <a:t> Chuyển đổi tín hiệu </a:t>
            </a:r>
            <a:r>
              <a:rPr lang="vi-VN" b="1">
                <a:solidFill>
                  <a:schemeClr val="bg1"/>
                </a:solidFill>
                <a:effectLst/>
              </a:rPr>
              <a:t>digital</a:t>
            </a:r>
            <a:r>
              <a:rPr lang="vi-VN">
                <a:solidFill>
                  <a:schemeClr val="bg1"/>
                </a:solidFill>
                <a:effectLst/>
              </a:rPr>
              <a:t> (0/5V logic) từ CAN Controller thành tín hiệu </a:t>
            </a:r>
            <a:r>
              <a:rPr lang="vi-VN" b="1">
                <a:solidFill>
                  <a:schemeClr val="bg1"/>
                </a:solidFill>
                <a:effectLst/>
              </a:rPr>
              <a:t>differential</a:t>
            </a:r>
            <a:r>
              <a:rPr lang="vi-VN">
                <a:solidFill>
                  <a:schemeClr val="bg1"/>
                </a:solidFill>
                <a:effectLst/>
              </a:rPr>
              <a:t> trên 2 dây bus (CAN_H và CAN_L), và ngược lại.</a:t>
            </a:r>
          </a:p>
          <a:p>
            <a:r>
              <a:rPr lang="vi-VN" b="1">
                <a:solidFill>
                  <a:schemeClr val="bg1"/>
                </a:solidFill>
                <a:effectLst/>
              </a:rPr>
              <a:t>Tại sao cần? Không có thì sao?</a:t>
            </a:r>
            <a:r>
              <a:rPr lang="vi-VN">
                <a:solidFill>
                  <a:schemeClr val="bg1"/>
                </a:solidFill>
                <a:effectLst/>
              </a:rPr>
              <a:t> CAN bus dùng </a:t>
            </a:r>
            <a:r>
              <a:rPr lang="vi-VN" b="1">
                <a:solidFill>
                  <a:schemeClr val="bg1"/>
                </a:solidFill>
                <a:effectLst/>
              </a:rPr>
              <a:t>differential signaling</a:t>
            </a:r>
            <a:r>
              <a:rPr lang="vi-VN">
                <a:solidFill>
                  <a:schemeClr val="bg1"/>
                </a:solidFill>
                <a:effectLst/>
              </a:rPr>
              <a:t> để chống nhiễu cực mạnh, truyền xa (đến 40m), tốc độ cao. Không có Transceiver:</a:t>
            </a:r>
          </a:p>
          <a:p>
            <a:pPr>
              <a:buFont typeface="Arial" panose="020B0604020202020204" pitchFamily="34" charset="0"/>
              <a:buChar char="•"/>
            </a:pPr>
            <a:r>
              <a:rPr lang="vi-VN">
                <a:solidFill>
                  <a:schemeClr val="bg1"/>
                </a:solidFill>
              </a:rPr>
              <a:t>Không thể drive bus đúng mức điện áp (dominant = 2V diff, recessive = 0V).</a:t>
            </a:r>
          </a:p>
          <a:p>
            <a:pPr>
              <a:buFont typeface="Arial" panose="020B0604020202020204" pitchFamily="34" charset="0"/>
              <a:buChar char="•"/>
            </a:pPr>
            <a:r>
              <a:rPr lang="vi-VN">
                <a:solidFill>
                  <a:schemeClr val="bg1"/>
                </a:solidFill>
              </a:rPr>
              <a:t>Tín hiệu yếu, dễ bị nhiễu → lỗi bit, mất gói tin, node không giao tiếp được với các node khác.</a:t>
            </a:r>
          </a:p>
          <a:p>
            <a:pPr>
              <a:buFont typeface="Arial" panose="020B0604020202020204" pitchFamily="34" charset="0"/>
              <a:buChar char="•"/>
            </a:pPr>
            <a:r>
              <a:rPr lang="vi-VN">
                <a:solidFill>
                  <a:schemeClr val="bg1"/>
                </a:solidFill>
              </a:rPr>
              <a:t>Vi phạm chuẩn ISO 11898 → hệ thống toàn bus sẽ lỗi.</a:t>
            </a:r>
          </a:p>
          <a:p>
            <a:r>
              <a:rPr lang="vi-VN" b="1">
                <a:solidFill>
                  <a:schemeClr val="bg1"/>
                </a:solidFill>
                <a:effectLst/>
              </a:rPr>
              <a:t>Hoạt động trong node như thế nào?</a:t>
            </a:r>
            <a:endParaRPr lang="vi-VN">
              <a:solidFill>
                <a:schemeClr val="bg1"/>
              </a:solidFill>
              <a:effectLst/>
            </a:endParaRPr>
          </a:p>
          <a:p>
            <a:pPr>
              <a:buFont typeface="Arial" panose="020B0604020202020204" pitchFamily="34" charset="0"/>
              <a:buChar char="•"/>
            </a:pPr>
            <a:r>
              <a:rPr lang="vi-VN">
                <a:solidFill>
                  <a:schemeClr val="bg1"/>
                </a:solidFill>
              </a:rPr>
              <a:t>Chân </a:t>
            </a:r>
            <a:r>
              <a:rPr lang="vi-VN" b="1">
                <a:solidFill>
                  <a:schemeClr val="bg1"/>
                </a:solidFill>
              </a:rPr>
              <a:t>TXD</a:t>
            </a:r>
            <a:r>
              <a:rPr lang="vi-VN">
                <a:solidFill>
                  <a:schemeClr val="bg1"/>
                </a:solidFill>
              </a:rPr>
              <a:t> (từ Controller) → Transceiver drive CAN_H/CAN_L:</a:t>
            </a:r>
          </a:p>
          <a:p>
            <a:pPr marL="742950" lvl="1" indent="-285750">
              <a:buFont typeface="Arial" panose="020B0604020202020204" pitchFamily="34" charset="0"/>
              <a:buChar char="•"/>
            </a:pPr>
            <a:r>
              <a:rPr lang="vi-VN">
                <a:solidFill>
                  <a:schemeClr val="bg1"/>
                </a:solidFill>
              </a:rPr>
              <a:t>Dominant (0): CAN_H ≈ 3.5V, CAN_L ≈ 1.5V.</a:t>
            </a:r>
          </a:p>
          <a:p>
            <a:pPr marL="742950" lvl="1" indent="-285750">
              <a:buFont typeface="Arial" panose="020B0604020202020204" pitchFamily="34" charset="0"/>
              <a:buChar char="•"/>
            </a:pPr>
            <a:r>
              <a:rPr lang="vi-VN">
                <a:solidFill>
                  <a:schemeClr val="bg1"/>
                </a:solidFill>
              </a:rPr>
              <a:t>Recessive (1): cả hai ≈ 2.5V.</a:t>
            </a:r>
          </a:p>
          <a:p>
            <a:pPr>
              <a:buFont typeface="Arial" panose="020B0604020202020204" pitchFamily="34" charset="0"/>
              <a:buChar char="•"/>
            </a:pPr>
            <a:r>
              <a:rPr lang="vi-VN">
                <a:solidFill>
                  <a:schemeClr val="bg1"/>
                </a:solidFill>
              </a:rPr>
              <a:t>Chân </a:t>
            </a:r>
            <a:r>
              <a:rPr lang="vi-VN" b="1">
                <a:solidFill>
                  <a:schemeClr val="bg1"/>
                </a:solidFill>
              </a:rPr>
              <a:t>RXD</a:t>
            </a:r>
            <a:r>
              <a:rPr lang="vi-VN">
                <a:solidFill>
                  <a:schemeClr val="bg1"/>
                </a:solidFill>
              </a:rPr>
              <a:t> (ra Controller): Transceiver so sánh điện áp giữa CAN_H và CAN_L, chuyển thành logic 0/1.</a:t>
            </a:r>
          </a:p>
          <a:p>
            <a:pPr>
              <a:buFont typeface="Arial" panose="020B0604020202020204" pitchFamily="34" charset="0"/>
              <a:buChar char="•"/>
            </a:pPr>
            <a:r>
              <a:rPr lang="vi-VN">
                <a:solidFill>
                  <a:schemeClr val="bg1"/>
                </a:solidFill>
              </a:rPr>
              <a:t>Có các tính năng bảo vệ: short-circuit, thermal shutdown, ESD protection, common-mode range rộng (-27V ~ +40V).</a:t>
            </a:r>
          </a:p>
          <a:p>
            <a:pPr>
              <a:buFont typeface="Arial" panose="020B0604020202020204" pitchFamily="34" charset="0"/>
              <a:buChar char="•"/>
            </a:pPr>
            <a:r>
              <a:rPr lang="vi-VN">
                <a:solidFill>
                  <a:schemeClr val="bg1"/>
                </a:solidFill>
              </a:rPr>
              <a:t>Có mode </a:t>
            </a:r>
            <a:r>
              <a:rPr lang="vi-VN" b="1">
                <a:solidFill>
                  <a:schemeClr val="bg1"/>
                </a:solidFill>
              </a:rPr>
              <a:t>Standby/Sleep</a:t>
            </a:r>
            <a:r>
              <a:rPr lang="vi-VN">
                <a:solidFill>
                  <a:schemeClr val="bg1"/>
                </a:solidFill>
              </a:rPr>
              <a:t> để tiết kiệm điện (rất quan trọng trên ô tô).</a:t>
            </a:r>
          </a:p>
          <a:p>
            <a:r>
              <a:rPr lang="vi-VN" b="1">
                <a:solidFill>
                  <a:schemeClr val="bg1"/>
                </a:solidFill>
                <a:effectLst/>
              </a:rPr>
              <a:t>Chip phổ biến:</a:t>
            </a:r>
            <a:r>
              <a:rPr lang="vi-VN">
                <a:solidFill>
                  <a:schemeClr val="bg1"/>
                </a:solidFill>
                <a:effectLst/>
              </a:rPr>
              <a:t> TJA1050/1051 (NXP), MCP2551/2558, TCAN1042, ISO1050 (cách ly)…</a:t>
            </a:r>
          </a:p>
        </p:txBody>
      </p:sp>
      <p:sp>
        <p:nvSpPr>
          <p:cNvPr id="2" name="AutoShape 2" descr="CAN Controller vs CAN Transceiver | SonnePower">
            <a:extLst>
              <a:ext uri="{FF2B5EF4-FFF2-40B4-BE49-F238E27FC236}">
                <a16:creationId xmlns:a16="http://schemas.microsoft.com/office/drawing/2014/main" id="{4D7A6A1E-28AF-E2F8-081B-0BBC79146D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2708736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4759188" cy="584775"/>
          </a:xfrm>
          <a:prstGeom prst="rect">
            <a:avLst/>
          </a:prstGeom>
          <a:noFill/>
        </p:spPr>
        <p:txBody>
          <a:bodyPr wrap="none" rtlCol="0">
            <a:spAutoFit/>
          </a:bodyPr>
          <a:lstStyle/>
          <a:p>
            <a:r>
              <a:rPr lang="en-US" sz="3200" b="1" dirty="0">
                <a:solidFill>
                  <a:schemeClr val="bg1"/>
                </a:solidFill>
              </a:rPr>
              <a:t>CAN NETWORK TOPOLOGY</a:t>
            </a:r>
          </a:p>
        </p:txBody>
      </p:sp>
      <p:pic>
        <p:nvPicPr>
          <p:cNvPr id="11" name="Picture 10">
            <a:extLst>
              <a:ext uri="{FF2B5EF4-FFF2-40B4-BE49-F238E27FC236}">
                <a16:creationId xmlns:a16="http://schemas.microsoft.com/office/drawing/2014/main" id="{0C7C8D31-7B8B-EC33-3E4D-389BB0C3A033}"/>
              </a:ext>
            </a:extLst>
          </p:cNvPr>
          <p:cNvPicPr>
            <a:picLocks noChangeAspect="1"/>
          </p:cNvPicPr>
          <p:nvPr/>
        </p:nvPicPr>
        <p:blipFill>
          <a:blip r:embed="rId4"/>
          <a:stretch>
            <a:fillRect/>
          </a:stretch>
        </p:blipFill>
        <p:spPr>
          <a:xfrm>
            <a:off x="572882" y="1418283"/>
            <a:ext cx="6562725" cy="4762500"/>
          </a:xfrm>
          <a:prstGeom prst="rect">
            <a:avLst/>
          </a:prstGeom>
        </p:spPr>
      </p:pic>
      <p:pic>
        <p:nvPicPr>
          <p:cNvPr id="6146" name="Picture 2" descr="Controller Area Network (CAN bus) | Latest Seminar Topics | Project Topics">
            <a:extLst>
              <a:ext uri="{FF2B5EF4-FFF2-40B4-BE49-F238E27FC236}">
                <a16:creationId xmlns:a16="http://schemas.microsoft.com/office/drawing/2014/main" id="{D693862C-5F5B-A9DD-D340-9DE3F2EBEE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8565" y="1789470"/>
            <a:ext cx="4550477" cy="416396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ntroduction to CAN Bus Protocol. CAN stands for Controller ...">
            <a:extLst>
              <a:ext uri="{FF2B5EF4-FFF2-40B4-BE49-F238E27FC236}">
                <a16:creationId xmlns:a16="http://schemas.microsoft.com/office/drawing/2014/main" id="{AD0899AA-0DD0-D93D-8707-831C7EB588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168977"/>
            <a:ext cx="12204189" cy="5409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37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additive="base">
                                        <p:cTn id="7" dur="500" fill="hold"/>
                                        <p:tgtEl>
                                          <p:spTgt spid="6148"/>
                                        </p:tgtEl>
                                        <p:attrNameLst>
                                          <p:attrName>ppt_x</p:attrName>
                                        </p:attrNameLst>
                                      </p:cBhvr>
                                      <p:tavLst>
                                        <p:tav tm="0">
                                          <p:val>
                                            <p:strVal val="#ppt_x"/>
                                          </p:val>
                                        </p:tav>
                                        <p:tav tm="100000">
                                          <p:val>
                                            <p:strVal val="#ppt_x"/>
                                          </p:val>
                                        </p:tav>
                                      </p:tavLst>
                                    </p:anim>
                                    <p:anim calcmode="lin" valueType="num">
                                      <p:cBhvr additive="base">
                                        <p:cTn id="8"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6100131" cy="584775"/>
          </a:xfrm>
          <a:prstGeom prst="rect">
            <a:avLst/>
          </a:prstGeom>
          <a:noFill/>
        </p:spPr>
        <p:txBody>
          <a:bodyPr wrap="none" rtlCol="0">
            <a:spAutoFit/>
          </a:bodyPr>
          <a:lstStyle/>
          <a:p>
            <a:r>
              <a:rPr lang="en-US" sz="3200" b="1">
                <a:solidFill>
                  <a:schemeClr val="bg1"/>
                </a:solidFill>
              </a:rPr>
              <a:t>Có bao nhiêu loại CAN messages?</a:t>
            </a:r>
            <a:endParaRPr lang="en-US" sz="3200" b="1" dirty="0">
              <a:solidFill>
                <a:schemeClr val="bg1"/>
              </a:solidFill>
            </a:endParaRPr>
          </a:p>
        </p:txBody>
      </p:sp>
      <p:sp>
        <p:nvSpPr>
          <p:cNvPr id="7" name="Rectangle 6"/>
          <p:cNvSpPr/>
          <p:nvPr/>
        </p:nvSpPr>
        <p:spPr>
          <a:xfrm>
            <a:off x="203201" y="1473776"/>
            <a:ext cx="11167872" cy="4339458"/>
          </a:xfrm>
          <a:prstGeom prst="rect">
            <a:avLst/>
          </a:prstGeom>
        </p:spPr>
        <p:txBody>
          <a:bodyPr wrap="square">
            <a:spAutoFit/>
          </a:bodyPr>
          <a:lstStyle/>
          <a:p>
            <a:pPr>
              <a:lnSpc>
                <a:spcPct val="200000"/>
              </a:lnSpc>
            </a:pPr>
            <a:r>
              <a:rPr lang="vi-VN" sz="1400">
                <a:solidFill>
                  <a:schemeClr val="bg1"/>
                </a:solidFill>
              </a:rPr>
              <a:t>Có 4 loại khung thông điệp (message frames) chính trong giao thức CAN:</a:t>
            </a:r>
          </a:p>
          <a:p>
            <a:pPr>
              <a:lnSpc>
                <a:spcPct val="200000"/>
              </a:lnSpc>
            </a:pPr>
            <a:endParaRPr lang="vi-VN" sz="1400">
              <a:solidFill>
                <a:schemeClr val="bg1"/>
              </a:solidFill>
            </a:endParaRPr>
          </a:p>
          <a:p>
            <a:pPr marL="342900" indent="-342900">
              <a:lnSpc>
                <a:spcPct val="200000"/>
              </a:lnSpc>
              <a:buAutoNum type="arabicPeriod"/>
            </a:pPr>
            <a:r>
              <a:rPr lang="vi-VN" sz="1400">
                <a:solidFill>
                  <a:schemeClr val="bg1"/>
                </a:solidFill>
              </a:rPr>
              <a:t>Data Frame (Khung dữ liệu):</a:t>
            </a:r>
            <a:endParaRPr lang="en-US" sz="1400">
              <a:solidFill>
                <a:schemeClr val="bg1"/>
              </a:solidFill>
            </a:endParaRPr>
          </a:p>
          <a:p>
            <a:pPr marL="742950" lvl="1" indent="-285750">
              <a:lnSpc>
                <a:spcPct val="200000"/>
              </a:lnSpc>
              <a:buFont typeface="Arial" panose="020B0604020202020204" pitchFamily="34" charset="0"/>
              <a:buChar char="•"/>
            </a:pPr>
            <a:r>
              <a:rPr lang="vi-VN" sz="1400">
                <a:solidFill>
                  <a:schemeClr val="bg1"/>
                </a:solidFill>
              </a:rPr>
              <a:t>Đây là loại phổ biến nhất, được các nút mạng (node) sử dụng để truyền tải dữ liệu thực tế.</a:t>
            </a:r>
          </a:p>
          <a:p>
            <a:pPr marL="342900" indent="-342900">
              <a:lnSpc>
                <a:spcPct val="200000"/>
              </a:lnSpc>
              <a:buAutoNum type="arabicPeriod" startAt="2"/>
            </a:pPr>
            <a:r>
              <a:rPr lang="vi-VN" sz="1400">
                <a:solidFill>
                  <a:schemeClr val="bg1"/>
                </a:solidFill>
              </a:rPr>
              <a:t>Remote Frame (Khung yêu cầu):</a:t>
            </a:r>
            <a:endParaRPr lang="en-US" sz="1400">
              <a:solidFill>
                <a:schemeClr val="bg1"/>
              </a:solidFill>
            </a:endParaRPr>
          </a:p>
          <a:p>
            <a:pPr marL="742950" lvl="1" indent="-285750">
              <a:lnSpc>
                <a:spcPct val="200000"/>
              </a:lnSpc>
              <a:buFont typeface="Arial" panose="020B0604020202020204" pitchFamily="34" charset="0"/>
              <a:buChar char="•"/>
            </a:pPr>
            <a:r>
              <a:rPr lang="vi-VN" sz="1400">
                <a:solidFill>
                  <a:schemeClr val="bg1"/>
                </a:solidFill>
              </a:rPr>
              <a:t>Được một node gửi đi để yêu cầu truyền một mã định danh (ID) cụ thể từ một node khác.</a:t>
            </a:r>
          </a:p>
          <a:p>
            <a:pPr>
              <a:lnSpc>
                <a:spcPct val="200000"/>
              </a:lnSpc>
            </a:pPr>
            <a:r>
              <a:rPr lang="vi-VN" sz="1400">
                <a:solidFill>
                  <a:schemeClr val="bg1"/>
                </a:solidFill>
              </a:rPr>
              <a:t>3.</a:t>
            </a:r>
            <a:r>
              <a:rPr lang="en-US" sz="1400">
                <a:solidFill>
                  <a:schemeClr val="bg1"/>
                </a:solidFill>
              </a:rPr>
              <a:t> </a:t>
            </a:r>
            <a:r>
              <a:rPr lang="vi-VN" sz="1400">
                <a:solidFill>
                  <a:schemeClr val="bg1"/>
                </a:solidFill>
              </a:rPr>
              <a:t>Error Frame (Khung báo lỗi):</a:t>
            </a:r>
            <a:endParaRPr lang="en-US" sz="1400">
              <a:solidFill>
                <a:schemeClr val="bg1"/>
              </a:solidFill>
            </a:endParaRPr>
          </a:p>
          <a:p>
            <a:pPr marL="742950" lvl="1" indent="-285750">
              <a:lnSpc>
                <a:spcPct val="200000"/>
              </a:lnSpc>
              <a:buFont typeface="Arial" panose="020B0604020202020204" pitchFamily="34" charset="0"/>
              <a:buChar char="•"/>
            </a:pPr>
            <a:r>
              <a:rPr lang="vi-VN" sz="1400">
                <a:solidFill>
                  <a:schemeClr val="bg1"/>
                </a:solidFill>
              </a:rPr>
              <a:t>Được phát truyền bởi bất kỳ node nào khi phát hiện có lỗi xảy ra trên bus.</a:t>
            </a:r>
          </a:p>
          <a:p>
            <a:pPr marL="342900" indent="-342900">
              <a:lnSpc>
                <a:spcPct val="200000"/>
              </a:lnSpc>
              <a:buAutoNum type="arabicPeriod" startAt="4"/>
            </a:pPr>
            <a:r>
              <a:rPr lang="vi-VN" sz="1400">
                <a:solidFill>
                  <a:schemeClr val="bg1"/>
                </a:solidFill>
              </a:rPr>
              <a:t>Overload Frame (Khung quá tải):</a:t>
            </a:r>
            <a:endParaRPr lang="en-US" sz="1400">
              <a:solidFill>
                <a:schemeClr val="bg1"/>
              </a:solidFill>
            </a:endParaRPr>
          </a:p>
          <a:p>
            <a:pPr marL="742950" lvl="1" indent="-285750">
              <a:lnSpc>
                <a:spcPct val="200000"/>
              </a:lnSpc>
              <a:buFont typeface="Arial" panose="020B0604020202020204" pitchFamily="34" charset="0"/>
              <a:buChar char="•"/>
            </a:pPr>
            <a:r>
              <a:rPr lang="vi-VN" sz="1400">
                <a:solidFill>
                  <a:schemeClr val="bg1"/>
                </a:solidFill>
              </a:rPr>
              <a:t> Được sử dụng để tạo khoảng thời gian trễ giữa các khung dữ liệu hoặc khung yêu cầu khi một node đang quá bận.</a:t>
            </a:r>
            <a:endParaRPr lang="en-US" sz="1400" dirty="0">
              <a:solidFill>
                <a:schemeClr val="bg1"/>
              </a:solidFill>
            </a:endParaRPr>
          </a:p>
        </p:txBody>
      </p:sp>
    </p:spTree>
    <p:extLst>
      <p:ext uri="{BB962C8B-B14F-4D97-AF65-F5344CB8AC3E}">
        <p14:creationId xmlns:p14="http://schemas.microsoft.com/office/powerpoint/2010/main" val="2661331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2390206" cy="584775"/>
          </a:xfrm>
          <a:prstGeom prst="rect">
            <a:avLst/>
          </a:prstGeom>
          <a:noFill/>
        </p:spPr>
        <p:txBody>
          <a:bodyPr wrap="none" rtlCol="0">
            <a:spAutoFit/>
          </a:bodyPr>
          <a:lstStyle/>
          <a:p>
            <a:r>
              <a:rPr lang="en-US" sz="3200" b="1" dirty="0">
                <a:solidFill>
                  <a:schemeClr val="bg1"/>
                </a:solidFill>
              </a:rPr>
              <a:t>DATA FRAME</a:t>
            </a:r>
          </a:p>
        </p:txBody>
      </p:sp>
      <p:sp>
        <p:nvSpPr>
          <p:cNvPr id="7" name="Rectangle 6"/>
          <p:cNvSpPr/>
          <p:nvPr/>
        </p:nvSpPr>
        <p:spPr>
          <a:xfrm>
            <a:off x="531114" y="1248830"/>
            <a:ext cx="11129771" cy="2750561"/>
          </a:xfrm>
          <a:prstGeom prst="rect">
            <a:avLst/>
          </a:prstGeom>
        </p:spPr>
        <p:txBody>
          <a:bodyPr wrap="square">
            <a:spAutoFit/>
          </a:bodyPr>
          <a:lstStyle/>
          <a:p>
            <a:r>
              <a:rPr lang="vi-VN" sz="1400" b="1">
                <a:solidFill>
                  <a:schemeClr val="bg1"/>
                </a:solidFill>
              </a:rPr>
              <a:t>Khung dữ liệu CAN (CAN Data Frame) được cấu tạo từ bảy trường:</a:t>
            </a:r>
          </a:p>
          <a:p>
            <a:endParaRPr lang="vi-VN" sz="1400" b="1">
              <a:solidFill>
                <a:schemeClr val="bg1"/>
              </a:solidFill>
            </a:endParaRPr>
          </a:p>
          <a:p>
            <a:pPr lvl="1">
              <a:lnSpc>
                <a:spcPct val="150000"/>
              </a:lnSpc>
            </a:pPr>
            <a:r>
              <a:rPr lang="vi-VN" sz="1400">
                <a:solidFill>
                  <a:schemeClr val="bg1"/>
                </a:solidFill>
              </a:rPr>
              <a:t>* Start of frame (SOF): Trường bắt đầu khung hình.</a:t>
            </a:r>
          </a:p>
          <a:p>
            <a:pPr lvl="1">
              <a:lnSpc>
                <a:spcPct val="150000"/>
              </a:lnSpc>
            </a:pPr>
            <a:r>
              <a:rPr lang="vi-VN" sz="1400">
                <a:solidFill>
                  <a:schemeClr val="bg1"/>
                </a:solidFill>
              </a:rPr>
              <a:t>* Arbitration Field: Trường phân xử (chứa ID và bit RTR).</a:t>
            </a:r>
          </a:p>
          <a:p>
            <a:pPr lvl="1">
              <a:lnSpc>
                <a:spcPct val="150000"/>
              </a:lnSpc>
            </a:pPr>
            <a:r>
              <a:rPr lang="vi-VN" sz="1400">
                <a:solidFill>
                  <a:schemeClr val="bg1"/>
                </a:solidFill>
              </a:rPr>
              <a:t>* Control Field: Trường điều khiển (chứa mã kiểm tra độ dài dữ liệu DLC).</a:t>
            </a:r>
          </a:p>
          <a:p>
            <a:pPr lvl="1">
              <a:lnSpc>
                <a:spcPct val="150000"/>
              </a:lnSpc>
            </a:pPr>
            <a:r>
              <a:rPr lang="vi-VN" sz="1400">
                <a:solidFill>
                  <a:schemeClr val="bg1"/>
                </a:solidFill>
              </a:rPr>
              <a:t>* Data Field: Trường dữ liệu (chứa nội dung thông tin cần truyền).</a:t>
            </a:r>
          </a:p>
          <a:p>
            <a:pPr lvl="1">
              <a:lnSpc>
                <a:spcPct val="150000"/>
              </a:lnSpc>
            </a:pPr>
            <a:r>
              <a:rPr lang="vi-VN" sz="1400">
                <a:solidFill>
                  <a:schemeClr val="bg1"/>
                </a:solidFill>
              </a:rPr>
              <a:t>* Cyclical redundancy check (CRC) Field: Trường kiểm tra thặng dư vòng (dùng để phát hiện lỗi).</a:t>
            </a:r>
          </a:p>
          <a:p>
            <a:pPr lvl="1">
              <a:lnSpc>
                <a:spcPct val="150000"/>
              </a:lnSpc>
            </a:pPr>
            <a:r>
              <a:rPr lang="vi-VN" sz="1400">
                <a:solidFill>
                  <a:schemeClr val="bg1"/>
                </a:solidFill>
              </a:rPr>
              <a:t>* Acknowledge (ACK) Field: Trường xác nhận (các node nhận phản hồi đã nhận đủ dữ liệu).</a:t>
            </a:r>
          </a:p>
          <a:p>
            <a:pPr lvl="1">
              <a:lnSpc>
                <a:spcPct val="150000"/>
              </a:lnSpc>
            </a:pPr>
            <a:r>
              <a:rPr lang="vi-VN" sz="1400">
                <a:solidFill>
                  <a:schemeClr val="bg1"/>
                </a:solidFill>
              </a:rPr>
              <a:t>* End of frame (EOF): Trường kết thúc khung hình.</a:t>
            </a:r>
            <a:endParaRPr lang="en-US" sz="1400" dirty="0">
              <a:solidFill>
                <a:schemeClr val="bg1"/>
              </a:solidFill>
            </a:endParaRPr>
          </a:p>
        </p:txBody>
      </p:sp>
      <p:pic>
        <p:nvPicPr>
          <p:cNvPr id="3" name="Picture 2">
            <a:extLst>
              <a:ext uri="{FF2B5EF4-FFF2-40B4-BE49-F238E27FC236}">
                <a16:creationId xmlns:a16="http://schemas.microsoft.com/office/drawing/2014/main" id="{06B96E37-FB08-4404-C445-6A388B3F2C2D}"/>
              </a:ext>
            </a:extLst>
          </p:cNvPr>
          <p:cNvPicPr>
            <a:picLocks noChangeAspect="1"/>
          </p:cNvPicPr>
          <p:nvPr/>
        </p:nvPicPr>
        <p:blipFill>
          <a:blip r:embed="rId5"/>
          <a:stretch>
            <a:fillRect/>
          </a:stretch>
        </p:blipFill>
        <p:spPr>
          <a:xfrm>
            <a:off x="666749" y="4427301"/>
            <a:ext cx="10458181" cy="2017814"/>
          </a:xfrm>
          <a:prstGeom prst="rect">
            <a:avLst/>
          </a:prstGeom>
        </p:spPr>
      </p:pic>
    </p:spTree>
    <p:extLst>
      <p:ext uri="{BB962C8B-B14F-4D97-AF65-F5344CB8AC3E}">
        <p14:creationId xmlns:p14="http://schemas.microsoft.com/office/powerpoint/2010/main" val="86355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2390206" cy="584775"/>
          </a:xfrm>
          <a:prstGeom prst="rect">
            <a:avLst/>
          </a:prstGeom>
          <a:noFill/>
        </p:spPr>
        <p:txBody>
          <a:bodyPr wrap="none" rtlCol="0">
            <a:spAutoFit/>
          </a:bodyPr>
          <a:lstStyle/>
          <a:p>
            <a:r>
              <a:rPr lang="en-US" sz="3200" b="1" dirty="0">
                <a:solidFill>
                  <a:schemeClr val="bg1"/>
                </a:solidFill>
              </a:rPr>
              <a:t>DATA FRAME</a:t>
            </a:r>
          </a:p>
        </p:txBody>
      </p:sp>
      <p:sp>
        <p:nvSpPr>
          <p:cNvPr id="7" name="Rectangle 6"/>
          <p:cNvSpPr/>
          <p:nvPr/>
        </p:nvSpPr>
        <p:spPr>
          <a:xfrm>
            <a:off x="414528" y="1124396"/>
            <a:ext cx="11167872" cy="1169551"/>
          </a:xfrm>
          <a:prstGeom prst="rect">
            <a:avLst/>
          </a:prstGeom>
        </p:spPr>
        <p:txBody>
          <a:bodyPr wrap="square">
            <a:spAutoFit/>
          </a:bodyPr>
          <a:lstStyle/>
          <a:p>
            <a:r>
              <a:rPr lang="vi-VN" sz="1400">
                <a:solidFill>
                  <a:schemeClr val="bg1"/>
                </a:solidFill>
              </a:rPr>
              <a:t>Khung dữ liệu (Data Frame): Khung mang dữ liệu từ nút truyền (transmitter) đến tất cả các nút nhận (receivers).</a:t>
            </a:r>
          </a:p>
          <a:p>
            <a:endParaRPr lang="vi-VN" sz="1400">
              <a:solidFill>
                <a:schemeClr val="bg1"/>
              </a:solidFill>
            </a:endParaRPr>
          </a:p>
          <a:p>
            <a:r>
              <a:rPr lang="vi-VN" sz="1400">
                <a:solidFill>
                  <a:schemeClr val="bg1"/>
                </a:solidFill>
              </a:rPr>
              <a:t>Có hai loại khung dữ liệu:</a:t>
            </a:r>
          </a:p>
          <a:p>
            <a:pPr lvl="1"/>
            <a:r>
              <a:rPr lang="vi-VN" sz="1400">
                <a:solidFill>
                  <a:schemeClr val="bg1"/>
                </a:solidFill>
              </a:rPr>
              <a:t>* Khung tiêu chuẩn (Standard Frame): Mã định danh (ID) thông điệp 11 bit - CAN 2.0A.</a:t>
            </a:r>
          </a:p>
          <a:p>
            <a:pPr lvl="1"/>
            <a:r>
              <a:rPr lang="vi-VN" sz="1400">
                <a:solidFill>
                  <a:schemeClr val="bg1"/>
                </a:solidFill>
              </a:rPr>
              <a:t>* Khung mở rộng (Extended Frame): Mã định danh (ID) thông điệp 29 bit (chia thành 11 bit ID cơ sở + 18 bit ID mở rộng) - CAN 2.0B.</a:t>
            </a:r>
            <a:endParaRPr lang="en-US" sz="1400" dirty="0">
              <a:solidFill>
                <a:schemeClr val="bg1"/>
              </a:solidFill>
            </a:endParaRPr>
          </a:p>
        </p:txBody>
      </p:sp>
      <p:pic>
        <p:nvPicPr>
          <p:cNvPr id="6" name="Picture 5">
            <a:extLst>
              <a:ext uri="{FF2B5EF4-FFF2-40B4-BE49-F238E27FC236}">
                <a16:creationId xmlns:a16="http://schemas.microsoft.com/office/drawing/2014/main" id="{DADF2AAB-C7BC-DCA2-4C58-36EEC705413E}"/>
              </a:ext>
            </a:extLst>
          </p:cNvPr>
          <p:cNvPicPr>
            <a:picLocks noChangeAspect="1"/>
          </p:cNvPicPr>
          <p:nvPr/>
        </p:nvPicPr>
        <p:blipFill>
          <a:blip r:embed="rId5"/>
          <a:stretch>
            <a:fillRect/>
          </a:stretch>
        </p:blipFill>
        <p:spPr>
          <a:xfrm>
            <a:off x="485394" y="2417197"/>
            <a:ext cx="11292078" cy="1695450"/>
          </a:xfrm>
          <a:prstGeom prst="rect">
            <a:avLst/>
          </a:prstGeom>
        </p:spPr>
      </p:pic>
      <p:pic>
        <p:nvPicPr>
          <p:cNvPr id="3" name="Picture 2">
            <a:extLst>
              <a:ext uri="{FF2B5EF4-FFF2-40B4-BE49-F238E27FC236}">
                <a16:creationId xmlns:a16="http://schemas.microsoft.com/office/drawing/2014/main" id="{063C9538-61FD-73A2-A1F0-403C62CBF77E}"/>
              </a:ext>
            </a:extLst>
          </p:cNvPr>
          <p:cNvPicPr>
            <a:picLocks noChangeAspect="1"/>
          </p:cNvPicPr>
          <p:nvPr/>
        </p:nvPicPr>
        <p:blipFill>
          <a:blip r:embed="rId6"/>
          <a:stretch>
            <a:fillRect/>
          </a:stretch>
        </p:blipFill>
        <p:spPr>
          <a:xfrm>
            <a:off x="480822" y="4604261"/>
            <a:ext cx="11296650" cy="1762125"/>
          </a:xfrm>
          <a:prstGeom prst="rect">
            <a:avLst/>
          </a:prstGeom>
        </p:spPr>
      </p:pic>
    </p:spTree>
    <p:extLst>
      <p:ext uri="{BB962C8B-B14F-4D97-AF65-F5344CB8AC3E}">
        <p14:creationId xmlns:p14="http://schemas.microsoft.com/office/powerpoint/2010/main" val="2216247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448678"/>
            <a:ext cx="4846583" cy="584775"/>
          </a:xfrm>
          <a:prstGeom prst="rect">
            <a:avLst/>
          </a:prstGeom>
          <a:noFill/>
        </p:spPr>
        <p:txBody>
          <a:bodyPr wrap="none" rtlCol="0">
            <a:spAutoFit/>
          </a:bodyPr>
          <a:lstStyle/>
          <a:p>
            <a:r>
              <a:rPr lang="en-US" sz="3200" b="1" dirty="0">
                <a:solidFill>
                  <a:schemeClr val="bg1"/>
                </a:solidFill>
              </a:rPr>
              <a:t>CAN 2.0A MESSAGE FRAME</a:t>
            </a:r>
          </a:p>
        </p:txBody>
      </p:sp>
      <p:pic>
        <p:nvPicPr>
          <p:cNvPr id="6" name="Picture 5">
            <a:extLst>
              <a:ext uri="{FF2B5EF4-FFF2-40B4-BE49-F238E27FC236}">
                <a16:creationId xmlns:a16="http://schemas.microsoft.com/office/drawing/2014/main" id="{87C07969-59CC-89FC-DFC2-E696269C3804}"/>
              </a:ext>
            </a:extLst>
          </p:cNvPr>
          <p:cNvPicPr>
            <a:picLocks noChangeAspect="1"/>
          </p:cNvPicPr>
          <p:nvPr/>
        </p:nvPicPr>
        <p:blipFill>
          <a:blip r:embed="rId5"/>
          <a:stretch>
            <a:fillRect/>
          </a:stretch>
        </p:blipFill>
        <p:spPr>
          <a:xfrm>
            <a:off x="1581150" y="2426511"/>
            <a:ext cx="9375414" cy="4152088"/>
          </a:xfrm>
          <a:prstGeom prst="rect">
            <a:avLst/>
          </a:prstGeom>
        </p:spPr>
      </p:pic>
      <p:pic>
        <p:nvPicPr>
          <p:cNvPr id="11" name="Picture 10">
            <a:extLst>
              <a:ext uri="{FF2B5EF4-FFF2-40B4-BE49-F238E27FC236}">
                <a16:creationId xmlns:a16="http://schemas.microsoft.com/office/drawing/2014/main" id="{8E2E64C1-37FD-1860-6CD6-800599F24DC6}"/>
              </a:ext>
            </a:extLst>
          </p:cNvPr>
          <p:cNvPicPr>
            <a:picLocks noChangeAspect="1"/>
          </p:cNvPicPr>
          <p:nvPr/>
        </p:nvPicPr>
        <p:blipFill>
          <a:blip r:embed="rId6"/>
          <a:stretch>
            <a:fillRect/>
          </a:stretch>
        </p:blipFill>
        <p:spPr>
          <a:xfrm>
            <a:off x="1581150" y="1168976"/>
            <a:ext cx="9375414" cy="1139232"/>
          </a:xfrm>
          <a:prstGeom prst="rect">
            <a:avLst/>
          </a:prstGeom>
        </p:spPr>
      </p:pic>
    </p:spTree>
    <p:extLst>
      <p:ext uri="{BB962C8B-B14F-4D97-AF65-F5344CB8AC3E}">
        <p14:creationId xmlns:p14="http://schemas.microsoft.com/office/powerpoint/2010/main" val="26651173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06647" y="363930"/>
            <a:ext cx="4828951" cy="584775"/>
          </a:xfrm>
          <a:prstGeom prst="rect">
            <a:avLst/>
          </a:prstGeom>
          <a:noFill/>
        </p:spPr>
        <p:txBody>
          <a:bodyPr wrap="none" rtlCol="0">
            <a:spAutoFit/>
          </a:bodyPr>
          <a:lstStyle/>
          <a:p>
            <a:r>
              <a:rPr lang="en-US" sz="3200" b="1" dirty="0">
                <a:solidFill>
                  <a:schemeClr val="bg1"/>
                </a:solidFill>
              </a:rPr>
              <a:t>CAN 2.0B MESSAGE FRAME</a:t>
            </a:r>
          </a:p>
        </p:txBody>
      </p:sp>
      <p:pic>
        <p:nvPicPr>
          <p:cNvPr id="3" name="Picture 2">
            <a:extLst>
              <a:ext uri="{FF2B5EF4-FFF2-40B4-BE49-F238E27FC236}">
                <a16:creationId xmlns:a16="http://schemas.microsoft.com/office/drawing/2014/main" id="{04B2A38D-E10B-AD82-C489-0214DDD9AB2C}"/>
              </a:ext>
            </a:extLst>
          </p:cNvPr>
          <p:cNvPicPr>
            <a:picLocks noChangeAspect="1"/>
          </p:cNvPicPr>
          <p:nvPr/>
        </p:nvPicPr>
        <p:blipFill>
          <a:blip r:embed="rId5"/>
          <a:stretch>
            <a:fillRect/>
          </a:stretch>
        </p:blipFill>
        <p:spPr>
          <a:xfrm>
            <a:off x="1304925" y="2227912"/>
            <a:ext cx="9363075" cy="4350687"/>
          </a:xfrm>
          <a:prstGeom prst="rect">
            <a:avLst/>
          </a:prstGeom>
        </p:spPr>
      </p:pic>
      <p:pic>
        <p:nvPicPr>
          <p:cNvPr id="5" name="Picture 4">
            <a:extLst>
              <a:ext uri="{FF2B5EF4-FFF2-40B4-BE49-F238E27FC236}">
                <a16:creationId xmlns:a16="http://schemas.microsoft.com/office/drawing/2014/main" id="{4B588AFF-56F1-777C-4D0A-BF125119ECC5}"/>
              </a:ext>
            </a:extLst>
          </p:cNvPr>
          <p:cNvPicPr>
            <a:picLocks noChangeAspect="1"/>
          </p:cNvPicPr>
          <p:nvPr/>
        </p:nvPicPr>
        <p:blipFill>
          <a:blip r:embed="rId6"/>
          <a:stretch>
            <a:fillRect/>
          </a:stretch>
        </p:blipFill>
        <p:spPr>
          <a:xfrm>
            <a:off x="1300197" y="1156345"/>
            <a:ext cx="9363075" cy="963400"/>
          </a:xfrm>
          <a:prstGeom prst="rect">
            <a:avLst/>
          </a:prstGeom>
        </p:spPr>
      </p:pic>
    </p:spTree>
    <p:extLst>
      <p:ext uri="{BB962C8B-B14F-4D97-AF65-F5344CB8AC3E}">
        <p14:creationId xmlns:p14="http://schemas.microsoft.com/office/powerpoint/2010/main" val="3146254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4207947" cy="584775"/>
          </a:xfrm>
          <a:prstGeom prst="rect">
            <a:avLst/>
          </a:prstGeom>
          <a:noFill/>
        </p:spPr>
        <p:txBody>
          <a:bodyPr wrap="none" rtlCol="0">
            <a:spAutoFit/>
          </a:bodyPr>
          <a:lstStyle/>
          <a:p>
            <a:r>
              <a:rPr lang="en-US" sz="3200" b="1" dirty="0">
                <a:solidFill>
                  <a:schemeClr val="bg1"/>
                </a:solidFill>
              </a:rPr>
              <a:t>START OF FRAME (SOF) </a:t>
            </a:r>
          </a:p>
        </p:txBody>
      </p:sp>
      <p:sp>
        <p:nvSpPr>
          <p:cNvPr id="7" name="Rectangle 6"/>
          <p:cNvSpPr/>
          <p:nvPr/>
        </p:nvSpPr>
        <p:spPr>
          <a:xfrm>
            <a:off x="414528" y="1124396"/>
            <a:ext cx="11167872" cy="1384995"/>
          </a:xfrm>
          <a:prstGeom prst="rect">
            <a:avLst/>
          </a:prstGeom>
        </p:spPr>
        <p:txBody>
          <a:bodyPr wrap="square">
            <a:spAutoFit/>
          </a:bodyPr>
          <a:lstStyle/>
          <a:p>
            <a:pPr marL="285750" indent="-285750">
              <a:buFont typeface="Wingdings" panose="05000000000000000000" pitchFamily="2" charset="2"/>
              <a:buChar char="q"/>
            </a:pPr>
            <a:r>
              <a:rPr lang="vi-VN" sz="1400">
                <a:solidFill>
                  <a:schemeClr val="bg1"/>
                </a:solidFill>
              </a:rPr>
              <a:t>Start of Frame (SOF) là một bit đơn (0) đánh dấu sự bắt đầu của một khung truyền CAN.</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Trường này bao gồm 1 bit dữ liệu, đó là một Bit Trội (Dominant Bit - mức logic 0).</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Khung dữ liệu bắt đầu bằng một bit SOF trội (Khoảng thời gian ngay trước SOF là khoảng thời gian BUS RẢNH ở trạng thái lặn - recessive).</a:t>
            </a:r>
            <a:endParaRPr lang="en-US" sz="1400" dirty="0">
              <a:solidFill>
                <a:schemeClr val="bg1"/>
              </a:solidFill>
            </a:endParaRPr>
          </a:p>
        </p:txBody>
      </p:sp>
      <p:pic>
        <p:nvPicPr>
          <p:cNvPr id="2052" name="Picture 4" descr="DeWiki &gt; Controller Area Network">
            <a:extLst>
              <a:ext uri="{FF2B5EF4-FFF2-40B4-BE49-F238E27FC236}">
                <a16:creationId xmlns:a16="http://schemas.microsoft.com/office/drawing/2014/main" id="{7C6F4C27-EAFC-78B2-40C1-ACE2CD13C7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328" y="2488158"/>
            <a:ext cx="11169344" cy="3536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68806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538148" cy="584775"/>
          </a:xfrm>
          <a:prstGeom prst="rect">
            <a:avLst/>
          </a:prstGeom>
          <a:noFill/>
        </p:spPr>
        <p:txBody>
          <a:bodyPr wrap="none" rtlCol="0">
            <a:spAutoFit/>
          </a:bodyPr>
          <a:lstStyle/>
          <a:p>
            <a:r>
              <a:rPr lang="en-US" sz="3200" b="1" dirty="0">
                <a:solidFill>
                  <a:schemeClr val="bg1"/>
                </a:solidFill>
              </a:rPr>
              <a:t>ARBITRATION FIELD</a:t>
            </a:r>
          </a:p>
        </p:txBody>
      </p:sp>
      <p:sp>
        <p:nvSpPr>
          <p:cNvPr id="7" name="Rectangle 6"/>
          <p:cNvSpPr/>
          <p:nvPr/>
        </p:nvSpPr>
        <p:spPr>
          <a:xfrm>
            <a:off x="512064" y="1168976"/>
            <a:ext cx="10962760" cy="4904997"/>
          </a:xfrm>
          <a:prstGeom prst="rect">
            <a:avLst/>
          </a:prstGeom>
        </p:spPr>
        <p:txBody>
          <a:bodyPr wrap="square">
            <a:spAutoFit/>
          </a:bodyPr>
          <a:lstStyle/>
          <a:p>
            <a:pPr marL="285750" indent="-285750">
              <a:lnSpc>
                <a:spcPct val="150000"/>
              </a:lnSpc>
              <a:buFont typeface="Wingdings" panose="05000000000000000000" pitchFamily="2" charset="2"/>
              <a:buChar char="q"/>
            </a:pPr>
            <a:r>
              <a:rPr lang="vi-VN" sz="1400">
                <a:solidFill>
                  <a:schemeClr val="bg1"/>
                </a:solidFill>
              </a:rPr>
              <a:t>Trong mạng CAN, Trường Phân xử (Arbitration Field) xác định nút nào được quyền truyền dữ liệu khi có nhiều nút cùng gửi thông điệp một lúc.</a:t>
            </a:r>
          </a:p>
          <a:p>
            <a:pPr marL="285750" indent="-285750">
              <a:lnSpc>
                <a:spcPct val="150000"/>
              </a:lnSpc>
              <a:buFont typeface="Wingdings" panose="05000000000000000000" pitchFamily="2" charset="2"/>
              <a:buChar char="q"/>
            </a:pPr>
            <a:endParaRPr lang="vi-VN" sz="1400">
              <a:solidFill>
                <a:schemeClr val="bg1"/>
              </a:solidFill>
            </a:endParaRPr>
          </a:p>
          <a:p>
            <a:pPr marL="285750" indent="-285750">
              <a:lnSpc>
                <a:spcPct val="150000"/>
              </a:lnSpc>
              <a:buFont typeface="Wingdings" panose="05000000000000000000" pitchFamily="2" charset="2"/>
              <a:buChar char="q"/>
            </a:pPr>
            <a:r>
              <a:rPr lang="vi-VN" sz="1400">
                <a:solidFill>
                  <a:schemeClr val="bg1"/>
                </a:solidFill>
              </a:rPr>
              <a:t>Mục đích chính là đảm bảo thông điệp ưu tiên cao được truyền trước mà không gây xung đột.</a:t>
            </a:r>
          </a:p>
          <a:p>
            <a:pPr marL="285750" indent="-285750">
              <a:lnSpc>
                <a:spcPct val="150000"/>
              </a:lnSpc>
              <a:buFont typeface="Wingdings" panose="05000000000000000000" pitchFamily="2" charset="2"/>
              <a:buChar char="q"/>
            </a:pPr>
            <a:endParaRPr lang="vi-VN" sz="1400">
              <a:solidFill>
                <a:schemeClr val="bg1"/>
              </a:solidFill>
            </a:endParaRPr>
          </a:p>
          <a:p>
            <a:pPr marL="285750" indent="-285750">
              <a:lnSpc>
                <a:spcPct val="150000"/>
              </a:lnSpc>
              <a:buFont typeface="Wingdings" panose="05000000000000000000" pitchFamily="2" charset="2"/>
              <a:buChar char="v"/>
            </a:pPr>
            <a:r>
              <a:rPr lang="vi-VN" sz="1400">
                <a:solidFill>
                  <a:schemeClr val="bg1"/>
                </a:solidFill>
              </a:rPr>
              <a:t>Chức năng và Tác động:</a:t>
            </a:r>
          </a:p>
          <a:p>
            <a:pPr marL="285750" indent="-285750">
              <a:lnSpc>
                <a:spcPct val="150000"/>
              </a:lnSpc>
              <a:buFont typeface="Wingdings" panose="05000000000000000000" pitchFamily="2" charset="2"/>
              <a:buChar char="q"/>
            </a:pPr>
            <a:endParaRPr lang="vi-VN" sz="1400">
              <a:solidFill>
                <a:schemeClr val="bg1"/>
              </a:solidFill>
            </a:endParaRPr>
          </a:p>
          <a:p>
            <a:pPr marL="742950" lvl="1" indent="-285750">
              <a:lnSpc>
                <a:spcPct val="150000"/>
              </a:lnSpc>
              <a:buFont typeface="Wingdings" panose="05000000000000000000" pitchFamily="2" charset="2"/>
              <a:buChar char="q"/>
            </a:pPr>
            <a:r>
              <a:rPr lang="vi-VN" sz="1400">
                <a:solidFill>
                  <a:schemeClr val="bg1"/>
                </a:solidFill>
              </a:rPr>
              <a:t>Độ ưu tiên: Chứa mã định danh (identifier) để gán ưu tiên  Giá trị càng nhỏ, ưu tiên càng cao.</a:t>
            </a:r>
          </a:p>
          <a:p>
            <a:pPr marL="742950" lvl="1" indent="-285750">
              <a:lnSpc>
                <a:spcPct val="150000"/>
              </a:lnSpc>
              <a:buFont typeface="Wingdings" panose="05000000000000000000" pitchFamily="2" charset="2"/>
              <a:buChar char="q"/>
            </a:pPr>
            <a:r>
              <a:rPr lang="vi-VN" sz="1400">
                <a:solidFill>
                  <a:schemeClr val="bg1"/>
                </a:solidFill>
              </a:rPr>
              <a:t>Quá trình phân xử: Các nút so sánh từng bit. Nếu nút gửi bit lặn (1) nhưng nhận thấy bit trội (0) trên bus, nó sẽ dừng truyền để nhường đường cho nút ưu tiên cao hơn.</a:t>
            </a:r>
          </a:p>
          <a:p>
            <a:pPr marL="742950" lvl="1" indent="-285750">
              <a:lnSpc>
                <a:spcPct val="150000"/>
              </a:lnSpc>
              <a:buFont typeface="Wingdings" panose="05000000000000000000" pitchFamily="2" charset="2"/>
              <a:buChar char="q"/>
            </a:pPr>
            <a:r>
              <a:rPr lang="vi-VN" sz="1400">
                <a:solidFill>
                  <a:schemeClr val="bg1"/>
                </a:solidFill>
              </a:rPr>
              <a:t>Hiệu quả sử dụng Bus: Đảm bảo bus hoạt động trật tự, tránh xung đột và không lãng phí băng thông.</a:t>
            </a:r>
            <a:endParaRPr lang="en-US" sz="1400">
              <a:solidFill>
                <a:schemeClr val="bg1"/>
              </a:solidFill>
            </a:endParaRPr>
          </a:p>
          <a:p>
            <a:pPr marL="285750" indent="-285750">
              <a:lnSpc>
                <a:spcPct val="150000"/>
              </a:lnSpc>
              <a:buFont typeface="Wingdings" panose="05000000000000000000" pitchFamily="2" charset="2"/>
              <a:buChar char="q"/>
            </a:pPr>
            <a:endParaRPr lang="vi-VN" sz="1400">
              <a:solidFill>
                <a:schemeClr val="bg1"/>
              </a:solidFill>
            </a:endParaRPr>
          </a:p>
          <a:p>
            <a:pPr marL="285750" indent="-285750">
              <a:lnSpc>
                <a:spcPct val="150000"/>
              </a:lnSpc>
              <a:buFont typeface="Wingdings" panose="05000000000000000000" pitchFamily="2" charset="2"/>
              <a:buChar char="v"/>
            </a:pPr>
            <a:r>
              <a:rPr lang="vi-VN" sz="1400">
                <a:solidFill>
                  <a:schemeClr val="bg1"/>
                </a:solidFill>
              </a:rPr>
              <a:t>Định dạng trường phân xử khác nhau tùy loại khung:</a:t>
            </a:r>
          </a:p>
          <a:p>
            <a:pPr marL="742950" lvl="1" indent="-285750">
              <a:lnSpc>
                <a:spcPct val="150000"/>
              </a:lnSpc>
              <a:buFont typeface="Wingdings" panose="05000000000000000000" pitchFamily="2" charset="2"/>
              <a:buChar char="q"/>
            </a:pPr>
            <a:r>
              <a:rPr lang="vi-VN" sz="1400">
                <a:solidFill>
                  <a:schemeClr val="bg1"/>
                </a:solidFill>
              </a:rPr>
              <a:t>Định dạng tiêu chuẩn: Dài 12 bit (11 bit ID + 1 bit RTR).</a:t>
            </a:r>
          </a:p>
          <a:p>
            <a:pPr marL="742950" lvl="1" indent="-285750">
              <a:lnSpc>
                <a:spcPct val="150000"/>
              </a:lnSpc>
              <a:buFont typeface="Wingdings" panose="05000000000000000000" pitchFamily="2" charset="2"/>
              <a:buChar char="q"/>
            </a:pPr>
            <a:r>
              <a:rPr lang="vi-VN" sz="1400">
                <a:solidFill>
                  <a:schemeClr val="bg1"/>
                </a:solidFill>
              </a:rPr>
              <a:t>Định dạng mở rộng: Dài 32 bit (29 bit ID + 1 bit SRR + 1 bit IDE + 1 bit RTR).</a:t>
            </a:r>
            <a:endParaRPr lang="en-US" sz="1400" dirty="0">
              <a:solidFill>
                <a:schemeClr val="bg1"/>
              </a:solidFill>
            </a:endParaRPr>
          </a:p>
        </p:txBody>
      </p:sp>
    </p:spTree>
    <p:extLst>
      <p:ext uri="{BB962C8B-B14F-4D97-AF65-F5344CB8AC3E}">
        <p14:creationId xmlns:p14="http://schemas.microsoft.com/office/powerpoint/2010/main" val="25250023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538148" cy="584775"/>
          </a:xfrm>
          <a:prstGeom prst="rect">
            <a:avLst/>
          </a:prstGeom>
          <a:noFill/>
        </p:spPr>
        <p:txBody>
          <a:bodyPr wrap="none" rtlCol="0">
            <a:spAutoFit/>
          </a:bodyPr>
          <a:lstStyle/>
          <a:p>
            <a:r>
              <a:rPr lang="en-US" sz="3200" b="1" dirty="0">
                <a:solidFill>
                  <a:schemeClr val="bg1"/>
                </a:solidFill>
              </a:rPr>
              <a:t>ARBITRATION FIELD</a:t>
            </a:r>
          </a:p>
        </p:txBody>
      </p:sp>
      <p:sp>
        <p:nvSpPr>
          <p:cNvPr id="7" name="Rectangle 6"/>
          <p:cNvSpPr/>
          <p:nvPr/>
        </p:nvSpPr>
        <p:spPr>
          <a:xfrm>
            <a:off x="512064" y="1168976"/>
            <a:ext cx="11167872" cy="1134734"/>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Định dạng Trường Phân xử khác nhau giữa loại khung Tiêu chuẩn và Mở rộng:</a:t>
            </a:r>
          </a:p>
          <a:p>
            <a:endParaRPr lang="vi-VN" sz="1400">
              <a:solidFill>
                <a:schemeClr val="bg1"/>
              </a:solidFill>
            </a:endParaRPr>
          </a:p>
          <a:p>
            <a:pPr marL="285750" indent="-285750">
              <a:lnSpc>
                <a:spcPct val="150000"/>
              </a:lnSpc>
              <a:buFont typeface="Wingdings" panose="05000000000000000000" pitchFamily="2" charset="2"/>
              <a:buChar char="q"/>
            </a:pPr>
            <a:r>
              <a:rPr lang="vi-VN" sz="1400">
                <a:solidFill>
                  <a:schemeClr val="bg1"/>
                </a:solidFill>
              </a:rPr>
              <a:t>Định dạng tiêu chuẩn (Standard): Trường phân xử dài 12 bit, gồm 11 bit ID và 1 bit RTR.</a:t>
            </a:r>
          </a:p>
          <a:p>
            <a:pPr marL="285750" indent="-285750">
              <a:lnSpc>
                <a:spcPct val="150000"/>
              </a:lnSpc>
              <a:buFont typeface="Wingdings" panose="05000000000000000000" pitchFamily="2" charset="2"/>
              <a:buChar char="q"/>
            </a:pPr>
            <a:r>
              <a:rPr lang="vi-VN" sz="1400">
                <a:solidFill>
                  <a:schemeClr val="bg1"/>
                </a:solidFill>
              </a:rPr>
              <a:t>Định dạng mở rộng (Extended): Trường phân xử dài 32 bit, gồm 29 bit ID, 1 bit SRR, 1 bit IDE và 1 bit RTR.</a:t>
            </a:r>
            <a:endParaRPr lang="en-US" sz="1400" b="1" dirty="0">
              <a:solidFill>
                <a:schemeClr val="bg1"/>
              </a:solidFill>
            </a:endParaRPr>
          </a:p>
        </p:txBody>
      </p:sp>
      <p:pic>
        <p:nvPicPr>
          <p:cNvPr id="3" name="Picture 2">
            <a:extLst>
              <a:ext uri="{FF2B5EF4-FFF2-40B4-BE49-F238E27FC236}">
                <a16:creationId xmlns:a16="http://schemas.microsoft.com/office/drawing/2014/main" id="{D89D1E39-72D5-0C37-31A6-BBF9372DE732}"/>
              </a:ext>
            </a:extLst>
          </p:cNvPr>
          <p:cNvPicPr>
            <a:picLocks noChangeAspect="1"/>
          </p:cNvPicPr>
          <p:nvPr/>
        </p:nvPicPr>
        <p:blipFill>
          <a:blip r:embed="rId5"/>
          <a:stretch>
            <a:fillRect/>
          </a:stretch>
        </p:blipFill>
        <p:spPr>
          <a:xfrm>
            <a:off x="2183603" y="2553971"/>
            <a:ext cx="7128062" cy="3919068"/>
          </a:xfrm>
          <a:prstGeom prst="rect">
            <a:avLst/>
          </a:prstGeom>
        </p:spPr>
      </p:pic>
    </p:spTree>
    <p:extLst>
      <p:ext uri="{BB962C8B-B14F-4D97-AF65-F5344CB8AC3E}">
        <p14:creationId xmlns:p14="http://schemas.microsoft.com/office/powerpoint/2010/main" val="4000024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538148" cy="584775"/>
          </a:xfrm>
          <a:prstGeom prst="rect">
            <a:avLst/>
          </a:prstGeom>
          <a:noFill/>
        </p:spPr>
        <p:txBody>
          <a:bodyPr wrap="none" rtlCol="0">
            <a:spAutoFit/>
          </a:bodyPr>
          <a:lstStyle/>
          <a:p>
            <a:r>
              <a:rPr lang="en-US" sz="3200" b="1" dirty="0">
                <a:solidFill>
                  <a:schemeClr val="bg1"/>
                </a:solidFill>
              </a:rPr>
              <a:t>ARBITRATION FIELD</a:t>
            </a:r>
          </a:p>
        </p:txBody>
      </p:sp>
      <p:sp>
        <p:nvSpPr>
          <p:cNvPr id="7" name="Rectangle 6"/>
          <p:cNvSpPr/>
          <p:nvPr/>
        </p:nvSpPr>
        <p:spPr>
          <a:xfrm>
            <a:off x="512064" y="1168976"/>
            <a:ext cx="11167872" cy="1134734"/>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Định dạng Trường Phân xử khác nhau giữa loại khung Tiêu chuẩn và Mở rộng:</a:t>
            </a:r>
          </a:p>
          <a:p>
            <a:endParaRPr lang="vi-VN" sz="1400">
              <a:solidFill>
                <a:schemeClr val="bg1"/>
              </a:solidFill>
            </a:endParaRPr>
          </a:p>
          <a:p>
            <a:pPr marL="285750" indent="-285750">
              <a:lnSpc>
                <a:spcPct val="150000"/>
              </a:lnSpc>
              <a:buFont typeface="Wingdings" panose="05000000000000000000" pitchFamily="2" charset="2"/>
              <a:buChar char="q"/>
            </a:pPr>
            <a:r>
              <a:rPr lang="vi-VN" sz="1400">
                <a:solidFill>
                  <a:schemeClr val="bg1"/>
                </a:solidFill>
              </a:rPr>
              <a:t>Định dạng tiêu chuẩn (Standard): Trường phân xử dài 12 bit, gồm 11 bit ID và 1 bit RTR.</a:t>
            </a:r>
          </a:p>
          <a:p>
            <a:pPr marL="285750" indent="-285750">
              <a:lnSpc>
                <a:spcPct val="150000"/>
              </a:lnSpc>
              <a:buFont typeface="Wingdings" panose="05000000000000000000" pitchFamily="2" charset="2"/>
              <a:buChar char="q"/>
            </a:pPr>
            <a:r>
              <a:rPr lang="vi-VN" sz="1400">
                <a:solidFill>
                  <a:schemeClr val="bg1"/>
                </a:solidFill>
              </a:rPr>
              <a:t>Định dạng mở rộng (Extended): Trường phân xử dài 32 bit, gồm 29 bit ID, 1 bit SRR, 1 bit IDE và 1 bit RTR.</a:t>
            </a:r>
            <a:endParaRPr lang="en-US" sz="1400" b="1" dirty="0">
              <a:solidFill>
                <a:schemeClr val="bg1"/>
              </a:solidFill>
            </a:endParaRPr>
          </a:p>
        </p:txBody>
      </p:sp>
      <p:pic>
        <p:nvPicPr>
          <p:cNvPr id="3" name="Picture 2">
            <a:extLst>
              <a:ext uri="{FF2B5EF4-FFF2-40B4-BE49-F238E27FC236}">
                <a16:creationId xmlns:a16="http://schemas.microsoft.com/office/drawing/2014/main" id="{D89D1E39-72D5-0C37-31A6-BBF9372DE732}"/>
              </a:ext>
            </a:extLst>
          </p:cNvPr>
          <p:cNvPicPr>
            <a:picLocks noChangeAspect="1"/>
          </p:cNvPicPr>
          <p:nvPr/>
        </p:nvPicPr>
        <p:blipFill>
          <a:blip r:embed="rId5"/>
          <a:stretch>
            <a:fillRect/>
          </a:stretch>
        </p:blipFill>
        <p:spPr>
          <a:xfrm>
            <a:off x="2183603" y="2553971"/>
            <a:ext cx="7128062" cy="3919068"/>
          </a:xfrm>
          <a:prstGeom prst="rect">
            <a:avLst/>
          </a:prstGeom>
        </p:spPr>
      </p:pic>
      <p:pic>
        <p:nvPicPr>
          <p:cNvPr id="5" name="Picture 4">
            <a:extLst>
              <a:ext uri="{FF2B5EF4-FFF2-40B4-BE49-F238E27FC236}">
                <a16:creationId xmlns:a16="http://schemas.microsoft.com/office/drawing/2014/main" id="{7FD62D86-97E7-B0F7-C5CA-75DD725A0A00}"/>
              </a:ext>
            </a:extLst>
          </p:cNvPr>
          <p:cNvPicPr>
            <a:picLocks noChangeAspect="1"/>
          </p:cNvPicPr>
          <p:nvPr/>
        </p:nvPicPr>
        <p:blipFill>
          <a:blip r:embed="rId6"/>
          <a:stretch>
            <a:fillRect/>
          </a:stretch>
        </p:blipFill>
        <p:spPr>
          <a:xfrm>
            <a:off x="2230989" y="433339"/>
            <a:ext cx="7033290" cy="5991321"/>
          </a:xfrm>
          <a:prstGeom prst="rect">
            <a:avLst/>
          </a:prstGeom>
        </p:spPr>
      </p:pic>
    </p:spTree>
    <p:extLst>
      <p:ext uri="{BB962C8B-B14F-4D97-AF65-F5344CB8AC3E}">
        <p14:creationId xmlns:p14="http://schemas.microsoft.com/office/powerpoint/2010/main" val="324014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300904" cy="584775"/>
          </a:xfrm>
          <a:prstGeom prst="rect">
            <a:avLst/>
          </a:prstGeom>
          <a:noFill/>
        </p:spPr>
        <p:txBody>
          <a:bodyPr wrap="none" rtlCol="0">
            <a:spAutoFit/>
          </a:bodyPr>
          <a:lstStyle/>
          <a:p>
            <a:r>
              <a:rPr lang="en-US" sz="3200" b="1" dirty="0">
                <a:solidFill>
                  <a:schemeClr val="bg1"/>
                </a:solidFill>
              </a:rPr>
              <a:t>WHAT IS SRR BIT ?</a:t>
            </a:r>
          </a:p>
        </p:txBody>
      </p:sp>
      <p:sp>
        <p:nvSpPr>
          <p:cNvPr id="7" name="Rectangle 6"/>
          <p:cNvSpPr/>
          <p:nvPr/>
        </p:nvSpPr>
        <p:spPr>
          <a:xfrm>
            <a:off x="512064" y="1168976"/>
            <a:ext cx="11167872" cy="2031325"/>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Bit SRR (Substitute Remote Request):</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 Chỉ tồn tại trong khung truyền mở rộng (extended frame).</a:t>
            </a:r>
          </a:p>
          <a:p>
            <a:pPr marL="285750" indent="-285750">
              <a:buFont typeface="Wingdings" panose="05000000000000000000" pitchFamily="2" charset="2"/>
              <a:buChar char="q"/>
            </a:pPr>
            <a:r>
              <a:rPr lang="vi-VN" sz="1400">
                <a:solidFill>
                  <a:schemeClr val="bg1"/>
                </a:solidFill>
              </a:rPr>
              <a:t> Có giá trị bằng 1 (Bit lặn - Recessive).</a:t>
            </a:r>
          </a:p>
          <a:p>
            <a:pPr marL="285750" indent="-285750">
              <a:buFont typeface="Wingdings" panose="05000000000000000000" pitchFamily="2" charset="2"/>
              <a:buChar char="q"/>
            </a:pPr>
            <a:r>
              <a:rPr lang="vi-VN" sz="1400">
                <a:solidFill>
                  <a:schemeClr val="bg1"/>
                </a:solidFill>
              </a:rPr>
              <a:t> Vị trí của nó trùng với vị trí của bit RTR trong khung tiêu chuẩn, nên còn được gọi là Bit thay thế (Substitute Bit).</a:t>
            </a:r>
          </a:p>
          <a:p>
            <a:pPr marL="285750" indent="-285750">
              <a:buFont typeface="Wingdings" panose="05000000000000000000" pitchFamily="2" charset="2"/>
              <a:buChar char="v"/>
            </a:pPr>
            <a:endParaRPr lang="vi-VN" sz="1400">
              <a:solidFill>
                <a:schemeClr val="bg1"/>
              </a:solidFill>
            </a:endParaRPr>
          </a:p>
          <a:p>
            <a:r>
              <a:rPr lang="vi-VN" sz="1400">
                <a:solidFill>
                  <a:schemeClr val="bg1"/>
                </a:solidFill>
              </a:rPr>
              <a:t>Nếu hai nút truyền đồng thời, một nút gửi Khung dữ liệu tiêu chuẩn và nút kia gửi Khung dữ liệu mở rộng có cùng ID, khung tiêu chuẩn sẽ thắng quyền phân xử. Lý do là sau phần ID, khung tiêu chuẩn có bit RTR bằng 0 (trội), trong khi khung mở rộng có bit SRR bằng 1 (lặn). Do đó, khung tiêu chuẩn có độ ưu tiên cao hơn khung mở rộng khi có cùng mã định danh ID.</a:t>
            </a:r>
            <a:endParaRPr lang="en-US" sz="1400" dirty="0">
              <a:solidFill>
                <a:schemeClr val="bg1"/>
              </a:solidFill>
            </a:endParaRPr>
          </a:p>
        </p:txBody>
      </p:sp>
      <p:pic>
        <p:nvPicPr>
          <p:cNvPr id="2" name="Picture 1">
            <a:extLst>
              <a:ext uri="{FF2B5EF4-FFF2-40B4-BE49-F238E27FC236}">
                <a16:creationId xmlns:a16="http://schemas.microsoft.com/office/drawing/2014/main" id="{C2B2F70A-0122-0EAD-1673-90A1D8378B6C}"/>
              </a:ext>
            </a:extLst>
          </p:cNvPr>
          <p:cNvPicPr>
            <a:picLocks noChangeAspect="1"/>
          </p:cNvPicPr>
          <p:nvPr/>
        </p:nvPicPr>
        <p:blipFill>
          <a:blip r:embed="rId5"/>
          <a:stretch>
            <a:fillRect/>
          </a:stretch>
        </p:blipFill>
        <p:spPr>
          <a:xfrm>
            <a:off x="512064" y="3200301"/>
            <a:ext cx="11292078" cy="1695450"/>
          </a:xfrm>
          <a:prstGeom prst="rect">
            <a:avLst/>
          </a:prstGeom>
        </p:spPr>
      </p:pic>
      <p:pic>
        <p:nvPicPr>
          <p:cNvPr id="6" name="Picture 5">
            <a:extLst>
              <a:ext uri="{FF2B5EF4-FFF2-40B4-BE49-F238E27FC236}">
                <a16:creationId xmlns:a16="http://schemas.microsoft.com/office/drawing/2014/main" id="{A423EC18-A6FD-2165-96CB-FA100B6A54EA}"/>
              </a:ext>
            </a:extLst>
          </p:cNvPr>
          <p:cNvPicPr>
            <a:picLocks noChangeAspect="1"/>
          </p:cNvPicPr>
          <p:nvPr/>
        </p:nvPicPr>
        <p:blipFill>
          <a:blip r:embed="rId6"/>
          <a:stretch>
            <a:fillRect/>
          </a:stretch>
        </p:blipFill>
        <p:spPr>
          <a:xfrm>
            <a:off x="507492" y="4995813"/>
            <a:ext cx="11296650" cy="1762125"/>
          </a:xfrm>
          <a:prstGeom prst="rect">
            <a:avLst/>
          </a:prstGeom>
        </p:spPr>
      </p:pic>
    </p:spTree>
    <p:extLst>
      <p:ext uri="{BB962C8B-B14F-4D97-AF65-F5344CB8AC3E}">
        <p14:creationId xmlns:p14="http://schemas.microsoft.com/office/powerpoint/2010/main" val="35031258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300904" cy="584775"/>
          </a:xfrm>
          <a:prstGeom prst="rect">
            <a:avLst/>
          </a:prstGeom>
          <a:noFill/>
        </p:spPr>
        <p:txBody>
          <a:bodyPr wrap="none" rtlCol="0">
            <a:spAutoFit/>
          </a:bodyPr>
          <a:lstStyle/>
          <a:p>
            <a:r>
              <a:rPr lang="en-US" sz="3200" b="1" dirty="0">
                <a:solidFill>
                  <a:schemeClr val="bg1"/>
                </a:solidFill>
              </a:rPr>
              <a:t>WHAT IS SRR BIT ?</a:t>
            </a:r>
          </a:p>
        </p:txBody>
      </p:sp>
      <p:sp>
        <p:nvSpPr>
          <p:cNvPr id="7" name="Rectangle 6"/>
          <p:cNvSpPr/>
          <p:nvPr/>
        </p:nvSpPr>
        <p:spPr>
          <a:xfrm>
            <a:off x="512064" y="1168976"/>
            <a:ext cx="11167872" cy="2031325"/>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Bit SRR (Substitute Remote Request):</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 Chỉ tồn tại trong khung truyền mở rộng (extended frame).</a:t>
            </a:r>
          </a:p>
          <a:p>
            <a:pPr marL="285750" indent="-285750">
              <a:buFont typeface="Wingdings" panose="05000000000000000000" pitchFamily="2" charset="2"/>
              <a:buChar char="q"/>
            </a:pPr>
            <a:r>
              <a:rPr lang="vi-VN" sz="1400">
                <a:solidFill>
                  <a:schemeClr val="bg1"/>
                </a:solidFill>
              </a:rPr>
              <a:t> Có giá trị bằng 1 (Bit lặn - Recessive).</a:t>
            </a:r>
          </a:p>
          <a:p>
            <a:pPr marL="285750" indent="-285750">
              <a:buFont typeface="Wingdings" panose="05000000000000000000" pitchFamily="2" charset="2"/>
              <a:buChar char="q"/>
            </a:pPr>
            <a:r>
              <a:rPr lang="vi-VN" sz="1400">
                <a:solidFill>
                  <a:schemeClr val="bg1"/>
                </a:solidFill>
              </a:rPr>
              <a:t> Vị trí của nó trùng với vị trí của bit RTR trong khung tiêu chuẩn, nên còn được gọi là Bit thay thế (Substitute Bit).</a:t>
            </a:r>
          </a:p>
          <a:p>
            <a:pPr marL="285750" indent="-285750">
              <a:buFont typeface="Wingdings" panose="05000000000000000000" pitchFamily="2" charset="2"/>
              <a:buChar char="v"/>
            </a:pPr>
            <a:endParaRPr lang="vi-VN" sz="1400">
              <a:solidFill>
                <a:schemeClr val="bg1"/>
              </a:solidFill>
            </a:endParaRPr>
          </a:p>
          <a:p>
            <a:r>
              <a:rPr lang="vi-VN" sz="1400">
                <a:solidFill>
                  <a:schemeClr val="bg1"/>
                </a:solidFill>
              </a:rPr>
              <a:t>Nếu hai nút truyền đồng thời, một nút gửi Khung dữ liệu tiêu chuẩn và nút kia gửi Khung dữ liệu mở rộng có cùng ID, khung tiêu chuẩn sẽ thắng quyền phân xử. Lý do là sau phần ID, khung tiêu chuẩn có bit RTR bằng 0 (trội), trong khi khung mở rộng có bit SRR bằng 1 (lặn). Do đó, khung tiêu chuẩn có độ ưu tiên cao hơn khung mở rộng khi có cùng mã định danh ID.</a:t>
            </a:r>
            <a:endParaRPr lang="en-US" sz="1400" dirty="0">
              <a:solidFill>
                <a:schemeClr val="bg1"/>
              </a:solidFill>
            </a:endParaRPr>
          </a:p>
        </p:txBody>
      </p:sp>
      <p:pic>
        <p:nvPicPr>
          <p:cNvPr id="5" name="Picture 4">
            <a:extLst>
              <a:ext uri="{FF2B5EF4-FFF2-40B4-BE49-F238E27FC236}">
                <a16:creationId xmlns:a16="http://schemas.microsoft.com/office/drawing/2014/main" id="{DBB729EB-BCDB-15D6-BF5B-2124234AA5A2}"/>
              </a:ext>
            </a:extLst>
          </p:cNvPr>
          <p:cNvPicPr>
            <a:picLocks noChangeAspect="1"/>
          </p:cNvPicPr>
          <p:nvPr/>
        </p:nvPicPr>
        <p:blipFill>
          <a:blip r:embed="rId5"/>
          <a:stretch>
            <a:fillRect/>
          </a:stretch>
        </p:blipFill>
        <p:spPr>
          <a:xfrm>
            <a:off x="2155980" y="3200301"/>
            <a:ext cx="7277100" cy="3495675"/>
          </a:xfrm>
          <a:prstGeom prst="rect">
            <a:avLst/>
          </a:prstGeom>
        </p:spPr>
      </p:pic>
    </p:spTree>
    <p:extLst>
      <p:ext uri="{BB962C8B-B14F-4D97-AF65-F5344CB8AC3E}">
        <p14:creationId xmlns:p14="http://schemas.microsoft.com/office/powerpoint/2010/main" val="22896727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306483" cy="584775"/>
          </a:xfrm>
          <a:prstGeom prst="rect">
            <a:avLst/>
          </a:prstGeom>
          <a:noFill/>
        </p:spPr>
        <p:txBody>
          <a:bodyPr wrap="none" rtlCol="0">
            <a:spAutoFit/>
          </a:bodyPr>
          <a:lstStyle/>
          <a:p>
            <a:r>
              <a:rPr lang="en-US" sz="3200" b="1" dirty="0">
                <a:solidFill>
                  <a:schemeClr val="bg1"/>
                </a:solidFill>
              </a:rPr>
              <a:t>WHAT IS RTR BIT ?</a:t>
            </a:r>
          </a:p>
        </p:txBody>
      </p:sp>
      <p:sp>
        <p:nvSpPr>
          <p:cNvPr id="7" name="Rectangle 6"/>
          <p:cNvSpPr/>
          <p:nvPr/>
        </p:nvSpPr>
        <p:spPr>
          <a:xfrm>
            <a:off x="512064" y="1168976"/>
            <a:ext cx="11167872" cy="2615909"/>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Bit RTR (Remote Transmission Request):</a:t>
            </a:r>
          </a:p>
          <a:p>
            <a:pPr marL="285750" indent="-285750">
              <a:buFont typeface="Wingdings" panose="05000000000000000000" pitchFamily="2" charset="2"/>
              <a:buChar char="v"/>
            </a:pPr>
            <a:endParaRPr lang="vi-VN" sz="1400">
              <a:solidFill>
                <a:schemeClr val="bg1"/>
              </a:solidFill>
            </a:endParaRPr>
          </a:p>
          <a:p>
            <a:pPr marL="285750" indent="-285750">
              <a:lnSpc>
                <a:spcPct val="200000"/>
              </a:lnSpc>
              <a:buFont typeface="Wingdings" panose="05000000000000000000" pitchFamily="2" charset="2"/>
              <a:buChar char="q"/>
            </a:pPr>
            <a:r>
              <a:rPr lang="vi-VN" sz="1400">
                <a:solidFill>
                  <a:schemeClr val="bg1"/>
                </a:solidFill>
              </a:rPr>
              <a:t>Bit này được sử dụng để phân biệt giữa Khung dữ liệu (Data Frame) và Khung yêu cầu (Remote Frame).</a:t>
            </a:r>
          </a:p>
          <a:p>
            <a:pPr marL="285750" indent="-285750">
              <a:lnSpc>
                <a:spcPct val="200000"/>
              </a:lnSpc>
              <a:buFont typeface="Wingdings" panose="05000000000000000000" pitchFamily="2" charset="2"/>
              <a:buChar char="q"/>
            </a:pPr>
            <a:r>
              <a:rPr lang="vi-VN" sz="1400">
                <a:solidFill>
                  <a:schemeClr val="bg1"/>
                </a:solidFill>
              </a:rPr>
              <a:t>Nếu là Khung dữ liệu, bit này luôn bằng 0 (Bit trội - Dominant).</a:t>
            </a:r>
          </a:p>
          <a:p>
            <a:pPr marL="285750" indent="-285750">
              <a:lnSpc>
                <a:spcPct val="200000"/>
              </a:lnSpc>
              <a:buFont typeface="Wingdings" panose="05000000000000000000" pitchFamily="2" charset="2"/>
              <a:buChar char="q"/>
            </a:pPr>
            <a:r>
              <a:rPr lang="vi-VN" sz="1400">
                <a:solidFill>
                  <a:schemeClr val="bg1"/>
                </a:solidFill>
              </a:rPr>
              <a:t>Nếu là Khung yêu cầu, bit này luôn bằng 1 (Bit lặn - Recessive).</a:t>
            </a:r>
          </a:p>
          <a:p>
            <a:pPr marL="285750" indent="-285750">
              <a:lnSpc>
                <a:spcPct val="200000"/>
              </a:lnSpc>
              <a:buFont typeface="Wingdings" panose="05000000000000000000" pitchFamily="2" charset="2"/>
              <a:buChar char="q"/>
            </a:pPr>
            <a:r>
              <a:rPr lang="vi-VN" sz="1400">
                <a:solidFill>
                  <a:schemeClr val="bg1"/>
                </a:solidFill>
              </a:rPr>
              <a:t>Vị trí của bit này luôn nằm sau các bit ID.</a:t>
            </a:r>
          </a:p>
          <a:p>
            <a:pPr marL="285750" indent="-285750">
              <a:lnSpc>
                <a:spcPct val="200000"/>
              </a:lnSpc>
              <a:buFont typeface="Wingdings" panose="05000000000000000000" pitchFamily="2" charset="2"/>
              <a:buChar char="q"/>
            </a:pPr>
            <a:r>
              <a:rPr lang="vi-VN" sz="1400">
                <a:solidFill>
                  <a:schemeClr val="bg1"/>
                </a:solidFill>
              </a:rPr>
              <a:t>Nếu một Khung dữ liệu và một Khung yêu cầu có cùng ID được truyền đồng thời, Khung dữ liệu sẽ được ưu tiên.</a:t>
            </a:r>
            <a:endParaRPr lang="en-US" sz="1400" b="1" dirty="0">
              <a:solidFill>
                <a:schemeClr val="bg1"/>
              </a:solidFill>
            </a:endParaRPr>
          </a:p>
        </p:txBody>
      </p:sp>
      <p:pic>
        <p:nvPicPr>
          <p:cNvPr id="2" name="Picture 1">
            <a:extLst>
              <a:ext uri="{FF2B5EF4-FFF2-40B4-BE49-F238E27FC236}">
                <a16:creationId xmlns:a16="http://schemas.microsoft.com/office/drawing/2014/main" id="{C2B2F70A-0122-0EAD-1673-90A1D8378B6C}"/>
              </a:ext>
            </a:extLst>
          </p:cNvPr>
          <p:cNvPicPr>
            <a:picLocks noChangeAspect="1"/>
          </p:cNvPicPr>
          <p:nvPr/>
        </p:nvPicPr>
        <p:blipFill>
          <a:blip r:embed="rId5"/>
          <a:stretch>
            <a:fillRect/>
          </a:stretch>
        </p:blipFill>
        <p:spPr>
          <a:xfrm>
            <a:off x="512064" y="4215964"/>
            <a:ext cx="11292078" cy="1695450"/>
          </a:xfrm>
          <a:prstGeom prst="rect">
            <a:avLst/>
          </a:prstGeom>
        </p:spPr>
      </p:pic>
      <p:pic>
        <p:nvPicPr>
          <p:cNvPr id="6" name="Picture 5">
            <a:extLst>
              <a:ext uri="{FF2B5EF4-FFF2-40B4-BE49-F238E27FC236}">
                <a16:creationId xmlns:a16="http://schemas.microsoft.com/office/drawing/2014/main" id="{6EF5DDFB-F966-945B-1969-6A340879F44D}"/>
              </a:ext>
            </a:extLst>
          </p:cNvPr>
          <p:cNvPicPr>
            <a:picLocks noChangeAspect="1"/>
          </p:cNvPicPr>
          <p:nvPr/>
        </p:nvPicPr>
        <p:blipFill>
          <a:blip r:embed="rId6"/>
          <a:stretch>
            <a:fillRect/>
          </a:stretch>
        </p:blipFill>
        <p:spPr>
          <a:xfrm>
            <a:off x="512064" y="4215964"/>
            <a:ext cx="11296650" cy="1762125"/>
          </a:xfrm>
          <a:prstGeom prst="rect">
            <a:avLst/>
          </a:prstGeom>
        </p:spPr>
      </p:pic>
    </p:spTree>
    <p:extLst>
      <p:ext uri="{BB962C8B-B14F-4D97-AF65-F5344CB8AC3E}">
        <p14:creationId xmlns:p14="http://schemas.microsoft.com/office/powerpoint/2010/main" val="229772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306483" cy="584775"/>
          </a:xfrm>
          <a:prstGeom prst="rect">
            <a:avLst/>
          </a:prstGeom>
          <a:noFill/>
        </p:spPr>
        <p:txBody>
          <a:bodyPr wrap="none" rtlCol="0">
            <a:spAutoFit/>
          </a:bodyPr>
          <a:lstStyle/>
          <a:p>
            <a:r>
              <a:rPr lang="en-US" sz="3200" b="1" dirty="0">
                <a:solidFill>
                  <a:schemeClr val="bg1"/>
                </a:solidFill>
              </a:rPr>
              <a:t>WHAT IS RTR BIT ?</a:t>
            </a:r>
          </a:p>
        </p:txBody>
      </p:sp>
      <p:sp>
        <p:nvSpPr>
          <p:cNvPr id="7" name="Rectangle 6"/>
          <p:cNvSpPr/>
          <p:nvPr/>
        </p:nvSpPr>
        <p:spPr>
          <a:xfrm>
            <a:off x="512064" y="1168976"/>
            <a:ext cx="11167872" cy="2615909"/>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Bit RTR (Remote Transmission Request):</a:t>
            </a:r>
          </a:p>
          <a:p>
            <a:pPr marL="285750" indent="-285750">
              <a:buFont typeface="Wingdings" panose="05000000000000000000" pitchFamily="2" charset="2"/>
              <a:buChar char="v"/>
            </a:pPr>
            <a:endParaRPr lang="vi-VN" sz="1400">
              <a:solidFill>
                <a:schemeClr val="bg1"/>
              </a:solidFill>
            </a:endParaRPr>
          </a:p>
          <a:p>
            <a:pPr marL="285750" indent="-285750">
              <a:lnSpc>
                <a:spcPct val="200000"/>
              </a:lnSpc>
              <a:buFont typeface="Wingdings" panose="05000000000000000000" pitchFamily="2" charset="2"/>
              <a:buChar char="q"/>
            </a:pPr>
            <a:r>
              <a:rPr lang="vi-VN" sz="1400">
                <a:solidFill>
                  <a:schemeClr val="bg1"/>
                </a:solidFill>
              </a:rPr>
              <a:t>Bit này được sử dụng để phân biệt giữa Khung dữ liệu (Data Frame) và Khung yêu cầu (Remote Frame).</a:t>
            </a:r>
          </a:p>
          <a:p>
            <a:pPr marL="285750" indent="-285750">
              <a:lnSpc>
                <a:spcPct val="200000"/>
              </a:lnSpc>
              <a:buFont typeface="Wingdings" panose="05000000000000000000" pitchFamily="2" charset="2"/>
              <a:buChar char="q"/>
            </a:pPr>
            <a:r>
              <a:rPr lang="vi-VN" sz="1400">
                <a:solidFill>
                  <a:schemeClr val="bg1"/>
                </a:solidFill>
              </a:rPr>
              <a:t>Nếu là Khung dữ liệu, bit này luôn bằng 0 (Bit trội - Dominant).</a:t>
            </a:r>
          </a:p>
          <a:p>
            <a:pPr marL="285750" indent="-285750">
              <a:lnSpc>
                <a:spcPct val="200000"/>
              </a:lnSpc>
              <a:buFont typeface="Wingdings" panose="05000000000000000000" pitchFamily="2" charset="2"/>
              <a:buChar char="q"/>
            </a:pPr>
            <a:r>
              <a:rPr lang="vi-VN" sz="1400">
                <a:solidFill>
                  <a:schemeClr val="bg1"/>
                </a:solidFill>
              </a:rPr>
              <a:t>Nếu là Khung yêu cầu, bit này luôn bằng 1 (Bit lặn - Recessive).</a:t>
            </a:r>
          </a:p>
          <a:p>
            <a:pPr marL="285750" indent="-285750">
              <a:lnSpc>
                <a:spcPct val="200000"/>
              </a:lnSpc>
              <a:buFont typeface="Wingdings" panose="05000000000000000000" pitchFamily="2" charset="2"/>
              <a:buChar char="q"/>
            </a:pPr>
            <a:r>
              <a:rPr lang="vi-VN" sz="1400">
                <a:solidFill>
                  <a:schemeClr val="bg1"/>
                </a:solidFill>
              </a:rPr>
              <a:t>Vị trí của bit này luôn nằm sau các bit ID.</a:t>
            </a:r>
          </a:p>
          <a:p>
            <a:pPr marL="285750" indent="-285750">
              <a:lnSpc>
                <a:spcPct val="200000"/>
              </a:lnSpc>
              <a:buFont typeface="Wingdings" panose="05000000000000000000" pitchFamily="2" charset="2"/>
              <a:buChar char="q"/>
            </a:pPr>
            <a:r>
              <a:rPr lang="vi-VN" sz="1400">
                <a:solidFill>
                  <a:schemeClr val="bg1"/>
                </a:solidFill>
              </a:rPr>
              <a:t>Nếu một Khung dữ liệu và một Khung yêu cầu có cùng ID được truyền đồng thời, Khung dữ liệu sẽ được ưu tiên.</a:t>
            </a:r>
            <a:endParaRPr lang="en-US" sz="1400" b="1" dirty="0">
              <a:solidFill>
                <a:schemeClr val="bg1"/>
              </a:solidFill>
            </a:endParaRPr>
          </a:p>
        </p:txBody>
      </p:sp>
      <p:pic>
        <p:nvPicPr>
          <p:cNvPr id="5" name="Picture 4" descr="A screenshot of a computer program&#10;&#10;AI-generated content may be incorrect.">
            <a:extLst>
              <a:ext uri="{FF2B5EF4-FFF2-40B4-BE49-F238E27FC236}">
                <a16:creationId xmlns:a16="http://schemas.microsoft.com/office/drawing/2014/main" id="{884622DC-8F06-82CD-38D2-AB7B7249AF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728" y="475838"/>
            <a:ext cx="11774543" cy="5906324"/>
          </a:xfrm>
          <a:prstGeom prst="rect">
            <a:avLst/>
          </a:prstGeom>
        </p:spPr>
      </p:pic>
    </p:spTree>
    <p:extLst>
      <p:ext uri="{BB962C8B-B14F-4D97-AF65-F5344CB8AC3E}">
        <p14:creationId xmlns:p14="http://schemas.microsoft.com/office/powerpoint/2010/main" val="1661912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p:pic>
      <p:sp>
        <p:nvSpPr>
          <p:cNvPr id="13" name="TextBox 12"/>
          <p:cNvSpPr txBox="1"/>
          <p:nvPr/>
        </p:nvSpPr>
        <p:spPr>
          <a:xfrm>
            <a:off x="414529" y="584201"/>
            <a:ext cx="3212739" cy="584775"/>
          </a:xfrm>
          <a:prstGeom prst="rect">
            <a:avLst/>
          </a:prstGeom>
          <a:noFill/>
        </p:spPr>
        <p:txBody>
          <a:bodyPr wrap="none" rtlCol="0">
            <a:spAutoFit/>
          </a:bodyPr>
          <a:lstStyle/>
          <a:p>
            <a:r>
              <a:rPr lang="en-US" sz="3200" b="1" dirty="0">
                <a:solidFill>
                  <a:schemeClr val="bg1"/>
                </a:solidFill>
              </a:rPr>
              <a:t>WHAT IS IDE BIT ?</a:t>
            </a:r>
          </a:p>
        </p:txBody>
      </p:sp>
      <p:sp>
        <p:nvSpPr>
          <p:cNvPr id="7" name="Rectangle 6"/>
          <p:cNvSpPr/>
          <p:nvPr/>
        </p:nvSpPr>
        <p:spPr>
          <a:xfrm>
            <a:off x="512064" y="1168976"/>
            <a:ext cx="11167872" cy="1600438"/>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Bit IDE (Identifier Extension):</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Bit này dùng để phân biệt giữa các loại khung tiêu chuẩn và khung mở rộng: </a:t>
            </a:r>
          </a:p>
          <a:p>
            <a:pPr marL="285750" indent="-285750">
              <a:buFont typeface="Wingdings" panose="05000000000000000000" pitchFamily="2" charset="2"/>
              <a:buChar char="q"/>
            </a:pPr>
            <a:r>
              <a:rPr lang="en-US" sz="1400">
                <a:solidFill>
                  <a:schemeClr val="bg1"/>
                </a:solidFill>
              </a:rPr>
              <a:t>IDE</a:t>
            </a:r>
            <a:r>
              <a:rPr lang="vi-VN" sz="1400">
                <a:solidFill>
                  <a:schemeClr val="bg1"/>
                </a:solidFill>
              </a:rPr>
              <a:t> = 0: Chỉ định khung tiêu chuẩn (standard frame).</a:t>
            </a:r>
          </a:p>
          <a:p>
            <a:pPr marL="285750" indent="-285750">
              <a:buFont typeface="Wingdings" panose="05000000000000000000" pitchFamily="2" charset="2"/>
              <a:buChar char="q"/>
            </a:pPr>
            <a:r>
              <a:rPr lang="en-US" sz="1400">
                <a:solidFill>
                  <a:schemeClr val="bg1"/>
                </a:solidFill>
              </a:rPr>
              <a:t>IDE</a:t>
            </a:r>
            <a:r>
              <a:rPr lang="vi-VN" sz="1400">
                <a:solidFill>
                  <a:schemeClr val="bg1"/>
                </a:solidFill>
              </a:rPr>
              <a:t> = 1: Chỉ định khung mở rộng (extended frame).</a:t>
            </a:r>
          </a:p>
          <a:p>
            <a:r>
              <a:rPr lang="vi-VN" sz="1400">
                <a:solidFill>
                  <a:schemeClr val="bg1"/>
                </a:solidFill>
              </a:rPr>
              <a:t>Trong khung mở rộng, bit này nằm trong trường phân xử (arbitration field); trong khi đó, ở khung tiêu chuẩn, nó nằm trong trường điều khiển (control field).</a:t>
            </a:r>
            <a:endParaRPr lang="en-US" sz="1400" dirty="0">
              <a:solidFill>
                <a:schemeClr val="bg1"/>
              </a:solidFill>
            </a:endParaRPr>
          </a:p>
        </p:txBody>
      </p:sp>
      <p:pic>
        <p:nvPicPr>
          <p:cNvPr id="2" name="Picture 1">
            <a:extLst>
              <a:ext uri="{FF2B5EF4-FFF2-40B4-BE49-F238E27FC236}">
                <a16:creationId xmlns:a16="http://schemas.microsoft.com/office/drawing/2014/main" id="{C2B2F70A-0122-0EAD-1673-90A1D8378B6C}"/>
              </a:ext>
            </a:extLst>
          </p:cNvPr>
          <p:cNvPicPr>
            <a:picLocks noChangeAspect="1"/>
          </p:cNvPicPr>
          <p:nvPr/>
        </p:nvPicPr>
        <p:blipFill>
          <a:blip r:embed="rId5"/>
          <a:stretch>
            <a:fillRect/>
          </a:stretch>
        </p:blipFill>
        <p:spPr>
          <a:xfrm>
            <a:off x="533209" y="2869381"/>
            <a:ext cx="11292078" cy="1695450"/>
          </a:xfrm>
          <a:prstGeom prst="rect">
            <a:avLst/>
          </a:prstGeom>
        </p:spPr>
      </p:pic>
      <p:pic>
        <p:nvPicPr>
          <p:cNvPr id="6" name="Picture 5">
            <a:extLst>
              <a:ext uri="{FF2B5EF4-FFF2-40B4-BE49-F238E27FC236}">
                <a16:creationId xmlns:a16="http://schemas.microsoft.com/office/drawing/2014/main" id="{D86AEBA0-1102-7EA4-6C44-8B826D75AF96}"/>
              </a:ext>
            </a:extLst>
          </p:cNvPr>
          <p:cNvPicPr>
            <a:picLocks noChangeAspect="1"/>
          </p:cNvPicPr>
          <p:nvPr/>
        </p:nvPicPr>
        <p:blipFill>
          <a:blip r:embed="rId6"/>
          <a:stretch>
            <a:fillRect/>
          </a:stretch>
        </p:blipFill>
        <p:spPr>
          <a:xfrm>
            <a:off x="528637" y="4685263"/>
            <a:ext cx="11296650" cy="1762125"/>
          </a:xfrm>
          <a:prstGeom prst="rect">
            <a:avLst/>
          </a:prstGeom>
        </p:spPr>
      </p:pic>
    </p:spTree>
    <p:extLst>
      <p:ext uri="{BB962C8B-B14F-4D97-AF65-F5344CB8AC3E}">
        <p14:creationId xmlns:p14="http://schemas.microsoft.com/office/powerpoint/2010/main" val="2816769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5522024" cy="584775"/>
          </a:xfrm>
          <a:prstGeom prst="rect">
            <a:avLst/>
          </a:prstGeom>
          <a:noFill/>
        </p:spPr>
        <p:txBody>
          <a:bodyPr wrap="none" rtlCol="0">
            <a:spAutoFit/>
          </a:bodyPr>
          <a:lstStyle/>
          <a:p>
            <a:r>
              <a:rPr lang="en-US" sz="3200" b="1" dirty="0">
                <a:solidFill>
                  <a:schemeClr val="bg1"/>
                </a:solidFill>
              </a:rPr>
              <a:t>CONTROL FIELD WITH VER 2.0A</a:t>
            </a:r>
          </a:p>
        </p:txBody>
      </p:sp>
      <p:sp>
        <p:nvSpPr>
          <p:cNvPr id="7" name="Rectangle 6"/>
          <p:cNvSpPr/>
          <p:nvPr/>
        </p:nvSpPr>
        <p:spPr>
          <a:xfrm>
            <a:off x="512064" y="1360768"/>
            <a:ext cx="11167872" cy="2893100"/>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Trường Điều khiển (Control Field) trong một khung CAN tiêu chuẩn bao gồm 6 bit, bao gồm các phần chính sau:</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v"/>
            </a:pPr>
            <a:r>
              <a:rPr lang="vi-VN" sz="1400">
                <a:solidFill>
                  <a:schemeClr val="bg1"/>
                </a:solidFill>
              </a:rPr>
              <a:t>Res (1 bit)</a:t>
            </a:r>
          </a:p>
          <a:p>
            <a:pPr marL="742950" lvl="1" indent="-285750">
              <a:buFont typeface="Wingdings" panose="05000000000000000000" pitchFamily="2" charset="2"/>
              <a:buChar char="q"/>
            </a:pPr>
            <a:r>
              <a:rPr lang="vi-VN" sz="1400">
                <a:solidFill>
                  <a:schemeClr val="bg1"/>
                </a:solidFill>
              </a:rPr>
              <a:t>Đây là bit dự phòng (reserved bit), thường được đặt bằng 0.</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v"/>
            </a:pPr>
            <a:r>
              <a:rPr lang="vi-VN" sz="1400">
                <a:solidFill>
                  <a:schemeClr val="bg1"/>
                </a:solidFill>
              </a:rPr>
              <a:t>IDE (Identifier Extension bit) (1 bit)</a:t>
            </a:r>
          </a:p>
          <a:p>
            <a:pPr marL="742950" lvl="1" indent="-285750">
              <a:buFont typeface="Wingdings" panose="05000000000000000000" pitchFamily="2" charset="2"/>
              <a:buChar char="q"/>
            </a:pPr>
            <a:r>
              <a:rPr lang="vi-VN" sz="1400">
                <a:solidFill>
                  <a:schemeClr val="bg1"/>
                </a:solidFill>
              </a:rPr>
              <a:t>Bit này cho biết khung hình có đang sử dụng định dạng tiêu chuẩn (Mã định danh 11-bit) hay không. Nếu IDE = 0, khung tiêu chuẩn đang được sử dụng.</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v"/>
            </a:pPr>
            <a:r>
              <a:rPr lang="vi-VN" sz="1400">
                <a:solidFill>
                  <a:schemeClr val="bg1"/>
                </a:solidFill>
              </a:rPr>
              <a:t>DLC (Data Length Code) (4 bits)</a:t>
            </a:r>
          </a:p>
          <a:p>
            <a:pPr marL="742950" lvl="1" indent="-285750">
              <a:buFont typeface="Wingdings" panose="05000000000000000000" pitchFamily="2" charset="2"/>
              <a:buChar char="q"/>
            </a:pPr>
            <a:r>
              <a:rPr lang="vi-VN" sz="1400">
                <a:solidFill>
                  <a:schemeClr val="bg1"/>
                </a:solidFill>
              </a:rPr>
              <a:t>Phần này của Trường Điều khiển cho biết độ dài của dữ liệu (số lượng byte) được gửi trong khung dữ liệu.</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v"/>
            </a:pPr>
            <a:r>
              <a:rPr lang="vi-VN" sz="1400">
                <a:solidFill>
                  <a:schemeClr val="bg1"/>
                </a:solidFill>
              </a:rPr>
              <a:t>Giá trị DLC có thể nằm trong khoảng từ 0 đến 8, nghĩa là tối đa 8 byte dữ liệu có thể được truyền trong một khung CAN.</a:t>
            </a:r>
            <a:endParaRPr lang="en-US" sz="1400" dirty="0">
              <a:solidFill>
                <a:schemeClr val="bg1"/>
              </a:solidFill>
            </a:endParaRPr>
          </a:p>
        </p:txBody>
      </p:sp>
      <p:pic>
        <p:nvPicPr>
          <p:cNvPr id="2" name="Picture 1">
            <a:extLst>
              <a:ext uri="{FF2B5EF4-FFF2-40B4-BE49-F238E27FC236}">
                <a16:creationId xmlns:a16="http://schemas.microsoft.com/office/drawing/2014/main" id="{C2B2F70A-0122-0EAD-1673-90A1D8378B6C}"/>
              </a:ext>
            </a:extLst>
          </p:cNvPr>
          <p:cNvPicPr>
            <a:picLocks noChangeAspect="1"/>
          </p:cNvPicPr>
          <p:nvPr/>
        </p:nvPicPr>
        <p:blipFill>
          <a:blip r:embed="rId5"/>
          <a:stretch>
            <a:fillRect/>
          </a:stretch>
        </p:blipFill>
        <p:spPr>
          <a:xfrm>
            <a:off x="590740" y="4528780"/>
            <a:ext cx="11292078" cy="1695450"/>
          </a:xfrm>
          <a:prstGeom prst="rect">
            <a:avLst/>
          </a:prstGeom>
        </p:spPr>
      </p:pic>
    </p:spTree>
    <p:extLst>
      <p:ext uri="{BB962C8B-B14F-4D97-AF65-F5344CB8AC3E}">
        <p14:creationId xmlns:p14="http://schemas.microsoft.com/office/powerpoint/2010/main" val="3822557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5504392" cy="584775"/>
          </a:xfrm>
          <a:prstGeom prst="rect">
            <a:avLst/>
          </a:prstGeom>
          <a:noFill/>
        </p:spPr>
        <p:txBody>
          <a:bodyPr wrap="none" rtlCol="0">
            <a:spAutoFit/>
          </a:bodyPr>
          <a:lstStyle/>
          <a:p>
            <a:r>
              <a:rPr lang="en-US" sz="3200" b="1" dirty="0">
                <a:solidFill>
                  <a:schemeClr val="bg1"/>
                </a:solidFill>
              </a:rPr>
              <a:t>CONTROL FIELD WITH VER 2.0B</a:t>
            </a:r>
          </a:p>
        </p:txBody>
      </p:sp>
      <p:sp>
        <p:nvSpPr>
          <p:cNvPr id="7" name="Rectangle 6"/>
          <p:cNvSpPr/>
          <p:nvPr/>
        </p:nvSpPr>
        <p:spPr>
          <a:xfrm>
            <a:off x="590740" y="1335832"/>
            <a:ext cx="11167872" cy="2677656"/>
          </a:xfrm>
          <a:prstGeom prst="rect">
            <a:avLst/>
          </a:prstGeom>
        </p:spPr>
        <p:txBody>
          <a:bodyPr wrap="square">
            <a:spAutoFit/>
          </a:bodyPr>
          <a:lstStyle/>
          <a:p>
            <a:pPr marL="285750" indent="-285750">
              <a:buFont typeface="Wingdings" panose="05000000000000000000" pitchFamily="2" charset="2"/>
              <a:buChar char="v"/>
            </a:pPr>
            <a:r>
              <a:rPr lang="vi-VN" sz="1400">
                <a:solidFill>
                  <a:schemeClr val="bg1"/>
                </a:solidFill>
              </a:rPr>
              <a:t>Trường này cũng bao gồm 6 bit, nhưng ý nghĩa của một số bit có sự khác biệt:</a:t>
            </a:r>
          </a:p>
          <a:p>
            <a:pPr marL="285750" indent="-285750">
              <a:buFont typeface="Wingdings" panose="05000000000000000000" pitchFamily="2" charset="2"/>
              <a:buChar char="v"/>
            </a:pPr>
            <a:endParaRPr lang="vi-VN" sz="1400">
              <a:solidFill>
                <a:schemeClr val="bg1"/>
              </a:solidFill>
            </a:endParaRPr>
          </a:p>
          <a:p>
            <a:pPr marL="285750" indent="-285750">
              <a:buFont typeface="Wingdings" panose="05000000000000000000" pitchFamily="2" charset="2"/>
              <a:buChar char="v"/>
            </a:pPr>
            <a:r>
              <a:rPr lang="vi-VN" sz="1400">
                <a:solidFill>
                  <a:schemeClr val="bg1"/>
                </a:solidFill>
              </a:rPr>
              <a:t>RES (Reserved - Dự phòng)</a:t>
            </a:r>
          </a:p>
          <a:p>
            <a:pPr marL="285750" indent="-285750">
              <a:buFont typeface="Wingdings" panose="05000000000000000000" pitchFamily="2" charset="2"/>
              <a:buChar char="v"/>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Đây là trường bit dự phòng, bao gồm 2 bit: r0 và r1.</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Chúng được gọi là r0 hoặc r1 và luôn được mặc định đặt bằng 0.</a:t>
            </a:r>
          </a:p>
          <a:p>
            <a:pPr marL="285750" indent="-285750">
              <a:buFont typeface="Wingdings" panose="05000000000000000000" pitchFamily="2" charset="2"/>
              <a:buChar char="v"/>
            </a:pPr>
            <a:endParaRPr lang="vi-VN" sz="1400">
              <a:solidFill>
                <a:schemeClr val="bg1"/>
              </a:solidFill>
            </a:endParaRPr>
          </a:p>
          <a:p>
            <a:endParaRPr lang="vi-VN" sz="1400">
              <a:solidFill>
                <a:schemeClr val="bg1"/>
              </a:solidFill>
            </a:endParaRPr>
          </a:p>
          <a:p>
            <a:pPr marL="285750" indent="-285750">
              <a:buFont typeface="Wingdings" panose="05000000000000000000" pitchFamily="2" charset="2"/>
              <a:buChar char="v"/>
            </a:pPr>
            <a:r>
              <a:rPr lang="vi-VN" sz="1400">
                <a:solidFill>
                  <a:schemeClr val="bg1"/>
                </a:solidFill>
              </a:rPr>
              <a:t>DLC (Data Length Code) (4 bits)</a:t>
            </a:r>
          </a:p>
          <a:p>
            <a:pPr marL="285750" indent="-285750">
              <a:buFont typeface="Wingdings" panose="05000000000000000000" pitchFamily="2" charset="2"/>
              <a:buChar char="v"/>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Tương tự như trong khung tiêu chuẩn, phần này cho biết số lượng byte dữ liệu đang được truyền tải, dao động từ 0 đến 8 byte.</a:t>
            </a:r>
            <a:endParaRPr lang="en-US" sz="1400" dirty="0">
              <a:solidFill>
                <a:schemeClr val="bg1"/>
              </a:solidFill>
            </a:endParaRPr>
          </a:p>
        </p:txBody>
      </p:sp>
      <p:pic>
        <p:nvPicPr>
          <p:cNvPr id="6" name="Picture 5">
            <a:extLst>
              <a:ext uri="{FF2B5EF4-FFF2-40B4-BE49-F238E27FC236}">
                <a16:creationId xmlns:a16="http://schemas.microsoft.com/office/drawing/2014/main" id="{A0BA8E12-68E0-5CE2-A292-C75AF21DD7D4}"/>
              </a:ext>
            </a:extLst>
          </p:cNvPr>
          <p:cNvPicPr>
            <a:picLocks noChangeAspect="1"/>
          </p:cNvPicPr>
          <p:nvPr/>
        </p:nvPicPr>
        <p:blipFill>
          <a:blip r:embed="rId5"/>
          <a:stretch>
            <a:fillRect/>
          </a:stretch>
        </p:blipFill>
        <p:spPr>
          <a:xfrm>
            <a:off x="3724275" y="4228932"/>
            <a:ext cx="4743450" cy="2047875"/>
          </a:xfrm>
          <a:prstGeom prst="rect">
            <a:avLst/>
          </a:prstGeom>
        </p:spPr>
      </p:pic>
    </p:spTree>
    <p:extLst>
      <p:ext uri="{BB962C8B-B14F-4D97-AF65-F5344CB8AC3E}">
        <p14:creationId xmlns:p14="http://schemas.microsoft.com/office/powerpoint/2010/main" val="2703497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4103175" cy="584775"/>
          </a:xfrm>
          <a:prstGeom prst="rect">
            <a:avLst/>
          </a:prstGeom>
          <a:noFill/>
        </p:spPr>
        <p:txBody>
          <a:bodyPr wrap="none" rtlCol="0">
            <a:spAutoFit/>
          </a:bodyPr>
          <a:lstStyle/>
          <a:p>
            <a:r>
              <a:rPr lang="en-US" sz="3200" b="1" dirty="0">
                <a:solidFill>
                  <a:schemeClr val="bg1"/>
                </a:solidFill>
              </a:rPr>
              <a:t>DLC In CONTROL FIELD </a:t>
            </a:r>
          </a:p>
        </p:txBody>
      </p:sp>
      <p:sp>
        <p:nvSpPr>
          <p:cNvPr id="7" name="Rectangle 6"/>
          <p:cNvSpPr/>
          <p:nvPr/>
        </p:nvSpPr>
        <p:spPr>
          <a:xfrm>
            <a:off x="590740" y="1335832"/>
            <a:ext cx="11167872" cy="2893100"/>
          </a:xfrm>
          <a:prstGeom prst="rect">
            <a:avLst/>
          </a:prstGeom>
        </p:spPr>
        <p:txBody>
          <a:bodyPr wrap="square">
            <a:spAutoFit/>
          </a:bodyPr>
          <a:lstStyle/>
          <a:p>
            <a:pPr marL="285750" indent="-285750">
              <a:buFont typeface="Wingdings" panose="05000000000000000000" pitchFamily="2" charset="2"/>
              <a:buChar char="q"/>
            </a:pPr>
            <a:r>
              <a:rPr lang="vi-VN" sz="1400">
                <a:solidFill>
                  <a:schemeClr val="bg1"/>
                </a:solidFill>
              </a:rPr>
              <a:t>Vì DLC (Data Length Code) chỉ có 4 bit, nó có thể biểu diễn các giá trị từ 0000 (0) đến 1111 (15).</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Tuy nhiên, theo tiêu chuẩn CAN, chỉ các giá trị từ 0000 đến 1000 (từ 0 đến 8) là hợp lệ để xác định số lượng byte dữ liệu trong Trường Dữ liệu (Data Field).</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Các giá trị cao hơn (từ 9 đến 15) không được sử dụng để chỉ định số byte dữ liệu trong các tiêu chuẩn CAN 2.0A và CAN 2.0B.</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Sự kết hợp giữa DLC và Trường Dữ liệu:</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Khi DLC = 0: Không có dữ liệu trong Trường Dữ liệu, nghĩa là khung truyền chỉ được sử dụng để trao đổi thông tin điều khiển và không chứa dữ liệu thực tế.</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Khi DLC = 8: Trường Dữ liệu có thể chứa tối đa 8 byte dữ liệu.</a:t>
            </a:r>
            <a:endParaRPr lang="en-US" sz="1400" dirty="0">
              <a:solidFill>
                <a:schemeClr val="bg1"/>
              </a:solidFill>
            </a:endParaRPr>
          </a:p>
        </p:txBody>
      </p:sp>
      <p:pic>
        <p:nvPicPr>
          <p:cNvPr id="5" name="Picture 4">
            <a:extLst>
              <a:ext uri="{FF2B5EF4-FFF2-40B4-BE49-F238E27FC236}">
                <a16:creationId xmlns:a16="http://schemas.microsoft.com/office/drawing/2014/main" id="{BA52EEC9-D373-0906-FD55-66D06DEA948B}"/>
              </a:ext>
            </a:extLst>
          </p:cNvPr>
          <p:cNvPicPr>
            <a:picLocks noChangeAspect="1"/>
          </p:cNvPicPr>
          <p:nvPr/>
        </p:nvPicPr>
        <p:blipFill>
          <a:blip r:embed="rId5"/>
          <a:stretch>
            <a:fillRect/>
          </a:stretch>
        </p:blipFill>
        <p:spPr>
          <a:xfrm>
            <a:off x="1641449" y="1335832"/>
            <a:ext cx="9414427" cy="5125271"/>
          </a:xfrm>
          <a:prstGeom prst="rect">
            <a:avLst/>
          </a:prstGeom>
        </p:spPr>
      </p:pic>
      <p:pic>
        <p:nvPicPr>
          <p:cNvPr id="8" name="Picture 7">
            <a:extLst>
              <a:ext uri="{FF2B5EF4-FFF2-40B4-BE49-F238E27FC236}">
                <a16:creationId xmlns:a16="http://schemas.microsoft.com/office/drawing/2014/main" id="{F4378062-810D-5F05-AFAC-BAF4E2F33CF7}"/>
              </a:ext>
            </a:extLst>
          </p:cNvPr>
          <p:cNvPicPr>
            <a:picLocks noChangeAspect="1"/>
          </p:cNvPicPr>
          <p:nvPr/>
        </p:nvPicPr>
        <p:blipFill>
          <a:blip r:embed="rId6"/>
          <a:stretch>
            <a:fillRect/>
          </a:stretch>
        </p:blipFill>
        <p:spPr>
          <a:xfrm>
            <a:off x="3976938" y="4325382"/>
            <a:ext cx="4743450" cy="2047875"/>
          </a:xfrm>
          <a:prstGeom prst="rect">
            <a:avLst/>
          </a:prstGeom>
        </p:spPr>
      </p:pic>
    </p:spTree>
    <p:extLst>
      <p:ext uri="{BB962C8B-B14F-4D97-AF65-F5344CB8AC3E}">
        <p14:creationId xmlns:p14="http://schemas.microsoft.com/office/powerpoint/2010/main" val="277456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8"/>
                                        </p:tgtEl>
                                      </p:cBhvr>
                                    </p:animEffect>
                                    <p:anim calcmode="lin" valueType="num">
                                      <p:cBhvr>
                                        <p:cTn id="7" dur="1000"/>
                                        <p:tgtEl>
                                          <p:spTgt spid="8"/>
                                        </p:tgtEl>
                                        <p:attrNameLst>
                                          <p:attrName>ppt_x</p:attrName>
                                        </p:attrNameLst>
                                      </p:cBhvr>
                                      <p:tavLst>
                                        <p:tav tm="0">
                                          <p:val>
                                            <p:strVal val="ppt_x"/>
                                          </p:val>
                                        </p:tav>
                                        <p:tav tm="100000">
                                          <p:val>
                                            <p:strVal val="ppt_x"/>
                                          </p:val>
                                        </p:tav>
                                      </p:tavLst>
                                    </p:anim>
                                    <p:anim calcmode="lin" valueType="num">
                                      <p:cBhvr>
                                        <p:cTn id="8" dur="1000"/>
                                        <p:tgtEl>
                                          <p:spTgt spid="8"/>
                                        </p:tgtEl>
                                        <p:attrNameLst>
                                          <p:attrName>ppt_y</p:attrName>
                                        </p:attrNameLst>
                                      </p:cBhvr>
                                      <p:tavLst>
                                        <p:tav tm="0">
                                          <p:val>
                                            <p:strVal val="ppt_y"/>
                                          </p:val>
                                        </p:tav>
                                        <p:tav tm="100000">
                                          <p:val>
                                            <p:strVal val="ppt_y+.1"/>
                                          </p:val>
                                        </p:tav>
                                      </p:tavLst>
                                    </p:anim>
                                    <p:set>
                                      <p:cBhvr>
                                        <p:cTn id="9" dur="1" fill="hold">
                                          <p:stCondLst>
                                            <p:cond delay="999"/>
                                          </p:stCondLst>
                                        </p:cTn>
                                        <p:tgtEl>
                                          <p:spTgt spid="8"/>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2092048" cy="584775"/>
          </a:xfrm>
          <a:prstGeom prst="rect">
            <a:avLst/>
          </a:prstGeom>
          <a:noFill/>
        </p:spPr>
        <p:txBody>
          <a:bodyPr wrap="none" rtlCol="0">
            <a:spAutoFit/>
          </a:bodyPr>
          <a:lstStyle/>
          <a:p>
            <a:r>
              <a:rPr lang="en-US" sz="3200" b="1" dirty="0">
                <a:solidFill>
                  <a:schemeClr val="bg1"/>
                </a:solidFill>
              </a:rPr>
              <a:t>DATA FIELD</a:t>
            </a:r>
          </a:p>
        </p:txBody>
      </p:sp>
      <p:sp>
        <p:nvSpPr>
          <p:cNvPr id="7" name="Rectangle 6"/>
          <p:cNvSpPr/>
          <p:nvPr/>
        </p:nvSpPr>
        <p:spPr>
          <a:xfrm>
            <a:off x="590740" y="1335832"/>
            <a:ext cx="11167872" cy="1815882"/>
          </a:xfrm>
          <a:prstGeom prst="rect">
            <a:avLst/>
          </a:prstGeom>
        </p:spPr>
        <p:txBody>
          <a:bodyPr wrap="square">
            <a:spAutoFit/>
          </a:bodyPr>
          <a:lstStyle/>
          <a:p>
            <a:pPr marL="285750" indent="-285750">
              <a:buFont typeface="Wingdings" panose="05000000000000000000" pitchFamily="2" charset="2"/>
              <a:buChar char="q"/>
            </a:pPr>
            <a:r>
              <a:rPr lang="vi-VN" sz="1400">
                <a:solidFill>
                  <a:schemeClr val="bg1"/>
                </a:solidFill>
              </a:rPr>
              <a:t>Trường Dữ liệu (Data Field) là phần chứa dữ liệu thực tế được truyền tải trong một khung truyền CAN.</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Trường này lưu trữ các byte dữ liệu có thể bao gồm thông tin cảm biến, trạng thái hệ thống hoặc bất kỳ dữ liệu nào khác mà các thiết bị trong mạng CAN cần trao đổi.</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Độ dài của trường này dao động từ 0 đến 8 byte, tùy thuộc vào giá trị của DLC trong trường điều khiển.</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Mỗi byte bao gồm 8 bit dữ liệu, trong đó bit có ý nghĩa cao nhất (MSB) được truyền đi trước.</a:t>
            </a:r>
            <a:endParaRPr lang="en-US" sz="1400" dirty="0">
              <a:solidFill>
                <a:schemeClr val="bg1"/>
              </a:solidFill>
            </a:endParaRPr>
          </a:p>
        </p:txBody>
      </p:sp>
      <p:pic>
        <p:nvPicPr>
          <p:cNvPr id="3" name="Picture 2">
            <a:extLst>
              <a:ext uri="{FF2B5EF4-FFF2-40B4-BE49-F238E27FC236}">
                <a16:creationId xmlns:a16="http://schemas.microsoft.com/office/drawing/2014/main" id="{8A144722-A891-A1AC-9723-1F574E245DF7}"/>
              </a:ext>
            </a:extLst>
          </p:cNvPr>
          <p:cNvPicPr>
            <a:picLocks noChangeAspect="1"/>
          </p:cNvPicPr>
          <p:nvPr/>
        </p:nvPicPr>
        <p:blipFill>
          <a:blip r:embed="rId5"/>
          <a:stretch>
            <a:fillRect/>
          </a:stretch>
        </p:blipFill>
        <p:spPr>
          <a:xfrm>
            <a:off x="590740" y="3760043"/>
            <a:ext cx="11296650" cy="1762125"/>
          </a:xfrm>
          <a:prstGeom prst="rect">
            <a:avLst/>
          </a:prstGeom>
        </p:spPr>
      </p:pic>
    </p:spTree>
    <p:extLst>
      <p:ext uri="{BB962C8B-B14F-4D97-AF65-F5344CB8AC3E}">
        <p14:creationId xmlns:p14="http://schemas.microsoft.com/office/powerpoint/2010/main" val="2373063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5197" y="461091"/>
            <a:ext cx="1871218" cy="584775"/>
          </a:xfrm>
          <a:prstGeom prst="rect">
            <a:avLst/>
          </a:prstGeom>
          <a:noFill/>
        </p:spPr>
        <p:txBody>
          <a:bodyPr wrap="none" rtlCol="0">
            <a:spAutoFit/>
          </a:bodyPr>
          <a:lstStyle/>
          <a:p>
            <a:r>
              <a:rPr lang="en-US" sz="3200" b="1" dirty="0">
                <a:solidFill>
                  <a:schemeClr val="bg1"/>
                </a:solidFill>
              </a:rPr>
              <a:t>CRC FIELD</a:t>
            </a:r>
          </a:p>
        </p:txBody>
      </p:sp>
      <p:sp>
        <p:nvSpPr>
          <p:cNvPr id="7" name="Rectangle 6"/>
          <p:cNvSpPr/>
          <p:nvPr/>
        </p:nvSpPr>
        <p:spPr>
          <a:xfrm>
            <a:off x="487223" y="1020467"/>
            <a:ext cx="11522584" cy="3108543"/>
          </a:xfrm>
          <a:prstGeom prst="rect">
            <a:avLst/>
          </a:prstGeom>
        </p:spPr>
        <p:txBody>
          <a:bodyPr wrap="square">
            <a:spAutoFit/>
          </a:bodyPr>
          <a:lstStyle/>
          <a:p>
            <a:pPr marL="285750" indent="-285750">
              <a:buFont typeface="Wingdings" panose="05000000000000000000" pitchFamily="2" charset="2"/>
              <a:buChar char="q"/>
            </a:pPr>
            <a:r>
              <a:rPr lang="en-US" sz="1400">
                <a:solidFill>
                  <a:schemeClr val="bg1"/>
                </a:solidFill>
              </a:rPr>
              <a:t>T</a:t>
            </a:r>
            <a:r>
              <a:rPr lang="vi-VN" sz="1400">
                <a:solidFill>
                  <a:schemeClr val="bg1"/>
                </a:solidFill>
              </a:rPr>
              <a:t>rường CRC (Cyclic Redundancy Check - Kiểm tra thặng dư vòng) là một phần trong khung truyền CAN được sử dụng để phát hiện lỗi trong quá trình truyền dữ liệu.</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CRC giúp đảm bảo rằng dữ liệu truyền qua mạng CAN không bị thay đổi hoặc sai lệch do nhiễu hoặc các vấn đề khác trong khi truyền.</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Trường CRC bao gồm 16 bit và được chia thành hai phần: Chuỗi CRC (CRC Sequence) và Dấu phân cách CRC (CRC Delimiter).</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1. Chuỗi CRC (CRC Sequence)</a:t>
            </a:r>
          </a:p>
          <a:p>
            <a:pPr marL="742950" lvl="1" indent="-285750">
              <a:buFont typeface="Arial" panose="020B0604020202020204" pitchFamily="34" charset="0"/>
              <a:buChar char="•"/>
            </a:pPr>
            <a:r>
              <a:rPr lang="vi-VN" sz="1400">
                <a:solidFill>
                  <a:schemeClr val="bg1"/>
                </a:solidFill>
              </a:rPr>
              <a:t>Phân đoạn CRC dài 15 bit này chứa chuỗi kiểm tra khung hình, được tính toán trải dài từ bit SOF (Bắt đầu khung), qua trường phân xử, trường điều khiển cho đến hết trường dữ liệu.</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2. Dấu phân cách CRC (CRC Delimiter)</a:t>
            </a:r>
          </a:p>
          <a:p>
            <a:pPr marL="742950" lvl="1" indent="-285750">
              <a:buFont typeface="Arial" panose="020B0604020202020204" pitchFamily="34" charset="0"/>
              <a:buChar char="•"/>
            </a:pPr>
            <a:r>
              <a:rPr lang="vi-VN" sz="1400">
                <a:solidFill>
                  <a:schemeClr val="bg1"/>
                </a:solidFill>
              </a:rPr>
              <a:t>Dấu phân cách CRC nằm ngay sau chuỗi CRC. Đây là một bit lặn (recessive bit - mức 1) có nhiệm vụ ngăn cách trường CRC với trường ACK tiếp theo.</a:t>
            </a:r>
            <a:endParaRPr lang="en-US" sz="1400" dirty="0">
              <a:solidFill>
                <a:schemeClr val="bg1"/>
              </a:solidFill>
            </a:endParaRPr>
          </a:p>
        </p:txBody>
      </p:sp>
      <p:pic>
        <p:nvPicPr>
          <p:cNvPr id="1026" name="Picture 2">
            <a:extLst>
              <a:ext uri="{FF2B5EF4-FFF2-40B4-BE49-F238E27FC236}">
                <a16:creationId xmlns:a16="http://schemas.microsoft.com/office/drawing/2014/main" id="{8282281E-20F4-1961-5C50-88B0618684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7487" y="4172002"/>
            <a:ext cx="6381240" cy="2552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8361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8060220" cy="924420"/>
          </a:xfrm>
          <a:prstGeom prst="rect">
            <a:avLst/>
          </a:prstGeom>
          <a:noFill/>
        </p:spPr>
        <p:txBody>
          <a:bodyPr wrap="none" rtlCol="0">
            <a:spAutoFit/>
          </a:bodyPr>
          <a:lstStyle/>
          <a:p>
            <a:pPr>
              <a:lnSpc>
                <a:spcPct val="200000"/>
              </a:lnSpc>
            </a:pPr>
            <a:r>
              <a:rPr lang="vi-VN" sz="3200" b="1">
                <a:solidFill>
                  <a:schemeClr val="bg1"/>
                </a:solidFill>
                <a:effectLst/>
              </a:rPr>
              <a:t>CRC trong CAN hoạt động như thế nào?</a:t>
            </a:r>
            <a:endParaRPr lang="vi-VN" sz="3200">
              <a:solidFill>
                <a:schemeClr val="bg1"/>
              </a:solidFill>
              <a:effectLst/>
            </a:endParaRPr>
          </a:p>
        </p:txBody>
      </p:sp>
      <p:sp>
        <p:nvSpPr>
          <p:cNvPr id="7" name="Rectangle 6"/>
          <p:cNvSpPr/>
          <p:nvPr/>
        </p:nvSpPr>
        <p:spPr>
          <a:xfrm>
            <a:off x="487223" y="1020467"/>
            <a:ext cx="11522584" cy="5196102"/>
          </a:xfrm>
          <a:prstGeom prst="rect">
            <a:avLst/>
          </a:prstGeom>
        </p:spPr>
        <p:txBody>
          <a:bodyPr wrap="square">
            <a:spAutoFit/>
          </a:bodyPr>
          <a:lstStyle/>
          <a:p>
            <a:pPr>
              <a:lnSpc>
                <a:spcPct val="200000"/>
              </a:lnSpc>
            </a:pPr>
            <a:endParaRPr lang="en-US" sz="1400" b="1">
              <a:solidFill>
                <a:schemeClr val="bg1"/>
              </a:solidFill>
              <a:effectLst/>
            </a:endParaRPr>
          </a:p>
          <a:p>
            <a:pPr>
              <a:lnSpc>
                <a:spcPct val="200000"/>
              </a:lnSpc>
            </a:pPr>
            <a:r>
              <a:rPr lang="vi-VN" sz="1400" b="1">
                <a:solidFill>
                  <a:schemeClr val="bg1"/>
                </a:solidFill>
                <a:effectLst/>
              </a:rPr>
              <a:t>CRC (Cyclic Redundancy Check)</a:t>
            </a:r>
            <a:r>
              <a:rPr lang="vi-VN" sz="1400">
                <a:solidFill>
                  <a:schemeClr val="bg1"/>
                </a:solidFill>
                <a:effectLst/>
              </a:rPr>
              <a:t> là cơ chế </a:t>
            </a:r>
            <a:r>
              <a:rPr lang="vi-VN" sz="1400" b="1">
                <a:solidFill>
                  <a:schemeClr val="bg1"/>
                </a:solidFill>
                <a:effectLst/>
              </a:rPr>
              <a:t>phát hiện lỗi bit</a:t>
            </a:r>
            <a:r>
              <a:rPr lang="vi-VN" sz="1400">
                <a:solidFill>
                  <a:schemeClr val="bg1"/>
                </a:solidFill>
                <a:effectLst/>
              </a:rPr>
              <a:t> quan trọng nhất trong giao thức CAN.</a:t>
            </a:r>
            <a:endParaRPr lang="en-US" sz="1400">
              <a:solidFill>
                <a:schemeClr val="bg1"/>
              </a:solidFill>
              <a:effectLst/>
            </a:endParaRPr>
          </a:p>
          <a:p>
            <a:pPr>
              <a:lnSpc>
                <a:spcPct val="200000"/>
              </a:lnSpc>
            </a:pPr>
            <a:endParaRPr lang="vi-VN" sz="1400">
              <a:solidFill>
                <a:schemeClr val="bg1"/>
              </a:solidFill>
              <a:effectLst/>
            </a:endParaRPr>
          </a:p>
          <a:p>
            <a:pPr>
              <a:lnSpc>
                <a:spcPct val="200000"/>
              </a:lnSpc>
            </a:pPr>
            <a:r>
              <a:rPr lang="vi-VN" sz="1400">
                <a:solidFill>
                  <a:schemeClr val="bg1"/>
                </a:solidFill>
                <a:effectLst/>
              </a:rPr>
              <a:t>Khi một node </a:t>
            </a:r>
            <a:r>
              <a:rPr lang="vi-VN" sz="1400" b="1">
                <a:solidFill>
                  <a:schemeClr val="bg1"/>
                </a:solidFill>
                <a:effectLst/>
              </a:rPr>
              <a:t>gửi</a:t>
            </a:r>
            <a:r>
              <a:rPr lang="vi-VN" sz="1400">
                <a:solidFill>
                  <a:schemeClr val="bg1"/>
                </a:solidFill>
                <a:effectLst/>
              </a:rPr>
              <a:t> (Sender) một frame CAN, nó sẽ:</a:t>
            </a:r>
          </a:p>
          <a:p>
            <a:pPr marL="285750" indent="-285750">
              <a:lnSpc>
                <a:spcPct val="200000"/>
              </a:lnSpc>
              <a:buFont typeface="Arial" panose="020B0604020202020204" pitchFamily="34" charset="0"/>
              <a:buChar char="•"/>
            </a:pPr>
            <a:r>
              <a:rPr lang="vi-VN" sz="1400">
                <a:solidFill>
                  <a:schemeClr val="bg1"/>
                </a:solidFill>
              </a:rPr>
              <a:t>Tính toán giá trị CRC dựa trên </a:t>
            </a:r>
            <a:r>
              <a:rPr lang="vi-VN" sz="1400" b="1">
                <a:solidFill>
                  <a:schemeClr val="bg1"/>
                </a:solidFill>
              </a:rPr>
              <a:t>toàn bộ bit stream</a:t>
            </a:r>
            <a:r>
              <a:rPr lang="vi-VN" sz="1400">
                <a:solidFill>
                  <a:schemeClr val="bg1"/>
                </a:solidFill>
              </a:rPr>
              <a:t> từ bit </a:t>
            </a:r>
            <a:r>
              <a:rPr lang="vi-VN" sz="1400" b="1">
                <a:solidFill>
                  <a:schemeClr val="bg1"/>
                </a:solidFill>
              </a:rPr>
              <a:t>SOF</a:t>
            </a:r>
            <a:r>
              <a:rPr lang="vi-VN" sz="1400">
                <a:solidFill>
                  <a:schemeClr val="bg1"/>
                </a:solidFill>
              </a:rPr>
              <a:t> đến bit cuối cùng của </a:t>
            </a:r>
            <a:r>
              <a:rPr lang="vi-VN" sz="1400" b="1">
                <a:solidFill>
                  <a:schemeClr val="bg1"/>
                </a:solidFill>
              </a:rPr>
              <a:t>Data Field</a:t>
            </a:r>
            <a:r>
              <a:rPr lang="vi-VN" sz="1400">
                <a:solidFill>
                  <a:schemeClr val="bg1"/>
                </a:solidFill>
              </a:rPr>
              <a:t>.</a:t>
            </a:r>
          </a:p>
          <a:p>
            <a:pPr marL="285750" indent="-285750">
              <a:lnSpc>
                <a:spcPct val="200000"/>
              </a:lnSpc>
              <a:buFont typeface="Arial" panose="020B0604020202020204" pitchFamily="34" charset="0"/>
              <a:buChar char="•"/>
            </a:pPr>
            <a:r>
              <a:rPr lang="vi-VN" sz="1400">
                <a:solidFill>
                  <a:schemeClr val="bg1"/>
                </a:solidFill>
              </a:rPr>
              <a:t>Chèn giá trị CRC (15 bit trong CAN Classic 2.0A/B) vào trường </a:t>
            </a:r>
            <a:r>
              <a:rPr lang="vi-VN" sz="1400" b="1">
                <a:solidFill>
                  <a:schemeClr val="bg1"/>
                </a:solidFill>
              </a:rPr>
              <a:t>CRC Field</a:t>
            </a:r>
            <a:r>
              <a:rPr lang="vi-VN" sz="1400">
                <a:solidFill>
                  <a:schemeClr val="bg1"/>
                </a:solidFill>
              </a:rPr>
              <a:t>.</a:t>
            </a:r>
          </a:p>
          <a:p>
            <a:pPr marL="285750" indent="-285750">
              <a:lnSpc>
                <a:spcPct val="200000"/>
              </a:lnSpc>
              <a:buFont typeface="Arial" panose="020B0604020202020204" pitchFamily="34" charset="0"/>
              <a:buChar char="•"/>
            </a:pPr>
            <a:r>
              <a:rPr lang="vi-VN" sz="1400">
                <a:solidFill>
                  <a:schemeClr val="bg1"/>
                </a:solidFill>
              </a:rPr>
              <a:t>Gửi frame hoàn chỉnh ra bus.</a:t>
            </a:r>
            <a:endParaRPr lang="en-US" sz="1400">
              <a:solidFill>
                <a:schemeClr val="bg1"/>
              </a:solidFill>
            </a:endParaRPr>
          </a:p>
          <a:p>
            <a:pPr>
              <a:lnSpc>
                <a:spcPct val="200000"/>
              </a:lnSpc>
              <a:buFont typeface="Arial" panose="020B0604020202020204" pitchFamily="34" charset="0"/>
              <a:buChar char="•"/>
            </a:pPr>
            <a:endParaRPr lang="vi-VN" sz="1400">
              <a:solidFill>
                <a:schemeClr val="bg1"/>
              </a:solidFill>
            </a:endParaRPr>
          </a:p>
          <a:p>
            <a:pPr>
              <a:lnSpc>
                <a:spcPct val="200000"/>
              </a:lnSpc>
            </a:pPr>
            <a:r>
              <a:rPr lang="vi-VN" sz="1400">
                <a:solidFill>
                  <a:schemeClr val="bg1"/>
                </a:solidFill>
                <a:effectLst/>
              </a:rPr>
              <a:t>Khi node </a:t>
            </a:r>
            <a:r>
              <a:rPr lang="vi-VN" sz="1400" b="1">
                <a:solidFill>
                  <a:schemeClr val="bg1"/>
                </a:solidFill>
                <a:effectLst/>
              </a:rPr>
              <a:t>nhận</a:t>
            </a:r>
            <a:r>
              <a:rPr lang="vi-VN" sz="1400">
                <a:solidFill>
                  <a:schemeClr val="bg1"/>
                </a:solidFill>
                <a:effectLst/>
              </a:rPr>
              <a:t> (Receiver) frame:</a:t>
            </a:r>
          </a:p>
          <a:p>
            <a:pPr marL="285750" indent="-285750">
              <a:lnSpc>
                <a:spcPct val="200000"/>
              </a:lnSpc>
              <a:buFont typeface="Arial" panose="020B0604020202020204" pitchFamily="34" charset="0"/>
              <a:buChar char="•"/>
            </a:pPr>
            <a:r>
              <a:rPr lang="vi-VN" sz="1400">
                <a:solidFill>
                  <a:schemeClr val="bg1"/>
                </a:solidFill>
              </a:rPr>
              <a:t>Nó tính lại CRC trên </a:t>
            </a:r>
            <a:r>
              <a:rPr lang="vi-VN" sz="1400" b="1">
                <a:solidFill>
                  <a:schemeClr val="bg1"/>
                </a:solidFill>
              </a:rPr>
              <a:t>toàn bộ frame</a:t>
            </a:r>
            <a:r>
              <a:rPr lang="vi-VN" sz="1400">
                <a:solidFill>
                  <a:schemeClr val="bg1"/>
                </a:solidFill>
              </a:rPr>
              <a:t> (từ SOF đến hết CRC Field).</a:t>
            </a:r>
          </a:p>
          <a:p>
            <a:pPr marL="285750" indent="-285750">
              <a:lnSpc>
                <a:spcPct val="200000"/>
              </a:lnSpc>
              <a:buFont typeface="Arial" panose="020B0604020202020204" pitchFamily="34" charset="0"/>
              <a:buChar char="•"/>
            </a:pPr>
            <a:r>
              <a:rPr lang="vi-VN" sz="1400">
                <a:solidFill>
                  <a:schemeClr val="bg1"/>
                </a:solidFill>
              </a:rPr>
              <a:t>Nếu kết quả tính được là </a:t>
            </a:r>
            <a:r>
              <a:rPr lang="vi-VN" sz="1400" b="1">
                <a:solidFill>
                  <a:schemeClr val="bg1"/>
                </a:solidFill>
              </a:rPr>
              <a:t>0</a:t>
            </a:r>
            <a:r>
              <a:rPr lang="vi-VN" sz="1400">
                <a:solidFill>
                  <a:schemeClr val="bg1"/>
                </a:solidFill>
              </a:rPr>
              <a:t> → frame không lỗi, receiver gửi ACK Dominant.</a:t>
            </a:r>
          </a:p>
          <a:p>
            <a:pPr marL="285750" indent="-285750">
              <a:lnSpc>
                <a:spcPct val="200000"/>
              </a:lnSpc>
              <a:buFont typeface="Arial" panose="020B0604020202020204" pitchFamily="34" charset="0"/>
              <a:buChar char="•"/>
            </a:pPr>
            <a:r>
              <a:rPr lang="vi-VN" sz="1400">
                <a:solidFill>
                  <a:schemeClr val="bg1"/>
                </a:solidFill>
              </a:rPr>
              <a:t>Nếu kết quả ≠ 0 → frame có lỗi → receiver gửi Error Frame.</a:t>
            </a:r>
          </a:p>
        </p:txBody>
      </p:sp>
    </p:spTree>
    <p:extLst>
      <p:ext uri="{BB962C8B-B14F-4D97-AF65-F5344CB8AC3E}">
        <p14:creationId xmlns:p14="http://schemas.microsoft.com/office/powerpoint/2010/main" val="7688128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514932" y="27181"/>
            <a:ext cx="8060220" cy="924420"/>
          </a:xfrm>
          <a:prstGeom prst="rect">
            <a:avLst/>
          </a:prstGeom>
          <a:noFill/>
        </p:spPr>
        <p:txBody>
          <a:bodyPr wrap="none" rtlCol="0">
            <a:spAutoFit/>
          </a:bodyPr>
          <a:lstStyle/>
          <a:p>
            <a:pPr>
              <a:lnSpc>
                <a:spcPct val="200000"/>
              </a:lnSpc>
            </a:pPr>
            <a:r>
              <a:rPr lang="vi-VN" sz="3200" b="1">
                <a:solidFill>
                  <a:schemeClr val="bg1"/>
                </a:solidFill>
                <a:effectLst/>
              </a:rPr>
              <a:t>CRC trong CAN hoạt động như thế nào?</a:t>
            </a:r>
            <a:endParaRPr lang="vi-VN" sz="3200">
              <a:solidFill>
                <a:schemeClr val="bg1"/>
              </a:solidFill>
              <a:effectLst/>
            </a:endParaRPr>
          </a:p>
        </p:txBody>
      </p:sp>
      <p:sp>
        <p:nvSpPr>
          <p:cNvPr id="7" name="Rectangle 6"/>
          <p:cNvSpPr/>
          <p:nvPr/>
        </p:nvSpPr>
        <p:spPr>
          <a:xfrm>
            <a:off x="487223" y="1120981"/>
            <a:ext cx="11522584" cy="1668214"/>
          </a:xfrm>
          <a:prstGeom prst="rect">
            <a:avLst/>
          </a:prstGeom>
        </p:spPr>
        <p:txBody>
          <a:bodyPr wrap="square">
            <a:spAutoFit/>
          </a:bodyPr>
          <a:lstStyle/>
          <a:p>
            <a:pPr>
              <a:lnSpc>
                <a:spcPct val="150000"/>
              </a:lnSpc>
            </a:pPr>
            <a:r>
              <a:rPr lang="vi-VN" sz="1400" b="1">
                <a:solidFill>
                  <a:schemeClr val="bg1"/>
                </a:solidFill>
              </a:rPr>
              <a:t>Polynomial dùng trong CAN Classic (15-bit CRC)</a:t>
            </a:r>
          </a:p>
          <a:p>
            <a:pPr>
              <a:lnSpc>
                <a:spcPct val="150000"/>
              </a:lnSpc>
            </a:pPr>
            <a:r>
              <a:rPr lang="vi-VN" sz="1400">
                <a:solidFill>
                  <a:schemeClr val="bg1"/>
                </a:solidFill>
                <a:effectLst/>
              </a:rPr>
              <a:t>CAN Classic sử dụng </a:t>
            </a:r>
            <a:r>
              <a:rPr lang="vi-VN" sz="1400" b="1">
                <a:solidFill>
                  <a:schemeClr val="bg1"/>
                </a:solidFill>
                <a:effectLst/>
              </a:rPr>
              <a:t>CRC-15</a:t>
            </a:r>
            <a:r>
              <a:rPr lang="vi-VN" sz="1400">
                <a:solidFill>
                  <a:schemeClr val="bg1"/>
                </a:solidFill>
                <a:effectLst/>
              </a:rPr>
              <a:t> với generator polynomial sau:</a:t>
            </a:r>
          </a:p>
          <a:p>
            <a:pPr>
              <a:lnSpc>
                <a:spcPct val="150000"/>
              </a:lnSpc>
            </a:pPr>
            <a:r>
              <a:rPr lang="vi-VN" sz="1400" b="1">
                <a:solidFill>
                  <a:schemeClr val="bg1"/>
                </a:solidFill>
                <a:effectLst/>
              </a:rPr>
              <a:t>G(x) = x¹⁵ + x¹⁴ + x¹⁰ + x⁸ + x⁷ + x⁴ + x³ + 1</a:t>
            </a:r>
            <a:endParaRPr lang="vi-VN" sz="1400">
              <a:solidFill>
                <a:schemeClr val="bg1"/>
              </a:solidFill>
              <a:effectLst/>
            </a:endParaRPr>
          </a:p>
          <a:p>
            <a:pPr>
              <a:lnSpc>
                <a:spcPct val="150000"/>
              </a:lnSpc>
            </a:pPr>
            <a:r>
              <a:rPr lang="vi-VN" sz="1400">
                <a:solidFill>
                  <a:schemeClr val="bg1"/>
                </a:solidFill>
                <a:effectLst/>
              </a:rPr>
              <a:t>Dạng binary: </a:t>
            </a:r>
            <a:endParaRPr lang="en-US" sz="1400">
              <a:solidFill>
                <a:schemeClr val="bg1"/>
              </a:solidFill>
              <a:effectLst/>
            </a:endParaRPr>
          </a:p>
          <a:p>
            <a:pPr>
              <a:lnSpc>
                <a:spcPct val="150000"/>
              </a:lnSpc>
            </a:pPr>
            <a:r>
              <a:rPr lang="vi-VN" sz="1400" b="1">
                <a:solidFill>
                  <a:schemeClr val="bg1"/>
                </a:solidFill>
                <a:effectLst/>
              </a:rPr>
              <a:t>1 1000 1001 0011 011</a:t>
            </a:r>
            <a:r>
              <a:rPr lang="vi-VN" sz="1400">
                <a:solidFill>
                  <a:schemeClr val="bg1"/>
                </a:solidFill>
                <a:effectLst/>
              </a:rPr>
              <a:t> Hex: </a:t>
            </a:r>
            <a:r>
              <a:rPr lang="vi-VN" sz="1400" b="1">
                <a:solidFill>
                  <a:schemeClr val="bg1"/>
                </a:solidFill>
                <a:effectLst/>
              </a:rPr>
              <a:t>0xC599</a:t>
            </a:r>
            <a:endParaRPr lang="vi-VN" sz="1400">
              <a:solidFill>
                <a:schemeClr val="bg1"/>
              </a:solidFill>
              <a:effectLst/>
            </a:endParaRPr>
          </a:p>
        </p:txBody>
      </p:sp>
      <p:sp>
        <p:nvSpPr>
          <p:cNvPr id="3" name="TextBox 2">
            <a:extLst>
              <a:ext uri="{FF2B5EF4-FFF2-40B4-BE49-F238E27FC236}">
                <a16:creationId xmlns:a16="http://schemas.microsoft.com/office/drawing/2014/main" id="{B2F24E93-8146-061B-DAFF-44ECC46FA155}"/>
              </a:ext>
            </a:extLst>
          </p:cNvPr>
          <p:cNvSpPr txBox="1"/>
          <p:nvPr/>
        </p:nvSpPr>
        <p:spPr>
          <a:xfrm>
            <a:off x="487223" y="3035790"/>
            <a:ext cx="6661722" cy="3607206"/>
          </a:xfrm>
          <a:prstGeom prst="rect">
            <a:avLst/>
          </a:prstGeom>
          <a:noFill/>
        </p:spPr>
        <p:txBody>
          <a:bodyPr wrap="square">
            <a:spAutoFit/>
          </a:bodyPr>
          <a:lstStyle/>
          <a:p>
            <a:pPr>
              <a:lnSpc>
                <a:spcPct val="150000"/>
              </a:lnSpc>
            </a:pPr>
            <a:r>
              <a:rPr lang="vi-VN" sz="1400" b="1">
                <a:solidFill>
                  <a:schemeClr val="bg1"/>
                </a:solidFill>
              </a:rPr>
              <a:t>Quy tắc chuyển Polynomial → Binary</a:t>
            </a:r>
          </a:p>
          <a:p>
            <a:pPr>
              <a:lnSpc>
                <a:spcPct val="150000"/>
              </a:lnSpc>
            </a:pPr>
            <a:r>
              <a:rPr lang="vi-VN" sz="1400">
                <a:solidFill>
                  <a:schemeClr val="bg1"/>
                </a:solidFill>
              </a:rPr>
              <a:t>Với đa thức dạng:</a:t>
            </a:r>
          </a:p>
          <a:p>
            <a:pPr>
              <a:lnSpc>
                <a:spcPct val="150000"/>
              </a:lnSpc>
            </a:pPr>
            <a:endParaRPr lang="en-US" sz="1400">
              <a:solidFill>
                <a:schemeClr val="bg1"/>
              </a:solidFill>
            </a:endParaRPr>
          </a:p>
          <a:p>
            <a:pPr>
              <a:lnSpc>
                <a:spcPct val="150000"/>
              </a:lnSpc>
            </a:pPr>
            <a:endParaRPr lang="en-US" sz="1400">
              <a:solidFill>
                <a:schemeClr val="bg1"/>
              </a:solidFill>
            </a:endParaRPr>
          </a:p>
          <a:p>
            <a:pPr>
              <a:lnSpc>
                <a:spcPct val="150000"/>
              </a:lnSpc>
            </a:pPr>
            <a:endParaRPr lang="en-US" sz="1400">
              <a:solidFill>
                <a:schemeClr val="bg1"/>
              </a:solidFill>
            </a:endParaRPr>
          </a:p>
          <a:p>
            <a:pPr>
              <a:lnSpc>
                <a:spcPct val="150000"/>
              </a:lnSpc>
            </a:pPr>
            <a:r>
              <a:rPr lang="vi-VN" sz="1400">
                <a:solidFill>
                  <a:schemeClr val="bg1"/>
                </a:solidFill>
              </a:rPr>
              <a:t>👉 Ta làm như sau:</a:t>
            </a:r>
          </a:p>
          <a:p>
            <a:pPr marL="285750" indent="-285750">
              <a:lnSpc>
                <a:spcPct val="150000"/>
              </a:lnSpc>
              <a:buFont typeface="Arial" panose="020B0604020202020204" pitchFamily="34" charset="0"/>
              <a:buChar char="•"/>
            </a:pPr>
            <a:r>
              <a:rPr lang="vi-VN" sz="1400">
                <a:solidFill>
                  <a:schemeClr val="bg1"/>
                </a:solidFill>
              </a:rPr>
              <a:t>Viết các bậc từ </a:t>
            </a:r>
            <a:r>
              <a:rPr lang="vi-VN" sz="1400" b="1">
                <a:solidFill>
                  <a:schemeClr val="bg1"/>
                </a:solidFill>
              </a:rPr>
              <a:t>n → 0</a:t>
            </a:r>
            <a:r>
              <a:rPr lang="vi-VN" sz="1400">
                <a:solidFill>
                  <a:schemeClr val="bg1"/>
                </a:solidFill>
              </a:rPr>
              <a:t> </a:t>
            </a:r>
          </a:p>
          <a:p>
            <a:pPr marL="285750" indent="-285750">
              <a:lnSpc>
                <a:spcPct val="150000"/>
              </a:lnSpc>
              <a:buFont typeface="Arial" panose="020B0604020202020204" pitchFamily="34" charset="0"/>
              <a:buChar char="•"/>
            </a:pPr>
            <a:r>
              <a:rPr lang="vi-VN" sz="1400">
                <a:solidFill>
                  <a:schemeClr val="bg1"/>
                </a:solidFill>
              </a:rPr>
              <a:t>Nếu có bậc đó → ghi </a:t>
            </a:r>
            <a:r>
              <a:rPr lang="vi-VN" sz="1400" b="1">
                <a:solidFill>
                  <a:schemeClr val="bg1"/>
                </a:solidFill>
              </a:rPr>
              <a:t>1</a:t>
            </a:r>
            <a:r>
              <a:rPr lang="vi-VN" sz="1400">
                <a:solidFill>
                  <a:schemeClr val="bg1"/>
                </a:solidFill>
              </a:rPr>
              <a:t> </a:t>
            </a:r>
          </a:p>
          <a:p>
            <a:pPr marL="285750" indent="-285750">
              <a:lnSpc>
                <a:spcPct val="150000"/>
              </a:lnSpc>
              <a:buFont typeface="Arial" panose="020B0604020202020204" pitchFamily="34" charset="0"/>
              <a:buChar char="•"/>
            </a:pPr>
            <a:r>
              <a:rPr lang="vi-VN" sz="1400">
                <a:solidFill>
                  <a:schemeClr val="bg1"/>
                </a:solidFill>
              </a:rPr>
              <a:t>Không có → ghi </a:t>
            </a:r>
            <a:r>
              <a:rPr lang="vi-VN" sz="1400" b="1">
                <a:solidFill>
                  <a:schemeClr val="bg1"/>
                </a:solidFill>
              </a:rPr>
              <a:t>0</a:t>
            </a:r>
            <a:endParaRPr lang="en-US" sz="1400" b="1">
              <a:solidFill>
                <a:schemeClr val="bg1"/>
              </a:solidFill>
            </a:endParaRPr>
          </a:p>
          <a:p>
            <a:pPr marL="285750" indent="-285750">
              <a:lnSpc>
                <a:spcPct val="150000"/>
              </a:lnSpc>
              <a:buFont typeface="Arial" panose="020B0604020202020204" pitchFamily="34" charset="0"/>
              <a:buChar char="•"/>
            </a:pPr>
            <a:endParaRPr lang="en-US" sz="1400" b="1">
              <a:solidFill>
                <a:schemeClr val="bg1"/>
              </a:solidFill>
            </a:endParaRPr>
          </a:p>
          <a:p>
            <a:pPr marL="285750" indent="-285750">
              <a:lnSpc>
                <a:spcPct val="150000"/>
              </a:lnSpc>
              <a:buFont typeface="Arial" panose="020B0604020202020204" pitchFamily="34" charset="0"/>
              <a:buChar char="•"/>
            </a:pPr>
            <a:endParaRPr lang="vi-VN" sz="1400">
              <a:solidFill>
                <a:schemeClr val="bg1"/>
              </a:solidFill>
            </a:endParaRPr>
          </a:p>
        </p:txBody>
      </p:sp>
      <p:pic>
        <p:nvPicPr>
          <p:cNvPr id="6" name="Picture 5">
            <a:extLst>
              <a:ext uri="{FF2B5EF4-FFF2-40B4-BE49-F238E27FC236}">
                <a16:creationId xmlns:a16="http://schemas.microsoft.com/office/drawing/2014/main" id="{A0DFAFAE-CBAF-4C32-4F44-D17D900A90E8}"/>
              </a:ext>
            </a:extLst>
          </p:cNvPr>
          <p:cNvPicPr>
            <a:picLocks noChangeAspect="1"/>
          </p:cNvPicPr>
          <p:nvPr/>
        </p:nvPicPr>
        <p:blipFill>
          <a:blip r:embed="rId5"/>
          <a:stretch>
            <a:fillRect/>
          </a:stretch>
        </p:blipFill>
        <p:spPr>
          <a:xfrm>
            <a:off x="6681743" y="978781"/>
            <a:ext cx="4861987" cy="5664215"/>
          </a:xfrm>
          <a:prstGeom prst="rect">
            <a:avLst/>
          </a:prstGeom>
        </p:spPr>
      </p:pic>
      <p:pic>
        <p:nvPicPr>
          <p:cNvPr id="9" name="Picture 8">
            <a:extLst>
              <a:ext uri="{FF2B5EF4-FFF2-40B4-BE49-F238E27FC236}">
                <a16:creationId xmlns:a16="http://schemas.microsoft.com/office/drawing/2014/main" id="{2CBFB455-A659-4737-F2CE-CB700A4B4944}"/>
              </a:ext>
            </a:extLst>
          </p:cNvPr>
          <p:cNvPicPr>
            <a:picLocks noChangeAspect="1"/>
          </p:cNvPicPr>
          <p:nvPr/>
        </p:nvPicPr>
        <p:blipFill>
          <a:blip r:embed="rId6"/>
          <a:stretch>
            <a:fillRect/>
          </a:stretch>
        </p:blipFill>
        <p:spPr>
          <a:xfrm>
            <a:off x="2471684" y="3498291"/>
            <a:ext cx="3521209" cy="823769"/>
          </a:xfrm>
          <a:prstGeom prst="rect">
            <a:avLst/>
          </a:prstGeom>
        </p:spPr>
      </p:pic>
      <p:pic>
        <p:nvPicPr>
          <p:cNvPr id="16" name="Picture 15">
            <a:extLst>
              <a:ext uri="{FF2B5EF4-FFF2-40B4-BE49-F238E27FC236}">
                <a16:creationId xmlns:a16="http://schemas.microsoft.com/office/drawing/2014/main" id="{3B66C8EB-7D7B-E42D-43E1-CCD63774BA13}"/>
              </a:ext>
            </a:extLst>
          </p:cNvPr>
          <p:cNvPicPr>
            <a:picLocks noChangeAspect="1"/>
          </p:cNvPicPr>
          <p:nvPr/>
        </p:nvPicPr>
        <p:blipFill>
          <a:blip r:embed="rId7"/>
          <a:stretch>
            <a:fillRect/>
          </a:stretch>
        </p:blipFill>
        <p:spPr>
          <a:xfrm>
            <a:off x="3818084" y="4411291"/>
            <a:ext cx="2200275" cy="2047875"/>
          </a:xfrm>
          <a:prstGeom prst="rect">
            <a:avLst/>
          </a:prstGeom>
        </p:spPr>
      </p:pic>
    </p:spTree>
    <p:extLst>
      <p:ext uri="{BB962C8B-B14F-4D97-AF65-F5344CB8AC3E}">
        <p14:creationId xmlns:p14="http://schemas.microsoft.com/office/powerpoint/2010/main" val="34738185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8060220" cy="924420"/>
          </a:xfrm>
          <a:prstGeom prst="rect">
            <a:avLst/>
          </a:prstGeom>
          <a:noFill/>
        </p:spPr>
        <p:txBody>
          <a:bodyPr wrap="none" rtlCol="0">
            <a:spAutoFit/>
          </a:bodyPr>
          <a:lstStyle/>
          <a:p>
            <a:pPr>
              <a:lnSpc>
                <a:spcPct val="200000"/>
              </a:lnSpc>
            </a:pPr>
            <a:r>
              <a:rPr lang="vi-VN" sz="3200" b="1">
                <a:solidFill>
                  <a:schemeClr val="bg1"/>
                </a:solidFill>
                <a:effectLst/>
              </a:rPr>
              <a:t>CRC trong CAN hoạt động như thế nào?</a:t>
            </a:r>
            <a:endParaRPr lang="vi-VN" sz="3200">
              <a:solidFill>
                <a:schemeClr val="bg1"/>
              </a:solidFill>
              <a:effectLst/>
            </a:endParaRPr>
          </a:p>
        </p:txBody>
      </p:sp>
      <p:sp>
        <p:nvSpPr>
          <p:cNvPr id="7" name="Rectangle 6"/>
          <p:cNvSpPr/>
          <p:nvPr/>
        </p:nvSpPr>
        <p:spPr>
          <a:xfrm>
            <a:off x="487223" y="1020467"/>
            <a:ext cx="11522584" cy="5196102"/>
          </a:xfrm>
          <a:prstGeom prst="rect">
            <a:avLst/>
          </a:prstGeom>
        </p:spPr>
        <p:txBody>
          <a:bodyPr wrap="square">
            <a:spAutoFit/>
          </a:bodyPr>
          <a:lstStyle/>
          <a:p>
            <a:pPr>
              <a:lnSpc>
                <a:spcPct val="200000"/>
              </a:lnSpc>
            </a:pPr>
            <a:endParaRPr lang="en-US" sz="1400" b="1">
              <a:solidFill>
                <a:schemeClr val="bg1"/>
              </a:solidFill>
              <a:effectLst/>
            </a:endParaRPr>
          </a:p>
          <a:p>
            <a:pPr>
              <a:lnSpc>
                <a:spcPct val="200000"/>
              </a:lnSpc>
            </a:pPr>
            <a:r>
              <a:rPr lang="vi-VN" sz="1400" b="1">
                <a:solidFill>
                  <a:schemeClr val="bg1"/>
                </a:solidFill>
                <a:effectLst/>
              </a:rPr>
              <a:t>CRC (Cyclic Redundancy Check)</a:t>
            </a:r>
            <a:r>
              <a:rPr lang="vi-VN" sz="1400">
                <a:solidFill>
                  <a:schemeClr val="bg1"/>
                </a:solidFill>
                <a:effectLst/>
              </a:rPr>
              <a:t> là cơ chế </a:t>
            </a:r>
            <a:r>
              <a:rPr lang="vi-VN" sz="1400" b="1">
                <a:solidFill>
                  <a:schemeClr val="bg1"/>
                </a:solidFill>
                <a:effectLst/>
              </a:rPr>
              <a:t>phát hiện lỗi bit</a:t>
            </a:r>
            <a:r>
              <a:rPr lang="vi-VN" sz="1400">
                <a:solidFill>
                  <a:schemeClr val="bg1"/>
                </a:solidFill>
                <a:effectLst/>
              </a:rPr>
              <a:t> quan trọng nhất trong giao thức CAN.</a:t>
            </a:r>
            <a:endParaRPr lang="en-US" sz="1400">
              <a:solidFill>
                <a:schemeClr val="bg1"/>
              </a:solidFill>
              <a:effectLst/>
            </a:endParaRPr>
          </a:p>
          <a:p>
            <a:pPr>
              <a:lnSpc>
                <a:spcPct val="200000"/>
              </a:lnSpc>
            </a:pPr>
            <a:endParaRPr lang="vi-VN" sz="1400">
              <a:solidFill>
                <a:schemeClr val="bg1"/>
              </a:solidFill>
              <a:effectLst/>
            </a:endParaRPr>
          </a:p>
          <a:p>
            <a:pPr>
              <a:lnSpc>
                <a:spcPct val="200000"/>
              </a:lnSpc>
            </a:pPr>
            <a:r>
              <a:rPr lang="vi-VN" sz="1400">
                <a:solidFill>
                  <a:schemeClr val="bg1"/>
                </a:solidFill>
                <a:effectLst/>
              </a:rPr>
              <a:t>Khi một node </a:t>
            </a:r>
            <a:r>
              <a:rPr lang="vi-VN" sz="1400" b="1">
                <a:solidFill>
                  <a:schemeClr val="bg1"/>
                </a:solidFill>
                <a:effectLst/>
              </a:rPr>
              <a:t>gửi</a:t>
            </a:r>
            <a:r>
              <a:rPr lang="vi-VN" sz="1400">
                <a:solidFill>
                  <a:schemeClr val="bg1"/>
                </a:solidFill>
                <a:effectLst/>
              </a:rPr>
              <a:t> (Sender) một frame CAN, nó sẽ:</a:t>
            </a:r>
          </a:p>
          <a:p>
            <a:pPr marL="285750" indent="-285750">
              <a:lnSpc>
                <a:spcPct val="200000"/>
              </a:lnSpc>
              <a:buFont typeface="Arial" panose="020B0604020202020204" pitchFamily="34" charset="0"/>
              <a:buChar char="•"/>
            </a:pPr>
            <a:r>
              <a:rPr lang="vi-VN" sz="1400">
                <a:solidFill>
                  <a:schemeClr val="bg1"/>
                </a:solidFill>
              </a:rPr>
              <a:t>Tính toán giá trị CRC dựa trên </a:t>
            </a:r>
            <a:r>
              <a:rPr lang="vi-VN" sz="1400" b="1">
                <a:solidFill>
                  <a:schemeClr val="bg1"/>
                </a:solidFill>
              </a:rPr>
              <a:t>toàn bộ bit stream</a:t>
            </a:r>
            <a:r>
              <a:rPr lang="vi-VN" sz="1400">
                <a:solidFill>
                  <a:schemeClr val="bg1"/>
                </a:solidFill>
              </a:rPr>
              <a:t> từ bit </a:t>
            </a:r>
            <a:r>
              <a:rPr lang="vi-VN" sz="1400" b="1">
                <a:solidFill>
                  <a:schemeClr val="bg1"/>
                </a:solidFill>
              </a:rPr>
              <a:t>SOF</a:t>
            </a:r>
            <a:r>
              <a:rPr lang="vi-VN" sz="1400">
                <a:solidFill>
                  <a:schemeClr val="bg1"/>
                </a:solidFill>
              </a:rPr>
              <a:t> đến bit cuối cùng của </a:t>
            </a:r>
            <a:r>
              <a:rPr lang="vi-VN" sz="1400" b="1">
                <a:solidFill>
                  <a:schemeClr val="bg1"/>
                </a:solidFill>
              </a:rPr>
              <a:t>Data Field</a:t>
            </a:r>
            <a:r>
              <a:rPr lang="vi-VN" sz="1400">
                <a:solidFill>
                  <a:schemeClr val="bg1"/>
                </a:solidFill>
              </a:rPr>
              <a:t>.</a:t>
            </a:r>
          </a:p>
          <a:p>
            <a:pPr marL="285750" indent="-285750">
              <a:lnSpc>
                <a:spcPct val="200000"/>
              </a:lnSpc>
              <a:buFont typeface="Arial" panose="020B0604020202020204" pitchFamily="34" charset="0"/>
              <a:buChar char="•"/>
            </a:pPr>
            <a:r>
              <a:rPr lang="vi-VN" sz="1400">
                <a:solidFill>
                  <a:schemeClr val="bg1"/>
                </a:solidFill>
              </a:rPr>
              <a:t>Chèn giá trị CRC (15 bit trong CAN Classic 2.0A/B) vào trường </a:t>
            </a:r>
            <a:r>
              <a:rPr lang="vi-VN" sz="1400" b="1">
                <a:solidFill>
                  <a:schemeClr val="bg1"/>
                </a:solidFill>
              </a:rPr>
              <a:t>CRC Field</a:t>
            </a:r>
            <a:r>
              <a:rPr lang="vi-VN" sz="1400">
                <a:solidFill>
                  <a:schemeClr val="bg1"/>
                </a:solidFill>
              </a:rPr>
              <a:t>.</a:t>
            </a:r>
          </a:p>
          <a:p>
            <a:pPr marL="285750" indent="-285750">
              <a:lnSpc>
                <a:spcPct val="200000"/>
              </a:lnSpc>
              <a:buFont typeface="Arial" panose="020B0604020202020204" pitchFamily="34" charset="0"/>
              <a:buChar char="•"/>
            </a:pPr>
            <a:r>
              <a:rPr lang="vi-VN" sz="1400">
                <a:solidFill>
                  <a:schemeClr val="bg1"/>
                </a:solidFill>
              </a:rPr>
              <a:t>Gửi frame hoàn chỉnh ra bus.</a:t>
            </a:r>
            <a:endParaRPr lang="en-US" sz="1400">
              <a:solidFill>
                <a:schemeClr val="bg1"/>
              </a:solidFill>
            </a:endParaRPr>
          </a:p>
          <a:p>
            <a:pPr>
              <a:lnSpc>
                <a:spcPct val="200000"/>
              </a:lnSpc>
              <a:buFont typeface="Arial" panose="020B0604020202020204" pitchFamily="34" charset="0"/>
              <a:buChar char="•"/>
            </a:pPr>
            <a:endParaRPr lang="vi-VN" sz="1400">
              <a:solidFill>
                <a:schemeClr val="bg1"/>
              </a:solidFill>
            </a:endParaRPr>
          </a:p>
          <a:p>
            <a:pPr>
              <a:lnSpc>
                <a:spcPct val="200000"/>
              </a:lnSpc>
            </a:pPr>
            <a:r>
              <a:rPr lang="vi-VN" sz="1400">
                <a:solidFill>
                  <a:schemeClr val="bg1"/>
                </a:solidFill>
                <a:effectLst/>
              </a:rPr>
              <a:t>Khi node </a:t>
            </a:r>
            <a:r>
              <a:rPr lang="vi-VN" sz="1400" b="1">
                <a:solidFill>
                  <a:schemeClr val="bg1"/>
                </a:solidFill>
                <a:effectLst/>
              </a:rPr>
              <a:t>nhận</a:t>
            </a:r>
            <a:r>
              <a:rPr lang="vi-VN" sz="1400">
                <a:solidFill>
                  <a:schemeClr val="bg1"/>
                </a:solidFill>
                <a:effectLst/>
              </a:rPr>
              <a:t> (Receiver) frame:</a:t>
            </a:r>
          </a:p>
          <a:p>
            <a:pPr marL="285750" indent="-285750">
              <a:lnSpc>
                <a:spcPct val="200000"/>
              </a:lnSpc>
              <a:buFont typeface="Arial" panose="020B0604020202020204" pitchFamily="34" charset="0"/>
              <a:buChar char="•"/>
            </a:pPr>
            <a:r>
              <a:rPr lang="vi-VN" sz="1400">
                <a:solidFill>
                  <a:schemeClr val="bg1"/>
                </a:solidFill>
              </a:rPr>
              <a:t>Nó tính lại CRC trên </a:t>
            </a:r>
            <a:r>
              <a:rPr lang="vi-VN" sz="1400" b="1">
                <a:solidFill>
                  <a:schemeClr val="bg1"/>
                </a:solidFill>
              </a:rPr>
              <a:t>toàn bộ frame</a:t>
            </a:r>
            <a:r>
              <a:rPr lang="vi-VN" sz="1400">
                <a:solidFill>
                  <a:schemeClr val="bg1"/>
                </a:solidFill>
              </a:rPr>
              <a:t> (từ SOF đến hết CRC Field).</a:t>
            </a:r>
          </a:p>
          <a:p>
            <a:pPr marL="285750" indent="-285750">
              <a:lnSpc>
                <a:spcPct val="200000"/>
              </a:lnSpc>
              <a:buFont typeface="Arial" panose="020B0604020202020204" pitchFamily="34" charset="0"/>
              <a:buChar char="•"/>
            </a:pPr>
            <a:r>
              <a:rPr lang="vi-VN" sz="1400">
                <a:solidFill>
                  <a:schemeClr val="bg1"/>
                </a:solidFill>
              </a:rPr>
              <a:t>Nếu kết quả tính được là </a:t>
            </a:r>
            <a:r>
              <a:rPr lang="vi-VN" sz="1400" b="1">
                <a:solidFill>
                  <a:schemeClr val="bg1"/>
                </a:solidFill>
              </a:rPr>
              <a:t>0</a:t>
            </a:r>
            <a:r>
              <a:rPr lang="vi-VN" sz="1400">
                <a:solidFill>
                  <a:schemeClr val="bg1"/>
                </a:solidFill>
              </a:rPr>
              <a:t> → frame không lỗi, receiver gửi ACK Dominant.</a:t>
            </a:r>
          </a:p>
          <a:p>
            <a:pPr marL="285750" indent="-285750">
              <a:lnSpc>
                <a:spcPct val="200000"/>
              </a:lnSpc>
              <a:buFont typeface="Arial" panose="020B0604020202020204" pitchFamily="34" charset="0"/>
              <a:buChar char="•"/>
            </a:pPr>
            <a:r>
              <a:rPr lang="vi-VN" sz="1400">
                <a:solidFill>
                  <a:schemeClr val="bg1"/>
                </a:solidFill>
              </a:rPr>
              <a:t>Nếu kết quả ≠ 0 → frame có lỗi → receiver gửi Error Frame.</a:t>
            </a:r>
          </a:p>
        </p:txBody>
      </p:sp>
    </p:spTree>
    <p:extLst>
      <p:ext uri="{BB962C8B-B14F-4D97-AF65-F5344CB8AC3E}">
        <p14:creationId xmlns:p14="http://schemas.microsoft.com/office/powerpoint/2010/main" val="1409541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pic>
        <p:nvPicPr>
          <p:cNvPr id="3" name="Picture 2">
            <a:extLst>
              <a:ext uri="{FF2B5EF4-FFF2-40B4-BE49-F238E27FC236}">
                <a16:creationId xmlns:a16="http://schemas.microsoft.com/office/drawing/2014/main" id="{727AD6B5-EDE8-0918-1BF3-9761C5EA18EE}"/>
              </a:ext>
            </a:extLst>
          </p:cNvPr>
          <p:cNvPicPr>
            <a:picLocks noChangeAspect="1"/>
          </p:cNvPicPr>
          <p:nvPr/>
        </p:nvPicPr>
        <p:blipFill>
          <a:blip r:embed="rId5"/>
          <a:stretch>
            <a:fillRect/>
          </a:stretch>
        </p:blipFill>
        <p:spPr>
          <a:xfrm>
            <a:off x="621581" y="1311602"/>
            <a:ext cx="10573180" cy="4901911"/>
          </a:xfrm>
          <a:prstGeom prst="rect">
            <a:avLst/>
          </a:prstGeom>
        </p:spPr>
      </p:pic>
      <p:pic>
        <p:nvPicPr>
          <p:cNvPr id="9218" name="Picture 2">
            <a:extLst>
              <a:ext uri="{FF2B5EF4-FFF2-40B4-BE49-F238E27FC236}">
                <a16:creationId xmlns:a16="http://schemas.microsoft.com/office/drawing/2014/main" id="{0A61E29E-BA34-35F5-7A3F-ED15239DA0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2305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sp>
        <p:nvSpPr>
          <p:cNvPr id="7" name="Rectangle 6"/>
          <p:cNvSpPr/>
          <p:nvPr/>
        </p:nvSpPr>
        <p:spPr>
          <a:xfrm>
            <a:off x="487223" y="1128248"/>
            <a:ext cx="11522584" cy="2610779"/>
          </a:xfrm>
          <a:prstGeom prst="rect">
            <a:avLst/>
          </a:prstGeom>
        </p:spPr>
        <p:txBody>
          <a:bodyPr wrap="square">
            <a:spAutoFit/>
          </a:bodyPr>
          <a:lstStyle/>
          <a:p>
            <a:pPr>
              <a:lnSpc>
                <a:spcPct val="200000"/>
              </a:lnSpc>
            </a:pPr>
            <a:r>
              <a:rPr lang="vi-VN" sz="1400">
                <a:solidFill>
                  <a:schemeClr val="bg1"/>
                </a:solidFill>
                <a:effectLst/>
              </a:rPr>
              <a:t>Quy trình tính CRC (theo chuẩn ISO 11898):</a:t>
            </a:r>
          </a:p>
          <a:p>
            <a:pPr lvl="1">
              <a:lnSpc>
                <a:spcPct val="200000"/>
              </a:lnSpc>
              <a:buFont typeface="+mj-lt"/>
              <a:buAutoNum type="arabicPeriod"/>
            </a:pPr>
            <a:r>
              <a:rPr lang="vi-VN" sz="1400">
                <a:solidFill>
                  <a:schemeClr val="bg1"/>
                </a:solidFill>
              </a:rPr>
              <a:t>Lấy toàn bộ bit stream từ </a:t>
            </a:r>
            <a:r>
              <a:rPr lang="vi-VN" sz="1400" b="1">
                <a:solidFill>
                  <a:schemeClr val="bg1"/>
                </a:solidFill>
              </a:rPr>
              <a:t>SOF</a:t>
            </a:r>
            <a:r>
              <a:rPr lang="vi-VN" sz="1400">
                <a:solidFill>
                  <a:schemeClr val="bg1"/>
                </a:solidFill>
              </a:rPr>
              <a:t> đến cuối </a:t>
            </a:r>
            <a:r>
              <a:rPr lang="vi-VN" sz="1400" b="1">
                <a:solidFill>
                  <a:schemeClr val="bg1"/>
                </a:solidFill>
              </a:rPr>
              <a:t>Data Field</a:t>
            </a:r>
            <a:r>
              <a:rPr lang="vi-VN" sz="1400">
                <a:solidFill>
                  <a:schemeClr val="bg1"/>
                </a:solidFill>
              </a:rPr>
              <a:t>.</a:t>
            </a:r>
          </a:p>
          <a:p>
            <a:pPr lvl="1">
              <a:lnSpc>
                <a:spcPct val="200000"/>
              </a:lnSpc>
              <a:buFont typeface="+mj-lt"/>
              <a:buAutoNum type="arabicPeriod"/>
            </a:pPr>
            <a:r>
              <a:rPr lang="vi-VN" sz="1400">
                <a:solidFill>
                  <a:schemeClr val="bg1"/>
                </a:solidFill>
              </a:rPr>
              <a:t>Thêm </a:t>
            </a:r>
            <a:r>
              <a:rPr lang="vi-VN" sz="1400" b="1">
                <a:solidFill>
                  <a:schemeClr val="bg1"/>
                </a:solidFill>
              </a:rPr>
              <a:t>15 bit 0</a:t>
            </a:r>
            <a:r>
              <a:rPr lang="vi-VN" sz="1400">
                <a:solidFill>
                  <a:schemeClr val="bg1"/>
                </a:solidFill>
              </a:rPr>
              <a:t> vào cuối (để dành chỗ cho CRC).</a:t>
            </a:r>
          </a:p>
          <a:p>
            <a:pPr lvl="1">
              <a:lnSpc>
                <a:spcPct val="200000"/>
              </a:lnSpc>
              <a:buFont typeface="+mj-lt"/>
              <a:buAutoNum type="arabicPeriod"/>
            </a:pPr>
            <a:r>
              <a:rPr lang="vi-VN" sz="1400">
                <a:solidFill>
                  <a:schemeClr val="bg1"/>
                </a:solidFill>
              </a:rPr>
              <a:t>Chia đa thức này cho G(x) bằng phép </a:t>
            </a:r>
            <a:r>
              <a:rPr lang="vi-VN" sz="1400" b="1">
                <a:solidFill>
                  <a:schemeClr val="bg1"/>
                </a:solidFill>
              </a:rPr>
              <a:t>XOR bitwise</a:t>
            </a:r>
            <a:r>
              <a:rPr lang="vi-VN" sz="1400">
                <a:solidFill>
                  <a:schemeClr val="bg1"/>
                </a:solidFill>
              </a:rPr>
              <a:t> (không trừ, chỉ XOR).</a:t>
            </a:r>
          </a:p>
          <a:p>
            <a:pPr lvl="1">
              <a:lnSpc>
                <a:spcPct val="200000"/>
              </a:lnSpc>
              <a:buFont typeface="+mj-lt"/>
              <a:buAutoNum type="arabicPeriod"/>
            </a:pPr>
            <a:r>
              <a:rPr lang="vi-VN" sz="1400">
                <a:solidFill>
                  <a:schemeClr val="bg1"/>
                </a:solidFill>
              </a:rPr>
              <a:t>Phần </a:t>
            </a:r>
            <a:r>
              <a:rPr lang="vi-VN" sz="1400" b="1">
                <a:solidFill>
                  <a:schemeClr val="bg1"/>
                </a:solidFill>
              </a:rPr>
              <a:t>dư (remainder)</a:t>
            </a:r>
            <a:r>
              <a:rPr lang="vi-VN" sz="1400">
                <a:solidFill>
                  <a:schemeClr val="bg1"/>
                </a:solidFill>
              </a:rPr>
              <a:t> sau khi chia → chính là giá trị </a:t>
            </a:r>
            <a:r>
              <a:rPr lang="vi-VN" sz="1400" b="1">
                <a:solidFill>
                  <a:schemeClr val="bg1"/>
                </a:solidFill>
              </a:rPr>
              <a:t>CRC 15 bit</a:t>
            </a:r>
            <a:r>
              <a:rPr lang="vi-VN" sz="1400">
                <a:solidFill>
                  <a:schemeClr val="bg1"/>
                </a:solidFill>
              </a:rPr>
              <a:t>.</a:t>
            </a:r>
          </a:p>
          <a:p>
            <a:pPr lvl="1">
              <a:lnSpc>
                <a:spcPct val="200000"/>
              </a:lnSpc>
              <a:buFont typeface="+mj-lt"/>
              <a:buAutoNum type="arabicPeriod"/>
            </a:pPr>
            <a:r>
              <a:rPr lang="vi-VN" sz="1400">
                <a:solidFill>
                  <a:schemeClr val="bg1"/>
                </a:solidFill>
              </a:rPr>
              <a:t>Thay 15 bit 0 bằng giá trị CRC này vào frame.</a:t>
            </a:r>
          </a:p>
        </p:txBody>
      </p:sp>
    </p:spTree>
    <p:extLst>
      <p:ext uri="{BB962C8B-B14F-4D97-AF65-F5344CB8AC3E}">
        <p14:creationId xmlns:p14="http://schemas.microsoft.com/office/powerpoint/2010/main" val="33247362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pic>
        <p:nvPicPr>
          <p:cNvPr id="3" name="Picture 2">
            <a:extLst>
              <a:ext uri="{FF2B5EF4-FFF2-40B4-BE49-F238E27FC236}">
                <a16:creationId xmlns:a16="http://schemas.microsoft.com/office/drawing/2014/main" id="{0B3F79A0-105C-A4C2-9919-C3506CE19883}"/>
              </a:ext>
            </a:extLst>
          </p:cNvPr>
          <p:cNvPicPr>
            <a:picLocks noChangeAspect="1"/>
          </p:cNvPicPr>
          <p:nvPr/>
        </p:nvPicPr>
        <p:blipFill>
          <a:blip r:embed="rId5"/>
          <a:stretch>
            <a:fillRect/>
          </a:stretch>
        </p:blipFill>
        <p:spPr>
          <a:xfrm>
            <a:off x="1662546" y="1215555"/>
            <a:ext cx="8394700" cy="4930867"/>
          </a:xfrm>
          <a:prstGeom prst="rect">
            <a:avLst/>
          </a:prstGeom>
        </p:spPr>
      </p:pic>
    </p:spTree>
    <p:extLst>
      <p:ext uri="{BB962C8B-B14F-4D97-AF65-F5344CB8AC3E}">
        <p14:creationId xmlns:p14="http://schemas.microsoft.com/office/powerpoint/2010/main" val="33615787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pic>
        <p:nvPicPr>
          <p:cNvPr id="5" name="Picture 4">
            <a:extLst>
              <a:ext uri="{FF2B5EF4-FFF2-40B4-BE49-F238E27FC236}">
                <a16:creationId xmlns:a16="http://schemas.microsoft.com/office/drawing/2014/main" id="{D8DC2C32-4D28-4E56-0DA1-20EB581F1D4A}"/>
              </a:ext>
            </a:extLst>
          </p:cNvPr>
          <p:cNvPicPr>
            <a:picLocks noChangeAspect="1"/>
          </p:cNvPicPr>
          <p:nvPr/>
        </p:nvPicPr>
        <p:blipFill>
          <a:blip r:embed="rId5"/>
          <a:stretch>
            <a:fillRect/>
          </a:stretch>
        </p:blipFill>
        <p:spPr>
          <a:xfrm>
            <a:off x="936987" y="2376799"/>
            <a:ext cx="10623421" cy="2104401"/>
          </a:xfrm>
          <a:prstGeom prst="rect">
            <a:avLst/>
          </a:prstGeom>
        </p:spPr>
      </p:pic>
    </p:spTree>
    <p:extLst>
      <p:ext uri="{BB962C8B-B14F-4D97-AF65-F5344CB8AC3E}">
        <p14:creationId xmlns:p14="http://schemas.microsoft.com/office/powerpoint/2010/main" val="25792570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pic>
        <p:nvPicPr>
          <p:cNvPr id="5" name="Picture 4">
            <a:extLst>
              <a:ext uri="{FF2B5EF4-FFF2-40B4-BE49-F238E27FC236}">
                <a16:creationId xmlns:a16="http://schemas.microsoft.com/office/drawing/2014/main" id="{6B0844C9-5D0B-6A8C-9098-6428B2C1F116}"/>
              </a:ext>
            </a:extLst>
          </p:cNvPr>
          <p:cNvPicPr>
            <a:picLocks noChangeAspect="1"/>
          </p:cNvPicPr>
          <p:nvPr/>
        </p:nvPicPr>
        <p:blipFill>
          <a:blip r:embed="rId5"/>
          <a:stretch>
            <a:fillRect/>
          </a:stretch>
        </p:blipFill>
        <p:spPr>
          <a:xfrm>
            <a:off x="1182254" y="1133070"/>
            <a:ext cx="9044709" cy="5183642"/>
          </a:xfrm>
          <a:prstGeom prst="rect">
            <a:avLst/>
          </a:prstGeom>
        </p:spPr>
      </p:pic>
    </p:spTree>
    <p:extLst>
      <p:ext uri="{BB962C8B-B14F-4D97-AF65-F5344CB8AC3E}">
        <p14:creationId xmlns:p14="http://schemas.microsoft.com/office/powerpoint/2010/main" val="13478999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pic>
        <p:nvPicPr>
          <p:cNvPr id="5" name="Picture 4">
            <a:extLst>
              <a:ext uri="{FF2B5EF4-FFF2-40B4-BE49-F238E27FC236}">
                <a16:creationId xmlns:a16="http://schemas.microsoft.com/office/drawing/2014/main" id="{AF8604D6-39CA-70DB-1FB7-70C2B8E3E870}"/>
              </a:ext>
            </a:extLst>
          </p:cNvPr>
          <p:cNvPicPr>
            <a:picLocks noChangeAspect="1"/>
          </p:cNvPicPr>
          <p:nvPr/>
        </p:nvPicPr>
        <p:blipFill>
          <a:blip r:embed="rId5"/>
          <a:stretch>
            <a:fillRect/>
          </a:stretch>
        </p:blipFill>
        <p:spPr>
          <a:xfrm>
            <a:off x="2257580" y="1128248"/>
            <a:ext cx="7383307" cy="5330686"/>
          </a:xfrm>
          <a:prstGeom prst="rect">
            <a:avLst/>
          </a:prstGeom>
        </p:spPr>
      </p:pic>
    </p:spTree>
    <p:extLst>
      <p:ext uri="{BB962C8B-B14F-4D97-AF65-F5344CB8AC3E}">
        <p14:creationId xmlns:p14="http://schemas.microsoft.com/office/powerpoint/2010/main" val="16104046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pic>
        <p:nvPicPr>
          <p:cNvPr id="5" name="Picture 4">
            <a:extLst>
              <a:ext uri="{FF2B5EF4-FFF2-40B4-BE49-F238E27FC236}">
                <a16:creationId xmlns:a16="http://schemas.microsoft.com/office/drawing/2014/main" id="{F99714B8-8FEC-25F5-1466-87C216FB8BF1}"/>
              </a:ext>
            </a:extLst>
          </p:cNvPr>
          <p:cNvPicPr>
            <a:picLocks noChangeAspect="1"/>
          </p:cNvPicPr>
          <p:nvPr/>
        </p:nvPicPr>
        <p:blipFill>
          <a:blip r:embed="rId5"/>
          <a:stretch>
            <a:fillRect/>
          </a:stretch>
        </p:blipFill>
        <p:spPr>
          <a:xfrm>
            <a:off x="2085001" y="1154325"/>
            <a:ext cx="7637137" cy="5290416"/>
          </a:xfrm>
          <a:prstGeom prst="rect">
            <a:avLst/>
          </a:prstGeom>
        </p:spPr>
      </p:pic>
    </p:spTree>
    <p:extLst>
      <p:ext uri="{BB962C8B-B14F-4D97-AF65-F5344CB8AC3E}">
        <p14:creationId xmlns:p14="http://schemas.microsoft.com/office/powerpoint/2010/main" val="24477267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87223" y="96047"/>
            <a:ext cx="10623421" cy="936154"/>
          </a:xfrm>
          <a:prstGeom prst="rect">
            <a:avLst/>
          </a:prstGeom>
          <a:noFill/>
        </p:spPr>
        <p:txBody>
          <a:bodyPr wrap="none" rtlCol="0">
            <a:spAutoFit/>
          </a:bodyPr>
          <a:lstStyle/>
          <a:p>
            <a:pPr>
              <a:lnSpc>
                <a:spcPct val="200000"/>
              </a:lnSpc>
            </a:pPr>
            <a:r>
              <a:rPr lang="en-US" sz="3200" b="1">
                <a:solidFill>
                  <a:schemeClr val="bg1"/>
                </a:solidFill>
              </a:rPr>
              <a:t>C</a:t>
            </a:r>
            <a:r>
              <a:rPr lang="vi-VN" sz="3200" b="1">
                <a:solidFill>
                  <a:schemeClr val="bg1"/>
                </a:solidFill>
              </a:rPr>
              <a:t>ách tính CRC (bên gửi - Sender) – Phép chia đa thức</a:t>
            </a:r>
          </a:p>
        </p:txBody>
      </p:sp>
      <p:pic>
        <p:nvPicPr>
          <p:cNvPr id="5" name="Picture 4">
            <a:extLst>
              <a:ext uri="{FF2B5EF4-FFF2-40B4-BE49-F238E27FC236}">
                <a16:creationId xmlns:a16="http://schemas.microsoft.com/office/drawing/2014/main" id="{F99714B8-8FEC-25F5-1466-87C216FB8BF1}"/>
              </a:ext>
            </a:extLst>
          </p:cNvPr>
          <p:cNvPicPr>
            <a:picLocks noChangeAspect="1"/>
          </p:cNvPicPr>
          <p:nvPr/>
        </p:nvPicPr>
        <p:blipFill>
          <a:blip r:embed="rId5"/>
          <a:stretch>
            <a:fillRect/>
          </a:stretch>
        </p:blipFill>
        <p:spPr>
          <a:xfrm>
            <a:off x="2085001" y="1154325"/>
            <a:ext cx="7637137" cy="5290416"/>
          </a:xfrm>
          <a:prstGeom prst="rect">
            <a:avLst/>
          </a:prstGeom>
        </p:spPr>
      </p:pic>
    </p:spTree>
    <p:extLst>
      <p:ext uri="{BB962C8B-B14F-4D97-AF65-F5344CB8AC3E}">
        <p14:creationId xmlns:p14="http://schemas.microsoft.com/office/powerpoint/2010/main" val="30504022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1893467" cy="584775"/>
          </a:xfrm>
          <a:prstGeom prst="rect">
            <a:avLst/>
          </a:prstGeom>
          <a:noFill/>
        </p:spPr>
        <p:txBody>
          <a:bodyPr wrap="none" rtlCol="0">
            <a:spAutoFit/>
          </a:bodyPr>
          <a:lstStyle/>
          <a:p>
            <a:r>
              <a:rPr lang="en-US" sz="3200" b="1" dirty="0">
                <a:solidFill>
                  <a:schemeClr val="bg1"/>
                </a:solidFill>
              </a:rPr>
              <a:t>ACK FIELD</a:t>
            </a:r>
          </a:p>
        </p:txBody>
      </p:sp>
      <p:sp>
        <p:nvSpPr>
          <p:cNvPr id="7" name="Rectangle 6"/>
          <p:cNvSpPr/>
          <p:nvPr/>
        </p:nvSpPr>
        <p:spPr>
          <a:xfrm>
            <a:off x="590740" y="1335832"/>
            <a:ext cx="11167872" cy="2677656"/>
          </a:xfrm>
          <a:prstGeom prst="rect">
            <a:avLst/>
          </a:prstGeom>
        </p:spPr>
        <p:txBody>
          <a:bodyPr wrap="square">
            <a:spAutoFit/>
          </a:bodyPr>
          <a:lstStyle/>
          <a:p>
            <a:pPr marL="285750" indent="-285750">
              <a:buFont typeface="Wingdings" panose="05000000000000000000" pitchFamily="2" charset="2"/>
              <a:buChar char="q"/>
            </a:pPr>
            <a:r>
              <a:rPr lang="vi-VN" sz="1400">
                <a:solidFill>
                  <a:schemeClr val="bg1"/>
                </a:solidFill>
              </a:rPr>
              <a:t>Trường ACK dài 2 bit và bao gồm hai phần: ACK Slot và ACK Delimiter.</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1. ACK Slot (Khe xác nhận)</a:t>
            </a:r>
          </a:p>
          <a:p>
            <a:pPr marL="742950" lvl="1" indent="-285750">
              <a:buFont typeface="Arial" panose="020B0604020202020204" pitchFamily="34" charset="0"/>
              <a:buChar char="•"/>
            </a:pPr>
            <a:r>
              <a:rPr lang="vi-VN" sz="1400">
                <a:solidFill>
                  <a:schemeClr val="bg1"/>
                </a:solidFill>
              </a:rPr>
              <a:t>Phần này dài 1 bit. Nút truyền (transmitter) sẽ đặt bit này ở trạng thái lặn (recessive - mức 1).</a:t>
            </a:r>
          </a:p>
          <a:p>
            <a:pPr marL="742950" lvl="1" indent="-285750">
              <a:buFont typeface="Arial" panose="020B0604020202020204" pitchFamily="34" charset="0"/>
              <a:buChar char="•"/>
            </a:pPr>
            <a:endParaRPr lang="vi-VN" sz="1400">
              <a:solidFill>
                <a:schemeClr val="bg1"/>
              </a:solidFill>
            </a:endParaRPr>
          </a:p>
          <a:p>
            <a:pPr marL="742950" lvl="1" indent="-285750">
              <a:buFont typeface="Arial" panose="020B0604020202020204" pitchFamily="34" charset="0"/>
              <a:buChar char="•"/>
            </a:pPr>
            <a:r>
              <a:rPr lang="vi-VN" sz="1400">
                <a:solidFill>
                  <a:schemeClr val="bg1"/>
                </a:solidFill>
              </a:rPr>
              <a:t>Khi một hoặc nhiều nút nhận được thông điệp chính xác (không có lỗi và có chuỗi CRC khớp), chúng sẽ xác nhận việc truyền tin bằng cách gửi một bit trội (dominant - mức 0) vào khe ACK này, ghi đè lên bit lặn của nút truyền.</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2. ACK Delimiter (Dấu phân cách ACK)</a:t>
            </a:r>
          </a:p>
          <a:p>
            <a:pPr marL="742950" lvl="1" indent="-285750">
              <a:buFont typeface="Arial" panose="020B0604020202020204" pitchFamily="34" charset="0"/>
              <a:buChar char="•"/>
            </a:pPr>
            <a:r>
              <a:rPr lang="vi-VN" sz="1400">
                <a:solidFill>
                  <a:schemeClr val="bg1"/>
                </a:solidFill>
              </a:rPr>
              <a:t>Phần này cũng dài 1 bit và luôn luôn là một bit lặn (recessive bit).</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Do đó, khe ACK (ACK slot) luôn nằm giữa hai bit lặn: Dấu phân cách CRC và Dấu phân cách ACK.</a:t>
            </a:r>
            <a:endParaRPr lang="en-US" sz="1400" dirty="0">
              <a:solidFill>
                <a:schemeClr val="bg1"/>
              </a:solidFill>
            </a:endParaRPr>
          </a:p>
        </p:txBody>
      </p:sp>
      <p:pic>
        <p:nvPicPr>
          <p:cNvPr id="3" name="Picture 2">
            <a:extLst>
              <a:ext uri="{FF2B5EF4-FFF2-40B4-BE49-F238E27FC236}">
                <a16:creationId xmlns:a16="http://schemas.microsoft.com/office/drawing/2014/main" id="{AC60AD42-7A1A-C0D7-95A5-34A37A6BED6A}"/>
              </a:ext>
            </a:extLst>
          </p:cNvPr>
          <p:cNvPicPr>
            <a:picLocks noChangeAspect="1"/>
          </p:cNvPicPr>
          <p:nvPr/>
        </p:nvPicPr>
        <p:blipFill>
          <a:blip r:embed="rId5"/>
          <a:stretch>
            <a:fillRect/>
          </a:stretch>
        </p:blipFill>
        <p:spPr>
          <a:xfrm>
            <a:off x="6238227" y="4587874"/>
            <a:ext cx="5048250" cy="1990725"/>
          </a:xfrm>
          <a:prstGeom prst="rect">
            <a:avLst/>
          </a:prstGeom>
        </p:spPr>
      </p:pic>
      <p:pic>
        <p:nvPicPr>
          <p:cNvPr id="2050" name="Picture 2" descr="CAN BUS Physical Layer">
            <a:extLst>
              <a:ext uri="{FF2B5EF4-FFF2-40B4-BE49-F238E27FC236}">
                <a16:creationId xmlns:a16="http://schemas.microsoft.com/office/drawing/2014/main" id="{90F8F8C4-D60C-DB0D-7029-0AE6E40CEC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5523" y="4199481"/>
            <a:ext cx="4462694" cy="237911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8705BA3-900D-5E90-D3CC-78005E4E69EB}"/>
              </a:ext>
            </a:extLst>
          </p:cNvPr>
          <p:cNvPicPr>
            <a:picLocks noChangeAspect="1"/>
          </p:cNvPicPr>
          <p:nvPr/>
        </p:nvPicPr>
        <p:blipFill>
          <a:blip r:embed="rId7"/>
          <a:stretch>
            <a:fillRect/>
          </a:stretch>
        </p:blipFill>
        <p:spPr>
          <a:xfrm>
            <a:off x="666165" y="4015846"/>
            <a:ext cx="11017022" cy="2677656"/>
          </a:xfrm>
          <a:prstGeom prst="rect">
            <a:avLst/>
          </a:prstGeom>
        </p:spPr>
      </p:pic>
      <p:pic>
        <p:nvPicPr>
          <p:cNvPr id="8" name="Picture 7">
            <a:extLst>
              <a:ext uri="{FF2B5EF4-FFF2-40B4-BE49-F238E27FC236}">
                <a16:creationId xmlns:a16="http://schemas.microsoft.com/office/drawing/2014/main" id="{6AF7736C-F87C-33E1-021D-BB53165A6D21}"/>
              </a:ext>
            </a:extLst>
          </p:cNvPr>
          <p:cNvPicPr>
            <a:picLocks noChangeAspect="1"/>
          </p:cNvPicPr>
          <p:nvPr/>
        </p:nvPicPr>
        <p:blipFill>
          <a:blip r:embed="rId8"/>
          <a:stretch>
            <a:fillRect/>
          </a:stretch>
        </p:blipFill>
        <p:spPr>
          <a:xfrm>
            <a:off x="590740" y="2236506"/>
            <a:ext cx="11112777" cy="4456996"/>
          </a:xfrm>
          <a:prstGeom prst="rect">
            <a:avLst/>
          </a:prstGeom>
        </p:spPr>
      </p:pic>
      <p:pic>
        <p:nvPicPr>
          <p:cNvPr id="10" name="Picture 9">
            <a:extLst>
              <a:ext uri="{FF2B5EF4-FFF2-40B4-BE49-F238E27FC236}">
                <a16:creationId xmlns:a16="http://schemas.microsoft.com/office/drawing/2014/main" id="{F9EC3D1A-6278-1091-6A1C-DBA7E25EC57B}"/>
              </a:ext>
            </a:extLst>
          </p:cNvPr>
          <p:cNvPicPr>
            <a:picLocks noChangeAspect="1"/>
          </p:cNvPicPr>
          <p:nvPr/>
        </p:nvPicPr>
        <p:blipFill>
          <a:blip r:embed="rId9"/>
          <a:stretch>
            <a:fillRect/>
          </a:stretch>
        </p:blipFill>
        <p:spPr>
          <a:xfrm>
            <a:off x="805747" y="2549210"/>
            <a:ext cx="10864960" cy="4029389"/>
          </a:xfrm>
          <a:prstGeom prst="rect">
            <a:avLst/>
          </a:prstGeom>
        </p:spPr>
      </p:pic>
    </p:spTree>
    <p:extLst>
      <p:ext uri="{BB962C8B-B14F-4D97-AF65-F5344CB8AC3E}">
        <p14:creationId xmlns:p14="http://schemas.microsoft.com/office/powerpoint/2010/main" val="264624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1893467" cy="584775"/>
          </a:xfrm>
          <a:prstGeom prst="rect">
            <a:avLst/>
          </a:prstGeom>
          <a:noFill/>
        </p:spPr>
        <p:txBody>
          <a:bodyPr wrap="none" rtlCol="0">
            <a:spAutoFit/>
          </a:bodyPr>
          <a:lstStyle/>
          <a:p>
            <a:r>
              <a:rPr lang="en-US" sz="3200" b="1">
                <a:solidFill>
                  <a:schemeClr val="bg1"/>
                </a:solidFill>
              </a:rPr>
              <a:t>ACK FIELD</a:t>
            </a:r>
            <a:endParaRPr lang="en-US" sz="3200" b="1" dirty="0">
              <a:solidFill>
                <a:schemeClr val="bg1"/>
              </a:solidFill>
            </a:endParaRPr>
          </a:p>
        </p:txBody>
      </p:sp>
      <p:sp>
        <p:nvSpPr>
          <p:cNvPr id="7" name="Rectangle 6"/>
          <p:cNvSpPr/>
          <p:nvPr/>
        </p:nvSpPr>
        <p:spPr>
          <a:xfrm>
            <a:off x="590740" y="1335832"/>
            <a:ext cx="11167872" cy="4899868"/>
          </a:xfrm>
          <a:prstGeom prst="rect">
            <a:avLst/>
          </a:prstGeom>
        </p:spPr>
        <p:txBody>
          <a:bodyPr wrap="square">
            <a:spAutoFit/>
          </a:bodyPr>
          <a:lstStyle/>
          <a:p>
            <a:pPr marL="342900" indent="-342900">
              <a:lnSpc>
                <a:spcPct val="150000"/>
              </a:lnSpc>
              <a:buAutoNum type="arabicPeriod"/>
            </a:pPr>
            <a:r>
              <a:rPr lang="vi-VN" sz="1400" b="1">
                <a:solidFill>
                  <a:schemeClr val="bg1"/>
                </a:solidFill>
                <a:effectLst/>
              </a:rPr>
              <a:t>ACK trong I2C (Inter-Integrated Circuit):</a:t>
            </a:r>
            <a:endParaRPr lang="en-US" sz="1400" b="1">
              <a:solidFill>
                <a:schemeClr val="bg1"/>
              </a:solidFill>
            </a:endParaRPr>
          </a:p>
          <a:p>
            <a:pPr marL="342900" indent="-342900">
              <a:lnSpc>
                <a:spcPct val="150000"/>
              </a:lnSpc>
              <a:buAutoNum type="arabicPeriod"/>
            </a:pPr>
            <a:endParaRPr lang="vi-VN" sz="1400">
              <a:solidFill>
                <a:schemeClr val="bg1"/>
              </a:solidFill>
              <a:effectLst/>
            </a:endParaRPr>
          </a:p>
          <a:p>
            <a:pPr>
              <a:lnSpc>
                <a:spcPct val="150000"/>
              </a:lnSpc>
            </a:pPr>
            <a:r>
              <a:rPr lang="vi-VN" sz="1400">
                <a:solidFill>
                  <a:schemeClr val="bg1"/>
                </a:solidFill>
              </a:rPr>
              <a:t>Là giao thức </a:t>
            </a:r>
            <a:r>
              <a:rPr lang="vi-VN" sz="1400" b="1">
                <a:solidFill>
                  <a:schemeClr val="bg1"/>
                </a:solidFill>
              </a:rPr>
              <a:t>synchronous</a:t>
            </a:r>
            <a:r>
              <a:rPr lang="vi-VN" sz="1400">
                <a:solidFill>
                  <a:schemeClr val="bg1"/>
                </a:solidFill>
              </a:rPr>
              <a:t> (có clock).</a:t>
            </a:r>
          </a:p>
          <a:p>
            <a:pPr>
              <a:lnSpc>
                <a:spcPct val="150000"/>
              </a:lnSpc>
            </a:pPr>
            <a:r>
              <a:rPr lang="vi-VN" sz="1400">
                <a:solidFill>
                  <a:schemeClr val="bg1"/>
                </a:solidFill>
              </a:rPr>
              <a:t>Mỗi lần truyền 8 bit dữ liệu → phải có 1 bit ACK thứ 9.</a:t>
            </a:r>
          </a:p>
          <a:p>
            <a:pPr>
              <a:lnSpc>
                <a:spcPct val="150000"/>
              </a:lnSpc>
            </a:pPr>
            <a:r>
              <a:rPr lang="vi-VN" sz="1400">
                <a:solidFill>
                  <a:schemeClr val="bg1"/>
                </a:solidFill>
              </a:rPr>
              <a:t>Receiver chủ động kéo SDA xuống thấp trong xung clock thứ 9 để báo “tôi nhận được rồi”.</a:t>
            </a:r>
          </a:p>
          <a:p>
            <a:pPr>
              <a:lnSpc>
                <a:spcPct val="150000"/>
              </a:lnSpc>
            </a:pPr>
            <a:r>
              <a:rPr lang="vi-VN" sz="1400">
                <a:solidFill>
                  <a:schemeClr val="bg1"/>
                </a:solidFill>
              </a:rPr>
              <a:t>Nếu receiver để SDA cao → NACK (có thể do địa chỉ sai, buffer đầy, hoặc kết thúc nhận dữ liệu).</a:t>
            </a:r>
          </a:p>
          <a:p>
            <a:pPr>
              <a:lnSpc>
                <a:spcPct val="150000"/>
              </a:lnSpc>
            </a:pPr>
            <a:r>
              <a:rPr lang="vi-VN" sz="1400">
                <a:solidFill>
                  <a:schemeClr val="bg1"/>
                </a:solidFill>
              </a:rPr>
              <a:t>Dùng rất nhiều lần trong một transaction (address + data bytes).</a:t>
            </a:r>
            <a:endParaRPr lang="en-US" sz="1400">
              <a:solidFill>
                <a:schemeClr val="bg1"/>
              </a:solidFill>
            </a:endParaRPr>
          </a:p>
          <a:p>
            <a:pPr>
              <a:lnSpc>
                <a:spcPct val="150000"/>
              </a:lnSpc>
            </a:pPr>
            <a:endParaRPr lang="vi-VN" sz="1400">
              <a:solidFill>
                <a:schemeClr val="bg1"/>
              </a:solidFill>
            </a:endParaRPr>
          </a:p>
          <a:p>
            <a:pPr>
              <a:lnSpc>
                <a:spcPct val="150000"/>
              </a:lnSpc>
            </a:pPr>
            <a:r>
              <a:rPr lang="vi-VN" sz="1400" b="1">
                <a:solidFill>
                  <a:schemeClr val="bg1"/>
                </a:solidFill>
                <a:effectLst/>
              </a:rPr>
              <a:t>2. ACK trong CAN (Controller Area Network):</a:t>
            </a:r>
            <a:endParaRPr lang="vi-VN" sz="1400">
              <a:solidFill>
                <a:schemeClr val="bg1"/>
              </a:solidFill>
              <a:effectLst/>
            </a:endParaRPr>
          </a:p>
          <a:p>
            <a:pPr>
              <a:lnSpc>
                <a:spcPct val="150000"/>
              </a:lnSpc>
            </a:pPr>
            <a:r>
              <a:rPr lang="vi-VN" sz="1400">
                <a:solidFill>
                  <a:schemeClr val="bg1"/>
                </a:solidFill>
              </a:rPr>
              <a:t>CAN là giao thức </a:t>
            </a:r>
            <a:r>
              <a:rPr lang="vi-VN" sz="1400" b="1">
                <a:solidFill>
                  <a:schemeClr val="bg1"/>
                </a:solidFill>
              </a:rPr>
              <a:t>broadcast</a:t>
            </a:r>
            <a:r>
              <a:rPr lang="vi-VN" sz="1400">
                <a:solidFill>
                  <a:schemeClr val="bg1"/>
                </a:solidFill>
              </a:rPr>
              <a:t> (tất cả node đều nghe).</a:t>
            </a:r>
          </a:p>
          <a:p>
            <a:pPr>
              <a:lnSpc>
                <a:spcPct val="150000"/>
              </a:lnSpc>
            </a:pPr>
            <a:r>
              <a:rPr lang="vi-VN" sz="1400">
                <a:solidFill>
                  <a:schemeClr val="bg1"/>
                </a:solidFill>
              </a:rPr>
              <a:t>Sau trường </a:t>
            </a:r>
            <a:r>
              <a:rPr lang="vi-VN" sz="1400" b="1">
                <a:solidFill>
                  <a:schemeClr val="bg1"/>
                </a:solidFill>
              </a:rPr>
              <a:t>CRC</a:t>
            </a:r>
            <a:r>
              <a:rPr lang="vi-VN" sz="1400">
                <a:solidFill>
                  <a:schemeClr val="bg1"/>
                </a:solidFill>
              </a:rPr>
              <a:t> có 1 bit </a:t>
            </a:r>
            <a:r>
              <a:rPr lang="vi-VN" sz="1400" b="1">
                <a:solidFill>
                  <a:schemeClr val="bg1"/>
                </a:solidFill>
              </a:rPr>
              <a:t>ACK Slot</a:t>
            </a:r>
            <a:r>
              <a:rPr lang="vi-VN" sz="1400">
                <a:solidFill>
                  <a:schemeClr val="bg1"/>
                </a:solidFill>
              </a:rPr>
              <a:t>.</a:t>
            </a:r>
          </a:p>
          <a:p>
            <a:pPr>
              <a:lnSpc>
                <a:spcPct val="150000"/>
              </a:lnSpc>
              <a:buFont typeface="Arial" panose="020B0604020202020204" pitchFamily="34" charset="0"/>
              <a:buChar char="•"/>
            </a:pPr>
            <a:r>
              <a:rPr lang="vi-VN" sz="1400">
                <a:solidFill>
                  <a:schemeClr val="bg1"/>
                </a:solidFill>
              </a:rPr>
              <a:t>Transmitter mặc định gửi </a:t>
            </a:r>
            <a:r>
              <a:rPr lang="vi-VN" sz="1400" b="1">
                <a:solidFill>
                  <a:schemeClr val="bg1"/>
                </a:solidFill>
              </a:rPr>
              <a:t>recessive (1)</a:t>
            </a:r>
            <a:r>
              <a:rPr lang="vi-VN" sz="1400">
                <a:solidFill>
                  <a:schemeClr val="bg1"/>
                </a:solidFill>
              </a:rPr>
              <a:t>.</a:t>
            </a:r>
          </a:p>
          <a:p>
            <a:pPr>
              <a:lnSpc>
                <a:spcPct val="150000"/>
              </a:lnSpc>
              <a:buFont typeface="Arial" panose="020B0604020202020204" pitchFamily="34" charset="0"/>
              <a:buChar char="•"/>
            </a:pPr>
            <a:r>
              <a:rPr lang="vi-VN" sz="1400">
                <a:solidFill>
                  <a:schemeClr val="bg1"/>
                </a:solidFill>
              </a:rPr>
              <a:t>Bất kỳ node nào nhận frame đúng (kiểm tra CRC, format, v.v. thành công) sẽ gửi </a:t>
            </a:r>
            <a:r>
              <a:rPr lang="vi-VN" sz="1400" b="1">
                <a:solidFill>
                  <a:schemeClr val="bg1"/>
                </a:solidFill>
              </a:rPr>
              <a:t>dominant (0)</a:t>
            </a:r>
            <a:r>
              <a:rPr lang="vi-VN" sz="1400">
                <a:solidFill>
                  <a:schemeClr val="bg1"/>
                </a:solidFill>
              </a:rPr>
              <a:t> để overwrite bit ACK.</a:t>
            </a:r>
          </a:p>
          <a:p>
            <a:pPr>
              <a:lnSpc>
                <a:spcPct val="150000"/>
              </a:lnSpc>
              <a:buFont typeface="Arial" panose="020B0604020202020204" pitchFamily="34" charset="0"/>
              <a:buChar char="•"/>
            </a:pPr>
            <a:r>
              <a:rPr lang="vi-VN" sz="1400">
                <a:solidFill>
                  <a:schemeClr val="bg1"/>
                </a:solidFill>
              </a:rPr>
              <a:t>→ Nếu transmitter thấy bus vẫn là </a:t>
            </a:r>
            <a:r>
              <a:rPr lang="vi-VN" sz="1400" b="1">
                <a:solidFill>
                  <a:schemeClr val="bg1"/>
                </a:solidFill>
              </a:rPr>
              <a:t>1</a:t>
            </a:r>
            <a:r>
              <a:rPr lang="vi-VN" sz="1400">
                <a:solidFill>
                  <a:schemeClr val="bg1"/>
                </a:solidFill>
              </a:rPr>
              <a:t> (recessive) ở ACK slot → nghĩa là </a:t>
            </a:r>
            <a:r>
              <a:rPr lang="vi-VN" sz="1400" b="1">
                <a:solidFill>
                  <a:schemeClr val="bg1"/>
                </a:solidFill>
              </a:rPr>
              <a:t>không ai nhận được</a:t>
            </a:r>
            <a:r>
              <a:rPr lang="vi-VN" sz="1400">
                <a:solidFill>
                  <a:schemeClr val="bg1"/>
                </a:solidFill>
              </a:rPr>
              <a:t> → transmitter sẽ báo lỗi và retransmit.</a:t>
            </a:r>
          </a:p>
          <a:p>
            <a:pPr>
              <a:lnSpc>
                <a:spcPct val="150000"/>
              </a:lnSpc>
              <a:buFont typeface="Arial" panose="020B0604020202020204" pitchFamily="34" charset="0"/>
              <a:buChar char="•"/>
            </a:pPr>
            <a:r>
              <a:rPr lang="vi-VN" sz="1400">
                <a:solidFill>
                  <a:schemeClr val="bg1"/>
                </a:solidFill>
              </a:rPr>
              <a:t>Đây là cơ chế </a:t>
            </a:r>
            <a:r>
              <a:rPr lang="vi-VN" sz="1400" b="1">
                <a:solidFill>
                  <a:schemeClr val="bg1"/>
                </a:solidFill>
              </a:rPr>
              <a:t>global acknowledgment</a:t>
            </a:r>
            <a:r>
              <a:rPr lang="vi-VN" sz="1400">
                <a:solidFill>
                  <a:schemeClr val="bg1"/>
                </a:solidFill>
              </a:rPr>
              <a:t> rất mạnh của CAN.</a:t>
            </a:r>
          </a:p>
        </p:txBody>
      </p:sp>
    </p:spTree>
    <p:extLst>
      <p:ext uri="{BB962C8B-B14F-4D97-AF65-F5344CB8AC3E}">
        <p14:creationId xmlns:p14="http://schemas.microsoft.com/office/powerpoint/2010/main" val="40817536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1893467" cy="584775"/>
          </a:xfrm>
          <a:prstGeom prst="rect">
            <a:avLst/>
          </a:prstGeom>
          <a:noFill/>
        </p:spPr>
        <p:txBody>
          <a:bodyPr wrap="none" rtlCol="0">
            <a:spAutoFit/>
          </a:bodyPr>
          <a:lstStyle/>
          <a:p>
            <a:r>
              <a:rPr lang="en-US" sz="3200" b="1">
                <a:solidFill>
                  <a:schemeClr val="bg1"/>
                </a:solidFill>
              </a:rPr>
              <a:t>ACK FIELD</a:t>
            </a:r>
            <a:endParaRPr lang="en-US" sz="3200" b="1" dirty="0">
              <a:solidFill>
                <a:schemeClr val="bg1"/>
              </a:solidFill>
            </a:endParaRPr>
          </a:p>
        </p:txBody>
      </p:sp>
      <p:graphicFrame>
        <p:nvGraphicFramePr>
          <p:cNvPr id="2" name="Table 1">
            <a:extLst>
              <a:ext uri="{FF2B5EF4-FFF2-40B4-BE49-F238E27FC236}">
                <a16:creationId xmlns:a16="http://schemas.microsoft.com/office/drawing/2014/main" id="{B586F170-DF29-89FF-5AB7-9250161F4A6C}"/>
              </a:ext>
            </a:extLst>
          </p:cNvPr>
          <p:cNvGraphicFramePr>
            <a:graphicFrameLocks noGrp="1"/>
          </p:cNvGraphicFramePr>
          <p:nvPr>
            <p:extLst>
              <p:ext uri="{D42A27DB-BD31-4B8C-83A1-F6EECF244321}">
                <p14:modId xmlns:p14="http://schemas.microsoft.com/office/powerpoint/2010/main" val="629595103"/>
              </p:ext>
            </p:extLst>
          </p:nvPr>
        </p:nvGraphicFramePr>
        <p:xfrm>
          <a:off x="831245" y="1287273"/>
          <a:ext cx="10686861" cy="5024520"/>
        </p:xfrm>
        <a:graphic>
          <a:graphicData uri="http://schemas.openxmlformats.org/drawingml/2006/table">
            <a:tbl>
              <a:tblPr/>
              <a:tblGrid>
                <a:gridCol w="1985818">
                  <a:extLst>
                    <a:ext uri="{9D8B030D-6E8A-4147-A177-3AD203B41FA5}">
                      <a16:colId xmlns:a16="http://schemas.microsoft.com/office/drawing/2014/main" val="2437062856"/>
                    </a:ext>
                  </a:extLst>
                </a:gridCol>
                <a:gridCol w="4294909">
                  <a:extLst>
                    <a:ext uri="{9D8B030D-6E8A-4147-A177-3AD203B41FA5}">
                      <a16:colId xmlns:a16="http://schemas.microsoft.com/office/drawing/2014/main" val="2908140709"/>
                    </a:ext>
                  </a:extLst>
                </a:gridCol>
                <a:gridCol w="4406134">
                  <a:extLst>
                    <a:ext uri="{9D8B030D-6E8A-4147-A177-3AD203B41FA5}">
                      <a16:colId xmlns:a16="http://schemas.microsoft.com/office/drawing/2014/main" val="3286269857"/>
                    </a:ext>
                  </a:extLst>
                </a:gridCol>
              </a:tblGrid>
              <a:tr h="278840">
                <a:tc>
                  <a:txBody>
                    <a:bodyPr/>
                    <a:lstStyle/>
                    <a:p>
                      <a:r>
                        <a:rPr lang="vi-VN" sz="1200">
                          <a:solidFill>
                            <a:schemeClr val="bg1"/>
                          </a:solidFill>
                        </a:rPr>
                        <a:t>Tiêu chí</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b="1">
                          <a:solidFill>
                            <a:schemeClr val="bg1"/>
                          </a:solidFill>
                        </a:rPr>
                        <a:t>ACK trong I2C</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b="1">
                          <a:solidFill>
                            <a:schemeClr val="bg1"/>
                          </a:solidFill>
                        </a:rPr>
                        <a:t>ACK trong CAN</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173928290"/>
                  </a:ext>
                </a:extLst>
              </a:tr>
              <a:tr h="698000">
                <a:tc>
                  <a:txBody>
                    <a:bodyPr/>
                    <a:lstStyle/>
                    <a:p>
                      <a:r>
                        <a:rPr lang="vi-VN" sz="1200" b="1">
                          <a:solidFill>
                            <a:schemeClr val="bg1"/>
                          </a:solidFill>
                        </a:rPr>
                        <a:t>Vị trí</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Sau </a:t>
                      </a:r>
                      <a:r>
                        <a:rPr lang="vi-VN" sz="1200" b="1">
                          <a:solidFill>
                            <a:schemeClr val="bg1"/>
                          </a:solidFill>
                        </a:rPr>
                        <a:t>mỗi byte</a:t>
                      </a:r>
                      <a:r>
                        <a:rPr lang="vi-VN" sz="1200">
                          <a:solidFill>
                            <a:schemeClr val="bg1"/>
                          </a:solidFill>
                        </a:rPr>
                        <a:t> (8 bit dữ liệu + 1 bit ACK)</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Chỉ có </a:t>
                      </a:r>
                      <a:r>
                        <a:rPr lang="vi-VN" sz="1200" b="1">
                          <a:solidFill>
                            <a:schemeClr val="bg1"/>
                          </a:solidFill>
                        </a:rPr>
                        <a:t>1 ACK slot</a:t>
                      </a:r>
                      <a:r>
                        <a:rPr lang="vi-VN" sz="1200">
                          <a:solidFill>
                            <a:schemeClr val="bg1"/>
                          </a:solidFill>
                        </a:rPr>
                        <a:t> duy nhất cho </a:t>
                      </a:r>
                      <a:r>
                        <a:rPr lang="vi-VN" sz="1200" b="1">
                          <a:solidFill>
                            <a:schemeClr val="bg1"/>
                          </a:solidFill>
                        </a:rPr>
                        <a:t>toàn bộ frame</a:t>
                      </a:r>
                      <a:r>
                        <a:rPr lang="vi-VN" sz="1200">
                          <a:solidFill>
                            <a:schemeClr val="bg1"/>
                          </a:solidFill>
                        </a:rPr>
                        <a:t> (sau trường CRC)</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889783257"/>
                  </a:ext>
                </a:extLst>
              </a:tr>
              <a:tr h="488420">
                <a:tc>
                  <a:txBody>
                    <a:bodyPr/>
                    <a:lstStyle/>
                    <a:p>
                      <a:r>
                        <a:rPr lang="vi-VN" sz="1200" b="1">
                          <a:solidFill>
                            <a:schemeClr val="bg1"/>
                          </a:solidFill>
                        </a:rPr>
                        <a:t>Ai gửi ACK</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Receiver (Slave hoặc Master tùy theo hướng truyền)</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b="1">
                          <a:solidFill>
                            <a:schemeClr val="bg1"/>
                          </a:solidFill>
                        </a:rPr>
                        <a:t>Tất cả các node</a:t>
                      </a:r>
                      <a:r>
                        <a:rPr lang="vi-VN" sz="1200">
                          <a:solidFill>
                            <a:schemeClr val="bg1"/>
                          </a:solidFill>
                        </a:rPr>
                        <a:t> nhận đúng frame (broadcast)</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964945032"/>
                  </a:ext>
                </a:extLst>
              </a:tr>
              <a:tr h="698000">
                <a:tc>
                  <a:txBody>
                    <a:bodyPr/>
                    <a:lstStyle/>
                    <a:p>
                      <a:r>
                        <a:rPr lang="vi-VN" sz="1200" b="1">
                          <a:solidFill>
                            <a:schemeClr val="bg1"/>
                          </a:solidFill>
                        </a:rPr>
                        <a:t>Cách gửi ACK</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Receiver </a:t>
                      </a:r>
                      <a:r>
                        <a:rPr lang="vi-VN" sz="1200" b="1">
                          <a:solidFill>
                            <a:schemeClr val="bg1"/>
                          </a:solidFill>
                        </a:rPr>
                        <a:t>kéo SDA xuống thấp (0)</a:t>
                      </a:r>
                      <a:r>
                        <a:rPr lang="vi-VN" sz="1200">
                          <a:solidFill>
                            <a:schemeClr val="bg1"/>
                          </a:solidFill>
                        </a:rPr>
                        <a:t> để ACK Để cao (1) = NACK</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Transmitter gửi </a:t>
                      </a:r>
                      <a:r>
                        <a:rPr lang="vi-VN" sz="1200" b="1">
                          <a:solidFill>
                            <a:schemeClr val="bg1"/>
                          </a:solidFill>
                        </a:rPr>
                        <a:t>recessive (1)</a:t>
                      </a:r>
                      <a:r>
                        <a:rPr lang="vi-VN" sz="1200">
                          <a:solidFill>
                            <a:schemeClr val="bg1"/>
                          </a:solidFill>
                        </a:rPr>
                        <a:t> Node nào nhận đúng sẽ kéo bus xuống </a:t>
                      </a:r>
                      <a:r>
                        <a:rPr lang="vi-VN" sz="1200" b="1">
                          <a:solidFill>
                            <a:schemeClr val="bg1"/>
                          </a:solidFill>
                        </a:rPr>
                        <a:t>dominant (0)</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4036619430"/>
                  </a:ext>
                </a:extLst>
              </a:tr>
              <a:tr h="698000">
                <a:tc>
                  <a:txBody>
                    <a:bodyPr/>
                    <a:lstStyle/>
                    <a:p>
                      <a:r>
                        <a:rPr lang="vi-VN" sz="1200" b="1">
                          <a:solidFill>
                            <a:schemeClr val="bg1"/>
                          </a:solidFill>
                        </a:rPr>
                        <a:t>Ý nghĩa của ACK</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Xác nhận </a:t>
                      </a:r>
                      <a:r>
                        <a:rPr lang="vi-VN" sz="1200" b="1">
                          <a:solidFill>
                            <a:schemeClr val="bg1"/>
                          </a:solidFill>
                        </a:rPr>
                        <a:t>byte vừa nhận</a:t>
                      </a:r>
                      <a:r>
                        <a:rPr lang="vi-VN" sz="1200">
                          <a:solidFill>
                            <a:schemeClr val="bg1"/>
                          </a:solidFill>
                        </a:rPr>
                        <a:t> thành công (per-byte)</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Xác nhận </a:t>
                      </a:r>
                      <a:r>
                        <a:rPr lang="vi-VN" sz="1200" b="1">
                          <a:solidFill>
                            <a:schemeClr val="bg1"/>
                          </a:solidFill>
                        </a:rPr>
                        <a:t>toàn bộ frame</a:t>
                      </a:r>
                      <a:r>
                        <a:rPr lang="vi-VN" sz="1200">
                          <a:solidFill>
                            <a:schemeClr val="bg1"/>
                          </a:solidFill>
                        </a:rPr>
                        <a:t> được nhận đúng (không lỗi CRC, format...)</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751063795"/>
                  </a:ext>
                </a:extLst>
              </a:tr>
              <a:tr h="488420">
                <a:tc>
                  <a:txBody>
                    <a:bodyPr/>
                    <a:lstStyle/>
                    <a:p>
                      <a:r>
                        <a:rPr lang="vi-VN" sz="1200" b="1">
                          <a:solidFill>
                            <a:schemeClr val="bg1"/>
                          </a:solidFill>
                        </a:rPr>
                        <a:t>NACK nghĩa là gì</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Receiver không nhận được byte đó hoặc không muốn nhận tiếp</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b="1">
                          <a:solidFill>
                            <a:schemeClr val="bg1"/>
                          </a:solidFill>
                        </a:rPr>
                        <a:t>Không node nào</a:t>
                      </a:r>
                      <a:r>
                        <a:rPr lang="vi-VN" sz="1200">
                          <a:solidFill>
                            <a:schemeClr val="bg1"/>
                          </a:solidFill>
                        </a:rPr>
                        <a:t> trên bus nhận đúng frame → lỗi nghiêm trọng</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4197219372"/>
                  </a:ext>
                </a:extLst>
              </a:tr>
              <a:tr h="698000">
                <a:tc>
                  <a:txBody>
                    <a:bodyPr/>
                    <a:lstStyle/>
                    <a:p>
                      <a:r>
                        <a:rPr lang="vi-VN" sz="1200" b="1">
                          <a:solidFill>
                            <a:schemeClr val="bg1"/>
                          </a:solidFill>
                        </a:rPr>
                        <a:t>Error handling</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Rất cơ bản (chỉ báo lỗi từng byte)</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Mạnh mẽ: Nếu không có ACK → transmitter phát hiện lỗi và tự động </a:t>
                      </a:r>
                      <a:r>
                        <a:rPr lang="vi-VN" sz="1200" b="1">
                          <a:solidFill>
                            <a:schemeClr val="bg1"/>
                          </a:solidFill>
                        </a:rPr>
                        <a:t>retransmit</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463183070"/>
                  </a:ext>
                </a:extLst>
              </a:tr>
              <a:tr h="278840">
                <a:tc>
                  <a:txBody>
                    <a:bodyPr/>
                    <a:lstStyle/>
                    <a:p>
                      <a:r>
                        <a:rPr lang="vi-VN" sz="1200" b="1">
                          <a:solidFill>
                            <a:schemeClr val="bg1"/>
                          </a:solidFill>
                        </a:rPr>
                        <a:t>Số lượng ACK</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Nhiều (mỗi byte 1 lần)</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Chỉ </a:t>
                      </a:r>
                      <a:r>
                        <a:rPr lang="vi-VN" sz="1200" b="1">
                          <a:solidFill>
                            <a:schemeClr val="bg1"/>
                          </a:solidFill>
                        </a:rPr>
                        <a:t>1 lần</a:t>
                      </a:r>
                      <a:r>
                        <a:rPr lang="vi-VN" sz="1200">
                          <a:solidFill>
                            <a:schemeClr val="bg1"/>
                          </a:solidFill>
                        </a:rPr>
                        <a:t> cho cả message</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002985220"/>
                  </a:ext>
                </a:extLst>
              </a:tr>
              <a:tr h="698000">
                <a:tc>
                  <a:txBody>
                    <a:bodyPr/>
                    <a:lstStyle/>
                    <a:p>
                      <a:r>
                        <a:rPr lang="vi-VN" sz="1200" b="1">
                          <a:solidFill>
                            <a:schemeClr val="bg1"/>
                          </a:solidFill>
                        </a:rPr>
                        <a:t>Bus type</a:t>
                      </a:r>
                      <a:endParaRPr lang="vi-VN" sz="1200">
                        <a:solidFill>
                          <a:schemeClr val="bg1"/>
                        </a:solidFill>
                      </a:endParaRP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Master-Slave, có clock (SCL)</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r>
                        <a:rPr lang="vi-VN" sz="1200">
                          <a:solidFill>
                            <a:schemeClr val="bg1"/>
                          </a:solidFill>
                        </a:rPr>
                        <a:t>Multi-master, không clock, dùng arbitration và recessive/dominant</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665449291"/>
                  </a:ext>
                </a:extLst>
              </a:tr>
            </a:tbl>
          </a:graphicData>
        </a:graphic>
      </p:graphicFrame>
    </p:spTree>
    <p:extLst>
      <p:ext uri="{BB962C8B-B14F-4D97-AF65-F5344CB8AC3E}">
        <p14:creationId xmlns:p14="http://schemas.microsoft.com/office/powerpoint/2010/main" val="3585435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1893467" cy="584775"/>
          </a:xfrm>
          <a:prstGeom prst="rect">
            <a:avLst/>
          </a:prstGeom>
          <a:noFill/>
        </p:spPr>
        <p:txBody>
          <a:bodyPr wrap="none" rtlCol="0">
            <a:spAutoFit/>
          </a:bodyPr>
          <a:lstStyle/>
          <a:p>
            <a:r>
              <a:rPr lang="en-US" sz="3200" b="1">
                <a:solidFill>
                  <a:schemeClr val="bg1"/>
                </a:solidFill>
              </a:rPr>
              <a:t>ACK FIELD</a:t>
            </a:r>
            <a:endParaRPr lang="en-US" sz="3200" b="1" dirty="0">
              <a:solidFill>
                <a:schemeClr val="bg1"/>
              </a:solidFill>
            </a:endParaRPr>
          </a:p>
        </p:txBody>
      </p:sp>
      <p:sp>
        <p:nvSpPr>
          <p:cNvPr id="5" name="TextBox 4">
            <a:extLst>
              <a:ext uri="{FF2B5EF4-FFF2-40B4-BE49-F238E27FC236}">
                <a16:creationId xmlns:a16="http://schemas.microsoft.com/office/drawing/2014/main" id="{2658A2A1-50D9-6465-B254-49BA8CDAB3B7}"/>
              </a:ext>
            </a:extLst>
          </p:cNvPr>
          <p:cNvSpPr txBox="1"/>
          <p:nvPr/>
        </p:nvSpPr>
        <p:spPr>
          <a:xfrm>
            <a:off x="332509" y="1431636"/>
            <a:ext cx="11637818" cy="5078313"/>
          </a:xfrm>
          <a:prstGeom prst="rect">
            <a:avLst/>
          </a:prstGeom>
          <a:noFill/>
        </p:spPr>
        <p:txBody>
          <a:bodyPr wrap="square">
            <a:spAutoFit/>
          </a:bodyPr>
          <a:lstStyle/>
          <a:p>
            <a:pPr marL="342900" indent="-342900">
              <a:buAutoNum type="arabicPeriod"/>
            </a:pPr>
            <a:r>
              <a:rPr lang="vi-VN" b="1">
                <a:solidFill>
                  <a:schemeClr val="bg1"/>
                </a:solidFill>
              </a:rPr>
              <a:t>Nhắc lại cơ chế ACK trong CAN (rất khác I2C)</a:t>
            </a:r>
            <a:endParaRPr lang="en-US" b="1">
              <a:solidFill>
                <a:schemeClr val="bg1"/>
              </a:solidFill>
            </a:endParaRPr>
          </a:p>
          <a:p>
            <a:pPr marL="342900" indent="-342900">
              <a:buAutoNum type="arabicPeriod"/>
            </a:pPr>
            <a:endParaRPr lang="vi-VN" b="1">
              <a:solidFill>
                <a:schemeClr val="bg1"/>
              </a:solidFill>
            </a:endParaRPr>
          </a:p>
          <a:p>
            <a:pPr marL="285750" indent="-285750">
              <a:buFont typeface="Arial" panose="020B0604020202020204" pitchFamily="34" charset="0"/>
              <a:buChar char="•"/>
            </a:pPr>
            <a:r>
              <a:rPr lang="vi-VN">
                <a:solidFill>
                  <a:schemeClr val="bg1"/>
                </a:solidFill>
              </a:rPr>
              <a:t>Sau trường </a:t>
            </a:r>
            <a:r>
              <a:rPr lang="vi-VN" b="1">
                <a:solidFill>
                  <a:schemeClr val="bg1"/>
                </a:solidFill>
              </a:rPr>
              <a:t>CRC</a:t>
            </a:r>
            <a:r>
              <a:rPr lang="vi-VN">
                <a:solidFill>
                  <a:schemeClr val="bg1"/>
                </a:solidFill>
              </a:rPr>
              <a:t>, có </a:t>
            </a:r>
            <a:r>
              <a:rPr lang="vi-VN" b="1">
                <a:solidFill>
                  <a:schemeClr val="bg1"/>
                </a:solidFill>
              </a:rPr>
              <a:t>ACK Slot</a:t>
            </a:r>
            <a:r>
              <a:rPr lang="vi-VN">
                <a:solidFill>
                  <a:schemeClr val="bg1"/>
                </a:solidFill>
              </a:rPr>
              <a:t> (1 bit) + </a:t>
            </a:r>
            <a:r>
              <a:rPr lang="vi-VN" b="1">
                <a:solidFill>
                  <a:schemeClr val="bg1"/>
                </a:solidFill>
              </a:rPr>
              <a:t>ACK Delimiter</a:t>
            </a:r>
            <a:r>
              <a:rPr lang="vi-VN">
                <a:solidFill>
                  <a:schemeClr val="bg1"/>
                </a:solidFill>
              </a:rPr>
              <a:t> (1 bit recessive).</a:t>
            </a:r>
          </a:p>
          <a:p>
            <a:pPr marL="285750" indent="-285750">
              <a:buFont typeface="Arial" panose="020B0604020202020204" pitchFamily="34" charset="0"/>
              <a:buChar char="•"/>
            </a:pPr>
            <a:r>
              <a:rPr lang="vi-VN">
                <a:solidFill>
                  <a:schemeClr val="bg1"/>
                </a:solidFill>
              </a:rPr>
              <a:t>Transmitter (node gửi) luôn gửi </a:t>
            </a:r>
            <a:r>
              <a:rPr lang="vi-VN" b="1">
                <a:solidFill>
                  <a:schemeClr val="bg1"/>
                </a:solidFill>
              </a:rPr>
              <a:t>recessive (1)</a:t>
            </a:r>
            <a:r>
              <a:rPr lang="vi-VN">
                <a:solidFill>
                  <a:schemeClr val="bg1"/>
                </a:solidFill>
              </a:rPr>
              <a:t> ở ACK Slot.</a:t>
            </a:r>
          </a:p>
          <a:p>
            <a:pPr marL="285750" indent="-285750">
              <a:buFont typeface="Arial" panose="020B0604020202020204" pitchFamily="34" charset="0"/>
              <a:buChar char="•"/>
            </a:pPr>
            <a:r>
              <a:rPr lang="vi-VN">
                <a:solidFill>
                  <a:schemeClr val="bg1"/>
                </a:solidFill>
              </a:rPr>
              <a:t>Bất kỳ node nào nhận frame </a:t>
            </a:r>
            <a:r>
              <a:rPr lang="vi-VN" b="1">
                <a:solidFill>
                  <a:schemeClr val="bg1"/>
                </a:solidFill>
              </a:rPr>
              <a:t>đúng</a:t>
            </a:r>
            <a:r>
              <a:rPr lang="vi-VN">
                <a:solidFill>
                  <a:schemeClr val="bg1"/>
                </a:solidFill>
              </a:rPr>
              <a:t> (CRC OK, format OK, không lỗi) sẽ gửi </a:t>
            </a:r>
            <a:r>
              <a:rPr lang="vi-VN" b="1">
                <a:solidFill>
                  <a:schemeClr val="bg1"/>
                </a:solidFill>
              </a:rPr>
              <a:t>dominant (0)</a:t>
            </a:r>
            <a:r>
              <a:rPr lang="vi-VN">
                <a:solidFill>
                  <a:schemeClr val="bg1"/>
                </a:solidFill>
              </a:rPr>
              <a:t> để overwrite bit ACK.</a:t>
            </a:r>
          </a:p>
          <a:p>
            <a:pPr marL="285750" indent="-285750">
              <a:buFont typeface="Arial" panose="020B0604020202020204" pitchFamily="34" charset="0"/>
              <a:buChar char="•"/>
            </a:pPr>
            <a:r>
              <a:rPr lang="vi-VN">
                <a:solidFill>
                  <a:schemeClr val="bg1"/>
                </a:solidFill>
              </a:rPr>
              <a:t>Transmitter đọc lại bus: Nếu thấy </a:t>
            </a:r>
            <a:r>
              <a:rPr lang="vi-VN" b="1">
                <a:solidFill>
                  <a:schemeClr val="bg1"/>
                </a:solidFill>
              </a:rPr>
              <a:t>dominant (0)</a:t>
            </a:r>
            <a:r>
              <a:rPr lang="vi-VN">
                <a:solidFill>
                  <a:schemeClr val="bg1"/>
                </a:solidFill>
              </a:rPr>
              <a:t> → ACK thành công (có ít nhất 1 node nhận được).</a:t>
            </a:r>
          </a:p>
          <a:p>
            <a:pPr marL="285750" indent="-285750">
              <a:buFont typeface="Arial" panose="020B0604020202020204" pitchFamily="34" charset="0"/>
              <a:buChar char="•"/>
            </a:pPr>
            <a:r>
              <a:rPr lang="vi-VN">
                <a:solidFill>
                  <a:schemeClr val="bg1"/>
                </a:solidFill>
              </a:rPr>
              <a:t>Nếu vẫn là </a:t>
            </a:r>
            <a:r>
              <a:rPr lang="vi-VN" b="1">
                <a:solidFill>
                  <a:schemeClr val="bg1"/>
                </a:solidFill>
              </a:rPr>
              <a:t>recessive (1)</a:t>
            </a:r>
            <a:r>
              <a:rPr lang="vi-VN">
                <a:solidFill>
                  <a:schemeClr val="bg1"/>
                </a:solidFill>
              </a:rPr>
              <a:t> → </a:t>
            </a:r>
            <a:r>
              <a:rPr lang="vi-VN" b="1">
                <a:solidFill>
                  <a:schemeClr val="bg1"/>
                </a:solidFill>
              </a:rPr>
              <a:t>ACK Error</a:t>
            </a:r>
            <a:r>
              <a:rPr lang="vi-VN">
                <a:solidFill>
                  <a:schemeClr val="bg1"/>
                </a:solidFill>
              </a:rPr>
              <a:t>.</a:t>
            </a:r>
          </a:p>
          <a:p>
            <a:r>
              <a:rPr lang="vi-VN" b="1">
                <a:solidFill>
                  <a:schemeClr val="bg1"/>
                </a:solidFill>
                <a:effectLst/>
              </a:rPr>
              <a:t>ACK Error</a:t>
            </a:r>
            <a:r>
              <a:rPr lang="vi-VN">
                <a:solidFill>
                  <a:schemeClr val="bg1"/>
                </a:solidFill>
                <a:effectLst/>
              </a:rPr>
              <a:t> chỉ do </a:t>
            </a:r>
            <a:r>
              <a:rPr lang="vi-VN" b="1">
                <a:solidFill>
                  <a:schemeClr val="bg1"/>
                </a:solidFill>
                <a:effectLst/>
              </a:rPr>
              <a:t>transmitter</a:t>
            </a:r>
            <a:r>
              <a:rPr lang="vi-VN">
                <a:solidFill>
                  <a:schemeClr val="bg1"/>
                </a:solidFill>
                <a:effectLst/>
              </a:rPr>
              <a:t> phát hiện, không phải receiver.</a:t>
            </a:r>
            <a:endParaRPr lang="en-US">
              <a:solidFill>
                <a:schemeClr val="bg1"/>
              </a:solidFill>
              <a:effectLst/>
            </a:endParaRPr>
          </a:p>
          <a:p>
            <a:endParaRPr lang="vi-VN">
              <a:solidFill>
                <a:schemeClr val="bg1"/>
              </a:solidFill>
              <a:effectLst/>
            </a:endParaRPr>
          </a:p>
          <a:p>
            <a:r>
              <a:rPr lang="vi-VN" b="1">
                <a:solidFill>
                  <a:schemeClr val="bg1"/>
                </a:solidFill>
              </a:rPr>
              <a:t>2. Lưu ý quan trọng về ACK trong CAN</a:t>
            </a:r>
            <a:endParaRPr lang="en-US" b="1">
              <a:solidFill>
                <a:schemeClr val="bg1"/>
              </a:solidFill>
            </a:endParaRPr>
          </a:p>
          <a:p>
            <a:endParaRPr lang="vi-VN" b="1">
              <a:solidFill>
                <a:schemeClr val="bg1"/>
              </a:solidFill>
            </a:endParaRPr>
          </a:p>
          <a:p>
            <a:r>
              <a:rPr lang="vi-VN" b="1">
                <a:solidFill>
                  <a:schemeClr val="bg1"/>
                </a:solidFill>
              </a:rPr>
              <a:t>ACK là global (broadcast)</a:t>
            </a:r>
            <a:r>
              <a:rPr lang="vi-VN">
                <a:solidFill>
                  <a:schemeClr val="bg1"/>
                </a:solidFill>
              </a:rPr>
              <a:t>: Không phân biệt node nào nhận, chỉ cần </a:t>
            </a:r>
            <a:r>
              <a:rPr lang="vi-VN" b="1">
                <a:solidFill>
                  <a:schemeClr val="bg1"/>
                </a:solidFill>
              </a:rPr>
              <a:t>ít nhất 1 node</a:t>
            </a:r>
            <a:r>
              <a:rPr lang="vi-VN">
                <a:solidFill>
                  <a:schemeClr val="bg1"/>
                </a:solidFill>
              </a:rPr>
              <a:t> trên bus nhận đúng là có ACK. Không thể biết chính xác message đã đến đúng node đích hay chưa (đây là hạn chế của CAN).</a:t>
            </a:r>
            <a:endParaRPr lang="en-US">
              <a:solidFill>
                <a:schemeClr val="bg1"/>
              </a:solidFill>
            </a:endParaRPr>
          </a:p>
          <a:p>
            <a:endParaRPr lang="vi-VN">
              <a:solidFill>
                <a:schemeClr val="bg1"/>
              </a:solidFill>
            </a:endParaRPr>
          </a:p>
          <a:p>
            <a:pPr marL="285750" indent="-285750">
              <a:buFont typeface="Wingdings" panose="05000000000000000000" pitchFamily="2" charset="2"/>
              <a:buChar char="q"/>
            </a:pPr>
            <a:r>
              <a:rPr lang="vi-VN">
                <a:solidFill>
                  <a:schemeClr val="bg1"/>
                </a:solidFill>
              </a:rPr>
              <a:t>Khi xảy ra </a:t>
            </a:r>
            <a:r>
              <a:rPr lang="vi-VN" b="1">
                <a:solidFill>
                  <a:schemeClr val="bg1"/>
                </a:solidFill>
              </a:rPr>
              <a:t>ACK Error</a:t>
            </a:r>
            <a:r>
              <a:rPr lang="vi-VN">
                <a:solidFill>
                  <a:schemeClr val="bg1"/>
                </a:solidFill>
              </a:rPr>
              <a:t>:</a:t>
            </a:r>
          </a:p>
          <a:p>
            <a:pPr marL="742950" lvl="1" indent="-285750">
              <a:buFont typeface="Arial" panose="020B0604020202020204" pitchFamily="34" charset="0"/>
              <a:buChar char="•"/>
            </a:pPr>
            <a:r>
              <a:rPr lang="vi-VN">
                <a:solidFill>
                  <a:schemeClr val="bg1"/>
                </a:solidFill>
              </a:rPr>
              <a:t>Transmitter lập tức gửi </a:t>
            </a:r>
            <a:r>
              <a:rPr lang="vi-VN" b="1">
                <a:solidFill>
                  <a:schemeClr val="bg1"/>
                </a:solidFill>
              </a:rPr>
              <a:t>Error Frame</a:t>
            </a:r>
            <a:r>
              <a:rPr lang="vi-VN">
                <a:solidFill>
                  <a:schemeClr val="bg1"/>
                </a:solidFill>
              </a:rPr>
              <a:t> (6 dominant bits ở Error Active, hoặc 6 recessive ở Error Passive).</a:t>
            </a:r>
          </a:p>
          <a:p>
            <a:pPr marL="742950" lvl="1" indent="-285750">
              <a:buFont typeface="Arial" panose="020B0604020202020204" pitchFamily="34" charset="0"/>
              <a:buChar char="•"/>
            </a:pPr>
            <a:r>
              <a:rPr lang="vi-VN">
                <a:solidFill>
                  <a:schemeClr val="bg1"/>
                </a:solidFill>
              </a:rPr>
              <a:t>Toàn bộ frame bị hủy (các node khác cũng bỏ qua).</a:t>
            </a:r>
          </a:p>
          <a:p>
            <a:pPr marL="742950" lvl="1" indent="-285750">
              <a:buFont typeface="Arial" panose="020B0604020202020204" pitchFamily="34" charset="0"/>
              <a:buChar char="•"/>
            </a:pPr>
            <a:r>
              <a:rPr lang="vi-VN">
                <a:solidFill>
                  <a:schemeClr val="bg1"/>
                </a:solidFill>
              </a:rPr>
              <a:t>Message sẽ được </a:t>
            </a:r>
            <a:r>
              <a:rPr lang="vi-VN" b="1">
                <a:solidFill>
                  <a:schemeClr val="bg1"/>
                </a:solidFill>
              </a:rPr>
              <a:t>tự động retransmit</a:t>
            </a:r>
            <a:r>
              <a:rPr lang="vi-VN">
                <a:solidFill>
                  <a:schemeClr val="bg1"/>
                </a:solidFill>
              </a:rPr>
              <a:t> (tự động bởi CAN controller, không cần phần mềm can thiệp).</a:t>
            </a:r>
          </a:p>
        </p:txBody>
      </p:sp>
    </p:spTree>
    <p:extLst>
      <p:ext uri="{BB962C8B-B14F-4D97-AF65-F5344CB8AC3E}">
        <p14:creationId xmlns:p14="http://schemas.microsoft.com/office/powerpoint/2010/main" val="24948058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solidFill>
                  <a:schemeClr val="bg1"/>
                </a:solidFill>
              </a:rPr>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1893467" cy="584775"/>
          </a:xfrm>
          <a:prstGeom prst="rect">
            <a:avLst/>
          </a:prstGeom>
          <a:noFill/>
        </p:spPr>
        <p:txBody>
          <a:bodyPr wrap="none" rtlCol="0">
            <a:spAutoFit/>
          </a:bodyPr>
          <a:lstStyle/>
          <a:p>
            <a:r>
              <a:rPr lang="en-US" sz="3200" b="1">
                <a:solidFill>
                  <a:schemeClr val="bg1"/>
                </a:solidFill>
              </a:rPr>
              <a:t>ACK FIELD</a:t>
            </a:r>
            <a:endParaRPr lang="en-US" sz="3200" b="1" dirty="0">
              <a:solidFill>
                <a:schemeClr val="bg1"/>
              </a:solidFill>
            </a:endParaRPr>
          </a:p>
        </p:txBody>
      </p:sp>
      <p:sp>
        <p:nvSpPr>
          <p:cNvPr id="5" name="TextBox 4">
            <a:extLst>
              <a:ext uri="{FF2B5EF4-FFF2-40B4-BE49-F238E27FC236}">
                <a16:creationId xmlns:a16="http://schemas.microsoft.com/office/drawing/2014/main" id="{2658A2A1-50D9-6465-B254-49BA8CDAB3B7}"/>
              </a:ext>
            </a:extLst>
          </p:cNvPr>
          <p:cNvSpPr txBox="1"/>
          <p:nvPr/>
        </p:nvSpPr>
        <p:spPr>
          <a:xfrm>
            <a:off x="332509" y="1431636"/>
            <a:ext cx="11637818" cy="2308324"/>
          </a:xfrm>
          <a:prstGeom prst="rect">
            <a:avLst/>
          </a:prstGeom>
          <a:noFill/>
        </p:spPr>
        <p:txBody>
          <a:bodyPr wrap="square">
            <a:spAutoFit/>
          </a:bodyPr>
          <a:lstStyle/>
          <a:p>
            <a:pPr marL="285750" indent="-285750">
              <a:buFont typeface="Wingdings" panose="05000000000000000000" pitchFamily="2" charset="2"/>
              <a:buChar char="q"/>
            </a:pPr>
            <a:r>
              <a:rPr lang="vi-VN" b="1">
                <a:solidFill>
                  <a:schemeClr val="bg1"/>
                </a:solidFill>
                <a:effectLst/>
              </a:rPr>
              <a:t>Làm sao để biết “không có node nào nhận” </a:t>
            </a:r>
            <a:r>
              <a:rPr lang="en-US" b="1">
                <a:solidFill>
                  <a:schemeClr val="bg1"/>
                </a:solidFill>
                <a:effectLst/>
              </a:rPr>
              <a:t>?</a:t>
            </a:r>
          </a:p>
          <a:p>
            <a:endParaRPr lang="en-US" b="1">
              <a:solidFill>
                <a:schemeClr val="bg1"/>
              </a:solidFill>
            </a:endParaRPr>
          </a:p>
          <a:p>
            <a:pPr marL="285750" indent="-285750">
              <a:buFont typeface="Wingdings" panose="05000000000000000000" pitchFamily="2" charset="2"/>
              <a:buChar char="Ø"/>
            </a:pPr>
            <a:r>
              <a:rPr lang="vi-VN">
                <a:solidFill>
                  <a:schemeClr val="bg1"/>
                </a:solidFill>
                <a:effectLst/>
              </a:rPr>
              <a:t>CAN controller kiểm tra ngay lập tức trong </a:t>
            </a:r>
            <a:r>
              <a:rPr lang="vi-VN" b="1">
                <a:solidFill>
                  <a:schemeClr val="bg1"/>
                </a:solidFill>
                <a:effectLst/>
              </a:rPr>
              <a:t>1 bit </a:t>
            </a:r>
            <a:r>
              <a:rPr lang="en-US" b="1">
                <a:solidFill>
                  <a:schemeClr val="bg1"/>
                </a:solidFill>
                <a:effectLst/>
              </a:rPr>
              <a:t>time</a:t>
            </a:r>
            <a:r>
              <a:rPr lang="vi-VN" b="1">
                <a:solidFill>
                  <a:schemeClr val="bg1"/>
                </a:solidFill>
                <a:effectLst/>
              </a:rPr>
              <a:t> </a:t>
            </a:r>
            <a:r>
              <a:rPr lang="vi-VN">
                <a:solidFill>
                  <a:schemeClr val="bg1"/>
                </a:solidFill>
                <a:effectLst/>
              </a:rPr>
              <a:t>rất ngắn</a:t>
            </a:r>
          </a:p>
          <a:p>
            <a:endParaRPr lang="en-US" b="1">
              <a:solidFill>
                <a:schemeClr val="bg1"/>
              </a:solidFill>
              <a:effectLst/>
            </a:endParaRPr>
          </a:p>
          <a:p>
            <a:pPr marL="285750" indent="-285750">
              <a:buFont typeface="Wingdings" panose="05000000000000000000" pitchFamily="2" charset="2"/>
              <a:buChar char="q"/>
            </a:pPr>
            <a:r>
              <a:rPr lang="vi-VN" b="1">
                <a:solidFill>
                  <a:schemeClr val="bg1"/>
                </a:solidFill>
              </a:rPr>
              <a:t>Thời gian cụ thể là bao lâu?</a:t>
            </a:r>
            <a:endParaRPr lang="en-US" b="1">
              <a:solidFill>
                <a:schemeClr val="bg1"/>
              </a:solidFill>
            </a:endParaRPr>
          </a:p>
          <a:p>
            <a:endParaRPr lang="vi-VN" b="1">
              <a:solidFill>
                <a:schemeClr val="bg1"/>
              </a:solidFill>
            </a:endParaRPr>
          </a:p>
          <a:p>
            <a:r>
              <a:rPr lang="vi-VN">
                <a:solidFill>
                  <a:schemeClr val="bg1"/>
                </a:solidFill>
                <a:effectLst/>
              </a:rPr>
              <a:t>Thời gian của </a:t>
            </a:r>
            <a:r>
              <a:rPr lang="vi-VN" b="1">
                <a:solidFill>
                  <a:schemeClr val="bg1"/>
                </a:solidFill>
                <a:effectLst/>
              </a:rPr>
              <a:t>1 bit</a:t>
            </a:r>
            <a:r>
              <a:rPr lang="vi-VN">
                <a:solidFill>
                  <a:schemeClr val="bg1"/>
                </a:solidFill>
                <a:effectLst/>
              </a:rPr>
              <a:t> phụ thuộc vào </a:t>
            </a:r>
            <a:r>
              <a:rPr lang="vi-VN" b="1">
                <a:solidFill>
                  <a:schemeClr val="bg1"/>
                </a:solidFill>
                <a:effectLst/>
              </a:rPr>
              <a:t>tốc độ baudrate</a:t>
            </a:r>
            <a:r>
              <a:rPr lang="vi-VN">
                <a:solidFill>
                  <a:schemeClr val="bg1"/>
                </a:solidFill>
                <a:effectLst/>
              </a:rPr>
              <a:t> đang dùng:</a:t>
            </a:r>
          </a:p>
          <a:p>
            <a:endParaRPr lang="vi-VN" b="1">
              <a:solidFill>
                <a:schemeClr val="bg1"/>
              </a:solidFill>
              <a:effectLst/>
            </a:endParaRPr>
          </a:p>
        </p:txBody>
      </p:sp>
      <p:graphicFrame>
        <p:nvGraphicFramePr>
          <p:cNvPr id="6" name="Table 5">
            <a:extLst>
              <a:ext uri="{FF2B5EF4-FFF2-40B4-BE49-F238E27FC236}">
                <a16:creationId xmlns:a16="http://schemas.microsoft.com/office/drawing/2014/main" id="{563D8785-EC6B-B8D9-D710-4541889C9014}"/>
              </a:ext>
            </a:extLst>
          </p:cNvPr>
          <p:cNvGraphicFramePr>
            <a:graphicFrameLocks noGrp="1"/>
          </p:cNvGraphicFramePr>
          <p:nvPr>
            <p:extLst>
              <p:ext uri="{D42A27DB-BD31-4B8C-83A1-F6EECF244321}">
                <p14:modId xmlns:p14="http://schemas.microsoft.com/office/powerpoint/2010/main" val="1443363161"/>
              </p:ext>
            </p:extLst>
          </p:nvPr>
        </p:nvGraphicFramePr>
        <p:xfrm>
          <a:off x="414529" y="3597564"/>
          <a:ext cx="10515600" cy="1828800"/>
        </p:xfrm>
        <a:graphic>
          <a:graphicData uri="http://schemas.openxmlformats.org/drawingml/2006/table">
            <a:tbl>
              <a:tblPr/>
              <a:tblGrid>
                <a:gridCol w="3505200">
                  <a:extLst>
                    <a:ext uri="{9D8B030D-6E8A-4147-A177-3AD203B41FA5}">
                      <a16:colId xmlns:a16="http://schemas.microsoft.com/office/drawing/2014/main" val="3949877101"/>
                    </a:ext>
                  </a:extLst>
                </a:gridCol>
                <a:gridCol w="3505200">
                  <a:extLst>
                    <a:ext uri="{9D8B030D-6E8A-4147-A177-3AD203B41FA5}">
                      <a16:colId xmlns:a16="http://schemas.microsoft.com/office/drawing/2014/main" val="3060067440"/>
                    </a:ext>
                  </a:extLst>
                </a:gridCol>
                <a:gridCol w="3505200">
                  <a:extLst>
                    <a:ext uri="{9D8B030D-6E8A-4147-A177-3AD203B41FA5}">
                      <a16:colId xmlns:a16="http://schemas.microsoft.com/office/drawing/2014/main" val="2467191597"/>
                    </a:ext>
                  </a:extLst>
                </a:gridCol>
              </a:tblGrid>
              <a:tr h="0">
                <a:tc>
                  <a:txBody>
                    <a:bodyPr/>
                    <a:lstStyle/>
                    <a:p>
                      <a:r>
                        <a:rPr lang="vi-VN">
                          <a:solidFill>
                            <a:schemeClr val="bg1"/>
                          </a:solidFill>
                        </a:rPr>
                        <a:t>Baudrate</a:t>
                      </a:r>
                    </a:p>
                  </a:txBody>
                  <a:tcPr anchor="ctr">
                    <a:lnL>
                      <a:noFill/>
                    </a:lnL>
                    <a:lnR>
                      <a:noFill/>
                    </a:lnR>
                    <a:lnT>
                      <a:noFill/>
                    </a:lnT>
                    <a:lnB>
                      <a:noFill/>
                    </a:lnB>
                    <a:noFill/>
                  </a:tcPr>
                </a:tc>
                <a:tc>
                  <a:txBody>
                    <a:bodyPr/>
                    <a:lstStyle/>
                    <a:p>
                      <a:r>
                        <a:rPr lang="vi-VN">
                          <a:solidFill>
                            <a:schemeClr val="bg1"/>
                          </a:solidFill>
                        </a:rPr>
                        <a:t>Thời gian 1 bit</a:t>
                      </a:r>
                    </a:p>
                  </a:txBody>
                  <a:tcPr anchor="ctr">
                    <a:lnL>
                      <a:noFill/>
                    </a:lnL>
                    <a:lnR>
                      <a:noFill/>
                    </a:lnR>
                    <a:lnT>
                      <a:noFill/>
                    </a:lnT>
                    <a:lnB>
                      <a:noFill/>
                    </a:lnB>
                    <a:noFill/>
                  </a:tcPr>
                </a:tc>
                <a:tc>
                  <a:txBody>
                    <a:bodyPr/>
                    <a:lstStyle/>
                    <a:p>
                      <a:r>
                        <a:rPr lang="en-US">
                          <a:solidFill>
                            <a:schemeClr val="bg1"/>
                          </a:solidFill>
                        </a:rPr>
                        <a:t>Thời gian ACK Slot (1 bit)</a:t>
                      </a:r>
                    </a:p>
                  </a:txBody>
                  <a:tcPr anchor="ctr">
                    <a:lnL>
                      <a:noFill/>
                    </a:lnL>
                    <a:lnR>
                      <a:noFill/>
                    </a:lnR>
                    <a:lnT>
                      <a:noFill/>
                    </a:lnT>
                    <a:lnB>
                      <a:noFill/>
                    </a:lnB>
                    <a:noFill/>
                  </a:tcPr>
                </a:tc>
                <a:extLst>
                  <a:ext uri="{0D108BD9-81ED-4DB2-BD59-A6C34878D82A}">
                    <a16:rowId xmlns:a16="http://schemas.microsoft.com/office/drawing/2014/main" val="3524161855"/>
                  </a:ext>
                </a:extLst>
              </a:tr>
              <a:tr h="0">
                <a:tc>
                  <a:txBody>
                    <a:bodyPr/>
                    <a:lstStyle/>
                    <a:p>
                      <a:r>
                        <a:rPr lang="vi-VN">
                          <a:solidFill>
                            <a:schemeClr val="bg1"/>
                          </a:solidFill>
                        </a:rPr>
                        <a:t>500 kbps</a:t>
                      </a:r>
                    </a:p>
                  </a:txBody>
                  <a:tcPr anchor="ctr">
                    <a:lnL>
                      <a:noFill/>
                    </a:lnL>
                    <a:lnR>
                      <a:noFill/>
                    </a:lnR>
                    <a:lnT>
                      <a:noFill/>
                    </a:lnT>
                    <a:lnB>
                      <a:noFill/>
                    </a:lnB>
                    <a:noFill/>
                  </a:tcPr>
                </a:tc>
                <a:tc>
                  <a:txBody>
                    <a:bodyPr/>
                    <a:lstStyle/>
                    <a:p>
                      <a:r>
                        <a:rPr lang="vi-VN">
                          <a:solidFill>
                            <a:schemeClr val="bg1"/>
                          </a:solidFill>
                        </a:rPr>
                        <a:t>2 µs</a:t>
                      </a:r>
                    </a:p>
                  </a:txBody>
                  <a:tcPr anchor="ctr">
                    <a:lnL>
                      <a:noFill/>
                    </a:lnL>
                    <a:lnR>
                      <a:noFill/>
                    </a:lnR>
                    <a:lnT>
                      <a:noFill/>
                    </a:lnT>
                    <a:lnB>
                      <a:noFill/>
                    </a:lnB>
                    <a:noFill/>
                  </a:tcPr>
                </a:tc>
                <a:tc>
                  <a:txBody>
                    <a:bodyPr/>
                    <a:lstStyle/>
                    <a:p>
                      <a:r>
                        <a:rPr lang="vi-VN">
                          <a:solidFill>
                            <a:schemeClr val="bg1"/>
                          </a:solidFill>
                        </a:rPr>
                        <a:t>2 µs</a:t>
                      </a:r>
                    </a:p>
                  </a:txBody>
                  <a:tcPr anchor="ctr">
                    <a:lnL>
                      <a:noFill/>
                    </a:lnL>
                    <a:lnR>
                      <a:noFill/>
                    </a:lnR>
                    <a:lnT>
                      <a:noFill/>
                    </a:lnT>
                    <a:lnB>
                      <a:noFill/>
                    </a:lnB>
                    <a:noFill/>
                  </a:tcPr>
                </a:tc>
                <a:extLst>
                  <a:ext uri="{0D108BD9-81ED-4DB2-BD59-A6C34878D82A}">
                    <a16:rowId xmlns:a16="http://schemas.microsoft.com/office/drawing/2014/main" val="1690371448"/>
                  </a:ext>
                </a:extLst>
              </a:tr>
              <a:tr h="0">
                <a:tc>
                  <a:txBody>
                    <a:bodyPr/>
                    <a:lstStyle/>
                    <a:p>
                      <a:r>
                        <a:rPr lang="vi-VN">
                          <a:solidFill>
                            <a:schemeClr val="bg1"/>
                          </a:solidFill>
                        </a:rPr>
                        <a:t>1 Mbps</a:t>
                      </a:r>
                    </a:p>
                  </a:txBody>
                  <a:tcPr anchor="ctr">
                    <a:lnL>
                      <a:noFill/>
                    </a:lnL>
                    <a:lnR>
                      <a:noFill/>
                    </a:lnR>
                    <a:lnT>
                      <a:noFill/>
                    </a:lnT>
                    <a:lnB>
                      <a:noFill/>
                    </a:lnB>
                    <a:noFill/>
                  </a:tcPr>
                </a:tc>
                <a:tc>
                  <a:txBody>
                    <a:bodyPr/>
                    <a:lstStyle/>
                    <a:p>
                      <a:r>
                        <a:rPr lang="vi-VN">
                          <a:solidFill>
                            <a:schemeClr val="bg1"/>
                          </a:solidFill>
                        </a:rPr>
                        <a:t>1 µs</a:t>
                      </a:r>
                    </a:p>
                  </a:txBody>
                  <a:tcPr anchor="ctr">
                    <a:lnL>
                      <a:noFill/>
                    </a:lnL>
                    <a:lnR>
                      <a:noFill/>
                    </a:lnR>
                    <a:lnT>
                      <a:noFill/>
                    </a:lnT>
                    <a:lnB>
                      <a:noFill/>
                    </a:lnB>
                    <a:noFill/>
                  </a:tcPr>
                </a:tc>
                <a:tc>
                  <a:txBody>
                    <a:bodyPr/>
                    <a:lstStyle/>
                    <a:p>
                      <a:r>
                        <a:rPr lang="vi-VN">
                          <a:solidFill>
                            <a:schemeClr val="bg1"/>
                          </a:solidFill>
                        </a:rPr>
                        <a:t>1 µs</a:t>
                      </a:r>
                    </a:p>
                  </a:txBody>
                  <a:tcPr anchor="ctr">
                    <a:lnL>
                      <a:noFill/>
                    </a:lnL>
                    <a:lnR>
                      <a:noFill/>
                    </a:lnR>
                    <a:lnT>
                      <a:noFill/>
                    </a:lnT>
                    <a:lnB>
                      <a:noFill/>
                    </a:lnB>
                    <a:noFill/>
                  </a:tcPr>
                </a:tc>
                <a:extLst>
                  <a:ext uri="{0D108BD9-81ED-4DB2-BD59-A6C34878D82A}">
                    <a16:rowId xmlns:a16="http://schemas.microsoft.com/office/drawing/2014/main" val="3161195679"/>
                  </a:ext>
                </a:extLst>
              </a:tr>
              <a:tr h="0">
                <a:tc>
                  <a:txBody>
                    <a:bodyPr/>
                    <a:lstStyle/>
                    <a:p>
                      <a:r>
                        <a:rPr lang="vi-VN">
                          <a:solidFill>
                            <a:schemeClr val="bg1"/>
                          </a:solidFill>
                        </a:rPr>
                        <a:t>250 kbps</a:t>
                      </a:r>
                    </a:p>
                  </a:txBody>
                  <a:tcPr anchor="ctr">
                    <a:lnL>
                      <a:noFill/>
                    </a:lnL>
                    <a:lnR>
                      <a:noFill/>
                    </a:lnR>
                    <a:lnT>
                      <a:noFill/>
                    </a:lnT>
                    <a:lnB>
                      <a:noFill/>
                    </a:lnB>
                    <a:noFill/>
                  </a:tcPr>
                </a:tc>
                <a:tc>
                  <a:txBody>
                    <a:bodyPr/>
                    <a:lstStyle/>
                    <a:p>
                      <a:r>
                        <a:rPr lang="vi-VN">
                          <a:solidFill>
                            <a:schemeClr val="bg1"/>
                          </a:solidFill>
                        </a:rPr>
                        <a:t>4 µs</a:t>
                      </a:r>
                    </a:p>
                  </a:txBody>
                  <a:tcPr anchor="ctr">
                    <a:lnL>
                      <a:noFill/>
                    </a:lnL>
                    <a:lnR>
                      <a:noFill/>
                    </a:lnR>
                    <a:lnT>
                      <a:noFill/>
                    </a:lnT>
                    <a:lnB>
                      <a:noFill/>
                    </a:lnB>
                    <a:noFill/>
                  </a:tcPr>
                </a:tc>
                <a:tc>
                  <a:txBody>
                    <a:bodyPr/>
                    <a:lstStyle/>
                    <a:p>
                      <a:r>
                        <a:rPr lang="vi-VN">
                          <a:solidFill>
                            <a:schemeClr val="bg1"/>
                          </a:solidFill>
                        </a:rPr>
                        <a:t>4 µs</a:t>
                      </a:r>
                    </a:p>
                  </a:txBody>
                  <a:tcPr anchor="ctr">
                    <a:lnL>
                      <a:noFill/>
                    </a:lnL>
                    <a:lnR>
                      <a:noFill/>
                    </a:lnR>
                    <a:lnT>
                      <a:noFill/>
                    </a:lnT>
                    <a:lnB>
                      <a:noFill/>
                    </a:lnB>
                    <a:noFill/>
                  </a:tcPr>
                </a:tc>
                <a:extLst>
                  <a:ext uri="{0D108BD9-81ED-4DB2-BD59-A6C34878D82A}">
                    <a16:rowId xmlns:a16="http://schemas.microsoft.com/office/drawing/2014/main" val="4168130815"/>
                  </a:ext>
                </a:extLst>
              </a:tr>
              <a:tr h="0">
                <a:tc>
                  <a:txBody>
                    <a:bodyPr/>
                    <a:lstStyle/>
                    <a:p>
                      <a:r>
                        <a:rPr lang="vi-VN">
                          <a:solidFill>
                            <a:schemeClr val="bg1"/>
                          </a:solidFill>
                        </a:rPr>
                        <a:t>125 kbps</a:t>
                      </a:r>
                    </a:p>
                  </a:txBody>
                  <a:tcPr anchor="ctr">
                    <a:lnL>
                      <a:noFill/>
                    </a:lnL>
                    <a:lnR>
                      <a:noFill/>
                    </a:lnR>
                    <a:lnT>
                      <a:noFill/>
                    </a:lnT>
                    <a:lnB>
                      <a:noFill/>
                    </a:lnB>
                    <a:noFill/>
                  </a:tcPr>
                </a:tc>
                <a:tc>
                  <a:txBody>
                    <a:bodyPr/>
                    <a:lstStyle/>
                    <a:p>
                      <a:r>
                        <a:rPr lang="vi-VN">
                          <a:solidFill>
                            <a:schemeClr val="bg1"/>
                          </a:solidFill>
                        </a:rPr>
                        <a:t>8 µs</a:t>
                      </a:r>
                    </a:p>
                  </a:txBody>
                  <a:tcPr anchor="ctr">
                    <a:lnL>
                      <a:noFill/>
                    </a:lnL>
                    <a:lnR>
                      <a:noFill/>
                    </a:lnR>
                    <a:lnT>
                      <a:noFill/>
                    </a:lnT>
                    <a:lnB>
                      <a:noFill/>
                    </a:lnB>
                    <a:noFill/>
                  </a:tcPr>
                </a:tc>
                <a:tc>
                  <a:txBody>
                    <a:bodyPr/>
                    <a:lstStyle/>
                    <a:p>
                      <a:r>
                        <a:rPr lang="vi-VN">
                          <a:solidFill>
                            <a:schemeClr val="bg1"/>
                          </a:solidFill>
                        </a:rPr>
                        <a:t>8 µs</a:t>
                      </a:r>
                    </a:p>
                  </a:txBody>
                  <a:tcPr anchor="ctr">
                    <a:lnL>
                      <a:noFill/>
                    </a:lnL>
                    <a:lnR>
                      <a:noFill/>
                    </a:lnR>
                    <a:lnT>
                      <a:noFill/>
                    </a:lnT>
                    <a:lnB>
                      <a:noFill/>
                    </a:lnB>
                    <a:noFill/>
                  </a:tcPr>
                </a:tc>
                <a:extLst>
                  <a:ext uri="{0D108BD9-81ED-4DB2-BD59-A6C34878D82A}">
                    <a16:rowId xmlns:a16="http://schemas.microsoft.com/office/drawing/2014/main" val="250703920"/>
                  </a:ext>
                </a:extLst>
              </a:tr>
            </a:tbl>
          </a:graphicData>
        </a:graphic>
      </p:graphicFrame>
      <p:sp>
        <p:nvSpPr>
          <p:cNvPr id="8" name="TextBox 7">
            <a:extLst>
              <a:ext uri="{FF2B5EF4-FFF2-40B4-BE49-F238E27FC236}">
                <a16:creationId xmlns:a16="http://schemas.microsoft.com/office/drawing/2014/main" id="{92D54190-4C6C-8A6D-5B69-25F1DD9231C1}"/>
              </a:ext>
            </a:extLst>
          </p:cNvPr>
          <p:cNvSpPr txBox="1"/>
          <p:nvPr/>
        </p:nvSpPr>
        <p:spPr>
          <a:xfrm>
            <a:off x="414529" y="5547455"/>
            <a:ext cx="11121689" cy="646331"/>
          </a:xfrm>
          <a:prstGeom prst="rect">
            <a:avLst/>
          </a:prstGeom>
          <a:noFill/>
        </p:spPr>
        <p:txBody>
          <a:bodyPr wrap="square">
            <a:spAutoFit/>
          </a:bodyPr>
          <a:lstStyle/>
          <a:p>
            <a:r>
              <a:rPr lang="vi-VN">
                <a:solidFill>
                  <a:schemeClr val="bg1"/>
                </a:solidFill>
                <a:effectLst/>
              </a:rPr>
              <a:t>Kết luận: Nếu sau 1 bit thời gian (thường chỉ 1–2 µs) mà bus vẫn là recessive (1), transmitter lập tức coi là không có node nào nhận và báo ACK Error.</a:t>
            </a:r>
          </a:p>
        </p:txBody>
      </p:sp>
    </p:spTree>
    <p:extLst>
      <p:ext uri="{BB962C8B-B14F-4D97-AF65-F5344CB8AC3E}">
        <p14:creationId xmlns:p14="http://schemas.microsoft.com/office/powerpoint/2010/main" val="31075481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solidFill>
                  <a:schemeClr val="bg1"/>
                </a:solidFill>
              </a:rPr>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1893467" cy="584775"/>
          </a:xfrm>
          <a:prstGeom prst="rect">
            <a:avLst/>
          </a:prstGeom>
          <a:noFill/>
        </p:spPr>
        <p:txBody>
          <a:bodyPr wrap="none" rtlCol="0">
            <a:spAutoFit/>
          </a:bodyPr>
          <a:lstStyle/>
          <a:p>
            <a:r>
              <a:rPr lang="en-US" sz="3200" b="1">
                <a:solidFill>
                  <a:schemeClr val="bg1"/>
                </a:solidFill>
              </a:rPr>
              <a:t>ACK FIELD</a:t>
            </a:r>
            <a:endParaRPr lang="en-US" sz="3200" b="1" dirty="0">
              <a:solidFill>
                <a:schemeClr val="bg1"/>
              </a:solidFill>
            </a:endParaRPr>
          </a:p>
        </p:txBody>
      </p:sp>
      <p:sp>
        <p:nvSpPr>
          <p:cNvPr id="5" name="TextBox 4">
            <a:extLst>
              <a:ext uri="{FF2B5EF4-FFF2-40B4-BE49-F238E27FC236}">
                <a16:creationId xmlns:a16="http://schemas.microsoft.com/office/drawing/2014/main" id="{2658A2A1-50D9-6465-B254-49BA8CDAB3B7}"/>
              </a:ext>
            </a:extLst>
          </p:cNvPr>
          <p:cNvSpPr txBox="1"/>
          <p:nvPr/>
        </p:nvSpPr>
        <p:spPr>
          <a:xfrm>
            <a:off x="332509" y="1431636"/>
            <a:ext cx="11637818" cy="1477328"/>
          </a:xfrm>
          <a:prstGeom prst="rect">
            <a:avLst/>
          </a:prstGeom>
          <a:noFill/>
        </p:spPr>
        <p:txBody>
          <a:bodyPr wrap="square">
            <a:spAutoFit/>
          </a:bodyPr>
          <a:lstStyle/>
          <a:p>
            <a:r>
              <a:rPr lang="vi-VN" b="1">
                <a:solidFill>
                  <a:schemeClr val="bg1"/>
                </a:solidFill>
              </a:rPr>
              <a:t>Công thức đơn giản nhất để tính 1 Bit Time</a:t>
            </a:r>
            <a:endParaRPr lang="en-US" b="1">
              <a:solidFill>
                <a:schemeClr val="bg1"/>
              </a:solidFill>
            </a:endParaRPr>
          </a:p>
          <a:p>
            <a:pPr marL="285750" indent="-285750">
              <a:buFont typeface="Wingdings" panose="05000000000000000000" pitchFamily="2" charset="2"/>
              <a:buChar char="Ø"/>
            </a:pPr>
            <a:r>
              <a:rPr lang="vi-VN" b="1">
                <a:solidFill>
                  <a:schemeClr val="bg1"/>
                </a:solidFill>
                <a:effectLst/>
              </a:rPr>
              <a:t>Bit Time (thời gian của 1 bit)</a:t>
            </a:r>
            <a:r>
              <a:rPr lang="vi-VN">
                <a:solidFill>
                  <a:schemeClr val="bg1"/>
                </a:solidFill>
                <a:effectLst/>
              </a:rPr>
              <a:t> = </a:t>
            </a:r>
            <a:r>
              <a:rPr lang="vi-VN" b="1">
                <a:solidFill>
                  <a:schemeClr val="bg1"/>
                </a:solidFill>
                <a:effectLst/>
              </a:rPr>
              <a:t>1 / Baudrate</a:t>
            </a:r>
            <a:endParaRPr lang="en-US" b="1">
              <a:solidFill>
                <a:schemeClr val="bg1"/>
              </a:solidFill>
              <a:effectLst/>
            </a:endParaRPr>
          </a:p>
          <a:p>
            <a:endParaRPr lang="vi-VN">
              <a:solidFill>
                <a:schemeClr val="bg1"/>
              </a:solidFill>
              <a:effectLst/>
            </a:endParaRPr>
          </a:p>
          <a:p>
            <a:pPr marL="285750" indent="-285750">
              <a:buFont typeface="Arial" panose="020B0604020202020204" pitchFamily="34" charset="0"/>
              <a:buChar char="•"/>
            </a:pPr>
            <a:r>
              <a:rPr lang="vi-VN">
                <a:solidFill>
                  <a:schemeClr val="bg1"/>
                </a:solidFill>
              </a:rPr>
              <a:t>Baudrate thường dùng trong CAN: 125 kbps, 250 kbps, 500 kbps, 1 Mbps…</a:t>
            </a:r>
          </a:p>
          <a:p>
            <a:pPr marL="285750" indent="-285750">
              <a:buFont typeface="Arial" panose="020B0604020202020204" pitchFamily="34" charset="0"/>
              <a:buChar char="•"/>
            </a:pPr>
            <a:r>
              <a:rPr lang="vi-VN">
                <a:solidFill>
                  <a:schemeClr val="bg1"/>
                </a:solidFill>
              </a:rPr>
              <a:t>Đơn vị: giây (s) hoặc micro giây (µs)</a:t>
            </a:r>
          </a:p>
        </p:txBody>
      </p:sp>
      <p:sp>
        <p:nvSpPr>
          <p:cNvPr id="8" name="TextBox 7">
            <a:extLst>
              <a:ext uri="{FF2B5EF4-FFF2-40B4-BE49-F238E27FC236}">
                <a16:creationId xmlns:a16="http://schemas.microsoft.com/office/drawing/2014/main" id="{92D54190-4C6C-8A6D-5B69-25F1DD9231C1}"/>
              </a:ext>
            </a:extLst>
          </p:cNvPr>
          <p:cNvSpPr txBox="1"/>
          <p:nvPr/>
        </p:nvSpPr>
        <p:spPr>
          <a:xfrm>
            <a:off x="414529" y="5224409"/>
            <a:ext cx="11121689" cy="646331"/>
          </a:xfrm>
          <a:prstGeom prst="rect">
            <a:avLst/>
          </a:prstGeom>
          <a:noFill/>
        </p:spPr>
        <p:txBody>
          <a:bodyPr wrap="square">
            <a:spAutoFit/>
          </a:bodyPr>
          <a:lstStyle/>
          <a:p>
            <a:r>
              <a:rPr lang="vi-VN">
                <a:solidFill>
                  <a:schemeClr val="bg1"/>
                </a:solidFill>
                <a:effectLst/>
              </a:rPr>
              <a:t>Nếu baudrate là 500 kbps thì ACK Slot chỉ kéo dài 2 µs. Nếu sau 2 µs mà bus vẫn là recessive (1) thì transmitter coi là ACK Error (không có node nào nhận).</a:t>
            </a:r>
          </a:p>
        </p:txBody>
      </p:sp>
      <p:graphicFrame>
        <p:nvGraphicFramePr>
          <p:cNvPr id="2" name="Table 1">
            <a:extLst>
              <a:ext uri="{FF2B5EF4-FFF2-40B4-BE49-F238E27FC236}">
                <a16:creationId xmlns:a16="http://schemas.microsoft.com/office/drawing/2014/main" id="{897D1601-81F1-64BD-40C7-CE1EB258BE66}"/>
              </a:ext>
            </a:extLst>
          </p:cNvPr>
          <p:cNvGraphicFramePr>
            <a:graphicFrameLocks noGrp="1"/>
          </p:cNvGraphicFramePr>
          <p:nvPr>
            <p:extLst>
              <p:ext uri="{D42A27DB-BD31-4B8C-83A1-F6EECF244321}">
                <p14:modId xmlns:p14="http://schemas.microsoft.com/office/powerpoint/2010/main" val="2571893312"/>
              </p:ext>
            </p:extLst>
          </p:nvPr>
        </p:nvGraphicFramePr>
        <p:xfrm>
          <a:off x="414529" y="3054682"/>
          <a:ext cx="10515600" cy="1828800"/>
        </p:xfrm>
        <a:graphic>
          <a:graphicData uri="http://schemas.openxmlformats.org/drawingml/2006/table">
            <a:tbl>
              <a:tblPr/>
              <a:tblGrid>
                <a:gridCol w="3505200">
                  <a:extLst>
                    <a:ext uri="{9D8B030D-6E8A-4147-A177-3AD203B41FA5}">
                      <a16:colId xmlns:a16="http://schemas.microsoft.com/office/drawing/2014/main" val="1861914378"/>
                    </a:ext>
                  </a:extLst>
                </a:gridCol>
                <a:gridCol w="3505200">
                  <a:extLst>
                    <a:ext uri="{9D8B030D-6E8A-4147-A177-3AD203B41FA5}">
                      <a16:colId xmlns:a16="http://schemas.microsoft.com/office/drawing/2014/main" val="1961970732"/>
                    </a:ext>
                  </a:extLst>
                </a:gridCol>
                <a:gridCol w="3505200">
                  <a:extLst>
                    <a:ext uri="{9D8B030D-6E8A-4147-A177-3AD203B41FA5}">
                      <a16:colId xmlns:a16="http://schemas.microsoft.com/office/drawing/2014/main" val="2580450349"/>
                    </a:ext>
                  </a:extLst>
                </a:gridCol>
              </a:tblGrid>
              <a:tr h="0">
                <a:tc>
                  <a:txBody>
                    <a:bodyPr/>
                    <a:lstStyle/>
                    <a:p>
                      <a:r>
                        <a:rPr lang="vi-VN">
                          <a:solidFill>
                            <a:schemeClr val="bg1"/>
                          </a:solidFill>
                        </a:rPr>
                        <a:t>Baudrate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a:solidFill>
                            <a:schemeClr val="bg1"/>
                          </a:solidFill>
                        </a:rPr>
                        <a:t>Bit Time (thời gian 1 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Ghi chú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0626198"/>
                  </a:ext>
                </a:extLst>
              </a:tr>
              <a:tr h="0">
                <a:tc>
                  <a:txBody>
                    <a:bodyPr/>
                    <a:lstStyle/>
                    <a:p>
                      <a:r>
                        <a:rPr lang="vi-VN">
                          <a:solidFill>
                            <a:schemeClr val="bg1"/>
                          </a:solidFill>
                        </a:rPr>
                        <a:t>1 Mbps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1 / 1.000.000 = </a:t>
                      </a:r>
                      <a:r>
                        <a:rPr lang="vi-VN" b="1">
                          <a:solidFill>
                            <a:schemeClr val="bg1"/>
                          </a:solidFill>
                        </a:rPr>
                        <a:t>1 µs</a:t>
                      </a:r>
                      <a:endParaRPr lang="vi-VN">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Rất phổ biến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32633794"/>
                  </a:ext>
                </a:extLst>
              </a:tr>
              <a:tr h="0">
                <a:tc>
                  <a:txBody>
                    <a:bodyPr/>
                    <a:lstStyle/>
                    <a:p>
                      <a:r>
                        <a:rPr lang="vi-VN">
                          <a:solidFill>
                            <a:schemeClr val="bg1"/>
                          </a:solidFill>
                        </a:rPr>
                        <a:t>500 kbps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1 / 500.000 = </a:t>
                      </a:r>
                      <a:r>
                        <a:rPr lang="vi-VN" b="1">
                          <a:solidFill>
                            <a:schemeClr val="bg1"/>
                          </a:solidFill>
                        </a:rPr>
                        <a:t>2 µs</a:t>
                      </a:r>
                      <a:endParaRPr lang="vi-VN">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Phổ biến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811708652"/>
                  </a:ext>
                </a:extLst>
              </a:tr>
              <a:tr h="0">
                <a:tc>
                  <a:txBody>
                    <a:bodyPr/>
                    <a:lstStyle/>
                    <a:p>
                      <a:r>
                        <a:rPr lang="vi-VN">
                          <a:solidFill>
                            <a:schemeClr val="bg1"/>
                          </a:solidFill>
                        </a:rPr>
                        <a:t>250 kbps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1 / 250.000 = </a:t>
                      </a:r>
                      <a:r>
                        <a:rPr lang="vi-VN" b="1">
                          <a:solidFill>
                            <a:schemeClr val="bg1"/>
                          </a:solidFill>
                        </a:rPr>
                        <a:t>4 µs</a:t>
                      </a:r>
                      <a:endParaRPr lang="vi-VN">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Dùng cho bus dài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753057005"/>
                  </a:ext>
                </a:extLst>
              </a:tr>
              <a:tr h="0">
                <a:tc>
                  <a:txBody>
                    <a:bodyPr/>
                    <a:lstStyle/>
                    <a:p>
                      <a:r>
                        <a:rPr lang="vi-VN">
                          <a:solidFill>
                            <a:schemeClr val="bg1"/>
                          </a:solidFill>
                        </a:rPr>
                        <a:t>125 kbps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1 / 125.000 = </a:t>
                      </a:r>
                      <a:r>
                        <a:rPr lang="vi-VN" b="1">
                          <a:solidFill>
                            <a:schemeClr val="bg1"/>
                          </a:solidFill>
                        </a:rPr>
                        <a:t>8 µs</a:t>
                      </a:r>
                      <a:endParaRPr lang="vi-VN">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vi-VN">
                          <a:solidFill>
                            <a:schemeClr val="bg1"/>
                          </a:solidFill>
                        </a:rPr>
                        <a:t>Bus rất dài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42935320"/>
                  </a:ext>
                </a:extLst>
              </a:tr>
            </a:tbl>
          </a:graphicData>
        </a:graphic>
      </p:graphicFrame>
    </p:spTree>
    <p:extLst>
      <p:ext uri="{BB962C8B-B14F-4D97-AF65-F5344CB8AC3E}">
        <p14:creationId xmlns:p14="http://schemas.microsoft.com/office/powerpoint/2010/main" val="19591347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3803670" cy="584775"/>
          </a:xfrm>
          <a:prstGeom prst="rect">
            <a:avLst/>
          </a:prstGeom>
          <a:noFill/>
        </p:spPr>
        <p:txBody>
          <a:bodyPr wrap="none" rtlCol="0">
            <a:spAutoFit/>
          </a:bodyPr>
          <a:lstStyle/>
          <a:p>
            <a:r>
              <a:rPr lang="en-US" sz="3200" b="1" dirty="0">
                <a:solidFill>
                  <a:schemeClr val="bg1"/>
                </a:solidFill>
              </a:rPr>
              <a:t>EOF (END OF FRAME)</a:t>
            </a:r>
          </a:p>
        </p:txBody>
      </p:sp>
      <p:sp>
        <p:nvSpPr>
          <p:cNvPr id="7" name="Rectangle 6"/>
          <p:cNvSpPr/>
          <p:nvPr/>
        </p:nvSpPr>
        <p:spPr>
          <a:xfrm>
            <a:off x="590740" y="1335832"/>
            <a:ext cx="11167872" cy="1600438"/>
          </a:xfrm>
          <a:prstGeom prst="rect">
            <a:avLst/>
          </a:prstGeom>
        </p:spPr>
        <p:txBody>
          <a:bodyPr wrap="square">
            <a:spAutoFit/>
          </a:bodyPr>
          <a:lstStyle/>
          <a:p>
            <a:pPr marL="285750" indent="-285750">
              <a:buFont typeface="Wingdings" panose="05000000000000000000" pitchFamily="2" charset="2"/>
              <a:buChar char="q"/>
            </a:pPr>
            <a:r>
              <a:rPr lang="vi-VN" sz="1400">
                <a:solidFill>
                  <a:schemeClr val="bg1"/>
                </a:solidFill>
              </a:rPr>
              <a:t>Trường EOF (End of Frame) là phần kết thúc của mỗi khung dữ liệu hoặc khung yêu cầu:</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Độ dài: Gồm một chuỗi 7 bit lặn (recessive - mức 1) liên tiếp.</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Chức năng: Đánh dấu sự kết thúc hoàn toàn của một khung truyền CAN.</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Sau 7 bit này, bus sẽ chuyển sang trạng thái Bus Idle (Rảnh) trừ khi có một thông báo khác được truyền đi ngay lập tức.</a:t>
            </a:r>
            <a:endParaRPr lang="en-US" sz="1400" dirty="0">
              <a:solidFill>
                <a:schemeClr val="bg1"/>
              </a:solidFill>
            </a:endParaRPr>
          </a:p>
        </p:txBody>
      </p:sp>
      <p:pic>
        <p:nvPicPr>
          <p:cNvPr id="3" name="Picture 2">
            <a:extLst>
              <a:ext uri="{FF2B5EF4-FFF2-40B4-BE49-F238E27FC236}">
                <a16:creationId xmlns:a16="http://schemas.microsoft.com/office/drawing/2014/main" id="{AC60AD42-7A1A-C0D7-95A5-34A37A6BED6A}"/>
              </a:ext>
            </a:extLst>
          </p:cNvPr>
          <p:cNvPicPr>
            <a:picLocks noChangeAspect="1"/>
          </p:cNvPicPr>
          <p:nvPr/>
        </p:nvPicPr>
        <p:blipFill>
          <a:blip r:embed="rId5"/>
          <a:stretch>
            <a:fillRect/>
          </a:stretch>
        </p:blipFill>
        <p:spPr>
          <a:xfrm>
            <a:off x="2813809" y="3284047"/>
            <a:ext cx="6944402" cy="2738453"/>
          </a:xfrm>
          <a:prstGeom prst="rect">
            <a:avLst/>
          </a:prstGeom>
        </p:spPr>
      </p:pic>
    </p:spTree>
    <p:extLst>
      <p:ext uri="{BB962C8B-B14F-4D97-AF65-F5344CB8AC3E}">
        <p14:creationId xmlns:p14="http://schemas.microsoft.com/office/powerpoint/2010/main" val="16871343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3803670" cy="584775"/>
          </a:xfrm>
          <a:prstGeom prst="rect">
            <a:avLst/>
          </a:prstGeom>
          <a:noFill/>
        </p:spPr>
        <p:txBody>
          <a:bodyPr wrap="none" rtlCol="0">
            <a:spAutoFit/>
          </a:bodyPr>
          <a:lstStyle/>
          <a:p>
            <a:r>
              <a:rPr lang="en-US" sz="3200" b="1" dirty="0">
                <a:solidFill>
                  <a:schemeClr val="bg1"/>
                </a:solidFill>
              </a:rPr>
              <a:t>EOF (END OF FRAME)</a:t>
            </a:r>
          </a:p>
        </p:txBody>
      </p:sp>
      <p:sp>
        <p:nvSpPr>
          <p:cNvPr id="7" name="Rectangle 6"/>
          <p:cNvSpPr/>
          <p:nvPr/>
        </p:nvSpPr>
        <p:spPr>
          <a:xfrm>
            <a:off x="590740" y="1335832"/>
            <a:ext cx="11167872" cy="2960875"/>
          </a:xfrm>
          <a:prstGeom prst="rect">
            <a:avLst/>
          </a:prstGeom>
        </p:spPr>
        <p:txBody>
          <a:bodyPr wrap="square">
            <a:spAutoFit/>
          </a:bodyPr>
          <a:lstStyle/>
          <a:p>
            <a:pPr marL="285750" indent="-285750">
              <a:lnSpc>
                <a:spcPct val="150000"/>
              </a:lnSpc>
              <a:buFont typeface="Wingdings" panose="05000000000000000000" pitchFamily="2" charset="2"/>
              <a:buChar char="Ø"/>
            </a:pPr>
            <a:r>
              <a:rPr lang="vi-VN" sz="1400" b="1">
                <a:solidFill>
                  <a:schemeClr val="bg1"/>
                </a:solidFill>
              </a:rPr>
              <a:t>Không áp dụng Bit Stuffing</a:t>
            </a:r>
            <a:r>
              <a:rPr lang="vi-VN" sz="1400">
                <a:solidFill>
                  <a:schemeClr val="bg1"/>
                </a:solidFill>
              </a:rPr>
              <a:t>: Tất cả các trường trước EOF (từ SOF đến CRC) đều có quy tắc bit stuffing (sau 5 bit giống nhau thì chèn bit ngược lại). Nhưng từ </a:t>
            </a:r>
            <a:r>
              <a:rPr lang="vi-VN" sz="1400" b="1">
                <a:solidFill>
                  <a:schemeClr val="bg1"/>
                </a:solidFill>
              </a:rPr>
              <a:t>ACK field</a:t>
            </a:r>
            <a:r>
              <a:rPr lang="vi-VN" sz="1400">
                <a:solidFill>
                  <a:schemeClr val="bg1"/>
                </a:solidFill>
              </a:rPr>
              <a:t> trở đi (bao gồm ACK Delimiter + EOF) → </a:t>
            </a:r>
            <a:r>
              <a:rPr lang="vi-VN" sz="1400" b="1">
                <a:solidFill>
                  <a:schemeClr val="bg1"/>
                </a:solidFill>
              </a:rPr>
              <a:t>không stuffing</a:t>
            </a:r>
            <a:r>
              <a:rPr lang="vi-VN" sz="1400">
                <a:solidFill>
                  <a:schemeClr val="bg1"/>
                </a:solidFill>
              </a:rPr>
              <a:t>. → Đây là một trong những điểm dễ gây nhầm lẫn.</a:t>
            </a:r>
            <a:endParaRPr lang="en-US" sz="1400">
              <a:solidFill>
                <a:schemeClr val="bg1"/>
              </a:solidFill>
            </a:endParaRPr>
          </a:p>
          <a:p>
            <a:pPr marL="285750" indent="-285750">
              <a:lnSpc>
                <a:spcPct val="150000"/>
              </a:lnSpc>
              <a:buFont typeface="Wingdings" panose="05000000000000000000" pitchFamily="2" charset="2"/>
              <a:buChar char="Ø"/>
            </a:pPr>
            <a:endParaRPr lang="vi-VN" sz="1400">
              <a:solidFill>
                <a:schemeClr val="bg1"/>
              </a:solidFill>
            </a:endParaRPr>
          </a:p>
          <a:p>
            <a:pPr marL="285750" indent="-285750">
              <a:lnSpc>
                <a:spcPct val="150000"/>
              </a:lnSpc>
              <a:buFont typeface="Wingdings" panose="05000000000000000000" pitchFamily="2" charset="2"/>
              <a:buChar char="Ø"/>
            </a:pPr>
            <a:r>
              <a:rPr lang="vi-VN" sz="1400" b="1">
                <a:solidFill>
                  <a:schemeClr val="bg1"/>
                </a:solidFill>
              </a:rPr>
              <a:t>Phải là recessive hoàn toàn (7 bit 1)</a:t>
            </a:r>
            <a:r>
              <a:rPr lang="vi-VN" sz="1400">
                <a:solidFill>
                  <a:schemeClr val="bg1"/>
                </a:solidFill>
              </a:rPr>
              <a:t>: Nếu bất kỳ node nào phát hiện </a:t>
            </a:r>
            <a:r>
              <a:rPr lang="vi-VN" sz="1400" b="1">
                <a:solidFill>
                  <a:schemeClr val="bg1"/>
                </a:solidFill>
              </a:rPr>
              <a:t>dominant (0)</a:t>
            </a:r>
            <a:r>
              <a:rPr lang="vi-VN" sz="1400">
                <a:solidFill>
                  <a:schemeClr val="bg1"/>
                </a:solidFill>
              </a:rPr>
              <a:t> ở bất kỳ vị trí nào trong 7 bit EOF → coi là </a:t>
            </a:r>
            <a:r>
              <a:rPr lang="vi-VN" sz="1400" b="1">
                <a:solidFill>
                  <a:schemeClr val="bg1"/>
                </a:solidFill>
              </a:rPr>
              <a:t>Form Error</a:t>
            </a:r>
            <a:r>
              <a:rPr lang="vi-VN" sz="1400">
                <a:solidFill>
                  <a:schemeClr val="bg1"/>
                </a:solidFill>
              </a:rPr>
              <a:t> (lỗi định dạng). Node đó sẽ lập tức gửi Error Frame.</a:t>
            </a:r>
            <a:endParaRPr lang="en-US" sz="1400">
              <a:solidFill>
                <a:schemeClr val="bg1"/>
              </a:solidFill>
            </a:endParaRPr>
          </a:p>
          <a:p>
            <a:pPr marL="285750" indent="-285750">
              <a:lnSpc>
                <a:spcPct val="150000"/>
              </a:lnSpc>
              <a:buFont typeface="Wingdings" panose="05000000000000000000" pitchFamily="2" charset="2"/>
              <a:buChar char="Ø"/>
            </a:pPr>
            <a:endParaRPr lang="vi-VN" sz="1400">
              <a:solidFill>
                <a:schemeClr val="bg1"/>
              </a:solidFill>
            </a:endParaRPr>
          </a:p>
          <a:p>
            <a:pPr marL="285750" indent="-285750">
              <a:lnSpc>
                <a:spcPct val="150000"/>
              </a:lnSpc>
              <a:buFont typeface="Wingdings" panose="05000000000000000000" pitchFamily="2" charset="2"/>
              <a:buChar char="Ø"/>
            </a:pPr>
            <a:r>
              <a:rPr lang="vi-VN" sz="1400" b="1">
                <a:solidFill>
                  <a:schemeClr val="bg1"/>
                </a:solidFill>
              </a:rPr>
              <a:t>EOF + ACK Delimiter tạo thành 8 recessive bits</a:t>
            </a:r>
            <a:r>
              <a:rPr lang="en-US" sz="1400" b="1">
                <a:solidFill>
                  <a:schemeClr val="bg1"/>
                </a:solidFill>
              </a:rPr>
              <a:t>: </a:t>
            </a:r>
            <a:r>
              <a:rPr lang="vi-VN" sz="1400">
                <a:solidFill>
                  <a:schemeClr val="bg1"/>
                </a:solidFill>
              </a:rPr>
              <a:t>vì ACK Delimiter (1 bit) + EOF (7 bit) = 8 bit recessive liên tiếp. Điều này giúp phân biệt rõ ràng giữa frame bình thường và </a:t>
            </a:r>
            <a:r>
              <a:rPr lang="vi-VN" sz="1400" b="1">
                <a:solidFill>
                  <a:schemeClr val="bg1"/>
                </a:solidFill>
              </a:rPr>
              <a:t>Error Frame</a:t>
            </a:r>
            <a:r>
              <a:rPr lang="vi-VN" sz="1400">
                <a:solidFill>
                  <a:schemeClr val="bg1"/>
                </a:solidFill>
              </a:rPr>
              <a:t>.</a:t>
            </a:r>
          </a:p>
        </p:txBody>
      </p:sp>
    </p:spTree>
    <p:extLst>
      <p:ext uri="{BB962C8B-B14F-4D97-AF65-F5344CB8AC3E}">
        <p14:creationId xmlns:p14="http://schemas.microsoft.com/office/powerpoint/2010/main" val="18381081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3803670" cy="584775"/>
          </a:xfrm>
          <a:prstGeom prst="rect">
            <a:avLst/>
          </a:prstGeom>
          <a:noFill/>
        </p:spPr>
        <p:txBody>
          <a:bodyPr wrap="none" rtlCol="0">
            <a:spAutoFit/>
          </a:bodyPr>
          <a:lstStyle/>
          <a:p>
            <a:r>
              <a:rPr lang="en-US" sz="3200" b="1" dirty="0">
                <a:solidFill>
                  <a:schemeClr val="bg1"/>
                </a:solidFill>
              </a:rPr>
              <a:t>EOF (END OF FRAME)</a:t>
            </a:r>
          </a:p>
        </p:txBody>
      </p:sp>
      <p:sp>
        <p:nvSpPr>
          <p:cNvPr id="7" name="Rectangle 6"/>
          <p:cNvSpPr/>
          <p:nvPr/>
        </p:nvSpPr>
        <p:spPr>
          <a:xfrm>
            <a:off x="590740" y="1335832"/>
            <a:ext cx="11167872" cy="4196020"/>
          </a:xfrm>
          <a:prstGeom prst="rect">
            <a:avLst/>
          </a:prstGeom>
        </p:spPr>
        <p:txBody>
          <a:bodyPr wrap="square">
            <a:spAutoFit/>
          </a:bodyPr>
          <a:lstStyle/>
          <a:p>
            <a:pPr>
              <a:lnSpc>
                <a:spcPct val="150000"/>
              </a:lnSpc>
            </a:pPr>
            <a:r>
              <a:rPr lang="vi-VN" b="1">
                <a:solidFill>
                  <a:schemeClr val="bg1"/>
                </a:solidFill>
              </a:rPr>
              <a:t>Mục đích chính của 7 bit</a:t>
            </a:r>
            <a:r>
              <a:rPr lang="vi-VN">
                <a:solidFill>
                  <a:schemeClr val="bg1"/>
                </a:solidFill>
              </a:rPr>
              <a:t> (tại sao không phải 6 hoặc 8?): </a:t>
            </a:r>
            <a:endParaRPr lang="en-US">
              <a:solidFill>
                <a:schemeClr val="bg1"/>
              </a:solidFill>
            </a:endParaRPr>
          </a:p>
          <a:p>
            <a:pPr marL="285750" indent="-285750">
              <a:lnSpc>
                <a:spcPct val="150000"/>
              </a:lnSpc>
              <a:buFont typeface="Wingdings" panose="05000000000000000000" pitchFamily="2" charset="2"/>
              <a:buChar char="Ø"/>
            </a:pPr>
            <a:r>
              <a:rPr lang="vi-VN" b="1">
                <a:solidFill>
                  <a:schemeClr val="bg1"/>
                </a:solidFill>
              </a:rPr>
              <a:t>Đánh dấu kết thúc frame rõ ràng</a:t>
            </a:r>
            <a:r>
              <a:rPr lang="vi-VN">
                <a:solidFill>
                  <a:schemeClr val="bg1"/>
                </a:solidFill>
              </a:rPr>
              <a:t>: Cho tất cả các node biết rằng frame đã kết thúc.</a:t>
            </a:r>
          </a:p>
          <a:p>
            <a:pPr marL="285750" indent="-285750">
              <a:lnSpc>
                <a:spcPct val="150000"/>
              </a:lnSpc>
              <a:buFont typeface="Wingdings" panose="05000000000000000000" pitchFamily="2" charset="2"/>
              <a:buChar char="Ø"/>
            </a:pPr>
            <a:r>
              <a:rPr lang="vi-VN" b="1">
                <a:solidFill>
                  <a:schemeClr val="bg1"/>
                </a:solidFill>
              </a:rPr>
              <a:t>Phát hiện Form Error</a:t>
            </a:r>
            <a:r>
              <a:rPr lang="vi-VN">
                <a:solidFill>
                  <a:schemeClr val="bg1"/>
                </a:solidFill>
              </a:rPr>
              <a:t>: Nếu có dominant bit xuất hiện trong EOF → lỗi ngay lập tức (bảo vệ chống nhiễu hoặc lỗi truyền).</a:t>
            </a:r>
          </a:p>
          <a:p>
            <a:pPr marL="285750" indent="-285750">
              <a:lnSpc>
                <a:spcPct val="150000"/>
              </a:lnSpc>
              <a:buFont typeface="Wingdings" panose="05000000000000000000" pitchFamily="2" charset="2"/>
              <a:buChar char="Ø"/>
            </a:pPr>
            <a:r>
              <a:rPr lang="vi-VN" b="1">
                <a:solidFill>
                  <a:schemeClr val="bg1"/>
                </a:solidFill>
              </a:rPr>
              <a:t>Phân biệt với Error Frame</a:t>
            </a:r>
            <a:r>
              <a:rPr lang="vi-VN">
                <a:solidFill>
                  <a:schemeClr val="bg1"/>
                </a:solidFill>
              </a:rPr>
              <a:t>:</a:t>
            </a:r>
          </a:p>
          <a:p>
            <a:pPr marL="742950" lvl="1" indent="-285750">
              <a:lnSpc>
                <a:spcPct val="150000"/>
              </a:lnSpc>
              <a:buFont typeface="+mj-lt"/>
              <a:buAutoNum type="arabicPeriod"/>
            </a:pPr>
            <a:r>
              <a:rPr lang="vi-VN">
                <a:solidFill>
                  <a:schemeClr val="bg1"/>
                </a:solidFill>
              </a:rPr>
              <a:t>Error Frame bắt đầu bằng </a:t>
            </a:r>
            <a:r>
              <a:rPr lang="vi-VN" b="1">
                <a:solidFill>
                  <a:schemeClr val="bg1"/>
                </a:solidFill>
              </a:rPr>
              <a:t>6 dominant bits</a:t>
            </a:r>
            <a:r>
              <a:rPr lang="vi-VN">
                <a:solidFill>
                  <a:schemeClr val="bg1"/>
                </a:solidFill>
              </a:rPr>
              <a:t> (Error Flag).</a:t>
            </a:r>
          </a:p>
          <a:p>
            <a:pPr marL="742950" lvl="1" indent="-285750">
              <a:lnSpc>
                <a:spcPct val="150000"/>
              </a:lnSpc>
              <a:buFont typeface="+mj-lt"/>
              <a:buAutoNum type="arabicPeriod"/>
            </a:pPr>
            <a:r>
              <a:rPr lang="vi-VN">
                <a:solidFill>
                  <a:schemeClr val="bg1"/>
                </a:solidFill>
              </a:rPr>
              <a:t>Nếu chỉ cần 6 recessive bits, một Error Frame có thể bị nhầm lẫn với EOF. → 7 recessive bits đảm bảo rằng </a:t>
            </a:r>
            <a:r>
              <a:rPr lang="vi-VN" b="1">
                <a:solidFill>
                  <a:schemeClr val="bg1"/>
                </a:solidFill>
              </a:rPr>
              <a:t>chuỗi 6 dominant</a:t>
            </a:r>
            <a:r>
              <a:rPr lang="vi-VN">
                <a:solidFill>
                  <a:schemeClr val="bg1"/>
                </a:solidFill>
              </a:rPr>
              <a:t> của Error Flag không thể bị hiểu nhầm là phần của EOF.</a:t>
            </a:r>
          </a:p>
          <a:p>
            <a:pPr marL="285750" indent="-285750">
              <a:lnSpc>
                <a:spcPct val="150000"/>
              </a:lnSpc>
              <a:buFont typeface="Wingdings" panose="05000000000000000000" pitchFamily="2" charset="2"/>
              <a:buChar char="Ø"/>
            </a:pPr>
            <a:r>
              <a:rPr lang="vi-VN" b="1">
                <a:solidFill>
                  <a:schemeClr val="bg1"/>
                </a:solidFill>
              </a:rPr>
              <a:t>Tạo không gian an toàn</a:t>
            </a:r>
            <a:r>
              <a:rPr lang="vi-VN">
                <a:solidFill>
                  <a:schemeClr val="bg1"/>
                </a:solidFill>
              </a:rPr>
              <a:t>: Kết hợp với IFS (3 recessive) giúp bus có thời gian idle rõ ràng trước khi frame tiếp theo bắt đầu (SOF là dominant).</a:t>
            </a:r>
          </a:p>
        </p:txBody>
      </p:sp>
    </p:spTree>
    <p:extLst>
      <p:ext uri="{BB962C8B-B14F-4D97-AF65-F5344CB8AC3E}">
        <p14:creationId xmlns:p14="http://schemas.microsoft.com/office/powerpoint/2010/main" val="35670549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4495590" cy="584775"/>
          </a:xfrm>
          <a:prstGeom prst="rect">
            <a:avLst/>
          </a:prstGeom>
          <a:noFill/>
        </p:spPr>
        <p:txBody>
          <a:bodyPr wrap="none" rtlCol="0">
            <a:spAutoFit/>
          </a:bodyPr>
          <a:lstStyle/>
          <a:p>
            <a:r>
              <a:rPr lang="en-US" sz="3200" b="1" dirty="0">
                <a:solidFill>
                  <a:schemeClr val="bg1"/>
                </a:solidFill>
              </a:rPr>
              <a:t>IFS (INTERFRAME SPACE) </a:t>
            </a:r>
          </a:p>
        </p:txBody>
      </p:sp>
      <p:sp>
        <p:nvSpPr>
          <p:cNvPr id="7" name="Rectangle 6"/>
          <p:cNvSpPr/>
          <p:nvPr/>
        </p:nvSpPr>
        <p:spPr>
          <a:xfrm>
            <a:off x="590740" y="1335832"/>
            <a:ext cx="11167872" cy="1991379"/>
          </a:xfrm>
          <a:prstGeom prst="rect">
            <a:avLst/>
          </a:prstGeom>
        </p:spPr>
        <p:txBody>
          <a:bodyPr wrap="square">
            <a:spAutoFit/>
          </a:bodyPr>
          <a:lstStyle/>
          <a:p>
            <a:pPr>
              <a:lnSpc>
                <a:spcPct val="150000"/>
              </a:lnSpc>
            </a:pPr>
            <a:r>
              <a:rPr lang="vi-VN" sz="1400" b="1">
                <a:solidFill>
                  <a:schemeClr val="bg1"/>
                </a:solidFill>
              </a:rPr>
              <a:t>Vị trí và cấu trúc</a:t>
            </a:r>
          </a:p>
          <a:p>
            <a:pPr>
              <a:lnSpc>
                <a:spcPct val="150000"/>
              </a:lnSpc>
            </a:pPr>
            <a:r>
              <a:rPr lang="vi-VN" sz="1400">
                <a:solidFill>
                  <a:schemeClr val="bg1"/>
                </a:solidFill>
                <a:effectLst/>
              </a:rPr>
              <a:t>Sau khi một </a:t>
            </a:r>
            <a:r>
              <a:rPr lang="vi-VN" sz="1400" b="1">
                <a:solidFill>
                  <a:schemeClr val="bg1"/>
                </a:solidFill>
                <a:effectLst/>
              </a:rPr>
              <a:t>Data Frame</a:t>
            </a:r>
            <a:r>
              <a:rPr lang="vi-VN" sz="1400">
                <a:solidFill>
                  <a:schemeClr val="bg1"/>
                </a:solidFill>
                <a:effectLst/>
              </a:rPr>
              <a:t> hoặc </a:t>
            </a:r>
            <a:r>
              <a:rPr lang="vi-VN" sz="1400" b="1">
                <a:solidFill>
                  <a:schemeClr val="bg1"/>
                </a:solidFill>
                <a:effectLst/>
              </a:rPr>
              <a:t>Remote Frame</a:t>
            </a:r>
            <a:r>
              <a:rPr lang="vi-VN" sz="1400">
                <a:solidFill>
                  <a:schemeClr val="bg1"/>
                </a:solidFill>
                <a:effectLst/>
              </a:rPr>
              <a:t> kết thúc:</a:t>
            </a:r>
          </a:p>
          <a:p>
            <a:pPr marL="285750" indent="-285750">
              <a:lnSpc>
                <a:spcPct val="150000"/>
              </a:lnSpc>
              <a:buFont typeface="Arial" panose="020B0604020202020204" pitchFamily="34" charset="0"/>
              <a:buChar char="•"/>
            </a:pPr>
            <a:r>
              <a:rPr lang="vi-VN" sz="1400" b="1">
                <a:solidFill>
                  <a:schemeClr val="bg1"/>
                </a:solidFill>
              </a:rPr>
              <a:t>ACK Delimiter</a:t>
            </a:r>
            <a:r>
              <a:rPr lang="vi-VN" sz="1400">
                <a:solidFill>
                  <a:schemeClr val="bg1"/>
                </a:solidFill>
              </a:rPr>
              <a:t>: 1 bit recessive (1)</a:t>
            </a:r>
          </a:p>
          <a:p>
            <a:pPr marL="285750" indent="-285750">
              <a:lnSpc>
                <a:spcPct val="150000"/>
              </a:lnSpc>
              <a:buFont typeface="Arial" panose="020B0604020202020204" pitchFamily="34" charset="0"/>
              <a:buChar char="•"/>
            </a:pPr>
            <a:r>
              <a:rPr lang="vi-VN" sz="1400" b="1">
                <a:solidFill>
                  <a:schemeClr val="bg1"/>
                </a:solidFill>
              </a:rPr>
              <a:t>EOF (End of Frame)</a:t>
            </a:r>
            <a:r>
              <a:rPr lang="vi-VN" sz="1400">
                <a:solidFill>
                  <a:schemeClr val="bg1"/>
                </a:solidFill>
              </a:rPr>
              <a:t>: 7 bit recessive (1)</a:t>
            </a:r>
          </a:p>
          <a:p>
            <a:pPr marL="285750" indent="-285750">
              <a:lnSpc>
                <a:spcPct val="150000"/>
              </a:lnSpc>
              <a:buFont typeface="Arial" panose="020B0604020202020204" pitchFamily="34" charset="0"/>
              <a:buChar char="•"/>
            </a:pPr>
            <a:r>
              <a:rPr lang="vi-VN" sz="1400" b="1">
                <a:solidFill>
                  <a:schemeClr val="bg1"/>
                </a:solidFill>
              </a:rPr>
              <a:t>Interframe Space (IFS)</a:t>
            </a:r>
            <a:r>
              <a:rPr lang="vi-VN" sz="1400">
                <a:solidFill>
                  <a:schemeClr val="bg1"/>
                </a:solidFill>
              </a:rPr>
              <a:t>: </a:t>
            </a:r>
            <a:r>
              <a:rPr lang="vi-VN" sz="1400" b="1">
                <a:solidFill>
                  <a:schemeClr val="bg1"/>
                </a:solidFill>
              </a:rPr>
              <a:t>3 bit recessive (1)</a:t>
            </a:r>
            <a:r>
              <a:rPr lang="vi-VN" sz="1400">
                <a:solidFill>
                  <a:schemeClr val="bg1"/>
                </a:solidFill>
              </a:rPr>
              <a:t> ← Đây là phần chính cần chú ý</a:t>
            </a:r>
          </a:p>
          <a:p>
            <a:pPr>
              <a:lnSpc>
                <a:spcPct val="150000"/>
              </a:lnSpc>
            </a:pPr>
            <a:r>
              <a:rPr lang="vi-VN" sz="1400">
                <a:solidFill>
                  <a:schemeClr val="bg1"/>
                </a:solidFill>
                <a:effectLst/>
              </a:rPr>
              <a:t>→ Tổng cộng từ </a:t>
            </a:r>
            <a:r>
              <a:rPr lang="vi-VN" sz="1400" b="1">
                <a:solidFill>
                  <a:schemeClr val="bg1"/>
                </a:solidFill>
                <a:effectLst/>
              </a:rPr>
              <a:t>ACK Delimiter + EOF + IFS</a:t>
            </a:r>
            <a:r>
              <a:rPr lang="vi-VN" sz="1400">
                <a:solidFill>
                  <a:schemeClr val="bg1"/>
                </a:solidFill>
                <a:effectLst/>
              </a:rPr>
              <a:t> = </a:t>
            </a:r>
            <a:r>
              <a:rPr lang="vi-VN" sz="1400" b="1">
                <a:solidFill>
                  <a:schemeClr val="bg1"/>
                </a:solidFill>
                <a:effectLst/>
              </a:rPr>
              <a:t>11 bit recessive liên tiếp</a:t>
            </a:r>
            <a:r>
              <a:rPr lang="vi-VN" sz="1400">
                <a:solidFill>
                  <a:schemeClr val="bg1"/>
                </a:solidFill>
                <a:effectLst/>
              </a:rPr>
              <a:t>.</a:t>
            </a:r>
          </a:p>
        </p:txBody>
      </p:sp>
      <p:pic>
        <p:nvPicPr>
          <p:cNvPr id="2050" name="Picture 2">
            <a:extLst>
              <a:ext uri="{FF2B5EF4-FFF2-40B4-BE49-F238E27FC236}">
                <a16:creationId xmlns:a16="http://schemas.microsoft.com/office/drawing/2014/main" id="{70D51666-4433-C466-A843-D1E3558F71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8732" y="3546113"/>
            <a:ext cx="4674536" cy="3092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77465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4495590" cy="584775"/>
          </a:xfrm>
          <a:prstGeom prst="rect">
            <a:avLst/>
          </a:prstGeom>
          <a:noFill/>
        </p:spPr>
        <p:txBody>
          <a:bodyPr wrap="none" rtlCol="0">
            <a:spAutoFit/>
          </a:bodyPr>
          <a:lstStyle/>
          <a:p>
            <a:r>
              <a:rPr lang="en-US" sz="3200" b="1" dirty="0">
                <a:solidFill>
                  <a:schemeClr val="bg1"/>
                </a:solidFill>
              </a:rPr>
              <a:t>IFS (INTERFRAME SPACE) </a:t>
            </a:r>
          </a:p>
        </p:txBody>
      </p:sp>
      <p:sp>
        <p:nvSpPr>
          <p:cNvPr id="7" name="Rectangle 6"/>
          <p:cNvSpPr/>
          <p:nvPr/>
        </p:nvSpPr>
        <p:spPr>
          <a:xfrm>
            <a:off x="512064" y="1566741"/>
            <a:ext cx="11167872" cy="4611519"/>
          </a:xfrm>
          <a:prstGeom prst="rect">
            <a:avLst/>
          </a:prstGeom>
        </p:spPr>
        <p:txBody>
          <a:bodyPr wrap="square">
            <a:spAutoFit/>
          </a:bodyPr>
          <a:lstStyle/>
          <a:p>
            <a:pPr>
              <a:lnSpc>
                <a:spcPct val="150000"/>
              </a:lnSpc>
            </a:pPr>
            <a:r>
              <a:rPr lang="vi-VN" b="1">
                <a:solidFill>
                  <a:schemeClr val="bg1"/>
                </a:solidFill>
              </a:rPr>
              <a:t>Mục đích chính:</a:t>
            </a:r>
          </a:p>
          <a:p>
            <a:pPr marL="285750" indent="-285750">
              <a:lnSpc>
                <a:spcPct val="150000"/>
              </a:lnSpc>
              <a:buFont typeface="Arial" panose="020B0604020202020204" pitchFamily="34" charset="0"/>
              <a:buChar char="•"/>
            </a:pPr>
            <a:r>
              <a:rPr lang="vi-VN">
                <a:solidFill>
                  <a:schemeClr val="bg1"/>
                </a:solidFill>
              </a:rPr>
              <a:t>Tạo khoảng cách tối thiểu giữa hai frame liên tiếp.</a:t>
            </a:r>
          </a:p>
          <a:p>
            <a:pPr marL="285750" indent="-285750">
              <a:lnSpc>
                <a:spcPct val="150000"/>
              </a:lnSpc>
              <a:buFont typeface="Arial" panose="020B0604020202020204" pitchFamily="34" charset="0"/>
              <a:buChar char="•"/>
            </a:pPr>
            <a:r>
              <a:rPr lang="vi-VN">
                <a:solidFill>
                  <a:schemeClr val="bg1"/>
                </a:solidFill>
              </a:rPr>
              <a:t>Cho phép tất cả các node trên bus có thời gian xử lý xong frame vừa nhận (move data vào buffer, cập nhật error counter, chuẩn bị cho frame tiếp theo).</a:t>
            </a:r>
          </a:p>
          <a:p>
            <a:pPr marL="285750" indent="-285750">
              <a:lnSpc>
                <a:spcPct val="150000"/>
              </a:lnSpc>
              <a:buFont typeface="Arial" panose="020B0604020202020204" pitchFamily="34" charset="0"/>
              <a:buChar char="•"/>
            </a:pPr>
            <a:r>
              <a:rPr lang="vi-VN">
                <a:solidFill>
                  <a:schemeClr val="bg1"/>
                </a:solidFill>
              </a:rPr>
              <a:t>Trong khoảng thời gian 3 bit này, không node nào được phép bắt đầu truyền Data Frame hoặc Remote Frame mới.</a:t>
            </a:r>
          </a:p>
          <a:p>
            <a:pPr marL="285750" indent="-285750">
              <a:lnSpc>
                <a:spcPct val="150000"/>
              </a:lnSpc>
              <a:buFont typeface="Arial" panose="020B0604020202020204" pitchFamily="34" charset="0"/>
              <a:buChar char="•"/>
            </a:pPr>
            <a:r>
              <a:rPr lang="vi-VN">
                <a:solidFill>
                  <a:schemeClr val="bg1"/>
                </a:solidFill>
              </a:rPr>
              <a:t>Chỉ cho phép gửi Overload Frame (nếu cần).</a:t>
            </a:r>
          </a:p>
          <a:p>
            <a:pPr>
              <a:lnSpc>
                <a:spcPct val="150000"/>
              </a:lnSpc>
            </a:pPr>
            <a:endParaRPr lang="vi-VN">
              <a:solidFill>
                <a:schemeClr val="bg1"/>
              </a:solidFill>
            </a:endParaRPr>
          </a:p>
          <a:p>
            <a:pPr>
              <a:lnSpc>
                <a:spcPct val="150000"/>
              </a:lnSpc>
            </a:pPr>
            <a:r>
              <a:rPr lang="vi-VN" b="1">
                <a:solidFill>
                  <a:schemeClr val="bg1"/>
                </a:solidFill>
              </a:rPr>
              <a:t>Lưu ý quan trọng:</a:t>
            </a:r>
          </a:p>
          <a:p>
            <a:pPr marL="285750" indent="-285750">
              <a:lnSpc>
                <a:spcPct val="150000"/>
              </a:lnSpc>
              <a:buFont typeface="Arial" panose="020B0604020202020204" pitchFamily="34" charset="0"/>
              <a:buChar char="•"/>
            </a:pPr>
            <a:r>
              <a:rPr lang="vi-VN">
                <a:solidFill>
                  <a:schemeClr val="bg1"/>
                </a:solidFill>
              </a:rPr>
              <a:t>IFS không phải là một phần của frame (không thuộc Data/Remote Frame), mà là khoảng cách giữa các frame.</a:t>
            </a:r>
          </a:p>
        </p:txBody>
      </p:sp>
    </p:spTree>
    <p:extLst>
      <p:ext uri="{BB962C8B-B14F-4D97-AF65-F5344CB8AC3E}">
        <p14:creationId xmlns:p14="http://schemas.microsoft.com/office/powerpoint/2010/main" val="6325698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961067" cy="584775"/>
          </a:xfrm>
          <a:prstGeom prst="rect">
            <a:avLst/>
          </a:prstGeom>
          <a:noFill/>
        </p:spPr>
        <p:txBody>
          <a:bodyPr wrap="none" rtlCol="0">
            <a:spAutoFit/>
          </a:bodyPr>
          <a:lstStyle/>
          <a:p>
            <a:r>
              <a:rPr lang="vi-VN" sz="3200" b="1">
                <a:solidFill>
                  <a:schemeClr val="bg1"/>
                </a:solidFill>
                <a:effectLst/>
              </a:rPr>
              <a:t>Bus Idle là gì?</a:t>
            </a:r>
          </a:p>
        </p:txBody>
      </p:sp>
      <p:sp>
        <p:nvSpPr>
          <p:cNvPr id="7" name="Rectangle 6"/>
          <p:cNvSpPr/>
          <p:nvPr/>
        </p:nvSpPr>
        <p:spPr>
          <a:xfrm>
            <a:off x="512064" y="1400486"/>
            <a:ext cx="11167872" cy="5027017"/>
          </a:xfrm>
          <a:prstGeom prst="rect">
            <a:avLst/>
          </a:prstGeom>
        </p:spPr>
        <p:txBody>
          <a:bodyPr wrap="square">
            <a:spAutoFit/>
          </a:bodyPr>
          <a:lstStyle/>
          <a:p>
            <a:pPr>
              <a:lnSpc>
                <a:spcPct val="150000"/>
              </a:lnSpc>
            </a:pPr>
            <a:r>
              <a:rPr lang="vi-VN">
                <a:solidFill>
                  <a:schemeClr val="bg1"/>
                </a:solidFill>
              </a:rPr>
              <a:t>Bus Idle (Bus rảnh) là trạng thái khi bus không có frame nào đang truyền.</a:t>
            </a:r>
          </a:p>
          <a:p>
            <a:pPr>
              <a:lnSpc>
                <a:spcPct val="150000"/>
              </a:lnSpc>
            </a:pPr>
            <a:r>
              <a:rPr lang="vi-VN" b="1">
                <a:solidFill>
                  <a:schemeClr val="bg1"/>
                </a:solidFill>
              </a:rPr>
              <a:t>Đặc điểm:</a:t>
            </a:r>
          </a:p>
          <a:p>
            <a:pPr marL="285750" indent="-285750">
              <a:lnSpc>
                <a:spcPct val="150000"/>
              </a:lnSpc>
              <a:buFont typeface="Arial" panose="020B0604020202020204" pitchFamily="34" charset="0"/>
              <a:buChar char="•"/>
            </a:pPr>
            <a:r>
              <a:rPr lang="vi-VN">
                <a:solidFill>
                  <a:schemeClr val="bg1"/>
                </a:solidFill>
              </a:rPr>
              <a:t>Bus ở mức recessive (1) liên tục.</a:t>
            </a:r>
          </a:p>
          <a:p>
            <a:pPr marL="285750" indent="-285750">
              <a:lnSpc>
                <a:spcPct val="150000"/>
              </a:lnSpc>
              <a:buFont typeface="Arial" panose="020B0604020202020204" pitchFamily="34" charset="0"/>
              <a:buChar char="•"/>
            </a:pPr>
            <a:r>
              <a:rPr lang="vi-VN">
                <a:solidFill>
                  <a:schemeClr val="bg1"/>
                </a:solidFill>
              </a:rPr>
              <a:t>Độ dài: không cố định, có thể dài tùy ý (arbitrary length).</a:t>
            </a:r>
          </a:p>
          <a:p>
            <a:pPr marL="285750" indent="-285750">
              <a:lnSpc>
                <a:spcPct val="150000"/>
              </a:lnSpc>
              <a:buFont typeface="Arial" panose="020B0604020202020204" pitchFamily="34" charset="0"/>
              <a:buChar char="•"/>
            </a:pPr>
            <a:r>
              <a:rPr lang="vi-VN">
                <a:solidFill>
                  <a:schemeClr val="bg1"/>
                </a:solidFill>
              </a:rPr>
              <a:t>Bất kỳ node nào muốn truyền đều phải đợi bus idle trước khi gửi SOF (dominant bit).</a:t>
            </a:r>
          </a:p>
          <a:p>
            <a:pPr>
              <a:lnSpc>
                <a:spcPct val="150000"/>
              </a:lnSpc>
            </a:pPr>
            <a:endParaRPr lang="vi-VN" b="1">
              <a:solidFill>
                <a:schemeClr val="bg1"/>
              </a:solidFill>
            </a:endParaRPr>
          </a:p>
          <a:p>
            <a:pPr>
              <a:lnSpc>
                <a:spcPct val="150000"/>
              </a:lnSpc>
            </a:pPr>
            <a:r>
              <a:rPr lang="vi-VN" b="1">
                <a:solidFill>
                  <a:schemeClr val="bg1"/>
                </a:solidFill>
              </a:rPr>
              <a:t>Cách một node nhận biết Bus Idle?</a:t>
            </a:r>
          </a:p>
          <a:p>
            <a:pPr marL="285750" indent="-285750">
              <a:lnSpc>
                <a:spcPct val="150000"/>
              </a:lnSpc>
              <a:buFont typeface="Arial" panose="020B0604020202020204" pitchFamily="34" charset="0"/>
              <a:buChar char="•"/>
            </a:pPr>
            <a:r>
              <a:rPr lang="vi-VN">
                <a:solidFill>
                  <a:schemeClr val="bg1"/>
                </a:solidFill>
              </a:rPr>
              <a:t>Phải phát hiện ít nhất 11 bit recessive liên tiếp:</a:t>
            </a:r>
          </a:p>
          <a:p>
            <a:pPr marL="285750" indent="-285750">
              <a:lnSpc>
                <a:spcPct val="150000"/>
              </a:lnSpc>
              <a:buFont typeface="Arial" panose="020B0604020202020204" pitchFamily="34" charset="0"/>
              <a:buChar char="•"/>
            </a:pPr>
            <a:r>
              <a:rPr lang="vi-VN">
                <a:solidFill>
                  <a:schemeClr val="bg1"/>
                </a:solidFill>
              </a:rPr>
              <a:t>1 bit (ACK Delimiter) + 7 bit (EOF) + 3 bit (IFS) = 11 recessive bits.</a:t>
            </a:r>
          </a:p>
          <a:p>
            <a:pPr>
              <a:lnSpc>
                <a:spcPct val="150000"/>
              </a:lnSpc>
            </a:pPr>
            <a:endParaRPr lang="vi-VN">
              <a:solidFill>
                <a:schemeClr val="bg1"/>
              </a:solidFill>
            </a:endParaRPr>
          </a:p>
          <a:p>
            <a:pPr>
              <a:lnSpc>
                <a:spcPct val="150000"/>
              </a:lnSpc>
            </a:pPr>
            <a:r>
              <a:rPr lang="vi-VN">
                <a:solidFill>
                  <a:schemeClr val="bg1"/>
                </a:solidFill>
              </a:rPr>
              <a:t>Sau khi thấy 11 recessive bits, bus được coi là Idle, và node có thể bắt đầu truyền ngay khi muốn (nếu thắng arbitration).</a:t>
            </a:r>
          </a:p>
        </p:txBody>
      </p:sp>
    </p:spTree>
    <p:extLst>
      <p:ext uri="{BB962C8B-B14F-4D97-AF65-F5344CB8AC3E}">
        <p14:creationId xmlns:p14="http://schemas.microsoft.com/office/powerpoint/2010/main" val="26076439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968057" cy="584775"/>
          </a:xfrm>
          <a:prstGeom prst="rect">
            <a:avLst/>
          </a:prstGeom>
          <a:noFill/>
        </p:spPr>
        <p:txBody>
          <a:bodyPr wrap="none" rtlCol="0">
            <a:spAutoFit/>
          </a:bodyPr>
          <a:lstStyle/>
          <a:p>
            <a:r>
              <a:rPr lang="en-US" sz="3200" b="1">
                <a:solidFill>
                  <a:schemeClr val="bg1"/>
                </a:solidFill>
              </a:rPr>
              <a:t>REMOTE FRAME</a:t>
            </a:r>
            <a:endParaRPr lang="en-US" sz="3200" b="1" dirty="0">
              <a:solidFill>
                <a:schemeClr val="bg1"/>
              </a:solidFill>
            </a:endParaRPr>
          </a:p>
        </p:txBody>
      </p:sp>
      <p:sp>
        <p:nvSpPr>
          <p:cNvPr id="7" name="Rectangle 6"/>
          <p:cNvSpPr/>
          <p:nvPr/>
        </p:nvSpPr>
        <p:spPr>
          <a:xfrm>
            <a:off x="512064" y="1325267"/>
            <a:ext cx="11167872" cy="4196020"/>
          </a:xfrm>
          <a:prstGeom prst="rect">
            <a:avLst/>
          </a:prstGeom>
        </p:spPr>
        <p:txBody>
          <a:bodyPr wrap="square">
            <a:spAutoFit/>
          </a:bodyPr>
          <a:lstStyle/>
          <a:p>
            <a:pPr>
              <a:lnSpc>
                <a:spcPct val="150000"/>
              </a:lnSpc>
            </a:pPr>
            <a:r>
              <a:rPr lang="vi-VN" b="1">
                <a:solidFill>
                  <a:schemeClr val="bg1"/>
                </a:solidFill>
                <a:effectLst/>
              </a:rPr>
              <a:t>Remote Frame</a:t>
            </a:r>
            <a:r>
              <a:rPr lang="vi-VN">
                <a:solidFill>
                  <a:schemeClr val="bg1"/>
                </a:solidFill>
                <a:effectLst/>
              </a:rPr>
              <a:t> (hay còn gọi là </a:t>
            </a:r>
            <a:r>
              <a:rPr lang="vi-VN" b="1">
                <a:solidFill>
                  <a:schemeClr val="bg1"/>
                </a:solidFill>
                <a:effectLst/>
              </a:rPr>
              <a:t>Remote Transmission Request - RTR Frame</a:t>
            </a:r>
            <a:r>
              <a:rPr lang="vi-VN">
                <a:solidFill>
                  <a:schemeClr val="bg1"/>
                </a:solidFill>
                <a:effectLst/>
              </a:rPr>
              <a:t>) là một loại khung đặc biệt dùng để </a:t>
            </a:r>
            <a:r>
              <a:rPr lang="vi-VN" b="1">
                <a:solidFill>
                  <a:schemeClr val="bg1"/>
                </a:solidFill>
                <a:effectLst/>
              </a:rPr>
              <a:t>yêu cầu dữ liệu</a:t>
            </a:r>
            <a:r>
              <a:rPr lang="vi-VN">
                <a:solidFill>
                  <a:schemeClr val="bg1"/>
                </a:solidFill>
                <a:effectLst/>
              </a:rPr>
              <a:t> từ một node khác trên bus.</a:t>
            </a:r>
            <a:endParaRPr lang="en-US">
              <a:solidFill>
                <a:schemeClr val="bg1"/>
              </a:solidFill>
              <a:effectLst/>
            </a:endParaRPr>
          </a:p>
          <a:p>
            <a:pPr>
              <a:lnSpc>
                <a:spcPct val="150000"/>
              </a:lnSpc>
            </a:pPr>
            <a:endParaRPr lang="vi-VN">
              <a:solidFill>
                <a:schemeClr val="bg1"/>
              </a:solidFill>
              <a:effectLst/>
            </a:endParaRPr>
          </a:p>
          <a:p>
            <a:pPr marL="285750" indent="-285750">
              <a:lnSpc>
                <a:spcPct val="150000"/>
              </a:lnSpc>
              <a:buFont typeface="Wingdings" panose="05000000000000000000" pitchFamily="2" charset="2"/>
              <a:buChar char="q"/>
            </a:pPr>
            <a:r>
              <a:rPr lang="vi-VN" b="1">
                <a:solidFill>
                  <a:schemeClr val="bg1"/>
                </a:solidFill>
              </a:rPr>
              <a:t>Tác dụng</a:t>
            </a:r>
            <a:r>
              <a:rPr lang="vi-VN">
                <a:solidFill>
                  <a:schemeClr val="bg1"/>
                </a:solidFill>
              </a:rPr>
              <a:t>: Một node (gọi là requester) muốn lấy dữ liệu từ node khác (producer) nhưng </a:t>
            </a:r>
            <a:r>
              <a:rPr lang="vi-VN" b="1">
                <a:solidFill>
                  <a:schemeClr val="bg1"/>
                </a:solidFill>
              </a:rPr>
              <a:t>không muốn tự gửi dữ liệu</a:t>
            </a:r>
            <a:r>
              <a:rPr lang="vi-VN">
                <a:solidFill>
                  <a:schemeClr val="bg1"/>
                </a:solidFill>
              </a:rPr>
              <a:t>. Nó gửi Remote Frame để “hỏi”: “Hãy gửi cho tôi Data Frame có ID này với độ dài dữ liệu này”. Node nhận được Remote Frame (nếu khớp ID và filter) sẽ </a:t>
            </a:r>
            <a:r>
              <a:rPr lang="vi-VN" b="1">
                <a:solidFill>
                  <a:schemeClr val="bg1"/>
                </a:solidFill>
              </a:rPr>
              <a:t>tự động trả lời</a:t>
            </a:r>
            <a:r>
              <a:rPr lang="vi-VN">
                <a:solidFill>
                  <a:schemeClr val="bg1"/>
                </a:solidFill>
              </a:rPr>
              <a:t> bằng một </a:t>
            </a:r>
            <a:r>
              <a:rPr lang="vi-VN" b="1">
                <a:solidFill>
                  <a:schemeClr val="bg1"/>
                </a:solidFill>
              </a:rPr>
              <a:t>Data Frame</a:t>
            </a:r>
            <a:r>
              <a:rPr lang="vi-VN">
                <a:solidFill>
                  <a:schemeClr val="bg1"/>
                </a:solidFill>
              </a:rPr>
              <a:t> tương ứng.</a:t>
            </a:r>
            <a:endParaRPr lang="en-US">
              <a:solidFill>
                <a:schemeClr val="bg1"/>
              </a:solidFill>
            </a:endParaRPr>
          </a:p>
          <a:p>
            <a:pPr>
              <a:lnSpc>
                <a:spcPct val="150000"/>
              </a:lnSpc>
            </a:pPr>
            <a:endParaRPr lang="vi-VN">
              <a:solidFill>
                <a:schemeClr val="bg1"/>
              </a:solidFill>
            </a:endParaRPr>
          </a:p>
          <a:p>
            <a:pPr marL="285750" indent="-285750">
              <a:lnSpc>
                <a:spcPct val="150000"/>
              </a:lnSpc>
              <a:buFont typeface="Wingdings" panose="05000000000000000000" pitchFamily="2" charset="2"/>
              <a:buChar char="q"/>
            </a:pPr>
            <a:r>
              <a:rPr lang="vi-VN" b="1">
                <a:solidFill>
                  <a:schemeClr val="bg1"/>
                </a:solidFill>
              </a:rPr>
              <a:t>Ứng dụng thực tế</a:t>
            </a:r>
            <a:r>
              <a:rPr lang="vi-VN">
                <a:solidFill>
                  <a:schemeClr val="bg1"/>
                </a:solidFill>
              </a:rPr>
              <a:t>:</a:t>
            </a:r>
          </a:p>
          <a:p>
            <a:pPr marL="742950" lvl="1" indent="-285750">
              <a:lnSpc>
                <a:spcPct val="150000"/>
              </a:lnSpc>
              <a:buFont typeface="Arial" panose="020B0604020202020204" pitchFamily="34" charset="0"/>
              <a:buChar char="•"/>
            </a:pPr>
            <a:r>
              <a:rPr lang="vi-VN">
                <a:solidFill>
                  <a:schemeClr val="bg1"/>
                </a:solidFill>
              </a:rPr>
              <a:t>Yêu cầu giá trị cảm biến định kỳ (nhiệt độ, tốc độ, vị trí ghế...).</a:t>
            </a:r>
          </a:p>
        </p:txBody>
      </p:sp>
    </p:spTree>
    <p:extLst>
      <p:ext uri="{BB962C8B-B14F-4D97-AF65-F5344CB8AC3E}">
        <p14:creationId xmlns:p14="http://schemas.microsoft.com/office/powerpoint/2010/main" val="27484244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968057" cy="584775"/>
          </a:xfrm>
          <a:prstGeom prst="rect">
            <a:avLst/>
          </a:prstGeom>
          <a:noFill/>
        </p:spPr>
        <p:txBody>
          <a:bodyPr wrap="none" rtlCol="0">
            <a:spAutoFit/>
          </a:bodyPr>
          <a:lstStyle/>
          <a:p>
            <a:r>
              <a:rPr lang="en-US" sz="3200" b="1">
                <a:solidFill>
                  <a:schemeClr val="bg1"/>
                </a:solidFill>
              </a:rPr>
              <a:t>REMOTE FRAME</a:t>
            </a:r>
            <a:endParaRPr lang="en-US" sz="3200" b="1" dirty="0">
              <a:solidFill>
                <a:schemeClr val="bg1"/>
              </a:solidFill>
            </a:endParaRPr>
          </a:p>
        </p:txBody>
      </p:sp>
      <p:sp>
        <p:nvSpPr>
          <p:cNvPr id="7" name="Rectangle 6"/>
          <p:cNvSpPr/>
          <p:nvPr/>
        </p:nvSpPr>
        <p:spPr>
          <a:xfrm>
            <a:off x="590740" y="1335832"/>
            <a:ext cx="11167872" cy="1384995"/>
          </a:xfrm>
          <a:prstGeom prst="rect">
            <a:avLst/>
          </a:prstGeom>
        </p:spPr>
        <p:txBody>
          <a:bodyPr wrap="square">
            <a:spAutoFit/>
          </a:bodyPr>
          <a:lstStyle/>
          <a:p>
            <a:r>
              <a:rPr lang="vi-VN" sz="1400">
                <a:solidFill>
                  <a:schemeClr val="bg1"/>
                </a:solidFill>
                <a:effectLst/>
              </a:rPr>
              <a:t>Remote Frame trong CAN protocol (Controller Area Network) là một loại khung tin (frame) đặc biệt, dùng để yêu cầu dữ liệu từ một node khác trên bus CAN.</a:t>
            </a:r>
          </a:p>
          <a:p>
            <a:r>
              <a:rPr lang="vi-VN" sz="1400">
                <a:solidFill>
                  <a:schemeClr val="bg1"/>
                </a:solidFill>
                <a:effectLst/>
              </a:rPr>
              <a:t>Nó khác với Data Frame (khung dữ liệu thông thường) ở chỗ:</a:t>
            </a:r>
          </a:p>
          <a:p>
            <a:endParaRPr lang="vi-VN" sz="1400">
              <a:solidFill>
                <a:schemeClr val="bg1"/>
              </a:solidFill>
              <a:effectLst/>
            </a:endParaRPr>
          </a:p>
          <a:p>
            <a:r>
              <a:rPr lang="vi-VN" sz="1400">
                <a:solidFill>
                  <a:schemeClr val="bg1"/>
                </a:solidFill>
                <a:effectLst/>
              </a:rPr>
              <a:t>Không mang dữ liệu thực tế (Data Field = rỗng).</a:t>
            </a:r>
          </a:p>
          <a:p>
            <a:r>
              <a:rPr lang="vi-VN" sz="1400">
                <a:solidFill>
                  <a:schemeClr val="bg1"/>
                </a:solidFill>
                <a:effectLst/>
              </a:rPr>
              <a:t>Dùng để "hỏi" một ECU/node khác: "Hãy gửi dữ liệu có ID này cho tôi".</a:t>
            </a:r>
            <a:endParaRPr lang="vi-VN" sz="1400">
              <a:solidFill>
                <a:schemeClr val="bg1"/>
              </a:solidFill>
            </a:endParaRPr>
          </a:p>
        </p:txBody>
      </p:sp>
      <p:pic>
        <p:nvPicPr>
          <p:cNvPr id="3" name="Picture 2">
            <a:extLst>
              <a:ext uri="{FF2B5EF4-FFF2-40B4-BE49-F238E27FC236}">
                <a16:creationId xmlns:a16="http://schemas.microsoft.com/office/drawing/2014/main" id="{770965C9-C405-5A5A-7F73-E0491FBC0F21}"/>
              </a:ext>
            </a:extLst>
          </p:cNvPr>
          <p:cNvPicPr>
            <a:picLocks noChangeAspect="1"/>
          </p:cNvPicPr>
          <p:nvPr/>
        </p:nvPicPr>
        <p:blipFill>
          <a:blip r:embed="rId5"/>
          <a:stretch>
            <a:fillRect/>
          </a:stretch>
        </p:blipFill>
        <p:spPr>
          <a:xfrm>
            <a:off x="1393166" y="2742393"/>
            <a:ext cx="9405668" cy="3922743"/>
          </a:xfrm>
          <a:prstGeom prst="rect">
            <a:avLst/>
          </a:prstGeom>
        </p:spPr>
      </p:pic>
    </p:spTree>
    <p:extLst>
      <p:ext uri="{BB962C8B-B14F-4D97-AF65-F5344CB8AC3E}">
        <p14:creationId xmlns:p14="http://schemas.microsoft.com/office/powerpoint/2010/main" val="27176856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676502" cy="584775"/>
          </a:xfrm>
          <a:prstGeom prst="rect">
            <a:avLst/>
          </a:prstGeom>
          <a:noFill/>
        </p:spPr>
        <p:txBody>
          <a:bodyPr wrap="none" rtlCol="0">
            <a:spAutoFit/>
          </a:bodyPr>
          <a:lstStyle/>
          <a:p>
            <a:r>
              <a:rPr lang="en-US" sz="3200" b="1">
                <a:solidFill>
                  <a:schemeClr val="bg1"/>
                </a:solidFill>
              </a:rPr>
              <a:t>Remote Frame</a:t>
            </a:r>
            <a:endParaRPr lang="en-US" sz="3200" b="1" dirty="0">
              <a:solidFill>
                <a:schemeClr val="bg1"/>
              </a:solidFill>
            </a:endParaRPr>
          </a:p>
        </p:txBody>
      </p:sp>
      <p:sp>
        <p:nvSpPr>
          <p:cNvPr id="7" name="Rectangle 6"/>
          <p:cNvSpPr/>
          <p:nvPr/>
        </p:nvSpPr>
        <p:spPr>
          <a:xfrm>
            <a:off x="590740" y="1335832"/>
            <a:ext cx="11167872" cy="2031325"/>
          </a:xfrm>
          <a:prstGeom prst="rect">
            <a:avLst/>
          </a:prstGeom>
        </p:spPr>
        <p:txBody>
          <a:bodyPr wrap="square">
            <a:spAutoFit/>
          </a:bodyPr>
          <a:lstStyle/>
          <a:p>
            <a:pPr marL="285750" indent="-285750">
              <a:buFont typeface="Wingdings" panose="05000000000000000000" pitchFamily="2" charset="2"/>
              <a:buChar char="q"/>
            </a:pPr>
            <a:r>
              <a:rPr lang="vi-VN" sz="1400">
                <a:solidFill>
                  <a:schemeClr val="bg1"/>
                </a:solidFill>
              </a:rPr>
              <a:t>Cấu trúc khung Remote Frame (gần giống Data Frame):</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SOF (Start of Frame)</a:t>
            </a:r>
          </a:p>
          <a:p>
            <a:pPr marL="285750" indent="-285750">
              <a:buFont typeface="Wingdings" panose="05000000000000000000" pitchFamily="2" charset="2"/>
              <a:buChar char="q"/>
            </a:pPr>
            <a:r>
              <a:rPr lang="vi-VN" sz="1400">
                <a:solidFill>
                  <a:schemeClr val="bg1"/>
                </a:solidFill>
              </a:rPr>
              <a:t>Arbitration Field (ID + RTR = 1)</a:t>
            </a:r>
          </a:p>
          <a:p>
            <a:pPr marL="285750" indent="-285750">
              <a:buFont typeface="Wingdings" panose="05000000000000000000" pitchFamily="2" charset="2"/>
              <a:buChar char="q"/>
            </a:pPr>
            <a:r>
              <a:rPr lang="vi-VN" sz="1400">
                <a:solidFill>
                  <a:schemeClr val="bg1"/>
                </a:solidFill>
              </a:rPr>
              <a:t>Control Field (bao gồm DLC)</a:t>
            </a:r>
          </a:p>
          <a:p>
            <a:pPr marL="285750" indent="-285750">
              <a:buFont typeface="Wingdings" panose="05000000000000000000" pitchFamily="2" charset="2"/>
              <a:buChar char="q"/>
            </a:pPr>
            <a:r>
              <a:rPr lang="vi-VN" sz="1400">
                <a:solidFill>
                  <a:schemeClr val="bg1"/>
                </a:solidFill>
              </a:rPr>
              <a:t>CRC Field</a:t>
            </a:r>
          </a:p>
          <a:p>
            <a:pPr marL="285750" indent="-285750">
              <a:buFont typeface="Wingdings" panose="05000000000000000000" pitchFamily="2" charset="2"/>
              <a:buChar char="q"/>
            </a:pPr>
            <a:r>
              <a:rPr lang="vi-VN" sz="1400">
                <a:solidFill>
                  <a:schemeClr val="bg1"/>
                </a:solidFill>
              </a:rPr>
              <a:t>ACK Field</a:t>
            </a:r>
          </a:p>
          <a:p>
            <a:pPr marL="285750" indent="-285750">
              <a:buFont typeface="Wingdings" panose="05000000000000000000" pitchFamily="2" charset="2"/>
              <a:buChar char="q"/>
            </a:pPr>
            <a:r>
              <a:rPr lang="vi-VN" sz="1400">
                <a:solidFill>
                  <a:schemeClr val="bg1"/>
                </a:solidFill>
              </a:rPr>
              <a:t>EOF (End of Frame)</a:t>
            </a:r>
          </a:p>
          <a:p>
            <a:endParaRPr lang="vi-VN" sz="1400">
              <a:solidFill>
                <a:schemeClr val="bg1"/>
              </a:solidFill>
            </a:endParaRPr>
          </a:p>
        </p:txBody>
      </p:sp>
      <p:pic>
        <p:nvPicPr>
          <p:cNvPr id="5122" name="Picture 2" descr="CAN_E: Remote Frame | Vector E-Learning">
            <a:extLst>
              <a:ext uri="{FF2B5EF4-FFF2-40B4-BE49-F238E27FC236}">
                <a16:creationId xmlns:a16="http://schemas.microsoft.com/office/drawing/2014/main" id="{AF77FFCB-E3DE-78FF-A781-1C60A953A5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5745" y="3225510"/>
            <a:ext cx="8062398" cy="3591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2587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2676502" cy="584775"/>
          </a:xfrm>
          <a:prstGeom prst="rect">
            <a:avLst/>
          </a:prstGeom>
          <a:noFill/>
        </p:spPr>
        <p:txBody>
          <a:bodyPr wrap="none" rtlCol="0">
            <a:spAutoFit/>
          </a:bodyPr>
          <a:lstStyle/>
          <a:p>
            <a:r>
              <a:rPr lang="en-US" sz="3200" b="1">
                <a:solidFill>
                  <a:schemeClr val="bg1"/>
                </a:solidFill>
              </a:rPr>
              <a:t>Remote Frame</a:t>
            </a:r>
            <a:endParaRPr lang="en-US" sz="3200" b="1" dirty="0">
              <a:solidFill>
                <a:schemeClr val="bg1"/>
              </a:solidFill>
            </a:endParaRPr>
          </a:p>
        </p:txBody>
      </p:sp>
      <p:sp>
        <p:nvSpPr>
          <p:cNvPr id="7" name="Rectangle 6"/>
          <p:cNvSpPr/>
          <p:nvPr/>
        </p:nvSpPr>
        <p:spPr>
          <a:xfrm>
            <a:off x="590740" y="1335832"/>
            <a:ext cx="11167872" cy="5047536"/>
          </a:xfrm>
          <a:prstGeom prst="rect">
            <a:avLst/>
          </a:prstGeom>
        </p:spPr>
        <p:txBody>
          <a:bodyPr wrap="square">
            <a:spAutoFit/>
          </a:bodyPr>
          <a:lstStyle/>
          <a:p>
            <a:pPr marL="285750" indent="-285750">
              <a:buFont typeface="Wingdings" panose="05000000000000000000" pitchFamily="2" charset="2"/>
              <a:buChar char="q"/>
            </a:pPr>
            <a:r>
              <a:rPr lang="vi-VN" sz="1400">
                <a:solidFill>
                  <a:schemeClr val="bg1"/>
                </a:solidFill>
              </a:rPr>
              <a:t>Arbitration giữa Remote và Data Frame</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 Đây là phần cực kỳ quan trọng </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Giả sử:</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Node A gửi Remote Frame (RTR = 1)</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Node B gửi Data Frame (RTR = 0)</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Cùng ID</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Kết quả:</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 Data Frame thắng</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 Vì:</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RTR = 0 (dominant) &gt; RTR = 1 (recessive)</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 Ý nghĩa:</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Node có dữ liệu sẽ luôn thắng → đảm bảo dữ liệu được gửi đi</a:t>
            </a:r>
            <a:endParaRPr lang="en-US" sz="1400" dirty="0">
              <a:solidFill>
                <a:schemeClr val="bg1"/>
              </a:solidFill>
            </a:endParaRPr>
          </a:p>
        </p:txBody>
      </p:sp>
      <p:pic>
        <p:nvPicPr>
          <p:cNvPr id="2" name="Picture 1">
            <a:extLst>
              <a:ext uri="{FF2B5EF4-FFF2-40B4-BE49-F238E27FC236}">
                <a16:creationId xmlns:a16="http://schemas.microsoft.com/office/drawing/2014/main" id="{29F2CD0C-E5F8-3AC2-2648-B935705E16FE}"/>
              </a:ext>
            </a:extLst>
          </p:cNvPr>
          <p:cNvPicPr>
            <a:picLocks noChangeAspect="1"/>
          </p:cNvPicPr>
          <p:nvPr/>
        </p:nvPicPr>
        <p:blipFill>
          <a:blip r:embed="rId5"/>
          <a:stretch>
            <a:fillRect/>
          </a:stretch>
        </p:blipFill>
        <p:spPr>
          <a:xfrm>
            <a:off x="4725255" y="1888360"/>
            <a:ext cx="7388069" cy="3081280"/>
          </a:xfrm>
          <a:prstGeom prst="rect">
            <a:avLst/>
          </a:prstGeom>
        </p:spPr>
      </p:pic>
    </p:spTree>
    <p:extLst>
      <p:ext uri="{BB962C8B-B14F-4D97-AF65-F5344CB8AC3E}">
        <p14:creationId xmlns:p14="http://schemas.microsoft.com/office/powerpoint/2010/main" val="21773118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968057" cy="584775"/>
          </a:xfrm>
          <a:prstGeom prst="rect">
            <a:avLst/>
          </a:prstGeom>
          <a:noFill/>
        </p:spPr>
        <p:txBody>
          <a:bodyPr wrap="none" rtlCol="0">
            <a:spAutoFit/>
          </a:bodyPr>
          <a:lstStyle/>
          <a:p>
            <a:r>
              <a:rPr lang="en-US" sz="3200" b="1">
                <a:solidFill>
                  <a:schemeClr val="bg1"/>
                </a:solidFill>
              </a:rPr>
              <a:t>REMOTE FRAME</a:t>
            </a:r>
            <a:endParaRPr lang="en-US" sz="3200" b="1" dirty="0">
              <a:solidFill>
                <a:schemeClr val="bg1"/>
              </a:solidFill>
            </a:endParaRPr>
          </a:p>
        </p:txBody>
      </p:sp>
      <p:sp>
        <p:nvSpPr>
          <p:cNvPr id="7" name="Rectangle 6"/>
          <p:cNvSpPr/>
          <p:nvPr/>
        </p:nvSpPr>
        <p:spPr>
          <a:xfrm>
            <a:off x="590740" y="1335832"/>
            <a:ext cx="11167872" cy="5693866"/>
          </a:xfrm>
          <a:prstGeom prst="rect">
            <a:avLst/>
          </a:prstGeom>
        </p:spPr>
        <p:txBody>
          <a:bodyPr wrap="square" numCol="2">
            <a:spAutoFit/>
          </a:bodyPr>
          <a:lstStyle/>
          <a:p>
            <a:pPr marL="285750" indent="-285750">
              <a:buFont typeface="Wingdings" panose="05000000000000000000" pitchFamily="2" charset="2"/>
              <a:buChar char="q"/>
            </a:pPr>
            <a:r>
              <a:rPr lang="vi-VN" sz="1600" b="1">
                <a:solidFill>
                  <a:schemeClr val="bg1"/>
                </a:solidFill>
              </a:rPr>
              <a:t>Cách hoạt động </a:t>
            </a:r>
            <a:endParaRPr lang="en-US" sz="1600" b="1">
              <a:solidFill>
                <a:schemeClr val="bg1"/>
              </a:solidFill>
            </a:endParaRP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Bước 1:</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
            </a:pPr>
            <a:r>
              <a:rPr lang="vi-VN" sz="1400">
                <a:solidFill>
                  <a:schemeClr val="bg1"/>
                </a:solidFill>
                <a:effectLst/>
              </a:rPr>
              <a:t>Node A gửi Remote Frame (RTR = 1, DLC = ví dụ 4, </a:t>
            </a:r>
            <a:endParaRPr lang="en-US" sz="1400">
              <a:solidFill>
                <a:schemeClr val="bg1"/>
              </a:solidFill>
              <a:effectLst/>
            </a:endParaRPr>
          </a:p>
          <a:p>
            <a:pPr lvl="1"/>
            <a:r>
              <a:rPr lang="en-US" sz="1400">
                <a:solidFill>
                  <a:schemeClr val="bg1"/>
                </a:solidFill>
              </a:rPr>
              <a:t>       </a:t>
            </a:r>
            <a:r>
              <a:rPr lang="vi-VN" sz="1400">
                <a:solidFill>
                  <a:schemeClr val="bg1"/>
                </a:solidFill>
                <a:effectLst/>
              </a:rPr>
              <a:t>ID = 0x123).</a:t>
            </a:r>
          </a:p>
          <a:p>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Bước 2:</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
            </a:pPr>
            <a:r>
              <a:rPr lang="vi-VN" sz="1400">
                <a:solidFill>
                  <a:schemeClr val="bg1"/>
                </a:solidFill>
                <a:effectLst/>
              </a:rPr>
              <a:t>Node B (có ID 0x123 và chịu trách nhiệm dữ liệu) nhận được → chuẩn bị Data Frame có cùng ID, DLC=4, </a:t>
            </a:r>
            <a:endParaRPr lang="en-US" sz="1400">
              <a:solidFill>
                <a:schemeClr val="bg1"/>
              </a:solidFill>
              <a:effectLst/>
            </a:endParaRPr>
          </a:p>
          <a:p>
            <a:pPr lvl="1"/>
            <a:r>
              <a:rPr lang="en-US" sz="1400">
                <a:solidFill>
                  <a:schemeClr val="bg1"/>
                </a:solidFill>
              </a:rPr>
              <a:t>       </a:t>
            </a:r>
            <a:r>
              <a:rPr lang="vi-VN" sz="1400">
                <a:solidFill>
                  <a:schemeClr val="bg1"/>
                </a:solidFill>
                <a:effectLst/>
              </a:rPr>
              <a:t>chứa dữ liệu thật.</a:t>
            </a:r>
          </a:p>
          <a:p>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Bước 3:</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Node B gửi lại Data Frame ID = X</a:t>
            </a: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marL="742950" lvl="1" indent="-285750">
              <a:buFont typeface="Wingdings" panose="05000000000000000000" pitchFamily="2" charset="2"/>
              <a:buChar char="q"/>
            </a:pPr>
            <a:endParaRPr lang="en-US" sz="1400">
              <a:solidFill>
                <a:schemeClr val="bg1"/>
              </a:solidFill>
            </a:endParaRPr>
          </a:p>
          <a:p>
            <a:pPr lvl="1"/>
            <a:endParaRPr lang="vi-VN" sz="1400">
              <a:solidFill>
                <a:schemeClr val="bg1"/>
              </a:solidFill>
            </a:endParaRP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 Ví dụ:</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ECU1 muốn nhiệt độ</a:t>
            </a:r>
          </a:p>
          <a:p>
            <a:pPr marL="742950" lvl="1"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ECU2 có sensor nhiệt độ</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 ECU1 gửi:</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Remote Frame (ID = 0x100)</a:t>
            </a:r>
          </a:p>
          <a:p>
            <a:pPr marL="285750" indent="-285750">
              <a:buFont typeface="Wingdings" panose="05000000000000000000" pitchFamily="2" charset="2"/>
              <a:buChar char="q"/>
            </a:pPr>
            <a:endParaRPr lang="vi-VN" sz="1400">
              <a:solidFill>
                <a:schemeClr val="bg1"/>
              </a:solidFill>
            </a:endParaRPr>
          </a:p>
          <a:p>
            <a:pPr marL="285750" indent="-285750">
              <a:buFont typeface="Wingdings" panose="05000000000000000000" pitchFamily="2" charset="2"/>
              <a:buChar char="q"/>
            </a:pPr>
            <a:r>
              <a:rPr lang="vi-VN" sz="1400">
                <a:solidFill>
                  <a:schemeClr val="bg1"/>
                </a:solidFill>
              </a:rPr>
              <a:t>👉 ECU2 trả lời:</a:t>
            </a:r>
          </a:p>
          <a:p>
            <a:pPr marL="285750" indent="-285750">
              <a:buFont typeface="Wingdings" panose="05000000000000000000" pitchFamily="2" charset="2"/>
              <a:buChar char="q"/>
            </a:pPr>
            <a:endParaRPr lang="vi-VN" sz="1400">
              <a:solidFill>
                <a:schemeClr val="bg1"/>
              </a:solidFill>
            </a:endParaRPr>
          </a:p>
          <a:p>
            <a:pPr marL="742950" lvl="1" indent="-285750">
              <a:buFont typeface="Wingdings" panose="05000000000000000000" pitchFamily="2" charset="2"/>
              <a:buChar char="q"/>
            </a:pPr>
            <a:r>
              <a:rPr lang="vi-VN" sz="1400">
                <a:solidFill>
                  <a:schemeClr val="bg1"/>
                </a:solidFill>
              </a:rPr>
              <a:t>Data Frame (ID = 0x100, data = nhiệt độ)</a:t>
            </a:r>
            <a:endParaRPr lang="en-US" sz="1400" dirty="0">
              <a:solidFill>
                <a:schemeClr val="bg1"/>
              </a:solidFill>
            </a:endParaRPr>
          </a:p>
        </p:txBody>
      </p:sp>
    </p:spTree>
    <p:extLst>
      <p:ext uri="{BB962C8B-B14F-4D97-AF65-F5344CB8AC3E}">
        <p14:creationId xmlns:p14="http://schemas.microsoft.com/office/powerpoint/2010/main" val="29541887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676502" cy="584775"/>
          </a:xfrm>
          <a:prstGeom prst="rect">
            <a:avLst/>
          </a:prstGeom>
          <a:noFill/>
        </p:spPr>
        <p:txBody>
          <a:bodyPr wrap="none" rtlCol="0">
            <a:spAutoFit/>
          </a:bodyPr>
          <a:lstStyle/>
          <a:p>
            <a:r>
              <a:rPr lang="en-US" sz="3200" b="1">
                <a:solidFill>
                  <a:schemeClr val="bg1"/>
                </a:solidFill>
              </a:rPr>
              <a:t>Remote Frame</a:t>
            </a:r>
            <a:endParaRPr lang="en-US" sz="3200" b="1" dirty="0">
              <a:solidFill>
                <a:schemeClr val="bg1"/>
              </a:solidFill>
            </a:endParaRPr>
          </a:p>
        </p:txBody>
      </p:sp>
      <p:sp>
        <p:nvSpPr>
          <p:cNvPr id="7" name="Rectangle 6"/>
          <p:cNvSpPr/>
          <p:nvPr/>
        </p:nvSpPr>
        <p:spPr>
          <a:xfrm>
            <a:off x="512064" y="1325267"/>
            <a:ext cx="11167872" cy="4360424"/>
          </a:xfrm>
          <a:prstGeom prst="rect">
            <a:avLst/>
          </a:prstGeom>
        </p:spPr>
        <p:txBody>
          <a:bodyPr wrap="square">
            <a:spAutoFit/>
          </a:bodyPr>
          <a:lstStyle/>
          <a:p>
            <a:pPr marL="285750" indent="-285750">
              <a:lnSpc>
                <a:spcPct val="150000"/>
              </a:lnSpc>
              <a:buFont typeface="Arial" panose="020B0604020202020204" pitchFamily="34" charset="0"/>
              <a:buChar char="•"/>
            </a:pPr>
            <a:r>
              <a:rPr lang="vi-VN" sz="1700" b="1">
                <a:solidFill>
                  <a:schemeClr val="bg1"/>
                </a:solidFill>
              </a:rPr>
              <a:t>DLC trong Remote Frame</a:t>
            </a:r>
            <a:r>
              <a:rPr lang="vi-VN" sz="1700">
                <a:solidFill>
                  <a:schemeClr val="bg1"/>
                </a:solidFill>
              </a:rPr>
              <a:t>: DLC </a:t>
            </a:r>
            <a:r>
              <a:rPr lang="vi-VN" sz="1700" b="1">
                <a:solidFill>
                  <a:schemeClr val="bg1"/>
                </a:solidFill>
              </a:rPr>
              <a:t>không phải là 0</a:t>
            </a:r>
            <a:r>
              <a:rPr lang="vi-VN" sz="1700">
                <a:solidFill>
                  <a:schemeClr val="bg1"/>
                </a:solidFill>
              </a:rPr>
              <a:t>, mà phải </a:t>
            </a:r>
            <a:r>
              <a:rPr lang="vi-VN" sz="1700" b="1">
                <a:solidFill>
                  <a:schemeClr val="bg1"/>
                </a:solidFill>
              </a:rPr>
              <a:t>bằng đúng độ dài dữ liệu</a:t>
            </a:r>
            <a:r>
              <a:rPr lang="vi-VN" sz="1700">
                <a:solidFill>
                  <a:schemeClr val="bg1"/>
                </a:solidFill>
              </a:rPr>
              <a:t> mong đợi ở Data Frame trả về. Nếu DLC không khớp với Data Frame tương ứng → có thể gây lỗi hoặc xung đột không giải quyết được.</a:t>
            </a:r>
          </a:p>
          <a:p>
            <a:pPr marL="285750" indent="-285750">
              <a:lnSpc>
                <a:spcPct val="150000"/>
              </a:lnSpc>
              <a:buFont typeface="Arial" panose="020B0604020202020204" pitchFamily="34" charset="0"/>
              <a:buChar char="•"/>
            </a:pPr>
            <a:r>
              <a:rPr lang="vi-VN" sz="1700" b="1">
                <a:solidFill>
                  <a:schemeClr val="bg1"/>
                </a:solidFill>
              </a:rPr>
              <a:t>RTR bit quyết định loại frame</a:t>
            </a:r>
            <a:r>
              <a:rPr lang="vi-VN" sz="1700">
                <a:solidFill>
                  <a:schemeClr val="bg1"/>
                </a:solidFill>
              </a:rPr>
              <a:t>: Đây là bit quan trọng nhất để phân biệt. RTR=1 → Remote, RTR=0 → Data.</a:t>
            </a:r>
          </a:p>
          <a:p>
            <a:pPr marL="285750" indent="-285750">
              <a:lnSpc>
                <a:spcPct val="150000"/>
              </a:lnSpc>
              <a:buFont typeface="Arial" panose="020B0604020202020204" pitchFamily="34" charset="0"/>
              <a:buChar char="•"/>
            </a:pPr>
            <a:r>
              <a:rPr lang="vi-VN" sz="1700" b="1">
                <a:solidFill>
                  <a:schemeClr val="bg1"/>
                </a:solidFill>
              </a:rPr>
              <a:t>Không có Data Field</a:t>
            </a:r>
            <a:r>
              <a:rPr lang="vi-VN" sz="1700">
                <a:solidFill>
                  <a:schemeClr val="bg1"/>
                </a:solidFill>
              </a:rPr>
              <a:t>: Remote Frame ngắn hơn Data Frame một chút (không có 0–64 bit data), giúp tiết kiệm thời gian bus một ít.</a:t>
            </a:r>
          </a:p>
          <a:p>
            <a:pPr marL="285750" indent="-285750">
              <a:lnSpc>
                <a:spcPct val="150000"/>
              </a:lnSpc>
              <a:buFont typeface="Arial" panose="020B0604020202020204" pitchFamily="34" charset="0"/>
              <a:buChar char="•"/>
            </a:pPr>
            <a:r>
              <a:rPr lang="vi-VN" sz="1700" b="1">
                <a:solidFill>
                  <a:schemeClr val="bg1"/>
                </a:solidFill>
              </a:rPr>
              <a:t>Ưu tiên arbitration</a:t>
            </a:r>
            <a:r>
              <a:rPr lang="vi-VN" sz="1700">
                <a:solidFill>
                  <a:schemeClr val="bg1"/>
                </a:solidFill>
              </a:rPr>
              <a:t>: Data Frame luôn có ưu tiên cao hơn Remote Frame nếu cùng ID (vì RTR=0 dominant hơn RTR=1).</a:t>
            </a:r>
            <a:endParaRPr lang="en-US" sz="1700">
              <a:solidFill>
                <a:schemeClr val="bg1"/>
              </a:solidFill>
            </a:endParaRPr>
          </a:p>
          <a:p>
            <a:pPr marL="285750" indent="-285750">
              <a:lnSpc>
                <a:spcPct val="150000"/>
              </a:lnSpc>
              <a:buFont typeface="Arial" panose="020B0604020202020204" pitchFamily="34" charset="0"/>
              <a:buChar char="•"/>
            </a:pPr>
            <a:endParaRPr lang="vi-VN" sz="1700">
              <a:solidFill>
                <a:schemeClr val="bg1"/>
              </a:solidFill>
            </a:endParaRPr>
          </a:p>
          <a:p>
            <a:pPr marL="285750" indent="-285750">
              <a:lnSpc>
                <a:spcPct val="150000"/>
              </a:lnSpc>
              <a:buFont typeface="Arial" panose="020B0604020202020204" pitchFamily="34" charset="0"/>
              <a:buChar char="•"/>
            </a:pPr>
            <a:r>
              <a:rPr lang="en-US" sz="1700" b="1">
                <a:solidFill>
                  <a:schemeClr val="bg1"/>
                </a:solidFill>
              </a:rPr>
              <a:t>Lưu ý</a:t>
            </a:r>
            <a:r>
              <a:rPr lang="vi-VN" sz="1700">
                <a:solidFill>
                  <a:schemeClr val="bg1"/>
                </a:solidFill>
              </a:rPr>
              <a:t>:</a:t>
            </a:r>
          </a:p>
          <a:p>
            <a:pPr marL="742950" lvl="1" indent="-285750">
              <a:lnSpc>
                <a:spcPct val="150000"/>
              </a:lnSpc>
              <a:buFont typeface="Arial" panose="020B0604020202020204" pitchFamily="34" charset="0"/>
              <a:buChar char="•"/>
            </a:pPr>
            <a:r>
              <a:rPr lang="vi-VN" sz="1700">
                <a:solidFill>
                  <a:schemeClr val="bg1"/>
                </a:solidFill>
              </a:rPr>
              <a:t>Nếu chỉ có </a:t>
            </a:r>
            <a:r>
              <a:rPr lang="vi-VN" sz="1700" b="1">
                <a:solidFill>
                  <a:schemeClr val="bg1"/>
                </a:solidFill>
              </a:rPr>
              <a:t>1 node</a:t>
            </a:r>
            <a:r>
              <a:rPr lang="vi-VN" sz="1700">
                <a:solidFill>
                  <a:schemeClr val="bg1"/>
                </a:solidFill>
              </a:rPr>
              <a:t> trên bus → Remote Frame sẽ luôn bị </a:t>
            </a:r>
            <a:r>
              <a:rPr lang="vi-VN" sz="1700" b="1">
                <a:solidFill>
                  <a:schemeClr val="bg1"/>
                </a:solidFill>
              </a:rPr>
              <a:t>ACK Error</a:t>
            </a:r>
            <a:r>
              <a:rPr lang="vi-VN" sz="1700">
                <a:solidFill>
                  <a:schemeClr val="bg1"/>
                </a:solidFill>
              </a:rPr>
              <a:t>.</a:t>
            </a:r>
          </a:p>
        </p:txBody>
      </p:sp>
    </p:spTree>
    <p:extLst>
      <p:ext uri="{BB962C8B-B14F-4D97-AF65-F5344CB8AC3E}">
        <p14:creationId xmlns:p14="http://schemas.microsoft.com/office/powerpoint/2010/main" val="13891001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61843"/>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7" name="Rectangle 6"/>
          <p:cNvSpPr/>
          <p:nvPr/>
        </p:nvSpPr>
        <p:spPr>
          <a:xfrm>
            <a:off x="590740" y="1335832"/>
            <a:ext cx="11167872" cy="3607206"/>
          </a:xfrm>
          <a:prstGeom prst="rect">
            <a:avLst/>
          </a:prstGeom>
        </p:spPr>
        <p:txBody>
          <a:bodyPr wrap="square">
            <a:spAutoFit/>
          </a:bodyPr>
          <a:lstStyle/>
          <a:p>
            <a:pPr>
              <a:lnSpc>
                <a:spcPct val="150000"/>
              </a:lnSpc>
            </a:pPr>
            <a:r>
              <a:rPr lang="vi-VN" sz="1400" b="1">
                <a:solidFill>
                  <a:schemeClr val="bg1"/>
                </a:solidFill>
              </a:rPr>
              <a:t>1. Error Frame là gì?</a:t>
            </a:r>
          </a:p>
          <a:p>
            <a:pPr marL="285750" indent="-285750">
              <a:lnSpc>
                <a:spcPct val="150000"/>
              </a:lnSpc>
              <a:buFont typeface="Arial" panose="020B0604020202020204" pitchFamily="34" charset="0"/>
              <a:buChar char="•"/>
            </a:pPr>
            <a:r>
              <a:rPr lang="vi-VN" sz="1400" b="1">
                <a:solidFill>
                  <a:schemeClr val="bg1"/>
                </a:solidFill>
                <a:effectLst/>
              </a:rPr>
              <a:t>Error Frame</a:t>
            </a:r>
            <a:r>
              <a:rPr lang="vi-VN" sz="1400">
                <a:solidFill>
                  <a:schemeClr val="bg1"/>
                </a:solidFill>
                <a:effectLst/>
              </a:rPr>
              <a:t> là một khung đặc biệt (không phải Data/Remote Frame) được bất kỳ node nào trên bus gửi ra khi phát hiện </a:t>
            </a:r>
            <a:r>
              <a:rPr lang="vi-VN" sz="1400" b="1">
                <a:solidFill>
                  <a:schemeClr val="bg1"/>
                </a:solidFill>
                <a:effectLst/>
              </a:rPr>
              <a:t>lỗi</a:t>
            </a:r>
            <a:r>
              <a:rPr lang="vi-VN" sz="1400">
                <a:solidFill>
                  <a:schemeClr val="bg1"/>
                </a:solidFill>
                <a:effectLst/>
              </a:rPr>
              <a:t> trong quá trình truyền/nhận.</a:t>
            </a:r>
          </a:p>
          <a:p>
            <a:pPr marL="285750" indent="-285750">
              <a:lnSpc>
                <a:spcPct val="150000"/>
              </a:lnSpc>
              <a:buFont typeface="Arial" panose="020B0604020202020204" pitchFamily="34" charset="0"/>
              <a:buChar char="•"/>
            </a:pPr>
            <a:r>
              <a:rPr lang="vi-VN" sz="1400">
                <a:solidFill>
                  <a:schemeClr val="bg1"/>
                </a:solidFill>
                <a:effectLst/>
              </a:rPr>
              <a:t>Nó có tác dụng </a:t>
            </a:r>
            <a:r>
              <a:rPr lang="vi-VN" sz="1400" b="1">
                <a:solidFill>
                  <a:schemeClr val="bg1"/>
                </a:solidFill>
                <a:effectLst/>
              </a:rPr>
              <a:t>phá hủy (destroy)</a:t>
            </a:r>
            <a:r>
              <a:rPr lang="vi-VN" sz="1400">
                <a:solidFill>
                  <a:schemeClr val="bg1"/>
                </a:solidFill>
                <a:effectLst/>
              </a:rPr>
              <a:t> frame đang truyền ngay lập tức, thông báo cho tất cả các node khác biết có lỗi, và buộc transmitter phải </a:t>
            </a:r>
            <a:r>
              <a:rPr lang="vi-VN" sz="1400" b="1">
                <a:solidFill>
                  <a:schemeClr val="bg1"/>
                </a:solidFill>
                <a:effectLst/>
              </a:rPr>
              <a:t>tự động retransmit</a:t>
            </a:r>
            <a:r>
              <a:rPr lang="vi-VN" sz="1400">
                <a:solidFill>
                  <a:schemeClr val="bg1"/>
                </a:solidFill>
                <a:effectLst/>
              </a:rPr>
              <a:t> (gửi lại) message sau khi bus idle.</a:t>
            </a:r>
            <a:endParaRPr lang="en-US" sz="1400">
              <a:solidFill>
                <a:schemeClr val="bg1"/>
              </a:solidFill>
              <a:effectLst/>
            </a:endParaRPr>
          </a:p>
          <a:p>
            <a:pPr>
              <a:lnSpc>
                <a:spcPct val="150000"/>
              </a:lnSpc>
            </a:pPr>
            <a:endParaRPr lang="vi-VN" sz="1400">
              <a:solidFill>
                <a:schemeClr val="bg1"/>
              </a:solidFill>
              <a:effectLst/>
            </a:endParaRPr>
          </a:p>
          <a:p>
            <a:pPr>
              <a:lnSpc>
                <a:spcPct val="150000"/>
              </a:lnSpc>
            </a:pPr>
            <a:r>
              <a:rPr lang="vi-VN" sz="1400" b="1">
                <a:solidFill>
                  <a:schemeClr val="bg1"/>
                </a:solidFill>
              </a:rPr>
              <a:t>2. Tác dụng chính của Error Frame</a:t>
            </a:r>
          </a:p>
          <a:p>
            <a:pPr marL="285750" indent="-285750">
              <a:lnSpc>
                <a:spcPct val="150000"/>
              </a:lnSpc>
              <a:buFont typeface="Arial" panose="020B0604020202020204" pitchFamily="34" charset="0"/>
              <a:buChar char="•"/>
            </a:pPr>
            <a:r>
              <a:rPr lang="vi-VN" sz="1400">
                <a:solidFill>
                  <a:schemeClr val="bg1"/>
                </a:solidFill>
              </a:rPr>
              <a:t>Phát hiện và báo lỗi nhanh chóng (thời gian thực).</a:t>
            </a:r>
          </a:p>
          <a:p>
            <a:pPr marL="285750" indent="-285750">
              <a:lnSpc>
                <a:spcPct val="150000"/>
              </a:lnSpc>
              <a:buFont typeface="Arial" panose="020B0604020202020204" pitchFamily="34" charset="0"/>
              <a:buChar char="•"/>
            </a:pPr>
            <a:r>
              <a:rPr lang="vi-VN" sz="1400">
                <a:solidFill>
                  <a:schemeClr val="bg1"/>
                </a:solidFill>
              </a:rPr>
              <a:t>Đảm bảo tính toàn vẹn dữ liệu: Frame bị lỗi sẽ không được bất kỳ node nào chấp nhận.</a:t>
            </a:r>
          </a:p>
          <a:p>
            <a:pPr marL="285750" indent="-285750">
              <a:lnSpc>
                <a:spcPct val="150000"/>
              </a:lnSpc>
              <a:buFont typeface="Arial" panose="020B0604020202020204" pitchFamily="34" charset="0"/>
              <a:buChar char="•"/>
            </a:pPr>
            <a:r>
              <a:rPr lang="vi-VN" sz="1400">
                <a:solidFill>
                  <a:schemeClr val="bg1"/>
                </a:solidFill>
              </a:rPr>
              <a:t>Kích hoạt cơ chế </a:t>
            </a:r>
            <a:r>
              <a:rPr lang="vi-VN" sz="1400" b="1">
                <a:solidFill>
                  <a:schemeClr val="bg1"/>
                </a:solidFill>
              </a:rPr>
              <a:t>Error Confinement</a:t>
            </a:r>
            <a:r>
              <a:rPr lang="vi-VN" sz="1400">
                <a:solidFill>
                  <a:schemeClr val="bg1"/>
                </a:solidFill>
              </a:rPr>
              <a:t> (kiểm soát lỗi): Tăng/giảm Error Counter (TEC/REC).</a:t>
            </a:r>
          </a:p>
          <a:p>
            <a:pPr marL="285750" indent="-285750">
              <a:lnSpc>
                <a:spcPct val="150000"/>
              </a:lnSpc>
              <a:buFont typeface="Arial" panose="020B0604020202020204" pitchFamily="34" charset="0"/>
              <a:buChar char="•"/>
            </a:pPr>
            <a:r>
              <a:rPr lang="vi-VN" sz="1400">
                <a:solidFill>
                  <a:schemeClr val="bg1"/>
                </a:solidFill>
              </a:rPr>
              <a:t>Cho phép hệ thống tự phục hồi: Message lỗi sẽ được gửi lại tự động (phần cứng CAN controller xử lý).</a:t>
            </a:r>
          </a:p>
        </p:txBody>
      </p:sp>
    </p:spTree>
    <p:extLst>
      <p:ext uri="{BB962C8B-B14F-4D97-AF65-F5344CB8AC3E}">
        <p14:creationId xmlns:p14="http://schemas.microsoft.com/office/powerpoint/2010/main" val="35674972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61843"/>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7" name="Rectangle 6"/>
          <p:cNvSpPr/>
          <p:nvPr/>
        </p:nvSpPr>
        <p:spPr>
          <a:xfrm>
            <a:off x="590740" y="1335832"/>
            <a:ext cx="11167872" cy="4576702"/>
          </a:xfrm>
          <a:prstGeom prst="rect">
            <a:avLst/>
          </a:prstGeom>
        </p:spPr>
        <p:txBody>
          <a:bodyPr wrap="square">
            <a:spAutoFit/>
          </a:bodyPr>
          <a:lstStyle/>
          <a:p>
            <a:pPr>
              <a:lnSpc>
                <a:spcPct val="150000"/>
              </a:lnSpc>
            </a:pPr>
            <a:r>
              <a:rPr lang="vi-VN" sz="1400">
                <a:solidFill>
                  <a:schemeClr val="bg1"/>
                </a:solidFill>
                <a:effectLst/>
              </a:rPr>
              <a:t>CAN có </a:t>
            </a:r>
            <a:r>
              <a:rPr lang="vi-VN" sz="1400" b="1">
                <a:solidFill>
                  <a:schemeClr val="bg1"/>
                </a:solidFill>
                <a:effectLst/>
              </a:rPr>
              <a:t>5 loại lỗi</a:t>
            </a:r>
            <a:r>
              <a:rPr lang="vi-VN" sz="1400">
                <a:solidFill>
                  <a:schemeClr val="bg1"/>
                </a:solidFill>
                <a:effectLst/>
              </a:rPr>
              <a:t> chính dẫn đến việc gửi Error Frame:</a:t>
            </a:r>
          </a:p>
          <a:p>
            <a:pPr>
              <a:lnSpc>
                <a:spcPct val="150000"/>
              </a:lnSpc>
              <a:buFont typeface="+mj-lt"/>
              <a:buAutoNum type="arabicPeriod"/>
            </a:pPr>
            <a:r>
              <a:rPr lang="vi-VN" sz="1400">
                <a:solidFill>
                  <a:schemeClr val="bg1"/>
                </a:solidFill>
              </a:rPr>
              <a:t>Bit Error</a:t>
            </a:r>
          </a:p>
          <a:p>
            <a:pPr>
              <a:lnSpc>
                <a:spcPct val="150000"/>
              </a:lnSpc>
              <a:buFont typeface="+mj-lt"/>
              <a:buAutoNum type="arabicPeriod"/>
            </a:pPr>
            <a:r>
              <a:rPr lang="vi-VN" sz="1400">
                <a:solidFill>
                  <a:schemeClr val="bg1"/>
                </a:solidFill>
              </a:rPr>
              <a:t>Stuff Error</a:t>
            </a:r>
          </a:p>
          <a:p>
            <a:pPr>
              <a:lnSpc>
                <a:spcPct val="150000"/>
              </a:lnSpc>
              <a:buFont typeface="+mj-lt"/>
              <a:buAutoNum type="arabicPeriod"/>
            </a:pPr>
            <a:r>
              <a:rPr lang="vi-VN" sz="1400">
                <a:solidFill>
                  <a:schemeClr val="bg1"/>
                </a:solidFill>
              </a:rPr>
              <a:t>CRC Error</a:t>
            </a:r>
          </a:p>
          <a:p>
            <a:pPr>
              <a:lnSpc>
                <a:spcPct val="150000"/>
              </a:lnSpc>
              <a:buFont typeface="+mj-lt"/>
              <a:buAutoNum type="arabicPeriod"/>
            </a:pPr>
            <a:r>
              <a:rPr lang="vi-VN" sz="1400">
                <a:solidFill>
                  <a:schemeClr val="bg1"/>
                </a:solidFill>
              </a:rPr>
              <a:t>Form Error (lỗi định dạng, ví dụ dominant bit trong EOF)</a:t>
            </a:r>
          </a:p>
          <a:p>
            <a:pPr>
              <a:lnSpc>
                <a:spcPct val="150000"/>
              </a:lnSpc>
              <a:buFont typeface="+mj-lt"/>
              <a:buAutoNum type="arabicPeriod"/>
            </a:pPr>
            <a:r>
              <a:rPr lang="vi-VN" sz="1400">
                <a:solidFill>
                  <a:schemeClr val="bg1"/>
                </a:solidFill>
              </a:rPr>
              <a:t>Acknowledgment Error (ACK Error – không có node nào nhận)</a:t>
            </a:r>
            <a:endParaRPr lang="en-US" sz="1400">
              <a:solidFill>
                <a:schemeClr val="bg1"/>
              </a:solidFill>
            </a:endParaRPr>
          </a:p>
          <a:p>
            <a:pPr>
              <a:lnSpc>
                <a:spcPct val="150000"/>
              </a:lnSpc>
            </a:pPr>
            <a:endParaRPr lang="vi-VN" sz="1400">
              <a:solidFill>
                <a:schemeClr val="bg1"/>
              </a:solidFill>
            </a:endParaRPr>
          </a:p>
          <a:p>
            <a:pPr>
              <a:lnSpc>
                <a:spcPct val="150000"/>
              </a:lnSpc>
            </a:pPr>
            <a:r>
              <a:rPr lang="vi-VN" sz="1400" b="1">
                <a:solidFill>
                  <a:schemeClr val="bg1"/>
                </a:solidFill>
              </a:rPr>
              <a:t>3. Cấu trúc của Error Frame</a:t>
            </a:r>
          </a:p>
          <a:p>
            <a:pPr>
              <a:lnSpc>
                <a:spcPct val="150000"/>
              </a:lnSpc>
            </a:pPr>
            <a:r>
              <a:rPr lang="vi-VN" sz="1400">
                <a:solidFill>
                  <a:schemeClr val="bg1"/>
                </a:solidFill>
                <a:effectLst/>
              </a:rPr>
              <a:t>Error Frame gồm </a:t>
            </a:r>
            <a:r>
              <a:rPr lang="vi-VN" sz="1400" b="1">
                <a:solidFill>
                  <a:schemeClr val="bg1"/>
                </a:solidFill>
                <a:effectLst/>
              </a:rPr>
              <a:t>2 phần</a:t>
            </a:r>
            <a:r>
              <a:rPr lang="vi-VN" sz="1400">
                <a:solidFill>
                  <a:schemeClr val="bg1"/>
                </a:solidFill>
                <a:effectLst/>
              </a:rPr>
              <a:t>:</a:t>
            </a:r>
          </a:p>
          <a:p>
            <a:pPr marL="285750" indent="-285750">
              <a:lnSpc>
                <a:spcPct val="150000"/>
              </a:lnSpc>
              <a:buFont typeface="Arial" panose="020B0604020202020204" pitchFamily="34" charset="0"/>
              <a:buChar char="•"/>
            </a:pPr>
            <a:r>
              <a:rPr lang="vi-VN" sz="1400" b="1">
                <a:solidFill>
                  <a:schemeClr val="bg1"/>
                </a:solidFill>
              </a:rPr>
              <a:t>Error Flag</a:t>
            </a:r>
            <a:r>
              <a:rPr lang="vi-VN" sz="1400">
                <a:solidFill>
                  <a:schemeClr val="bg1"/>
                </a:solidFill>
              </a:rPr>
              <a:t> (Cờ lỗi): 6 bit</a:t>
            </a:r>
          </a:p>
          <a:p>
            <a:pPr marL="285750" indent="-285750">
              <a:lnSpc>
                <a:spcPct val="150000"/>
              </a:lnSpc>
              <a:buFont typeface="Arial" panose="020B0604020202020204" pitchFamily="34" charset="0"/>
              <a:buChar char="•"/>
            </a:pPr>
            <a:r>
              <a:rPr lang="vi-VN" sz="1400" b="1">
                <a:solidFill>
                  <a:schemeClr val="bg1"/>
                </a:solidFill>
              </a:rPr>
              <a:t>Error Delimiter</a:t>
            </a:r>
            <a:r>
              <a:rPr lang="vi-VN" sz="1400">
                <a:solidFill>
                  <a:schemeClr val="bg1"/>
                </a:solidFill>
              </a:rPr>
              <a:t> (Phân cách lỗi): 8 bit recessive (11111111)</a:t>
            </a:r>
          </a:p>
          <a:p>
            <a:pPr>
              <a:lnSpc>
                <a:spcPct val="150000"/>
              </a:lnSpc>
            </a:pPr>
            <a:r>
              <a:rPr lang="vi-VN" sz="1400" b="1">
                <a:solidFill>
                  <a:schemeClr val="bg1"/>
                </a:solidFill>
                <a:effectLst/>
              </a:rPr>
              <a:t>Đặc điểm quan trọng</a:t>
            </a:r>
            <a:r>
              <a:rPr lang="vi-VN" sz="1400">
                <a:solidFill>
                  <a:schemeClr val="bg1"/>
                </a:solidFill>
                <a:effectLst/>
              </a:rPr>
              <a:t>:</a:t>
            </a:r>
          </a:p>
          <a:p>
            <a:pPr marL="285750" indent="-285750">
              <a:lnSpc>
                <a:spcPct val="150000"/>
              </a:lnSpc>
              <a:buFont typeface="Arial" panose="020B0604020202020204" pitchFamily="34" charset="0"/>
              <a:buChar char="•"/>
            </a:pPr>
            <a:r>
              <a:rPr lang="vi-VN" sz="1400">
                <a:solidFill>
                  <a:schemeClr val="bg1"/>
                </a:solidFill>
              </a:rPr>
              <a:t>Error Flag </a:t>
            </a:r>
            <a:r>
              <a:rPr lang="vi-VN" sz="1400" b="1">
                <a:solidFill>
                  <a:schemeClr val="bg1"/>
                </a:solidFill>
              </a:rPr>
              <a:t>không áp dụng Bit Stuffing</a:t>
            </a:r>
            <a:r>
              <a:rPr lang="vi-VN" sz="1400">
                <a:solidFill>
                  <a:schemeClr val="bg1"/>
                </a:solidFill>
              </a:rPr>
              <a:t> (để cố ý vi phạm quy tắc stuffing → các node khác dễ phát hiện lỗi).</a:t>
            </a:r>
          </a:p>
          <a:p>
            <a:pPr marL="285750" indent="-285750">
              <a:lnSpc>
                <a:spcPct val="150000"/>
              </a:lnSpc>
              <a:buFont typeface="Arial" panose="020B0604020202020204" pitchFamily="34" charset="0"/>
              <a:buChar char="•"/>
            </a:pPr>
            <a:r>
              <a:rPr lang="vi-VN" sz="1400">
                <a:solidFill>
                  <a:schemeClr val="bg1"/>
                </a:solidFill>
              </a:rPr>
              <a:t>Error Delimiter luôn là </a:t>
            </a:r>
            <a:r>
              <a:rPr lang="vi-VN" sz="1400" b="1">
                <a:solidFill>
                  <a:schemeClr val="bg1"/>
                </a:solidFill>
              </a:rPr>
              <a:t>8 recessive bits</a:t>
            </a:r>
            <a:r>
              <a:rPr lang="vi-VN" sz="1400">
                <a:solidFill>
                  <a:schemeClr val="bg1"/>
                </a:solidFill>
              </a:rPr>
              <a:t>.</a:t>
            </a:r>
          </a:p>
        </p:txBody>
      </p:sp>
    </p:spTree>
    <p:extLst>
      <p:ext uri="{BB962C8B-B14F-4D97-AF65-F5344CB8AC3E}">
        <p14:creationId xmlns:p14="http://schemas.microsoft.com/office/powerpoint/2010/main" val="1388223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61843"/>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7" name="Rectangle 6"/>
          <p:cNvSpPr/>
          <p:nvPr/>
        </p:nvSpPr>
        <p:spPr>
          <a:xfrm>
            <a:off x="590740" y="1335832"/>
            <a:ext cx="11167872" cy="2031325"/>
          </a:xfrm>
          <a:prstGeom prst="rect">
            <a:avLst/>
          </a:prstGeom>
        </p:spPr>
        <p:txBody>
          <a:bodyPr wrap="square">
            <a:spAutoFit/>
          </a:bodyPr>
          <a:lstStyle/>
          <a:p>
            <a:r>
              <a:rPr lang="vi-VN" sz="1400">
                <a:solidFill>
                  <a:schemeClr val="bg1"/>
                </a:solidFill>
                <a:effectLst/>
              </a:rPr>
              <a:t>Error Frame trong CAN protocol (CAN 2.0) là khung tin đặc biệt dùng để báo lỗi và hủy bỏ ngay lập tức một khung tin (Data Frame hoặc Remote Frame) đang bị lỗi trên bus. Mục đích chính là đảm bảo tính toàn vẹn dữ liệu và cho phép transmitter tự động retransmit (gửi lại) khung tin bị lỗi.</a:t>
            </a:r>
            <a:endParaRPr lang="en-US" sz="1400">
              <a:solidFill>
                <a:schemeClr val="bg1"/>
              </a:solidFill>
              <a:effectLst/>
            </a:endParaRPr>
          </a:p>
          <a:p>
            <a:endParaRPr lang="en-US" sz="1400">
              <a:solidFill>
                <a:schemeClr val="bg1"/>
              </a:solidFill>
            </a:endParaRPr>
          </a:p>
          <a:p>
            <a:r>
              <a:rPr lang="vi-VN" sz="1400">
                <a:solidFill>
                  <a:schemeClr val="bg1"/>
                </a:solidFill>
                <a:effectLst/>
              </a:rPr>
              <a:t>👉 Error Frame là frame được gửi khi phát hiện lỗi trong quá trình truyền</a:t>
            </a:r>
          </a:p>
          <a:p>
            <a:endParaRPr lang="vi-VN" sz="1400">
              <a:solidFill>
                <a:schemeClr val="bg1"/>
              </a:solidFill>
              <a:effectLst/>
            </a:endParaRPr>
          </a:p>
          <a:p>
            <a:r>
              <a:rPr lang="vi-VN" sz="1400">
                <a:solidFill>
                  <a:schemeClr val="bg1"/>
                </a:solidFill>
                <a:effectLst/>
              </a:rPr>
              <a:t>📌 Hiểu đơn giản:</a:t>
            </a:r>
          </a:p>
          <a:p>
            <a:endParaRPr lang="vi-VN" sz="1400">
              <a:solidFill>
                <a:schemeClr val="bg1"/>
              </a:solidFill>
              <a:effectLst/>
            </a:endParaRPr>
          </a:p>
          <a:p>
            <a:r>
              <a:rPr lang="vi-VN" sz="1400">
                <a:solidFill>
                  <a:schemeClr val="bg1"/>
                </a:solidFill>
                <a:effectLst/>
              </a:rPr>
              <a:t>“Có lỗi rồi → dừng hết lại → gửi lại từ đầu”</a:t>
            </a:r>
          </a:p>
        </p:txBody>
      </p:sp>
      <p:pic>
        <p:nvPicPr>
          <p:cNvPr id="1028" name="Picture 4" descr="CAN Protocol: Your Car's Secret Language (P3: Error Frame, Overload Frame &amp;  Bit Timing). | by Omar Said | Medium">
            <a:extLst>
              <a:ext uri="{FF2B5EF4-FFF2-40B4-BE49-F238E27FC236}">
                <a16:creationId xmlns:a16="http://schemas.microsoft.com/office/drawing/2014/main" id="{7438FB48-F454-FE5E-ECFF-63BAD2CC17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1499" y="3534013"/>
            <a:ext cx="8306257" cy="3036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071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279401"/>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7" name="Rectangle 6"/>
          <p:cNvSpPr/>
          <p:nvPr/>
        </p:nvSpPr>
        <p:spPr>
          <a:xfrm>
            <a:off x="414529" y="1238503"/>
            <a:ext cx="11167872" cy="584775"/>
          </a:xfrm>
          <a:prstGeom prst="rect">
            <a:avLst/>
          </a:prstGeom>
        </p:spPr>
        <p:txBody>
          <a:bodyPr wrap="square">
            <a:spAutoFit/>
          </a:bodyPr>
          <a:lstStyle/>
          <a:p>
            <a:r>
              <a:rPr lang="vi-VN" sz="1600" b="1">
                <a:solidFill>
                  <a:schemeClr val="bg1"/>
                </a:solidFill>
              </a:rPr>
              <a:t>4. Hai loại Error Frame (rất quan trọng)</a:t>
            </a:r>
          </a:p>
          <a:p>
            <a:r>
              <a:rPr lang="vi-VN" sz="1600">
                <a:solidFill>
                  <a:schemeClr val="bg1"/>
                </a:solidFill>
                <a:effectLst/>
              </a:rPr>
              <a:t>Tùy theo trạng thái lỗi của node mà Error Flag khác nhau:</a:t>
            </a:r>
          </a:p>
        </p:txBody>
      </p:sp>
      <p:graphicFrame>
        <p:nvGraphicFramePr>
          <p:cNvPr id="2" name="Table 1">
            <a:extLst>
              <a:ext uri="{FF2B5EF4-FFF2-40B4-BE49-F238E27FC236}">
                <a16:creationId xmlns:a16="http://schemas.microsoft.com/office/drawing/2014/main" id="{B387E024-0BE4-0E32-9813-CE18B5DBDCFC}"/>
              </a:ext>
            </a:extLst>
          </p:cNvPr>
          <p:cNvGraphicFramePr>
            <a:graphicFrameLocks noGrp="1"/>
          </p:cNvGraphicFramePr>
          <p:nvPr>
            <p:extLst>
              <p:ext uri="{D42A27DB-BD31-4B8C-83A1-F6EECF244321}">
                <p14:modId xmlns:p14="http://schemas.microsoft.com/office/powerpoint/2010/main" val="2371326731"/>
              </p:ext>
            </p:extLst>
          </p:nvPr>
        </p:nvGraphicFramePr>
        <p:xfrm>
          <a:off x="571907" y="1923862"/>
          <a:ext cx="10853115" cy="2834640"/>
        </p:xfrm>
        <a:graphic>
          <a:graphicData uri="http://schemas.openxmlformats.org/drawingml/2006/table">
            <a:tbl>
              <a:tblPr/>
              <a:tblGrid>
                <a:gridCol w="2103120">
                  <a:extLst>
                    <a:ext uri="{9D8B030D-6E8A-4147-A177-3AD203B41FA5}">
                      <a16:colId xmlns:a16="http://schemas.microsoft.com/office/drawing/2014/main" val="2911977514"/>
                    </a:ext>
                  </a:extLst>
                </a:gridCol>
                <a:gridCol w="2103120">
                  <a:extLst>
                    <a:ext uri="{9D8B030D-6E8A-4147-A177-3AD203B41FA5}">
                      <a16:colId xmlns:a16="http://schemas.microsoft.com/office/drawing/2014/main" val="3975213477"/>
                    </a:ext>
                  </a:extLst>
                </a:gridCol>
                <a:gridCol w="2103120">
                  <a:extLst>
                    <a:ext uri="{9D8B030D-6E8A-4147-A177-3AD203B41FA5}">
                      <a16:colId xmlns:a16="http://schemas.microsoft.com/office/drawing/2014/main" val="46995215"/>
                    </a:ext>
                  </a:extLst>
                </a:gridCol>
                <a:gridCol w="2437864">
                  <a:extLst>
                    <a:ext uri="{9D8B030D-6E8A-4147-A177-3AD203B41FA5}">
                      <a16:colId xmlns:a16="http://schemas.microsoft.com/office/drawing/2014/main" val="1512326202"/>
                    </a:ext>
                  </a:extLst>
                </a:gridCol>
                <a:gridCol w="2105891">
                  <a:extLst>
                    <a:ext uri="{9D8B030D-6E8A-4147-A177-3AD203B41FA5}">
                      <a16:colId xmlns:a16="http://schemas.microsoft.com/office/drawing/2014/main" val="749705349"/>
                    </a:ext>
                  </a:extLst>
                </a:gridCol>
              </a:tblGrid>
              <a:tr h="0">
                <a:tc>
                  <a:txBody>
                    <a:bodyPr/>
                    <a:lstStyle/>
                    <a:p>
                      <a:r>
                        <a:rPr lang="vi-VN"/>
                        <a:t>Trạng thái Node</a:t>
                      </a:r>
                    </a:p>
                  </a:txBody>
                  <a:tcPr anchor="ctr">
                    <a:lnL>
                      <a:noFill/>
                    </a:lnL>
                    <a:lnR>
                      <a:noFill/>
                    </a:lnR>
                    <a:lnT>
                      <a:noFill/>
                    </a:lnT>
                    <a:lnB>
                      <a:noFill/>
                    </a:lnB>
                    <a:solidFill>
                      <a:schemeClr val="accent1">
                        <a:lumMod val="40000"/>
                        <a:lumOff val="60000"/>
                      </a:schemeClr>
                    </a:solidFill>
                  </a:tcPr>
                </a:tc>
                <a:tc>
                  <a:txBody>
                    <a:bodyPr/>
                    <a:lstStyle/>
                    <a:p>
                      <a:r>
                        <a:rPr lang="vi-VN"/>
                        <a:t>Error Flag</a:t>
                      </a:r>
                    </a:p>
                  </a:txBody>
                  <a:tcPr anchor="ctr">
                    <a:lnL>
                      <a:noFill/>
                    </a:lnL>
                    <a:lnR>
                      <a:noFill/>
                    </a:lnR>
                    <a:lnT>
                      <a:noFill/>
                    </a:lnT>
                    <a:lnB>
                      <a:noFill/>
                    </a:lnB>
                    <a:solidFill>
                      <a:schemeClr val="accent1">
                        <a:lumMod val="40000"/>
                        <a:lumOff val="60000"/>
                      </a:schemeClr>
                    </a:solidFill>
                  </a:tcPr>
                </a:tc>
                <a:tc>
                  <a:txBody>
                    <a:bodyPr/>
                    <a:lstStyle/>
                    <a:p>
                      <a:r>
                        <a:rPr lang="vi-VN"/>
                        <a:t>Độ dài Error Flag</a:t>
                      </a:r>
                    </a:p>
                  </a:txBody>
                  <a:tcPr anchor="ctr">
                    <a:lnL>
                      <a:noFill/>
                    </a:lnL>
                    <a:lnR>
                      <a:noFill/>
                    </a:lnR>
                    <a:lnT>
                      <a:noFill/>
                    </a:lnT>
                    <a:lnB>
                      <a:noFill/>
                    </a:lnB>
                    <a:solidFill>
                      <a:schemeClr val="accent1">
                        <a:lumMod val="40000"/>
                        <a:lumOff val="60000"/>
                      </a:schemeClr>
                    </a:solidFill>
                  </a:tcPr>
                </a:tc>
                <a:tc>
                  <a:txBody>
                    <a:bodyPr/>
                    <a:lstStyle/>
                    <a:p>
                      <a:r>
                        <a:rPr lang="vi-VN"/>
                        <a:t>Hành vi khi phát hiện lỗi</a:t>
                      </a:r>
                    </a:p>
                  </a:txBody>
                  <a:tcPr anchor="ctr">
                    <a:lnL>
                      <a:noFill/>
                    </a:lnL>
                    <a:lnR>
                      <a:noFill/>
                    </a:lnR>
                    <a:lnT>
                      <a:noFill/>
                    </a:lnT>
                    <a:lnB>
                      <a:noFill/>
                    </a:lnB>
                    <a:solidFill>
                      <a:schemeClr val="accent1">
                        <a:lumMod val="40000"/>
                        <a:lumOff val="60000"/>
                      </a:schemeClr>
                    </a:solidFill>
                  </a:tcPr>
                </a:tc>
                <a:tc>
                  <a:txBody>
                    <a:bodyPr/>
                    <a:lstStyle/>
                    <a:p>
                      <a:r>
                        <a:rPr lang="vi-VN"/>
                        <a:t>Ghi chú</a:t>
                      </a:r>
                    </a:p>
                  </a:txBody>
                  <a:tcPr anchor="ctr">
                    <a:lnL>
                      <a:noFill/>
                    </a:lnL>
                    <a:lnR>
                      <a:noFill/>
                    </a:lnR>
                    <a:lnT>
                      <a:noFill/>
                    </a:lnT>
                    <a:lnB>
                      <a:noFill/>
                    </a:lnB>
                    <a:solidFill>
                      <a:schemeClr val="accent1">
                        <a:lumMod val="40000"/>
                        <a:lumOff val="60000"/>
                      </a:schemeClr>
                    </a:solidFill>
                  </a:tcPr>
                </a:tc>
                <a:extLst>
                  <a:ext uri="{0D108BD9-81ED-4DB2-BD59-A6C34878D82A}">
                    <a16:rowId xmlns:a16="http://schemas.microsoft.com/office/drawing/2014/main" val="4192162010"/>
                  </a:ext>
                </a:extLst>
              </a:tr>
              <a:tr h="0">
                <a:tc>
                  <a:txBody>
                    <a:bodyPr/>
                    <a:lstStyle/>
                    <a:p>
                      <a:r>
                        <a:rPr lang="vi-VN" b="1"/>
                        <a:t>Error Active</a:t>
                      </a:r>
                      <a:endParaRPr lang="vi-VN"/>
                    </a:p>
                  </a:txBody>
                  <a:tcPr anchor="ctr">
                    <a:lnL>
                      <a:noFill/>
                    </a:lnL>
                    <a:lnR>
                      <a:noFill/>
                    </a:lnR>
                    <a:lnT>
                      <a:noFill/>
                    </a:lnT>
                    <a:lnB>
                      <a:noFill/>
                    </a:lnB>
                    <a:solidFill>
                      <a:schemeClr val="accent1">
                        <a:lumMod val="40000"/>
                        <a:lumOff val="60000"/>
                      </a:schemeClr>
                    </a:solidFill>
                  </a:tcPr>
                </a:tc>
                <a:tc>
                  <a:txBody>
                    <a:bodyPr/>
                    <a:lstStyle/>
                    <a:p>
                      <a:r>
                        <a:rPr lang="vi-VN" b="1"/>
                        <a:t>6 dominant bits</a:t>
                      </a:r>
                      <a:r>
                        <a:rPr lang="vi-VN"/>
                        <a:t> (000000)</a:t>
                      </a:r>
                    </a:p>
                  </a:txBody>
                  <a:tcPr anchor="ctr">
                    <a:lnL>
                      <a:noFill/>
                    </a:lnL>
                    <a:lnR>
                      <a:noFill/>
                    </a:lnR>
                    <a:lnT>
                      <a:noFill/>
                    </a:lnT>
                    <a:lnB>
                      <a:noFill/>
                    </a:lnB>
                    <a:solidFill>
                      <a:schemeClr val="accent1">
                        <a:lumMod val="40000"/>
                        <a:lumOff val="60000"/>
                      </a:schemeClr>
                    </a:solidFill>
                  </a:tcPr>
                </a:tc>
                <a:tc>
                  <a:txBody>
                    <a:bodyPr/>
                    <a:lstStyle/>
                    <a:p>
                      <a:r>
                        <a:rPr lang="vi-VN"/>
                        <a:t>6 bit</a:t>
                      </a:r>
                    </a:p>
                  </a:txBody>
                  <a:tcPr anchor="ctr">
                    <a:lnL>
                      <a:noFill/>
                    </a:lnL>
                    <a:lnR>
                      <a:noFill/>
                    </a:lnR>
                    <a:lnT>
                      <a:noFill/>
                    </a:lnT>
                    <a:lnB>
                      <a:noFill/>
                    </a:lnB>
                    <a:solidFill>
                      <a:schemeClr val="accent1">
                        <a:lumMod val="40000"/>
                        <a:lumOff val="60000"/>
                      </a:schemeClr>
                    </a:solidFill>
                  </a:tcPr>
                </a:tc>
                <a:tc>
                  <a:txBody>
                    <a:bodyPr/>
                    <a:lstStyle/>
                    <a:p>
                      <a:r>
                        <a:rPr lang="vi-VN"/>
                        <a:t>Kéo bus xuống thấp mạnh → phá hủy frame ngay</a:t>
                      </a:r>
                    </a:p>
                  </a:txBody>
                  <a:tcPr anchor="ctr">
                    <a:lnL>
                      <a:noFill/>
                    </a:lnL>
                    <a:lnR>
                      <a:noFill/>
                    </a:lnR>
                    <a:lnT>
                      <a:noFill/>
                    </a:lnT>
                    <a:lnB>
                      <a:noFill/>
                    </a:lnB>
                    <a:solidFill>
                      <a:schemeClr val="accent1">
                        <a:lumMod val="40000"/>
                        <a:lumOff val="60000"/>
                      </a:schemeClr>
                    </a:solidFill>
                  </a:tcPr>
                </a:tc>
                <a:tc>
                  <a:txBody>
                    <a:bodyPr/>
                    <a:lstStyle/>
                    <a:p>
                      <a:r>
                        <a:rPr lang="vi-VN"/>
                        <a:t>Mặc định khi TEC/REC &lt; 128</a:t>
                      </a:r>
                    </a:p>
                  </a:txBody>
                  <a:tcPr anchor="ctr">
                    <a:lnL>
                      <a:noFill/>
                    </a:lnL>
                    <a:lnR>
                      <a:noFill/>
                    </a:lnR>
                    <a:lnT>
                      <a:noFill/>
                    </a:lnT>
                    <a:lnB>
                      <a:noFill/>
                    </a:lnB>
                    <a:solidFill>
                      <a:schemeClr val="accent1">
                        <a:lumMod val="40000"/>
                        <a:lumOff val="60000"/>
                      </a:schemeClr>
                    </a:solidFill>
                  </a:tcPr>
                </a:tc>
                <a:extLst>
                  <a:ext uri="{0D108BD9-81ED-4DB2-BD59-A6C34878D82A}">
                    <a16:rowId xmlns:a16="http://schemas.microsoft.com/office/drawing/2014/main" val="3482398044"/>
                  </a:ext>
                </a:extLst>
              </a:tr>
              <a:tr h="0">
                <a:tc>
                  <a:txBody>
                    <a:bodyPr/>
                    <a:lstStyle/>
                    <a:p>
                      <a:r>
                        <a:rPr lang="vi-VN" b="1"/>
                        <a:t>Error Passive</a:t>
                      </a:r>
                      <a:endParaRPr lang="vi-VN"/>
                    </a:p>
                  </a:txBody>
                  <a:tcPr anchor="ctr">
                    <a:lnL>
                      <a:noFill/>
                    </a:lnL>
                    <a:lnR>
                      <a:noFill/>
                    </a:lnR>
                    <a:lnT>
                      <a:noFill/>
                    </a:lnT>
                    <a:lnB>
                      <a:noFill/>
                    </a:lnB>
                    <a:solidFill>
                      <a:schemeClr val="accent1">
                        <a:lumMod val="40000"/>
                        <a:lumOff val="60000"/>
                      </a:schemeClr>
                    </a:solidFill>
                  </a:tcPr>
                </a:tc>
                <a:tc>
                  <a:txBody>
                    <a:bodyPr/>
                    <a:lstStyle/>
                    <a:p>
                      <a:r>
                        <a:rPr lang="vi-VN" b="1"/>
                        <a:t>6 recessive bits</a:t>
                      </a:r>
                      <a:r>
                        <a:rPr lang="vi-VN"/>
                        <a:t> (111111)</a:t>
                      </a:r>
                    </a:p>
                  </a:txBody>
                  <a:tcPr anchor="ctr">
                    <a:lnL>
                      <a:noFill/>
                    </a:lnL>
                    <a:lnR>
                      <a:noFill/>
                    </a:lnR>
                    <a:lnT>
                      <a:noFill/>
                    </a:lnT>
                    <a:lnB>
                      <a:noFill/>
                    </a:lnB>
                    <a:solidFill>
                      <a:schemeClr val="accent1">
                        <a:lumMod val="40000"/>
                        <a:lumOff val="60000"/>
                      </a:schemeClr>
                    </a:solidFill>
                  </a:tcPr>
                </a:tc>
                <a:tc>
                  <a:txBody>
                    <a:bodyPr/>
                    <a:lstStyle/>
                    <a:p>
                      <a:r>
                        <a:rPr lang="vi-VN"/>
                        <a:t>6 bit</a:t>
                      </a:r>
                    </a:p>
                  </a:txBody>
                  <a:tcPr anchor="ctr">
                    <a:lnL>
                      <a:noFill/>
                    </a:lnL>
                    <a:lnR>
                      <a:noFill/>
                    </a:lnR>
                    <a:lnT>
                      <a:noFill/>
                    </a:lnT>
                    <a:lnB>
                      <a:noFill/>
                    </a:lnB>
                    <a:solidFill>
                      <a:schemeClr val="accent1">
                        <a:lumMod val="40000"/>
                        <a:lumOff val="60000"/>
                      </a:schemeClr>
                    </a:solidFill>
                  </a:tcPr>
                </a:tc>
                <a:tc>
                  <a:txBody>
                    <a:bodyPr/>
                    <a:lstStyle/>
                    <a:p>
                      <a:r>
                        <a:rPr lang="en-US"/>
                        <a:t>Chỉ gửi recessive, không phá hủy mạnh</a:t>
                      </a:r>
                    </a:p>
                  </a:txBody>
                  <a:tcPr anchor="ctr">
                    <a:lnL>
                      <a:noFill/>
                    </a:lnL>
                    <a:lnR>
                      <a:noFill/>
                    </a:lnR>
                    <a:lnT>
                      <a:noFill/>
                    </a:lnT>
                    <a:lnB>
                      <a:noFill/>
                    </a:lnB>
                    <a:solidFill>
                      <a:schemeClr val="accent1">
                        <a:lumMod val="40000"/>
                        <a:lumOff val="60000"/>
                      </a:schemeClr>
                    </a:solidFill>
                  </a:tcPr>
                </a:tc>
                <a:tc>
                  <a:txBody>
                    <a:bodyPr/>
                    <a:lstStyle/>
                    <a:p>
                      <a:r>
                        <a:rPr lang="vi-VN"/>
                        <a:t>TEC hoặc REC ≥ 128</a:t>
                      </a:r>
                    </a:p>
                  </a:txBody>
                  <a:tcPr anchor="ctr">
                    <a:lnL>
                      <a:noFill/>
                    </a:lnL>
                    <a:lnR>
                      <a:noFill/>
                    </a:lnR>
                    <a:lnT>
                      <a:noFill/>
                    </a:lnT>
                    <a:lnB>
                      <a:noFill/>
                    </a:lnB>
                    <a:solidFill>
                      <a:schemeClr val="accent1">
                        <a:lumMod val="40000"/>
                        <a:lumOff val="60000"/>
                      </a:schemeClr>
                    </a:solidFill>
                  </a:tcPr>
                </a:tc>
                <a:extLst>
                  <a:ext uri="{0D108BD9-81ED-4DB2-BD59-A6C34878D82A}">
                    <a16:rowId xmlns:a16="http://schemas.microsoft.com/office/drawing/2014/main" val="4115495074"/>
                  </a:ext>
                </a:extLst>
              </a:tr>
              <a:tr h="0">
                <a:tc>
                  <a:txBody>
                    <a:bodyPr/>
                    <a:lstStyle/>
                    <a:p>
                      <a:r>
                        <a:rPr lang="vi-VN" b="1"/>
                        <a:t>Bus-Off</a:t>
                      </a:r>
                      <a:endParaRPr lang="vi-VN"/>
                    </a:p>
                  </a:txBody>
                  <a:tcPr anchor="ctr">
                    <a:lnL>
                      <a:noFill/>
                    </a:lnL>
                    <a:lnR>
                      <a:noFill/>
                    </a:lnR>
                    <a:lnT>
                      <a:noFill/>
                    </a:lnT>
                    <a:lnB>
                      <a:noFill/>
                    </a:lnB>
                    <a:solidFill>
                      <a:schemeClr val="accent1">
                        <a:lumMod val="40000"/>
                        <a:lumOff val="60000"/>
                      </a:schemeClr>
                    </a:solidFill>
                  </a:tcPr>
                </a:tc>
                <a:tc>
                  <a:txBody>
                    <a:bodyPr/>
                    <a:lstStyle/>
                    <a:p>
                      <a:r>
                        <a:rPr lang="vi-VN"/>
                        <a:t>Không gửi Error Frame</a:t>
                      </a:r>
                    </a:p>
                  </a:txBody>
                  <a:tcPr anchor="ctr">
                    <a:lnL>
                      <a:noFill/>
                    </a:lnL>
                    <a:lnR>
                      <a:noFill/>
                    </a:lnR>
                    <a:lnT>
                      <a:noFill/>
                    </a:lnT>
                    <a:lnB>
                      <a:noFill/>
                    </a:lnB>
                    <a:solidFill>
                      <a:schemeClr val="accent1">
                        <a:lumMod val="40000"/>
                        <a:lumOff val="60000"/>
                      </a:schemeClr>
                    </a:solidFill>
                  </a:tcPr>
                </a:tc>
                <a:tc>
                  <a:txBody>
                    <a:bodyPr/>
                    <a:lstStyle/>
                    <a:p>
                      <a:r>
                        <a:rPr lang="vi-VN"/>
                        <a:t>-</a:t>
                      </a:r>
                    </a:p>
                  </a:txBody>
                  <a:tcPr anchor="ctr">
                    <a:lnL>
                      <a:noFill/>
                    </a:lnL>
                    <a:lnR>
                      <a:noFill/>
                    </a:lnR>
                    <a:lnT>
                      <a:noFill/>
                    </a:lnT>
                    <a:lnB>
                      <a:noFill/>
                    </a:lnB>
                    <a:solidFill>
                      <a:schemeClr val="accent1">
                        <a:lumMod val="40000"/>
                        <a:lumOff val="60000"/>
                      </a:schemeClr>
                    </a:solidFill>
                  </a:tcPr>
                </a:tc>
                <a:tc>
                  <a:txBody>
                    <a:bodyPr/>
                    <a:lstStyle/>
                    <a:p>
                      <a:r>
                        <a:rPr lang="vi-VN"/>
                        <a:t>Node ngắt hoàn toàn khỏi bus</a:t>
                      </a:r>
                    </a:p>
                  </a:txBody>
                  <a:tcPr anchor="ctr">
                    <a:lnL>
                      <a:noFill/>
                    </a:lnL>
                    <a:lnR>
                      <a:noFill/>
                    </a:lnR>
                    <a:lnT>
                      <a:noFill/>
                    </a:lnT>
                    <a:lnB>
                      <a:noFill/>
                    </a:lnB>
                    <a:solidFill>
                      <a:schemeClr val="accent1">
                        <a:lumMod val="40000"/>
                        <a:lumOff val="60000"/>
                      </a:schemeClr>
                    </a:solidFill>
                  </a:tcPr>
                </a:tc>
                <a:tc>
                  <a:txBody>
                    <a:bodyPr/>
                    <a:lstStyle/>
                    <a:p>
                      <a:r>
                        <a:rPr lang="vi-VN"/>
                        <a:t>TEC ≥ 256</a:t>
                      </a:r>
                    </a:p>
                  </a:txBody>
                  <a:tcPr anchor="ctr">
                    <a:lnL>
                      <a:noFill/>
                    </a:lnL>
                    <a:lnR>
                      <a:noFill/>
                    </a:lnR>
                    <a:lnT>
                      <a:noFill/>
                    </a:lnT>
                    <a:lnB>
                      <a:noFill/>
                    </a:lnB>
                    <a:solidFill>
                      <a:schemeClr val="accent1">
                        <a:lumMod val="40000"/>
                        <a:lumOff val="60000"/>
                      </a:schemeClr>
                    </a:solidFill>
                  </a:tcPr>
                </a:tc>
                <a:extLst>
                  <a:ext uri="{0D108BD9-81ED-4DB2-BD59-A6C34878D82A}">
                    <a16:rowId xmlns:a16="http://schemas.microsoft.com/office/drawing/2014/main" val="3054668972"/>
                  </a:ext>
                </a:extLst>
              </a:tr>
            </a:tbl>
          </a:graphicData>
        </a:graphic>
      </p:graphicFrame>
      <p:sp>
        <p:nvSpPr>
          <p:cNvPr id="6" name="TextBox 5">
            <a:extLst>
              <a:ext uri="{FF2B5EF4-FFF2-40B4-BE49-F238E27FC236}">
                <a16:creationId xmlns:a16="http://schemas.microsoft.com/office/drawing/2014/main" id="{F41F363D-73B0-D07D-D323-67CC7D5EAB4D}"/>
              </a:ext>
            </a:extLst>
          </p:cNvPr>
          <p:cNvSpPr txBox="1"/>
          <p:nvPr/>
        </p:nvSpPr>
        <p:spPr>
          <a:xfrm>
            <a:off x="571907" y="4929886"/>
            <a:ext cx="11084384" cy="923330"/>
          </a:xfrm>
          <a:prstGeom prst="rect">
            <a:avLst/>
          </a:prstGeom>
          <a:noFill/>
        </p:spPr>
        <p:txBody>
          <a:bodyPr wrap="square">
            <a:spAutoFit/>
          </a:bodyPr>
          <a:lstStyle/>
          <a:p>
            <a:pPr marL="285750" indent="-285750">
              <a:buFont typeface="Arial" panose="020B0604020202020204" pitchFamily="34" charset="0"/>
              <a:buChar char="•"/>
            </a:pPr>
            <a:r>
              <a:rPr lang="vi-VN">
                <a:solidFill>
                  <a:schemeClr val="bg1"/>
                </a:solidFill>
              </a:rPr>
              <a:t>Superposition (chồng chập): Nếu nhiều node cùng phát hiện lỗi → Error Flag có thể dài từ 6 đến 12 bit (do chồng lên nhau).</a:t>
            </a:r>
          </a:p>
          <a:p>
            <a:pPr marL="285750" indent="-285750">
              <a:buFont typeface="Arial" panose="020B0604020202020204" pitchFamily="34" charset="0"/>
              <a:buChar char="•"/>
            </a:pPr>
            <a:r>
              <a:rPr lang="vi-VN">
                <a:solidFill>
                  <a:schemeClr val="bg1"/>
                </a:solidFill>
              </a:rPr>
              <a:t>Sau Error Flag luôn là 8 recessive bits (Error Delimiter) để kết thúc Error Frame.</a:t>
            </a:r>
          </a:p>
        </p:txBody>
      </p:sp>
    </p:spTree>
    <p:extLst>
      <p:ext uri="{BB962C8B-B14F-4D97-AF65-F5344CB8AC3E}">
        <p14:creationId xmlns:p14="http://schemas.microsoft.com/office/powerpoint/2010/main" val="35863213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279401"/>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6" name="TextBox 5">
            <a:extLst>
              <a:ext uri="{FF2B5EF4-FFF2-40B4-BE49-F238E27FC236}">
                <a16:creationId xmlns:a16="http://schemas.microsoft.com/office/drawing/2014/main" id="{F41F363D-73B0-D07D-D323-67CC7D5EAB4D}"/>
              </a:ext>
            </a:extLst>
          </p:cNvPr>
          <p:cNvSpPr txBox="1"/>
          <p:nvPr/>
        </p:nvSpPr>
        <p:spPr>
          <a:xfrm>
            <a:off x="414529" y="1604668"/>
            <a:ext cx="11084384" cy="3780522"/>
          </a:xfrm>
          <a:prstGeom prst="rect">
            <a:avLst/>
          </a:prstGeom>
          <a:noFill/>
        </p:spPr>
        <p:txBody>
          <a:bodyPr wrap="square">
            <a:spAutoFit/>
          </a:bodyPr>
          <a:lstStyle/>
          <a:p>
            <a:pPr>
              <a:lnSpc>
                <a:spcPct val="150000"/>
              </a:lnSpc>
            </a:pPr>
            <a:r>
              <a:rPr lang="vi-VN" b="1">
                <a:solidFill>
                  <a:schemeClr val="bg1"/>
                </a:solidFill>
              </a:rPr>
              <a:t>5. Lưu ý quan trọng khi học và làm việc với Error Frame</a:t>
            </a:r>
          </a:p>
          <a:p>
            <a:pPr marL="285750" indent="-285750">
              <a:lnSpc>
                <a:spcPct val="150000"/>
              </a:lnSpc>
              <a:buFont typeface="Arial" panose="020B0604020202020204" pitchFamily="34" charset="0"/>
              <a:buChar char="•"/>
            </a:pPr>
            <a:r>
              <a:rPr lang="vi-VN" b="1">
                <a:solidFill>
                  <a:schemeClr val="bg1"/>
                </a:solidFill>
              </a:rPr>
              <a:t>Error Frame có thể xuất hiện bất cứ lúc nào</a:t>
            </a:r>
            <a:r>
              <a:rPr lang="vi-VN">
                <a:solidFill>
                  <a:schemeClr val="bg1"/>
                </a:solidFill>
              </a:rPr>
              <a:t> (ngay cả giữa một Data Frame đang truyền).</a:t>
            </a:r>
          </a:p>
          <a:p>
            <a:pPr marL="285750" indent="-285750">
              <a:lnSpc>
                <a:spcPct val="150000"/>
              </a:lnSpc>
              <a:buFont typeface="Arial" panose="020B0604020202020204" pitchFamily="34" charset="0"/>
              <a:buChar char="•"/>
            </a:pPr>
            <a:r>
              <a:rPr lang="vi-VN">
                <a:solidFill>
                  <a:schemeClr val="bg1"/>
                </a:solidFill>
              </a:rPr>
              <a:t>Error Frame </a:t>
            </a:r>
            <a:r>
              <a:rPr lang="vi-VN" b="1">
                <a:solidFill>
                  <a:schemeClr val="bg1"/>
                </a:solidFill>
              </a:rPr>
              <a:t>không có IFS</a:t>
            </a:r>
            <a:r>
              <a:rPr lang="vi-VN">
                <a:solidFill>
                  <a:schemeClr val="bg1"/>
                </a:solidFill>
              </a:rPr>
              <a:t> (Interframe Space) như Data/Remote Frame.</a:t>
            </a:r>
          </a:p>
          <a:p>
            <a:pPr marL="285750" indent="-285750">
              <a:lnSpc>
                <a:spcPct val="150000"/>
              </a:lnSpc>
              <a:buFont typeface="Arial" panose="020B0604020202020204" pitchFamily="34" charset="0"/>
              <a:buChar char="•"/>
            </a:pPr>
            <a:r>
              <a:rPr lang="vi-VN">
                <a:solidFill>
                  <a:schemeClr val="bg1"/>
                </a:solidFill>
              </a:rPr>
              <a:t>Sau Error Frame, bus sẽ có </a:t>
            </a:r>
            <a:r>
              <a:rPr lang="vi-VN" b="1">
                <a:solidFill>
                  <a:schemeClr val="bg1"/>
                </a:solidFill>
              </a:rPr>
              <a:t>Error Delimiter (8 recessive)</a:t>
            </a:r>
            <a:r>
              <a:rPr lang="vi-VN">
                <a:solidFill>
                  <a:schemeClr val="bg1"/>
                </a:solidFill>
              </a:rPr>
              <a:t> + IFS (3 recessive) trước khi frame mới bắt đầu.</a:t>
            </a:r>
          </a:p>
          <a:p>
            <a:pPr>
              <a:lnSpc>
                <a:spcPct val="150000"/>
              </a:lnSpc>
              <a:buFont typeface="Arial" panose="020B0604020202020204" pitchFamily="34" charset="0"/>
              <a:buChar char="•"/>
            </a:pPr>
            <a:r>
              <a:rPr lang="vi-VN" b="1">
                <a:solidFill>
                  <a:schemeClr val="bg1"/>
                </a:solidFill>
              </a:rPr>
              <a:t>Error Counter</a:t>
            </a:r>
            <a:r>
              <a:rPr lang="vi-VN">
                <a:solidFill>
                  <a:schemeClr val="bg1"/>
                </a:solidFill>
              </a:rPr>
              <a:t>:</a:t>
            </a:r>
          </a:p>
          <a:p>
            <a:pPr marL="742950" lvl="1" indent="-285750">
              <a:lnSpc>
                <a:spcPct val="150000"/>
              </a:lnSpc>
              <a:buFont typeface="Arial" panose="020B0604020202020204" pitchFamily="34" charset="0"/>
              <a:buChar char="•"/>
            </a:pPr>
            <a:r>
              <a:rPr lang="vi-VN">
                <a:solidFill>
                  <a:schemeClr val="bg1"/>
                </a:solidFill>
              </a:rPr>
              <a:t>Phát hiện lỗi khi truyền → tăng </a:t>
            </a:r>
            <a:r>
              <a:rPr lang="vi-VN" b="1">
                <a:solidFill>
                  <a:schemeClr val="bg1"/>
                </a:solidFill>
              </a:rPr>
              <a:t>Transmit Error Counter (TEC)</a:t>
            </a:r>
            <a:r>
              <a:rPr lang="vi-VN">
                <a:solidFill>
                  <a:schemeClr val="bg1"/>
                </a:solidFill>
              </a:rPr>
              <a:t> nhiều hơn (thường +8).</a:t>
            </a:r>
          </a:p>
          <a:p>
            <a:pPr marL="742950" lvl="1" indent="-285750">
              <a:lnSpc>
                <a:spcPct val="150000"/>
              </a:lnSpc>
              <a:buFont typeface="Arial" panose="020B0604020202020204" pitchFamily="34" charset="0"/>
              <a:buChar char="•"/>
            </a:pPr>
            <a:r>
              <a:rPr lang="vi-VN">
                <a:solidFill>
                  <a:schemeClr val="bg1"/>
                </a:solidFill>
              </a:rPr>
              <a:t>Phát hiện lỗi khi nhận → tăng </a:t>
            </a:r>
            <a:r>
              <a:rPr lang="vi-VN" b="1">
                <a:solidFill>
                  <a:schemeClr val="bg1"/>
                </a:solidFill>
              </a:rPr>
              <a:t>Receive Error Counter (REC)</a:t>
            </a:r>
            <a:r>
              <a:rPr lang="vi-VN">
                <a:solidFill>
                  <a:schemeClr val="bg1"/>
                </a:solidFill>
              </a:rPr>
              <a:t> ít hơn (+1 hoặc +8 tùy loại lỗi).</a:t>
            </a:r>
          </a:p>
          <a:p>
            <a:pPr marL="742950" lvl="1" indent="-285750">
              <a:lnSpc>
                <a:spcPct val="150000"/>
              </a:lnSpc>
              <a:buFont typeface="Arial" panose="020B0604020202020204" pitchFamily="34" charset="0"/>
              <a:buChar char="•"/>
            </a:pPr>
            <a:r>
              <a:rPr lang="vi-VN">
                <a:solidFill>
                  <a:schemeClr val="bg1"/>
                </a:solidFill>
              </a:rPr>
              <a:t>Lỗi được sửa → giảm counter (thường -1).</a:t>
            </a:r>
          </a:p>
        </p:txBody>
      </p:sp>
    </p:spTree>
    <p:extLst>
      <p:ext uri="{BB962C8B-B14F-4D97-AF65-F5344CB8AC3E}">
        <p14:creationId xmlns:p14="http://schemas.microsoft.com/office/powerpoint/2010/main" val="21964717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9236"/>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7" name="Rectangle 6"/>
          <p:cNvSpPr/>
          <p:nvPr/>
        </p:nvSpPr>
        <p:spPr>
          <a:xfrm>
            <a:off x="590740" y="1335832"/>
            <a:ext cx="11167872" cy="4490909"/>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b="1">
                <a:solidFill>
                  <a:schemeClr val="bg1"/>
                </a:solidFill>
              </a:rPr>
              <a:t>Bit Stuffing:</a:t>
            </a:r>
            <a:endParaRPr lang="vi-VN" sz="2000" b="1">
              <a:solidFill>
                <a:schemeClr val="bg1"/>
              </a:solidFill>
            </a:endParaRPr>
          </a:p>
          <a:p>
            <a:pPr marL="285750" indent="-285750">
              <a:lnSpc>
                <a:spcPct val="150000"/>
              </a:lnSpc>
              <a:buFont typeface="Wingdings" panose="05000000000000000000" pitchFamily="2" charset="2"/>
              <a:buChar char="q"/>
            </a:pPr>
            <a:endParaRPr lang="vi-VN" sz="1400">
              <a:solidFill>
                <a:schemeClr val="bg1"/>
              </a:solidFill>
            </a:endParaRPr>
          </a:p>
          <a:p>
            <a:pPr>
              <a:lnSpc>
                <a:spcPct val="150000"/>
              </a:lnSpc>
            </a:pPr>
            <a:r>
              <a:rPr lang="vi-VN">
                <a:solidFill>
                  <a:schemeClr val="bg1"/>
                </a:solidFill>
                <a:effectLst/>
              </a:rPr>
              <a:t>Bit stuffing (hay còn gọi là </a:t>
            </a:r>
            <a:r>
              <a:rPr lang="vi-VN" b="1">
                <a:solidFill>
                  <a:schemeClr val="bg1"/>
                </a:solidFill>
                <a:effectLst/>
              </a:rPr>
              <a:t>bit chèn</a:t>
            </a:r>
            <a:r>
              <a:rPr lang="vi-VN">
                <a:solidFill>
                  <a:schemeClr val="bg1"/>
                </a:solidFill>
                <a:effectLst/>
              </a:rPr>
              <a:t>) là quy tắc: Sau </a:t>
            </a:r>
            <a:r>
              <a:rPr lang="vi-VN" b="1">
                <a:solidFill>
                  <a:schemeClr val="bg1"/>
                </a:solidFill>
                <a:effectLst/>
              </a:rPr>
              <a:t>5 bit liên tiếp cùng mức logic</a:t>
            </a:r>
            <a:r>
              <a:rPr lang="vi-VN">
                <a:solidFill>
                  <a:schemeClr val="bg1"/>
                </a:solidFill>
                <a:effectLst/>
              </a:rPr>
              <a:t> (cùng 0 dominant hoặc cùng 1 recessive), </a:t>
            </a:r>
            <a:r>
              <a:rPr lang="vi-VN" b="1">
                <a:solidFill>
                  <a:schemeClr val="bg1"/>
                </a:solidFill>
                <a:effectLst/>
              </a:rPr>
              <a:t>transmitter (node gửi)</a:t>
            </a:r>
            <a:r>
              <a:rPr lang="vi-VN">
                <a:solidFill>
                  <a:schemeClr val="bg1"/>
                </a:solidFill>
                <a:effectLst/>
              </a:rPr>
              <a:t> tự động chèn thêm </a:t>
            </a:r>
            <a:r>
              <a:rPr lang="vi-VN" b="1">
                <a:solidFill>
                  <a:schemeClr val="bg1"/>
                </a:solidFill>
                <a:effectLst/>
              </a:rPr>
              <a:t>1 bit ngược mức</a:t>
            </a:r>
            <a:r>
              <a:rPr lang="vi-VN">
                <a:solidFill>
                  <a:schemeClr val="bg1"/>
                </a:solidFill>
                <a:effectLst/>
              </a:rPr>
              <a:t> (stuff bit).</a:t>
            </a:r>
          </a:p>
          <a:p>
            <a:pPr>
              <a:lnSpc>
                <a:spcPct val="150000"/>
              </a:lnSpc>
              <a:buFont typeface="Arial" panose="020B0604020202020204" pitchFamily="34" charset="0"/>
              <a:buChar char="•"/>
            </a:pPr>
            <a:r>
              <a:rPr lang="vi-VN">
                <a:solidFill>
                  <a:schemeClr val="bg1"/>
                </a:solidFill>
              </a:rPr>
              <a:t>Ví dụ:</a:t>
            </a:r>
          </a:p>
          <a:p>
            <a:pPr marL="742950" lvl="1" indent="-285750">
              <a:lnSpc>
                <a:spcPct val="150000"/>
              </a:lnSpc>
              <a:buFont typeface="Arial" panose="020B0604020202020204" pitchFamily="34" charset="0"/>
              <a:buChar char="•"/>
            </a:pPr>
            <a:r>
              <a:rPr lang="vi-VN">
                <a:solidFill>
                  <a:schemeClr val="bg1"/>
                </a:solidFill>
              </a:rPr>
              <a:t>00000 → chèn 1 → trở thành 000001</a:t>
            </a:r>
          </a:p>
          <a:p>
            <a:pPr marL="742950" lvl="1" indent="-285750">
              <a:lnSpc>
                <a:spcPct val="150000"/>
              </a:lnSpc>
              <a:buFont typeface="Arial" panose="020B0604020202020204" pitchFamily="34" charset="0"/>
              <a:buChar char="•"/>
            </a:pPr>
            <a:r>
              <a:rPr lang="vi-VN">
                <a:solidFill>
                  <a:schemeClr val="bg1"/>
                </a:solidFill>
              </a:rPr>
              <a:t>11111 → chèn 0 → trở thành 111110</a:t>
            </a:r>
          </a:p>
          <a:p>
            <a:pPr>
              <a:lnSpc>
                <a:spcPct val="150000"/>
              </a:lnSpc>
            </a:pPr>
            <a:r>
              <a:rPr lang="vi-VN">
                <a:solidFill>
                  <a:schemeClr val="bg1"/>
                </a:solidFill>
                <a:effectLst/>
              </a:rPr>
              <a:t>Receiver (node nhận) sẽ </a:t>
            </a:r>
            <a:r>
              <a:rPr lang="vi-VN" b="1">
                <a:solidFill>
                  <a:schemeClr val="bg1"/>
                </a:solidFill>
                <a:effectLst/>
              </a:rPr>
              <a:t>tự động bỏ (de-stuff)</a:t>
            </a:r>
            <a:r>
              <a:rPr lang="vi-VN">
                <a:solidFill>
                  <a:schemeClr val="bg1"/>
                </a:solidFill>
                <a:effectLst/>
              </a:rPr>
              <a:t> bit chèn này đi khi thấy sau 5 bit cùng mức thì bit tiếp theo phải là bit ngược → nếu đúng thì bỏ nó, không tính vào dữ liệu thật.</a:t>
            </a:r>
          </a:p>
          <a:p>
            <a:pPr>
              <a:lnSpc>
                <a:spcPct val="150000"/>
              </a:lnSpc>
            </a:pPr>
            <a:r>
              <a:rPr lang="vi-VN">
                <a:solidFill>
                  <a:schemeClr val="bg1"/>
                </a:solidFill>
                <a:effectLst/>
              </a:rPr>
              <a:t>→ Kết quả: Dữ liệu gốc không thay đổi, nhưng trên bus luôn có </a:t>
            </a:r>
            <a:r>
              <a:rPr lang="vi-VN" b="1">
                <a:solidFill>
                  <a:schemeClr val="bg1"/>
                </a:solidFill>
                <a:effectLst/>
              </a:rPr>
              <a:t>chuyển tiếp (edge)</a:t>
            </a:r>
            <a:r>
              <a:rPr lang="vi-VN">
                <a:solidFill>
                  <a:schemeClr val="bg1"/>
                </a:solidFill>
                <a:effectLst/>
              </a:rPr>
              <a:t> ít nhất mỗi 6 bit.</a:t>
            </a:r>
          </a:p>
          <a:p>
            <a:pPr lvl="1">
              <a:lnSpc>
                <a:spcPct val="150000"/>
              </a:lnSpc>
            </a:pPr>
            <a:endParaRPr lang="en-US" sz="1400" dirty="0">
              <a:solidFill>
                <a:schemeClr val="bg1"/>
              </a:solidFill>
            </a:endParaRPr>
          </a:p>
        </p:txBody>
      </p:sp>
      <p:pic>
        <p:nvPicPr>
          <p:cNvPr id="8194" name="Picture 2" descr="CAN_E: Bit Stuffing | Vector E-Learning">
            <a:extLst>
              <a:ext uri="{FF2B5EF4-FFF2-40B4-BE49-F238E27FC236}">
                <a16:creationId xmlns:a16="http://schemas.microsoft.com/office/drawing/2014/main" id="{AA303A9C-31B3-E483-E379-2E8AE1561B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5980" y="5993597"/>
            <a:ext cx="10442275" cy="631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37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ppt_x"/>
                                          </p:val>
                                        </p:tav>
                                        <p:tav tm="100000">
                                          <p:val>
                                            <p:strVal val="#ppt_x"/>
                                          </p:val>
                                        </p:tav>
                                      </p:tavLst>
                                    </p:anim>
                                    <p:anim calcmode="lin" valueType="num">
                                      <p:cBhvr additive="base">
                                        <p:cTn id="8" dur="500" fill="hold"/>
                                        <p:tgtEl>
                                          <p:spTgt spid="81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64655"/>
            <a:ext cx="12192000" cy="6858000"/>
          </a:xfrm>
        </p:spPr>
      </p:pic>
      <p:sp>
        <p:nvSpPr>
          <p:cNvPr id="13" name="TextBox 12"/>
          <p:cNvSpPr txBox="1"/>
          <p:nvPr/>
        </p:nvSpPr>
        <p:spPr>
          <a:xfrm>
            <a:off x="414529" y="584201"/>
            <a:ext cx="2501775" cy="584775"/>
          </a:xfrm>
          <a:prstGeom prst="rect">
            <a:avLst/>
          </a:prstGeom>
          <a:noFill/>
        </p:spPr>
        <p:txBody>
          <a:bodyPr wrap="none" rtlCol="0">
            <a:spAutoFit/>
          </a:bodyPr>
          <a:lstStyle/>
          <a:p>
            <a:r>
              <a:rPr lang="en-US" sz="3200" b="1">
                <a:solidFill>
                  <a:schemeClr val="bg1"/>
                </a:solidFill>
              </a:rPr>
              <a:t>BIT STUFFING</a:t>
            </a:r>
            <a:endParaRPr lang="en-US" sz="3200" b="1" dirty="0">
              <a:solidFill>
                <a:schemeClr val="bg1"/>
              </a:solidFill>
            </a:endParaRPr>
          </a:p>
        </p:txBody>
      </p:sp>
      <p:sp>
        <p:nvSpPr>
          <p:cNvPr id="7" name="Rectangle 6"/>
          <p:cNvSpPr/>
          <p:nvPr/>
        </p:nvSpPr>
        <p:spPr>
          <a:xfrm>
            <a:off x="512064" y="1168976"/>
            <a:ext cx="11167872" cy="3139321"/>
          </a:xfrm>
          <a:prstGeom prst="rect">
            <a:avLst/>
          </a:prstGeom>
        </p:spPr>
        <p:txBody>
          <a:bodyPr wrap="square">
            <a:spAutoFit/>
          </a:bodyPr>
          <a:lstStyle/>
          <a:p>
            <a:r>
              <a:rPr lang="en-US" b="1">
                <a:solidFill>
                  <a:schemeClr val="bg1"/>
                </a:solidFill>
                <a:latin typeface="Arial" panose="020B0604020202020204" pitchFamily="34" charset="0"/>
                <a:cs typeface="Arial" panose="020B0604020202020204" pitchFamily="34" charset="0"/>
              </a:rPr>
              <a:t>Bit stuffing</a:t>
            </a:r>
            <a:r>
              <a:rPr lang="vi-VN" b="1">
                <a:solidFill>
                  <a:schemeClr val="bg1"/>
                </a:solidFill>
                <a:latin typeface="Arial" panose="020B0604020202020204" pitchFamily="34" charset="0"/>
                <a:cs typeface="Arial" panose="020B0604020202020204" pitchFamily="34" charset="0"/>
              </a:rPr>
              <a:t> </a:t>
            </a:r>
            <a:r>
              <a:rPr lang="vi-VN" b="1">
                <a:solidFill>
                  <a:schemeClr val="bg1"/>
                </a:solidFill>
              </a:rPr>
              <a:t>hoạt động như thế nào?</a:t>
            </a:r>
          </a:p>
          <a:p>
            <a:pPr>
              <a:buFont typeface="+mj-lt"/>
              <a:buAutoNum type="arabicPeriod"/>
            </a:pPr>
            <a:r>
              <a:rPr lang="vi-VN" b="1">
                <a:solidFill>
                  <a:schemeClr val="bg1"/>
                </a:solidFill>
                <a:effectLst/>
              </a:rPr>
              <a:t>Transmitter</a:t>
            </a:r>
            <a:r>
              <a:rPr lang="vi-VN">
                <a:solidFill>
                  <a:schemeClr val="bg1"/>
                </a:solidFill>
                <a:effectLst/>
              </a:rPr>
              <a:t> (node gửi):</a:t>
            </a:r>
          </a:p>
          <a:p>
            <a:pPr marL="742950" lvl="1" indent="-285750">
              <a:buFont typeface="+mj-lt"/>
              <a:buAutoNum type="arabicPeriod"/>
            </a:pPr>
            <a:r>
              <a:rPr lang="vi-VN">
                <a:solidFill>
                  <a:schemeClr val="bg1"/>
                </a:solidFill>
              </a:rPr>
              <a:t>Khi chuẩn bị gửi bit tiếp theo, nó đếm số bit liên tiếp cùng mức vừa gửi.</a:t>
            </a:r>
          </a:p>
          <a:p>
            <a:pPr marL="742950" lvl="1" indent="-285750">
              <a:buFont typeface="+mj-lt"/>
              <a:buAutoNum type="arabicPeriod"/>
            </a:pPr>
            <a:r>
              <a:rPr lang="vi-VN">
                <a:solidFill>
                  <a:schemeClr val="bg1"/>
                </a:solidFill>
              </a:rPr>
              <a:t>Nếu đạt </a:t>
            </a:r>
            <a:r>
              <a:rPr lang="vi-VN" b="1">
                <a:solidFill>
                  <a:schemeClr val="bg1"/>
                </a:solidFill>
              </a:rPr>
              <a:t>5 bit cùng mức</a:t>
            </a:r>
            <a:r>
              <a:rPr lang="vi-VN">
                <a:solidFill>
                  <a:schemeClr val="bg1"/>
                </a:solidFill>
              </a:rPr>
              <a:t> → chèn ngay 1 bit ngược mức vào luồng bit trước khi gửi lên bus.</a:t>
            </a:r>
          </a:p>
          <a:p>
            <a:pPr marL="742950" lvl="1" indent="-285750">
              <a:buFont typeface="+mj-lt"/>
              <a:buAutoNum type="arabicPeriod"/>
            </a:pPr>
            <a:r>
              <a:rPr lang="vi-VN">
                <a:solidFill>
                  <a:schemeClr val="bg1"/>
                </a:solidFill>
              </a:rPr>
              <a:t>Stuff bit được chèn </a:t>
            </a:r>
            <a:r>
              <a:rPr lang="vi-VN" b="1">
                <a:solidFill>
                  <a:schemeClr val="bg1"/>
                </a:solidFill>
              </a:rPr>
              <a:t>từ SOF</a:t>
            </a:r>
            <a:r>
              <a:rPr lang="vi-VN">
                <a:solidFill>
                  <a:schemeClr val="bg1"/>
                </a:solidFill>
              </a:rPr>
              <a:t> đến </a:t>
            </a:r>
            <a:r>
              <a:rPr lang="vi-VN" b="1">
                <a:solidFill>
                  <a:schemeClr val="bg1"/>
                </a:solidFill>
              </a:rPr>
              <a:t>hết CRC sequence</a:t>
            </a:r>
            <a:r>
              <a:rPr lang="vi-VN">
                <a:solidFill>
                  <a:schemeClr val="bg1"/>
                </a:solidFill>
              </a:rPr>
              <a:t> (không chèn ở CRC delimiter, ACK slot, EOF vì các phần này cố định và ngắn).</a:t>
            </a:r>
          </a:p>
          <a:p>
            <a:pPr>
              <a:buFont typeface="+mj-lt"/>
              <a:buAutoNum type="arabicPeriod"/>
            </a:pPr>
            <a:r>
              <a:rPr lang="vi-VN" b="1">
                <a:solidFill>
                  <a:schemeClr val="bg1"/>
                </a:solidFill>
                <a:effectLst/>
              </a:rPr>
              <a:t>Receiver</a:t>
            </a:r>
            <a:r>
              <a:rPr lang="vi-VN">
                <a:solidFill>
                  <a:schemeClr val="bg1"/>
                </a:solidFill>
                <a:effectLst/>
              </a:rPr>
              <a:t> (node nhận):</a:t>
            </a:r>
          </a:p>
          <a:p>
            <a:pPr marL="742950" lvl="1" indent="-285750">
              <a:buFont typeface="+mj-lt"/>
              <a:buAutoNum type="arabicPeriod"/>
            </a:pPr>
            <a:r>
              <a:rPr lang="vi-VN">
                <a:solidFill>
                  <a:schemeClr val="bg1"/>
                </a:solidFill>
              </a:rPr>
              <a:t>Nhận bit từ bus, đếm số bit liên tiếp cùng mức.</a:t>
            </a:r>
          </a:p>
          <a:p>
            <a:pPr marL="742950" lvl="1" indent="-285750">
              <a:buFont typeface="+mj-lt"/>
              <a:buAutoNum type="arabicPeriod"/>
            </a:pPr>
            <a:r>
              <a:rPr lang="vi-VN">
                <a:solidFill>
                  <a:schemeClr val="bg1"/>
                </a:solidFill>
              </a:rPr>
              <a:t>Nếu thấy </a:t>
            </a:r>
            <a:r>
              <a:rPr lang="vi-VN" b="1">
                <a:solidFill>
                  <a:schemeClr val="bg1"/>
                </a:solidFill>
              </a:rPr>
              <a:t>5 bit cùng mức</a:t>
            </a:r>
            <a:r>
              <a:rPr lang="vi-VN">
                <a:solidFill>
                  <a:schemeClr val="bg1"/>
                </a:solidFill>
              </a:rPr>
              <a:t> → bit tiếp theo </a:t>
            </a:r>
            <a:r>
              <a:rPr lang="vi-VN" b="1">
                <a:solidFill>
                  <a:schemeClr val="bg1"/>
                </a:solidFill>
              </a:rPr>
              <a:t>phải</a:t>
            </a:r>
            <a:r>
              <a:rPr lang="vi-VN">
                <a:solidFill>
                  <a:schemeClr val="bg1"/>
                </a:solidFill>
              </a:rPr>
              <a:t> là stuff bit (ngược mức).</a:t>
            </a:r>
          </a:p>
          <a:p>
            <a:pPr marL="1143000" lvl="2" indent="-228600">
              <a:buFont typeface="+mj-lt"/>
              <a:buAutoNum type="arabicPeriod"/>
            </a:pPr>
            <a:r>
              <a:rPr lang="vi-VN">
                <a:solidFill>
                  <a:schemeClr val="bg1"/>
                </a:solidFill>
              </a:rPr>
              <a:t>Nếu đúng → bỏ bit đó đi (de-stuff), tiếp tục nhận dữ liệu thật.</a:t>
            </a:r>
          </a:p>
          <a:p>
            <a:pPr marL="1143000" lvl="2" indent="-228600">
              <a:buFont typeface="+mj-lt"/>
              <a:buAutoNum type="arabicPeriod"/>
            </a:pPr>
            <a:r>
              <a:rPr lang="vi-VN">
                <a:solidFill>
                  <a:schemeClr val="bg1"/>
                </a:solidFill>
              </a:rPr>
              <a:t>Nếu sai (ví dụ 6 bit cùng mức) → </a:t>
            </a:r>
            <a:r>
              <a:rPr lang="vi-VN" b="1">
                <a:solidFill>
                  <a:schemeClr val="bg1"/>
                </a:solidFill>
              </a:rPr>
              <a:t>Stuff Error</a:t>
            </a:r>
            <a:r>
              <a:rPr lang="vi-VN">
                <a:solidFill>
                  <a:schemeClr val="bg1"/>
                </a:solidFill>
              </a:rPr>
              <a:t> → gửi Error Frame ngay lập tức.</a:t>
            </a:r>
          </a:p>
        </p:txBody>
      </p:sp>
      <p:pic>
        <p:nvPicPr>
          <p:cNvPr id="10242" name="Picture 2" descr="CAN Bit Monitoring and Stuffing">
            <a:extLst>
              <a:ext uri="{FF2B5EF4-FFF2-40B4-BE49-F238E27FC236}">
                <a16:creationId xmlns:a16="http://schemas.microsoft.com/office/drawing/2014/main" id="{DF2486BB-7DB8-98D8-A469-3A40FE691E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5980" y="4475153"/>
            <a:ext cx="7553504" cy="2225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5788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501775" cy="584775"/>
          </a:xfrm>
          <a:prstGeom prst="rect">
            <a:avLst/>
          </a:prstGeom>
          <a:noFill/>
        </p:spPr>
        <p:txBody>
          <a:bodyPr wrap="none" rtlCol="0">
            <a:spAutoFit/>
          </a:bodyPr>
          <a:lstStyle/>
          <a:p>
            <a:r>
              <a:rPr lang="en-US" sz="3200" b="1">
                <a:solidFill>
                  <a:schemeClr val="bg1"/>
                </a:solidFill>
              </a:rPr>
              <a:t>BIT STUFFING</a:t>
            </a:r>
            <a:endParaRPr lang="en-US" sz="3200" b="1" dirty="0">
              <a:solidFill>
                <a:schemeClr val="bg1"/>
              </a:solidFill>
            </a:endParaRPr>
          </a:p>
        </p:txBody>
      </p:sp>
      <p:sp>
        <p:nvSpPr>
          <p:cNvPr id="7" name="Rectangle 6"/>
          <p:cNvSpPr/>
          <p:nvPr/>
        </p:nvSpPr>
        <p:spPr>
          <a:xfrm>
            <a:off x="512064" y="1059918"/>
            <a:ext cx="11167872" cy="4490909"/>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b="1">
                <a:solidFill>
                  <a:schemeClr val="bg1"/>
                </a:solidFill>
              </a:rPr>
              <a:t>Bit Stuffing:</a:t>
            </a:r>
            <a:endParaRPr lang="vi-VN" sz="2000" b="1">
              <a:solidFill>
                <a:schemeClr val="bg1"/>
              </a:solidFill>
            </a:endParaRPr>
          </a:p>
          <a:p>
            <a:pPr marL="285750" indent="-285750">
              <a:lnSpc>
                <a:spcPct val="150000"/>
              </a:lnSpc>
              <a:buFont typeface="Wingdings" panose="05000000000000000000" pitchFamily="2" charset="2"/>
              <a:buChar char="q"/>
            </a:pPr>
            <a:endParaRPr lang="vi-VN" sz="1400">
              <a:solidFill>
                <a:schemeClr val="bg1"/>
              </a:solidFill>
            </a:endParaRPr>
          </a:p>
          <a:p>
            <a:pPr>
              <a:lnSpc>
                <a:spcPct val="150000"/>
              </a:lnSpc>
            </a:pPr>
            <a:r>
              <a:rPr lang="vi-VN">
                <a:solidFill>
                  <a:schemeClr val="bg1"/>
                </a:solidFill>
                <a:effectLst/>
              </a:rPr>
              <a:t>Bit stuffing (hay còn gọi là </a:t>
            </a:r>
            <a:r>
              <a:rPr lang="vi-VN" b="1">
                <a:solidFill>
                  <a:schemeClr val="bg1"/>
                </a:solidFill>
                <a:effectLst/>
              </a:rPr>
              <a:t>bit chèn</a:t>
            </a:r>
            <a:r>
              <a:rPr lang="vi-VN">
                <a:solidFill>
                  <a:schemeClr val="bg1"/>
                </a:solidFill>
                <a:effectLst/>
              </a:rPr>
              <a:t>) là quy tắc: Sau </a:t>
            </a:r>
            <a:r>
              <a:rPr lang="vi-VN" b="1">
                <a:solidFill>
                  <a:schemeClr val="bg1"/>
                </a:solidFill>
                <a:effectLst/>
              </a:rPr>
              <a:t>5 bit liên tiếp cùng mức logic</a:t>
            </a:r>
            <a:r>
              <a:rPr lang="vi-VN">
                <a:solidFill>
                  <a:schemeClr val="bg1"/>
                </a:solidFill>
                <a:effectLst/>
              </a:rPr>
              <a:t> (cùng 0 dominant hoặc cùng 1 recessive), </a:t>
            </a:r>
            <a:r>
              <a:rPr lang="vi-VN" b="1">
                <a:solidFill>
                  <a:schemeClr val="bg1"/>
                </a:solidFill>
                <a:effectLst/>
              </a:rPr>
              <a:t>transmitter (node gửi)</a:t>
            </a:r>
            <a:r>
              <a:rPr lang="vi-VN">
                <a:solidFill>
                  <a:schemeClr val="bg1"/>
                </a:solidFill>
                <a:effectLst/>
              </a:rPr>
              <a:t> tự động chèn thêm </a:t>
            </a:r>
            <a:r>
              <a:rPr lang="vi-VN" b="1">
                <a:solidFill>
                  <a:schemeClr val="bg1"/>
                </a:solidFill>
                <a:effectLst/>
              </a:rPr>
              <a:t>1 bit ngược mức</a:t>
            </a:r>
            <a:r>
              <a:rPr lang="vi-VN">
                <a:solidFill>
                  <a:schemeClr val="bg1"/>
                </a:solidFill>
                <a:effectLst/>
              </a:rPr>
              <a:t> (stuff bit).</a:t>
            </a:r>
          </a:p>
          <a:p>
            <a:pPr>
              <a:lnSpc>
                <a:spcPct val="150000"/>
              </a:lnSpc>
              <a:buFont typeface="Arial" panose="020B0604020202020204" pitchFamily="34" charset="0"/>
              <a:buChar char="•"/>
            </a:pPr>
            <a:r>
              <a:rPr lang="vi-VN">
                <a:solidFill>
                  <a:schemeClr val="bg1"/>
                </a:solidFill>
              </a:rPr>
              <a:t>Ví dụ:</a:t>
            </a:r>
          </a:p>
          <a:p>
            <a:pPr marL="742950" lvl="1" indent="-285750">
              <a:lnSpc>
                <a:spcPct val="150000"/>
              </a:lnSpc>
              <a:buFont typeface="Arial" panose="020B0604020202020204" pitchFamily="34" charset="0"/>
              <a:buChar char="•"/>
            </a:pPr>
            <a:r>
              <a:rPr lang="vi-VN">
                <a:solidFill>
                  <a:schemeClr val="bg1"/>
                </a:solidFill>
              </a:rPr>
              <a:t>00000 → chèn 1 → trở thành 000001</a:t>
            </a:r>
          </a:p>
          <a:p>
            <a:pPr marL="742950" lvl="1" indent="-285750">
              <a:lnSpc>
                <a:spcPct val="150000"/>
              </a:lnSpc>
              <a:buFont typeface="Arial" panose="020B0604020202020204" pitchFamily="34" charset="0"/>
              <a:buChar char="•"/>
            </a:pPr>
            <a:r>
              <a:rPr lang="vi-VN">
                <a:solidFill>
                  <a:schemeClr val="bg1"/>
                </a:solidFill>
              </a:rPr>
              <a:t>11111 → chèn 0 → trở thành 111110</a:t>
            </a:r>
          </a:p>
          <a:p>
            <a:pPr>
              <a:lnSpc>
                <a:spcPct val="150000"/>
              </a:lnSpc>
            </a:pPr>
            <a:r>
              <a:rPr lang="vi-VN">
                <a:solidFill>
                  <a:schemeClr val="bg1"/>
                </a:solidFill>
                <a:effectLst/>
              </a:rPr>
              <a:t>Receiver (node nhận) sẽ </a:t>
            </a:r>
            <a:r>
              <a:rPr lang="vi-VN" b="1">
                <a:solidFill>
                  <a:schemeClr val="bg1"/>
                </a:solidFill>
                <a:effectLst/>
              </a:rPr>
              <a:t>tự động bỏ (de-stuff)</a:t>
            </a:r>
            <a:r>
              <a:rPr lang="vi-VN">
                <a:solidFill>
                  <a:schemeClr val="bg1"/>
                </a:solidFill>
                <a:effectLst/>
              </a:rPr>
              <a:t> bit chèn này đi khi thấy sau 5 bit cùng mức thì bit tiếp theo phải là bit ngược → nếu đúng thì bỏ nó, không tính vào dữ liệu thật.</a:t>
            </a:r>
          </a:p>
          <a:p>
            <a:pPr>
              <a:lnSpc>
                <a:spcPct val="150000"/>
              </a:lnSpc>
            </a:pPr>
            <a:r>
              <a:rPr lang="vi-VN">
                <a:solidFill>
                  <a:schemeClr val="bg1"/>
                </a:solidFill>
                <a:effectLst/>
              </a:rPr>
              <a:t>→ Kết quả: Dữ liệu gốc không thay đổi, nhưng trên bus luôn có </a:t>
            </a:r>
            <a:r>
              <a:rPr lang="vi-VN" b="1">
                <a:solidFill>
                  <a:schemeClr val="bg1"/>
                </a:solidFill>
                <a:effectLst/>
              </a:rPr>
              <a:t>chuyển tiếp (edge)</a:t>
            </a:r>
            <a:r>
              <a:rPr lang="vi-VN">
                <a:solidFill>
                  <a:schemeClr val="bg1"/>
                </a:solidFill>
                <a:effectLst/>
              </a:rPr>
              <a:t> ít nhất mỗi 6 bit.</a:t>
            </a:r>
          </a:p>
          <a:p>
            <a:pPr lvl="1">
              <a:lnSpc>
                <a:spcPct val="150000"/>
              </a:lnSpc>
            </a:pPr>
            <a:endParaRPr lang="en-US" sz="1400" dirty="0">
              <a:solidFill>
                <a:schemeClr val="bg1"/>
              </a:solidFill>
            </a:endParaRPr>
          </a:p>
        </p:txBody>
      </p:sp>
      <p:pic>
        <p:nvPicPr>
          <p:cNvPr id="5" name="Picture 4">
            <a:extLst>
              <a:ext uri="{FF2B5EF4-FFF2-40B4-BE49-F238E27FC236}">
                <a16:creationId xmlns:a16="http://schemas.microsoft.com/office/drawing/2014/main" id="{21F08E07-812D-5D30-25E8-F0B20D040410}"/>
              </a:ext>
            </a:extLst>
          </p:cNvPr>
          <p:cNvPicPr>
            <a:picLocks noChangeAspect="1"/>
          </p:cNvPicPr>
          <p:nvPr/>
        </p:nvPicPr>
        <p:blipFill>
          <a:blip r:embed="rId5"/>
          <a:stretch>
            <a:fillRect/>
          </a:stretch>
        </p:blipFill>
        <p:spPr>
          <a:xfrm>
            <a:off x="3831947" y="584201"/>
            <a:ext cx="7659717" cy="5878658"/>
          </a:xfrm>
          <a:prstGeom prst="rect">
            <a:avLst/>
          </a:prstGeom>
        </p:spPr>
      </p:pic>
    </p:spTree>
    <p:extLst>
      <p:ext uri="{BB962C8B-B14F-4D97-AF65-F5344CB8AC3E}">
        <p14:creationId xmlns:p14="http://schemas.microsoft.com/office/powerpoint/2010/main" val="98053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7" name="Rectangle 6"/>
          <p:cNvSpPr/>
          <p:nvPr/>
        </p:nvSpPr>
        <p:spPr>
          <a:xfrm>
            <a:off x="512064" y="1059918"/>
            <a:ext cx="11167872" cy="4490909"/>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b="1">
                <a:solidFill>
                  <a:schemeClr val="bg1"/>
                </a:solidFill>
              </a:rPr>
              <a:t>Bit Stuffing:</a:t>
            </a:r>
            <a:endParaRPr lang="vi-VN" sz="2000" b="1">
              <a:solidFill>
                <a:schemeClr val="bg1"/>
              </a:solidFill>
            </a:endParaRPr>
          </a:p>
          <a:p>
            <a:pPr marL="285750" indent="-285750">
              <a:lnSpc>
                <a:spcPct val="150000"/>
              </a:lnSpc>
              <a:buFont typeface="Wingdings" panose="05000000000000000000" pitchFamily="2" charset="2"/>
              <a:buChar char="q"/>
            </a:pPr>
            <a:endParaRPr lang="vi-VN" sz="1400">
              <a:solidFill>
                <a:schemeClr val="bg1"/>
              </a:solidFill>
            </a:endParaRPr>
          </a:p>
          <a:p>
            <a:pPr>
              <a:lnSpc>
                <a:spcPct val="150000"/>
              </a:lnSpc>
            </a:pPr>
            <a:r>
              <a:rPr lang="vi-VN">
                <a:solidFill>
                  <a:schemeClr val="bg1"/>
                </a:solidFill>
                <a:effectLst/>
              </a:rPr>
              <a:t>Bit stuffing (hay còn gọi là </a:t>
            </a:r>
            <a:r>
              <a:rPr lang="vi-VN" b="1">
                <a:solidFill>
                  <a:schemeClr val="bg1"/>
                </a:solidFill>
                <a:effectLst/>
              </a:rPr>
              <a:t>bit chèn</a:t>
            </a:r>
            <a:r>
              <a:rPr lang="vi-VN">
                <a:solidFill>
                  <a:schemeClr val="bg1"/>
                </a:solidFill>
                <a:effectLst/>
              </a:rPr>
              <a:t>) là quy tắc: Sau </a:t>
            </a:r>
            <a:r>
              <a:rPr lang="vi-VN" b="1">
                <a:solidFill>
                  <a:schemeClr val="bg1"/>
                </a:solidFill>
                <a:effectLst/>
              </a:rPr>
              <a:t>5 bit liên tiếp cùng mức logic</a:t>
            </a:r>
            <a:r>
              <a:rPr lang="vi-VN">
                <a:solidFill>
                  <a:schemeClr val="bg1"/>
                </a:solidFill>
                <a:effectLst/>
              </a:rPr>
              <a:t> (cùng 0 dominant hoặc cùng 1 recessive), </a:t>
            </a:r>
            <a:r>
              <a:rPr lang="vi-VN" b="1">
                <a:solidFill>
                  <a:schemeClr val="bg1"/>
                </a:solidFill>
                <a:effectLst/>
              </a:rPr>
              <a:t>transmitter (node gửi)</a:t>
            </a:r>
            <a:r>
              <a:rPr lang="vi-VN">
                <a:solidFill>
                  <a:schemeClr val="bg1"/>
                </a:solidFill>
                <a:effectLst/>
              </a:rPr>
              <a:t> tự động chèn thêm </a:t>
            </a:r>
            <a:r>
              <a:rPr lang="vi-VN" b="1">
                <a:solidFill>
                  <a:schemeClr val="bg1"/>
                </a:solidFill>
                <a:effectLst/>
              </a:rPr>
              <a:t>1 bit ngược mức</a:t>
            </a:r>
            <a:r>
              <a:rPr lang="vi-VN">
                <a:solidFill>
                  <a:schemeClr val="bg1"/>
                </a:solidFill>
                <a:effectLst/>
              </a:rPr>
              <a:t> (stuff bit).</a:t>
            </a:r>
          </a:p>
          <a:p>
            <a:pPr>
              <a:lnSpc>
                <a:spcPct val="150000"/>
              </a:lnSpc>
              <a:buFont typeface="Arial" panose="020B0604020202020204" pitchFamily="34" charset="0"/>
              <a:buChar char="•"/>
            </a:pPr>
            <a:r>
              <a:rPr lang="vi-VN">
                <a:solidFill>
                  <a:schemeClr val="bg1"/>
                </a:solidFill>
              </a:rPr>
              <a:t>Ví dụ:</a:t>
            </a:r>
          </a:p>
          <a:p>
            <a:pPr marL="742950" lvl="1" indent="-285750">
              <a:lnSpc>
                <a:spcPct val="150000"/>
              </a:lnSpc>
              <a:buFont typeface="Arial" panose="020B0604020202020204" pitchFamily="34" charset="0"/>
              <a:buChar char="•"/>
            </a:pPr>
            <a:r>
              <a:rPr lang="vi-VN">
                <a:solidFill>
                  <a:schemeClr val="bg1"/>
                </a:solidFill>
              </a:rPr>
              <a:t>00000 → chèn 1 → trở thành 000001</a:t>
            </a:r>
          </a:p>
          <a:p>
            <a:pPr marL="742950" lvl="1" indent="-285750">
              <a:lnSpc>
                <a:spcPct val="150000"/>
              </a:lnSpc>
              <a:buFont typeface="Arial" panose="020B0604020202020204" pitchFamily="34" charset="0"/>
              <a:buChar char="•"/>
            </a:pPr>
            <a:r>
              <a:rPr lang="vi-VN">
                <a:solidFill>
                  <a:schemeClr val="bg1"/>
                </a:solidFill>
              </a:rPr>
              <a:t>11111 → chèn 0 → trở thành 111110</a:t>
            </a:r>
          </a:p>
          <a:p>
            <a:pPr>
              <a:lnSpc>
                <a:spcPct val="150000"/>
              </a:lnSpc>
            </a:pPr>
            <a:r>
              <a:rPr lang="vi-VN">
                <a:solidFill>
                  <a:schemeClr val="bg1"/>
                </a:solidFill>
                <a:effectLst/>
              </a:rPr>
              <a:t>Receiver (node nhận) sẽ </a:t>
            </a:r>
            <a:r>
              <a:rPr lang="vi-VN" b="1">
                <a:solidFill>
                  <a:schemeClr val="bg1"/>
                </a:solidFill>
                <a:effectLst/>
              </a:rPr>
              <a:t>tự động bỏ (de-stuff)</a:t>
            </a:r>
            <a:r>
              <a:rPr lang="vi-VN">
                <a:solidFill>
                  <a:schemeClr val="bg1"/>
                </a:solidFill>
                <a:effectLst/>
              </a:rPr>
              <a:t> bit chèn này đi khi thấy sau 5 bit cùng mức thì bit tiếp theo phải là bit ngược → nếu đúng thì bỏ nó, không tính vào dữ liệu thật.</a:t>
            </a:r>
          </a:p>
          <a:p>
            <a:pPr>
              <a:lnSpc>
                <a:spcPct val="150000"/>
              </a:lnSpc>
            </a:pPr>
            <a:r>
              <a:rPr lang="vi-VN">
                <a:solidFill>
                  <a:schemeClr val="bg1"/>
                </a:solidFill>
                <a:effectLst/>
              </a:rPr>
              <a:t>→ Kết quả: Dữ liệu gốc không thay đổi, nhưng trên bus luôn có </a:t>
            </a:r>
            <a:r>
              <a:rPr lang="vi-VN" b="1">
                <a:solidFill>
                  <a:schemeClr val="bg1"/>
                </a:solidFill>
                <a:effectLst/>
              </a:rPr>
              <a:t>chuyển tiếp (edge)</a:t>
            </a:r>
            <a:r>
              <a:rPr lang="vi-VN">
                <a:solidFill>
                  <a:schemeClr val="bg1"/>
                </a:solidFill>
                <a:effectLst/>
              </a:rPr>
              <a:t> ít nhất mỗi 6 bit.</a:t>
            </a:r>
          </a:p>
          <a:p>
            <a:pPr lvl="1">
              <a:lnSpc>
                <a:spcPct val="150000"/>
              </a:lnSpc>
            </a:pPr>
            <a:endParaRPr lang="en-US" sz="1400" dirty="0">
              <a:solidFill>
                <a:schemeClr val="bg1"/>
              </a:solidFill>
            </a:endParaRPr>
          </a:p>
        </p:txBody>
      </p:sp>
      <p:pic>
        <p:nvPicPr>
          <p:cNvPr id="3" name="Picture 2">
            <a:extLst>
              <a:ext uri="{FF2B5EF4-FFF2-40B4-BE49-F238E27FC236}">
                <a16:creationId xmlns:a16="http://schemas.microsoft.com/office/drawing/2014/main" id="{7FAEBFB3-CE4E-0957-AE2A-BDF3C45EA621}"/>
              </a:ext>
            </a:extLst>
          </p:cNvPr>
          <p:cNvPicPr>
            <a:picLocks noChangeAspect="1"/>
          </p:cNvPicPr>
          <p:nvPr/>
        </p:nvPicPr>
        <p:blipFill>
          <a:blip r:embed="rId5"/>
          <a:stretch>
            <a:fillRect/>
          </a:stretch>
        </p:blipFill>
        <p:spPr>
          <a:xfrm>
            <a:off x="322052" y="510233"/>
            <a:ext cx="11705247" cy="5589198"/>
          </a:xfrm>
          <a:prstGeom prst="rect">
            <a:avLst/>
          </a:prstGeom>
        </p:spPr>
      </p:pic>
    </p:spTree>
    <p:extLst>
      <p:ext uri="{BB962C8B-B14F-4D97-AF65-F5344CB8AC3E}">
        <p14:creationId xmlns:p14="http://schemas.microsoft.com/office/powerpoint/2010/main" val="98853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4630178" cy="584775"/>
          </a:xfrm>
          <a:prstGeom prst="rect">
            <a:avLst/>
          </a:prstGeom>
          <a:noFill/>
        </p:spPr>
        <p:txBody>
          <a:bodyPr wrap="none" rtlCol="0">
            <a:spAutoFit/>
          </a:bodyPr>
          <a:lstStyle/>
          <a:p>
            <a:r>
              <a:rPr lang="en-US" sz="3200" b="1">
                <a:solidFill>
                  <a:schemeClr val="bg1"/>
                </a:solidFill>
              </a:rPr>
              <a:t>Tại sao lại cần Bit stufing ?</a:t>
            </a:r>
            <a:endParaRPr lang="en-US" sz="3200" b="1" dirty="0">
              <a:solidFill>
                <a:schemeClr val="bg1"/>
              </a:solidFill>
            </a:endParaRPr>
          </a:p>
        </p:txBody>
      </p:sp>
      <p:sp>
        <p:nvSpPr>
          <p:cNvPr id="7" name="Rectangle 6"/>
          <p:cNvSpPr/>
          <p:nvPr/>
        </p:nvSpPr>
        <p:spPr>
          <a:xfrm>
            <a:off x="590740" y="1335832"/>
            <a:ext cx="11167872" cy="4253537"/>
          </a:xfrm>
          <a:prstGeom prst="rect">
            <a:avLst/>
          </a:prstGeom>
        </p:spPr>
        <p:txBody>
          <a:bodyPr wrap="square">
            <a:spAutoFit/>
          </a:bodyPr>
          <a:lstStyle/>
          <a:p>
            <a:pPr>
              <a:lnSpc>
                <a:spcPct val="150000"/>
              </a:lnSpc>
            </a:pPr>
            <a:r>
              <a:rPr lang="vi-VN" sz="1400" b="1">
                <a:solidFill>
                  <a:schemeClr val="bg1"/>
                </a:solidFill>
              </a:rPr>
              <a:t>Tại sao phải làm thế? (Mục đích chính)</a:t>
            </a:r>
          </a:p>
          <a:p>
            <a:pPr>
              <a:lnSpc>
                <a:spcPct val="150000"/>
              </a:lnSpc>
            </a:pPr>
            <a:r>
              <a:rPr lang="vi-VN" sz="1400">
                <a:solidFill>
                  <a:schemeClr val="bg1"/>
                </a:solidFill>
              </a:rPr>
              <a:t>CAN dùng mã hóa </a:t>
            </a:r>
            <a:r>
              <a:rPr lang="vi-VN" sz="1400" b="1">
                <a:solidFill>
                  <a:schemeClr val="bg1"/>
                </a:solidFill>
              </a:rPr>
              <a:t>NRZ (Non-Return-to-Zero)</a:t>
            </a:r>
            <a:r>
              <a:rPr lang="vi-VN" sz="1400">
                <a:solidFill>
                  <a:schemeClr val="bg1"/>
                </a:solidFill>
              </a:rPr>
              <a:t>:</a:t>
            </a:r>
          </a:p>
          <a:p>
            <a:pPr marL="285750" indent="-285750">
              <a:lnSpc>
                <a:spcPct val="150000"/>
              </a:lnSpc>
              <a:buFont typeface="Arial" panose="020B0604020202020204" pitchFamily="34" charset="0"/>
              <a:buChar char="•"/>
            </a:pPr>
            <a:r>
              <a:rPr lang="vi-VN" sz="1400">
                <a:solidFill>
                  <a:schemeClr val="bg1"/>
                </a:solidFill>
              </a:rPr>
              <a:t>Bit 0 hoặc 1 giữ nguyên mức điện áp suốt thời gian bit (không có chuyển tiếp giữa bit nếu cùng mức).</a:t>
            </a:r>
          </a:p>
          <a:p>
            <a:pPr marL="285750" indent="-285750">
              <a:lnSpc>
                <a:spcPct val="150000"/>
              </a:lnSpc>
              <a:buFont typeface="Arial" panose="020B0604020202020204" pitchFamily="34" charset="0"/>
              <a:buChar char="•"/>
            </a:pPr>
            <a:r>
              <a:rPr lang="vi-VN" sz="1400">
                <a:solidFill>
                  <a:schemeClr val="bg1"/>
                </a:solidFill>
              </a:rPr>
              <a:t>Đồng bộ clock của receiver dựa vào </a:t>
            </a:r>
            <a:r>
              <a:rPr lang="vi-VN" sz="1400" b="1">
                <a:solidFill>
                  <a:schemeClr val="bg1"/>
                </a:solidFill>
              </a:rPr>
              <a:t>cạnh lên/xuống (edges)</a:t>
            </a:r>
            <a:r>
              <a:rPr lang="vi-VN" sz="1400">
                <a:solidFill>
                  <a:schemeClr val="bg1"/>
                </a:solidFill>
              </a:rPr>
              <a:t> trên bus (dominant-to-recessive hoặc ngược lại).</a:t>
            </a:r>
          </a:p>
          <a:p>
            <a:pPr marL="285750" indent="-285750">
              <a:lnSpc>
                <a:spcPct val="150000"/>
              </a:lnSpc>
              <a:buFont typeface="Arial" panose="020B0604020202020204" pitchFamily="34" charset="0"/>
              <a:buChar char="•"/>
            </a:pPr>
            <a:r>
              <a:rPr lang="vi-VN" sz="1400">
                <a:solidFill>
                  <a:schemeClr val="bg1"/>
                </a:solidFill>
              </a:rPr>
              <a:t>Nếu truyền </a:t>
            </a:r>
            <a:r>
              <a:rPr lang="vi-VN" sz="1400" b="1">
                <a:solidFill>
                  <a:schemeClr val="bg1"/>
                </a:solidFill>
              </a:rPr>
              <a:t>quá lâu không có edge</a:t>
            </a:r>
            <a:r>
              <a:rPr lang="vi-VN" sz="1400">
                <a:solidFill>
                  <a:schemeClr val="bg1"/>
                </a:solidFill>
              </a:rPr>
              <a:t> (ví dụ 10 bit 0000000000 liên tiếp), clock của receiver có thể </a:t>
            </a:r>
            <a:r>
              <a:rPr lang="vi-VN" sz="1400" b="1">
                <a:solidFill>
                  <a:schemeClr val="bg1"/>
                </a:solidFill>
              </a:rPr>
              <a:t>trôi (drift)</a:t>
            </a:r>
            <a:r>
              <a:rPr lang="vi-VN" sz="1400">
                <a:solidFill>
                  <a:schemeClr val="bg1"/>
                </a:solidFill>
              </a:rPr>
              <a:t> do sai số dao động tinh thể (oscillator tolerance), dẫn đến nhận sai bit.</a:t>
            </a:r>
          </a:p>
          <a:p>
            <a:pPr>
              <a:lnSpc>
                <a:spcPct val="150000"/>
              </a:lnSpc>
            </a:pPr>
            <a:r>
              <a:rPr lang="vi-VN" sz="1400">
                <a:solidFill>
                  <a:schemeClr val="bg1"/>
                </a:solidFill>
              </a:rPr>
              <a:t>→ Bit stuffing đảm bảo:</a:t>
            </a:r>
          </a:p>
          <a:p>
            <a:pPr marL="285750" indent="-285750">
              <a:lnSpc>
                <a:spcPct val="150000"/>
              </a:lnSpc>
              <a:buFont typeface="Arial" panose="020B0604020202020204" pitchFamily="34" charset="0"/>
              <a:buChar char="•"/>
            </a:pPr>
            <a:r>
              <a:rPr lang="vi-VN" sz="1400" b="1">
                <a:solidFill>
                  <a:schemeClr val="bg1"/>
                </a:solidFill>
              </a:rPr>
              <a:t>Luôn có edge</a:t>
            </a:r>
            <a:r>
              <a:rPr lang="vi-VN" sz="1400">
                <a:solidFill>
                  <a:schemeClr val="bg1"/>
                </a:solidFill>
              </a:rPr>
              <a:t> ít nhất mỗi 6 bit → receiver resync clock chính xác.</a:t>
            </a:r>
          </a:p>
          <a:p>
            <a:pPr marL="285750" indent="-285750">
              <a:lnSpc>
                <a:spcPct val="150000"/>
              </a:lnSpc>
              <a:buFont typeface="Arial" panose="020B0604020202020204" pitchFamily="34" charset="0"/>
              <a:buChar char="•"/>
            </a:pPr>
            <a:r>
              <a:rPr lang="vi-VN" sz="1400" b="1">
                <a:solidFill>
                  <a:schemeClr val="bg1"/>
                </a:solidFill>
              </a:rPr>
              <a:t>Phát hiện lỗi sớm</a:t>
            </a:r>
            <a:r>
              <a:rPr lang="vi-VN" sz="1400">
                <a:solidFill>
                  <a:schemeClr val="bg1"/>
                </a:solidFill>
              </a:rPr>
              <a:t>: Nếu có 6 bit cùng mức trong vùng stuffed → chắc chắn là lỗi (Stuff Error), không phải dữ liệu thật → node gửi Error Frame ngay, tránh lan truyền dữ liệu sai.</a:t>
            </a:r>
            <a:endParaRPr lang="en-US" sz="1400">
              <a:solidFill>
                <a:schemeClr val="bg1"/>
              </a:solidFill>
            </a:endParaRPr>
          </a:p>
          <a:p>
            <a:pPr marL="285750" indent="-285750">
              <a:lnSpc>
                <a:spcPct val="150000"/>
              </a:lnSpc>
              <a:buFont typeface="Arial" panose="020B0604020202020204" pitchFamily="34" charset="0"/>
              <a:buChar char="•"/>
            </a:pPr>
            <a:endParaRPr lang="en-US" sz="1400">
              <a:solidFill>
                <a:schemeClr val="bg1"/>
              </a:solidFill>
            </a:endParaRPr>
          </a:p>
          <a:p>
            <a:pPr>
              <a:lnSpc>
                <a:spcPct val="150000"/>
              </a:lnSpc>
            </a:pPr>
            <a:r>
              <a:rPr lang="en-US" sz="1400">
                <a:solidFill>
                  <a:schemeClr val="bg1"/>
                </a:solidFill>
                <a:sym typeface="Wingdings" panose="05000000000000000000" pitchFamily="2" charset="2"/>
              </a:rPr>
              <a:t> </a:t>
            </a:r>
            <a:r>
              <a:rPr lang="vi-VN" sz="1400">
                <a:solidFill>
                  <a:schemeClr val="bg1"/>
                </a:solidFill>
              </a:rPr>
              <a:t>Nếu không có bit stuffing, CAN sẽ dễ mất đồng bộ → lỗi nhận dữ liệu, đặc biệt khi bus dài hoặc nhiễu cao.</a:t>
            </a:r>
          </a:p>
          <a:p>
            <a:pPr marL="285750" indent="-285750">
              <a:lnSpc>
                <a:spcPct val="150000"/>
              </a:lnSpc>
              <a:buFont typeface="Arial" panose="020B0604020202020204" pitchFamily="34" charset="0"/>
              <a:buChar char="•"/>
            </a:pPr>
            <a:endParaRPr lang="vi-VN" sz="1400">
              <a:solidFill>
                <a:schemeClr val="bg1"/>
              </a:solidFill>
            </a:endParaRPr>
          </a:p>
        </p:txBody>
      </p:sp>
    </p:spTree>
    <p:extLst>
      <p:ext uri="{BB962C8B-B14F-4D97-AF65-F5344CB8AC3E}">
        <p14:creationId xmlns:p14="http://schemas.microsoft.com/office/powerpoint/2010/main" val="24097020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7" name="Rectangle 6"/>
          <p:cNvSpPr/>
          <p:nvPr/>
        </p:nvSpPr>
        <p:spPr>
          <a:xfrm>
            <a:off x="590740" y="1335832"/>
            <a:ext cx="11236075" cy="4339650"/>
          </a:xfrm>
          <a:prstGeom prst="rect">
            <a:avLst/>
          </a:prstGeom>
        </p:spPr>
        <p:txBody>
          <a:bodyPr wrap="square" numCol="2">
            <a:spAutoFit/>
          </a:bodyPr>
          <a:lstStyle/>
          <a:p>
            <a:r>
              <a:rPr lang="vi-VN" sz="1200" b="1">
                <a:solidFill>
                  <a:schemeClr val="bg1">
                    <a:lumMod val="95000"/>
                  </a:schemeClr>
                </a:solidFill>
              </a:rPr>
              <a:t>🧱  Error Flag (Cờ lỗi)</a:t>
            </a:r>
          </a:p>
          <a:p>
            <a:endParaRPr lang="vi-VN" sz="1200" b="1">
              <a:solidFill>
                <a:schemeClr val="bg1">
                  <a:lumMod val="95000"/>
                </a:schemeClr>
              </a:solidFill>
            </a:endParaRPr>
          </a:p>
          <a:p>
            <a:r>
              <a:rPr lang="vi-VN" sz="1200" b="1">
                <a:solidFill>
                  <a:schemeClr val="bg1">
                    <a:lumMod val="95000"/>
                  </a:schemeClr>
                </a:solidFill>
              </a:rPr>
              <a:t>Độ dài: 6 bit liên tiếp</a:t>
            </a:r>
          </a:p>
          <a:p>
            <a:endParaRPr lang="vi-VN" sz="1200" b="1">
              <a:solidFill>
                <a:schemeClr val="bg1">
                  <a:lumMod val="95000"/>
                </a:schemeClr>
              </a:solidFill>
            </a:endParaRPr>
          </a:p>
          <a:p>
            <a:r>
              <a:rPr lang="vi-VN" sz="1200" b="1">
                <a:solidFill>
                  <a:schemeClr val="bg1">
                    <a:lumMod val="95000"/>
                  </a:schemeClr>
                </a:solidFill>
              </a:rPr>
              <a:t>Có 2 loại:</a:t>
            </a:r>
          </a:p>
          <a:p>
            <a:endParaRPr lang="vi-VN" sz="1200" b="1">
              <a:solidFill>
                <a:schemeClr val="bg1">
                  <a:lumMod val="95000"/>
                </a:schemeClr>
              </a:solidFill>
            </a:endParaRPr>
          </a:p>
          <a:p>
            <a:r>
              <a:rPr lang="vi-VN" sz="1200" b="1">
                <a:solidFill>
                  <a:schemeClr val="bg1">
                    <a:lumMod val="95000"/>
                  </a:schemeClr>
                </a:solidFill>
              </a:rPr>
              <a:t>🔴  Active Error Flag</a:t>
            </a:r>
          </a:p>
          <a:p>
            <a:endParaRPr lang="vi-VN" sz="1200" b="1">
              <a:solidFill>
                <a:schemeClr val="bg1">
                  <a:lumMod val="95000"/>
                </a:schemeClr>
              </a:solidFill>
            </a:endParaRPr>
          </a:p>
          <a:p>
            <a:r>
              <a:rPr lang="vi-VN" sz="1200" b="1">
                <a:solidFill>
                  <a:schemeClr val="bg1">
                    <a:lumMod val="95000"/>
                  </a:schemeClr>
                </a:solidFill>
              </a:rPr>
              <a:t>Giá trị: 6 bit dominant (0)</a:t>
            </a:r>
          </a:p>
          <a:p>
            <a:endParaRPr lang="vi-VN" sz="1200" b="1">
              <a:solidFill>
                <a:schemeClr val="bg1">
                  <a:lumMod val="95000"/>
                </a:schemeClr>
              </a:solidFill>
            </a:endParaRPr>
          </a:p>
          <a:p>
            <a:pPr lvl="1"/>
            <a:r>
              <a:rPr lang="vi-VN" sz="1200" b="1">
                <a:solidFill>
                  <a:schemeClr val="bg1">
                    <a:lumMod val="95000"/>
                  </a:schemeClr>
                </a:solidFill>
              </a:rPr>
              <a:t>Dạng:</a:t>
            </a:r>
          </a:p>
          <a:p>
            <a:pPr lvl="1"/>
            <a:endParaRPr lang="vi-VN" sz="1200" b="1">
              <a:solidFill>
                <a:schemeClr val="bg1">
                  <a:lumMod val="95000"/>
                </a:schemeClr>
              </a:solidFill>
            </a:endParaRPr>
          </a:p>
          <a:p>
            <a:pPr lvl="1"/>
            <a:r>
              <a:rPr lang="vi-VN" sz="1200" b="1">
                <a:solidFill>
                  <a:schemeClr val="bg1">
                    <a:lumMod val="95000"/>
                  </a:schemeClr>
                </a:solidFill>
              </a:rPr>
              <a:t>000000</a:t>
            </a:r>
          </a:p>
          <a:p>
            <a:endParaRPr lang="vi-VN" sz="1200" b="1">
              <a:solidFill>
                <a:schemeClr val="bg1">
                  <a:lumMod val="95000"/>
                </a:schemeClr>
              </a:solidFill>
            </a:endParaRPr>
          </a:p>
          <a:p>
            <a:r>
              <a:rPr lang="vi-VN" sz="1200" b="1">
                <a:solidFill>
                  <a:schemeClr val="bg1">
                    <a:lumMod val="95000"/>
                  </a:schemeClr>
                </a:solidFill>
              </a:rPr>
              <a:t>⚪ Passive Error Flag</a:t>
            </a:r>
          </a:p>
          <a:p>
            <a:endParaRPr lang="vi-VN" sz="1200" b="1">
              <a:solidFill>
                <a:schemeClr val="bg1">
                  <a:lumMod val="95000"/>
                </a:schemeClr>
              </a:solidFill>
            </a:endParaRPr>
          </a:p>
          <a:p>
            <a:r>
              <a:rPr lang="vi-VN" sz="1200" b="1">
                <a:solidFill>
                  <a:schemeClr val="bg1">
                    <a:lumMod val="95000"/>
                  </a:schemeClr>
                </a:solidFill>
              </a:rPr>
              <a:t>Giá trị: 6 bit recessive (1)</a:t>
            </a:r>
          </a:p>
          <a:p>
            <a:endParaRPr lang="vi-VN" sz="1200" b="1">
              <a:solidFill>
                <a:schemeClr val="bg1">
                  <a:lumMod val="95000"/>
                </a:schemeClr>
              </a:solidFill>
            </a:endParaRPr>
          </a:p>
          <a:p>
            <a:pPr lvl="1"/>
            <a:r>
              <a:rPr lang="vi-VN" sz="1200" b="1">
                <a:solidFill>
                  <a:schemeClr val="bg1">
                    <a:lumMod val="95000"/>
                  </a:schemeClr>
                </a:solidFill>
              </a:rPr>
              <a:t>Dạng:</a:t>
            </a:r>
          </a:p>
          <a:p>
            <a:pPr lvl="1"/>
            <a:endParaRPr lang="vi-VN" sz="1200" b="1">
              <a:solidFill>
                <a:schemeClr val="bg1">
                  <a:lumMod val="95000"/>
                </a:schemeClr>
              </a:solidFill>
            </a:endParaRPr>
          </a:p>
          <a:p>
            <a:pPr lvl="1"/>
            <a:r>
              <a:rPr lang="vi-VN" sz="1200" b="1">
                <a:solidFill>
                  <a:schemeClr val="bg1">
                    <a:lumMod val="95000"/>
                  </a:schemeClr>
                </a:solidFill>
              </a:rPr>
              <a:t>111111</a:t>
            </a:r>
            <a:endParaRPr lang="en-US" sz="1200" b="1">
              <a:solidFill>
                <a:schemeClr val="bg1">
                  <a:lumMod val="95000"/>
                </a:schemeClr>
              </a:solidFill>
            </a:endParaRPr>
          </a:p>
          <a:p>
            <a:pPr lvl="1"/>
            <a:endParaRPr lang="en-US" sz="1200" b="1">
              <a:solidFill>
                <a:schemeClr val="bg1">
                  <a:lumMod val="95000"/>
                </a:schemeClr>
              </a:solidFill>
            </a:endParaRPr>
          </a:p>
          <a:p>
            <a:pPr lvl="1"/>
            <a:endParaRPr lang="en-US" sz="1200" b="1">
              <a:solidFill>
                <a:schemeClr val="bg1">
                  <a:lumMod val="95000"/>
                </a:schemeClr>
              </a:solidFill>
            </a:endParaRPr>
          </a:p>
          <a:p>
            <a:pPr marL="628650" lvl="1" indent="-171450">
              <a:lnSpc>
                <a:spcPct val="150000"/>
              </a:lnSpc>
              <a:buFont typeface="Arial" panose="020B0604020202020204" pitchFamily="34" charset="0"/>
              <a:buChar char="•"/>
            </a:pPr>
            <a:r>
              <a:rPr lang="vi-VN" sz="1200" b="1">
                <a:solidFill>
                  <a:schemeClr val="bg1">
                    <a:lumMod val="95000"/>
                  </a:schemeClr>
                </a:solidFill>
              </a:rPr>
              <a:t>Quan trọng: Error Flag không áp dụng bit stuffing → cố tình vi phạm quy tắc stuffing (sau 5 bit cùng mức phải chèn bit ngược). Đây chính là cách phá hủy khung tin đang truyền (vì tất cả node thấy vi phạm stuffing → đều phát hiện lỗi).</a:t>
            </a:r>
          </a:p>
          <a:p>
            <a:pPr marL="628650" lvl="1" indent="-171450">
              <a:lnSpc>
                <a:spcPct val="150000"/>
              </a:lnSpc>
              <a:buFont typeface="Arial" panose="020B0604020202020204" pitchFamily="34" charset="0"/>
              <a:buChar char="•"/>
            </a:pPr>
            <a:r>
              <a:rPr lang="vi-VN" sz="1200" b="1">
                <a:solidFill>
                  <a:schemeClr val="bg1">
                    <a:lumMod val="95000"/>
                  </a:schemeClr>
                </a:solidFill>
              </a:rPr>
              <a:t>Khi nhiều node cùng phát hiện lỗi và gửi Error Flag cùng lúc → các flag chồng lên nhau (superposition) → Error Flag thực tế trên bus có thể dài 6 đến 12 bit (thường 6–9 bit trong thực tế).</a:t>
            </a:r>
          </a:p>
          <a:p>
            <a:endParaRPr lang="vi-VN" sz="1200" b="1">
              <a:solidFill>
                <a:schemeClr val="bg1">
                  <a:lumMod val="95000"/>
                </a:schemeClr>
              </a:solidFill>
            </a:endParaRPr>
          </a:p>
        </p:txBody>
      </p:sp>
      <p:pic>
        <p:nvPicPr>
          <p:cNvPr id="2050" name="Picture 2" descr="CAN Protocol: Your Car's Secret Language (P3: Error Frame, Overload Frame &amp;  Bit Timing). | by Omar Said | Medium">
            <a:extLst>
              <a:ext uri="{FF2B5EF4-FFF2-40B4-BE49-F238E27FC236}">
                <a16:creationId xmlns:a16="http://schemas.microsoft.com/office/drawing/2014/main" id="{1103A8ED-4854-7FFA-8EB8-1C56E03F9F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4105" y="3429000"/>
            <a:ext cx="8881057" cy="3246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9855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8" name="TextBox 17">
            <a:extLst>
              <a:ext uri="{FF2B5EF4-FFF2-40B4-BE49-F238E27FC236}">
                <a16:creationId xmlns:a16="http://schemas.microsoft.com/office/drawing/2014/main" id="{DD8177B1-CABF-C16C-68C7-BCBD488F2629}"/>
              </a:ext>
            </a:extLst>
          </p:cNvPr>
          <p:cNvSpPr txBox="1"/>
          <p:nvPr/>
        </p:nvSpPr>
        <p:spPr>
          <a:xfrm>
            <a:off x="414529" y="1319947"/>
            <a:ext cx="6180826" cy="4899868"/>
          </a:xfrm>
          <a:prstGeom prst="rect">
            <a:avLst/>
          </a:prstGeom>
          <a:noFill/>
        </p:spPr>
        <p:txBody>
          <a:bodyPr wrap="square">
            <a:spAutoFit/>
          </a:bodyPr>
          <a:lstStyle/>
          <a:p>
            <a:pPr>
              <a:lnSpc>
                <a:spcPct val="150000"/>
              </a:lnSpc>
            </a:pPr>
            <a:r>
              <a:rPr lang="en-US" sz="1400">
                <a:solidFill>
                  <a:schemeClr val="bg1">
                    <a:lumMod val="95000"/>
                  </a:schemeClr>
                </a:solidFill>
              </a:rPr>
              <a:t>C</a:t>
            </a:r>
            <a:r>
              <a:rPr lang="vi-VN" sz="1400">
                <a:solidFill>
                  <a:schemeClr val="bg1">
                    <a:lumMod val="95000"/>
                  </a:schemeClr>
                </a:solidFill>
              </a:rPr>
              <a:t>ác loại lỗi trong CAN</a:t>
            </a:r>
          </a:p>
          <a:p>
            <a:pPr>
              <a:lnSpc>
                <a:spcPct val="150000"/>
              </a:lnSpc>
            </a:pPr>
            <a:endParaRPr lang="vi-VN" sz="1400">
              <a:solidFill>
                <a:schemeClr val="bg1">
                  <a:lumMod val="95000"/>
                </a:schemeClr>
              </a:solidFill>
            </a:endParaRPr>
          </a:p>
          <a:p>
            <a:pPr>
              <a:lnSpc>
                <a:spcPct val="150000"/>
              </a:lnSpc>
            </a:pPr>
            <a:r>
              <a:rPr lang="vi-VN" sz="1400">
                <a:solidFill>
                  <a:schemeClr val="bg1">
                    <a:lumMod val="95000"/>
                  </a:schemeClr>
                </a:solidFill>
              </a:rPr>
              <a:t>1. Bit Error</a:t>
            </a:r>
          </a:p>
          <a:p>
            <a:pPr>
              <a:lnSpc>
                <a:spcPct val="150000"/>
              </a:lnSpc>
            </a:pPr>
            <a:r>
              <a:rPr lang="vi-VN" sz="1400">
                <a:solidFill>
                  <a:schemeClr val="bg1">
                    <a:lumMod val="95000"/>
                  </a:schemeClr>
                </a:solidFill>
              </a:rPr>
              <a:t>Gửi 1 nhưng đọc về 0 (hoặc ngược lại)</a:t>
            </a:r>
          </a:p>
          <a:p>
            <a:pPr>
              <a:lnSpc>
                <a:spcPct val="150000"/>
              </a:lnSpc>
            </a:pPr>
            <a:r>
              <a:rPr lang="vi-VN" sz="1400">
                <a:solidFill>
                  <a:schemeClr val="bg1">
                    <a:lumMod val="95000"/>
                  </a:schemeClr>
                </a:solidFill>
              </a:rPr>
              <a:t>2. Stuff Error</a:t>
            </a:r>
          </a:p>
          <a:p>
            <a:pPr>
              <a:lnSpc>
                <a:spcPct val="150000"/>
              </a:lnSpc>
            </a:pPr>
            <a:r>
              <a:rPr lang="vi-VN" sz="1400">
                <a:solidFill>
                  <a:schemeClr val="bg1">
                    <a:lumMod val="95000"/>
                  </a:schemeClr>
                </a:solidFill>
              </a:rPr>
              <a:t>Vi phạm quy tắc bit stuffing (5 bit giống nhau)</a:t>
            </a:r>
          </a:p>
          <a:p>
            <a:pPr>
              <a:lnSpc>
                <a:spcPct val="150000"/>
              </a:lnSpc>
            </a:pPr>
            <a:r>
              <a:rPr lang="vi-VN" sz="1400">
                <a:solidFill>
                  <a:schemeClr val="bg1">
                    <a:lumMod val="95000"/>
                  </a:schemeClr>
                </a:solidFill>
              </a:rPr>
              <a:t>3. CRC Error</a:t>
            </a:r>
          </a:p>
          <a:p>
            <a:pPr>
              <a:lnSpc>
                <a:spcPct val="150000"/>
              </a:lnSpc>
            </a:pPr>
            <a:r>
              <a:rPr lang="vi-VN" sz="1400">
                <a:solidFill>
                  <a:schemeClr val="bg1">
                    <a:lumMod val="95000"/>
                  </a:schemeClr>
                </a:solidFill>
              </a:rPr>
              <a:t>Sai checksum</a:t>
            </a:r>
          </a:p>
          <a:p>
            <a:pPr>
              <a:lnSpc>
                <a:spcPct val="150000"/>
              </a:lnSpc>
            </a:pPr>
            <a:r>
              <a:rPr lang="vi-VN" sz="1400">
                <a:solidFill>
                  <a:schemeClr val="bg1">
                    <a:lumMod val="95000"/>
                  </a:schemeClr>
                </a:solidFill>
              </a:rPr>
              <a:t>4. ACK Error</a:t>
            </a:r>
          </a:p>
          <a:p>
            <a:pPr>
              <a:lnSpc>
                <a:spcPct val="150000"/>
              </a:lnSpc>
            </a:pPr>
            <a:r>
              <a:rPr lang="vi-VN" sz="1400">
                <a:solidFill>
                  <a:schemeClr val="bg1">
                    <a:lumMod val="95000"/>
                  </a:schemeClr>
                </a:solidFill>
              </a:rPr>
              <a:t>Không có node nào ACK</a:t>
            </a:r>
          </a:p>
          <a:p>
            <a:pPr>
              <a:lnSpc>
                <a:spcPct val="150000"/>
              </a:lnSpc>
            </a:pPr>
            <a:r>
              <a:rPr lang="vi-VN" sz="1400">
                <a:solidFill>
                  <a:schemeClr val="bg1">
                    <a:lumMod val="95000"/>
                  </a:schemeClr>
                </a:solidFill>
              </a:rPr>
              <a:t>5. Form Error</a:t>
            </a:r>
          </a:p>
          <a:p>
            <a:pPr>
              <a:lnSpc>
                <a:spcPct val="150000"/>
              </a:lnSpc>
            </a:pPr>
            <a:r>
              <a:rPr lang="vi-VN" sz="1400">
                <a:solidFill>
                  <a:schemeClr val="bg1">
                    <a:lumMod val="95000"/>
                  </a:schemeClr>
                </a:solidFill>
              </a:rPr>
              <a:t>Sai format (EOF, CRC delimiter…)</a:t>
            </a:r>
          </a:p>
          <a:p>
            <a:pPr>
              <a:lnSpc>
                <a:spcPct val="150000"/>
              </a:lnSpc>
            </a:pPr>
            <a:endParaRPr lang="vi-VN" sz="1400">
              <a:solidFill>
                <a:schemeClr val="bg1">
                  <a:lumMod val="95000"/>
                </a:schemeClr>
              </a:solidFill>
            </a:endParaRPr>
          </a:p>
          <a:p>
            <a:pPr>
              <a:lnSpc>
                <a:spcPct val="150000"/>
              </a:lnSpc>
            </a:pPr>
            <a:r>
              <a:rPr lang="vi-VN" sz="1400">
                <a:solidFill>
                  <a:schemeClr val="bg1">
                    <a:lumMod val="95000"/>
                  </a:schemeClr>
                </a:solidFill>
              </a:rPr>
              <a:t>👉 Khi có bất kỳ lỗi nào:</a:t>
            </a:r>
          </a:p>
          <a:p>
            <a:pPr>
              <a:lnSpc>
                <a:spcPct val="150000"/>
              </a:lnSpc>
            </a:pPr>
            <a:r>
              <a:rPr lang="vi-VN" sz="1400">
                <a:solidFill>
                  <a:schemeClr val="bg1">
                    <a:lumMod val="95000"/>
                  </a:schemeClr>
                </a:solidFill>
              </a:rPr>
              <a:t>→ Gửi Error Frame</a:t>
            </a: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2" name="Picture 21">
            <a:extLst>
              <a:ext uri="{FF2B5EF4-FFF2-40B4-BE49-F238E27FC236}">
                <a16:creationId xmlns:a16="http://schemas.microsoft.com/office/drawing/2014/main" id="{38D406CD-EA08-4850-C99E-EC5FD1D7F9BF}"/>
              </a:ext>
            </a:extLst>
          </p:cNvPr>
          <p:cNvPicPr>
            <a:picLocks noChangeAspect="1"/>
          </p:cNvPicPr>
          <p:nvPr/>
        </p:nvPicPr>
        <p:blipFill>
          <a:blip r:embed="rId5"/>
          <a:stretch>
            <a:fillRect/>
          </a:stretch>
        </p:blipFill>
        <p:spPr>
          <a:xfrm>
            <a:off x="5195157" y="1533278"/>
            <a:ext cx="6582314" cy="4441825"/>
          </a:xfrm>
          <a:prstGeom prst="rect">
            <a:avLst/>
          </a:prstGeom>
        </p:spPr>
      </p:pic>
    </p:spTree>
    <p:extLst>
      <p:ext uri="{BB962C8B-B14F-4D97-AF65-F5344CB8AC3E}">
        <p14:creationId xmlns:p14="http://schemas.microsoft.com/office/powerpoint/2010/main" val="7271763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074" name="Picture 2" descr="CAN_E: Error Tracking | Vector E-Learning">
            <a:extLst>
              <a:ext uri="{FF2B5EF4-FFF2-40B4-BE49-F238E27FC236}">
                <a16:creationId xmlns:a16="http://schemas.microsoft.com/office/drawing/2014/main" id="{1643421A-FE80-6D2D-918E-52DFA8585F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3646" y="845235"/>
            <a:ext cx="5261855" cy="547232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CDBB560-2C0C-642E-859D-0EBA86C3EFA0}"/>
              </a:ext>
            </a:extLst>
          </p:cNvPr>
          <p:cNvPicPr>
            <a:picLocks noChangeAspect="1"/>
          </p:cNvPicPr>
          <p:nvPr/>
        </p:nvPicPr>
        <p:blipFill>
          <a:blip r:embed="rId6"/>
          <a:stretch>
            <a:fillRect/>
          </a:stretch>
        </p:blipFill>
        <p:spPr>
          <a:xfrm>
            <a:off x="977527" y="1473776"/>
            <a:ext cx="4743450" cy="4238625"/>
          </a:xfrm>
          <a:prstGeom prst="rect">
            <a:avLst/>
          </a:prstGeom>
        </p:spPr>
      </p:pic>
    </p:spTree>
    <p:extLst>
      <p:ext uri="{BB962C8B-B14F-4D97-AF65-F5344CB8AC3E}">
        <p14:creationId xmlns:p14="http://schemas.microsoft.com/office/powerpoint/2010/main" val="7642562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7" name="Picture 6">
            <a:extLst>
              <a:ext uri="{FF2B5EF4-FFF2-40B4-BE49-F238E27FC236}">
                <a16:creationId xmlns:a16="http://schemas.microsoft.com/office/drawing/2014/main" id="{A16A96C3-A5A5-6523-E1E8-E1629060C3E9}"/>
              </a:ext>
            </a:extLst>
          </p:cNvPr>
          <p:cNvPicPr>
            <a:picLocks noChangeAspect="1"/>
          </p:cNvPicPr>
          <p:nvPr/>
        </p:nvPicPr>
        <p:blipFill>
          <a:blip r:embed="rId5"/>
          <a:stretch>
            <a:fillRect/>
          </a:stretch>
        </p:blipFill>
        <p:spPr>
          <a:xfrm>
            <a:off x="3297550" y="330480"/>
            <a:ext cx="8124825" cy="6229350"/>
          </a:xfrm>
          <a:prstGeom prst="rect">
            <a:avLst/>
          </a:prstGeom>
        </p:spPr>
      </p:pic>
      <p:pic>
        <p:nvPicPr>
          <p:cNvPr id="9" name="Picture 8">
            <a:extLst>
              <a:ext uri="{FF2B5EF4-FFF2-40B4-BE49-F238E27FC236}">
                <a16:creationId xmlns:a16="http://schemas.microsoft.com/office/drawing/2014/main" id="{29598337-D1A9-F4BD-1120-41EAFB56F20B}"/>
              </a:ext>
            </a:extLst>
          </p:cNvPr>
          <p:cNvPicPr>
            <a:picLocks noChangeAspect="1"/>
          </p:cNvPicPr>
          <p:nvPr/>
        </p:nvPicPr>
        <p:blipFill>
          <a:blip r:embed="rId6"/>
          <a:stretch>
            <a:fillRect/>
          </a:stretch>
        </p:blipFill>
        <p:spPr>
          <a:xfrm>
            <a:off x="3209983" y="214312"/>
            <a:ext cx="8315325" cy="6429375"/>
          </a:xfrm>
          <a:prstGeom prst="rect">
            <a:avLst/>
          </a:prstGeom>
        </p:spPr>
      </p:pic>
    </p:spTree>
    <p:extLst>
      <p:ext uri="{BB962C8B-B14F-4D97-AF65-F5344CB8AC3E}">
        <p14:creationId xmlns:p14="http://schemas.microsoft.com/office/powerpoint/2010/main" val="386321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7" name="Picture 6">
            <a:extLst>
              <a:ext uri="{FF2B5EF4-FFF2-40B4-BE49-F238E27FC236}">
                <a16:creationId xmlns:a16="http://schemas.microsoft.com/office/drawing/2014/main" id="{A16A96C3-A5A5-6523-E1E8-E1629060C3E9}"/>
              </a:ext>
            </a:extLst>
          </p:cNvPr>
          <p:cNvPicPr>
            <a:picLocks noChangeAspect="1"/>
          </p:cNvPicPr>
          <p:nvPr/>
        </p:nvPicPr>
        <p:blipFill>
          <a:blip r:embed="rId5"/>
          <a:stretch>
            <a:fillRect/>
          </a:stretch>
        </p:blipFill>
        <p:spPr>
          <a:xfrm>
            <a:off x="3297550" y="330480"/>
            <a:ext cx="8124825" cy="6229350"/>
          </a:xfrm>
          <a:prstGeom prst="rect">
            <a:avLst/>
          </a:prstGeom>
        </p:spPr>
      </p:pic>
      <p:pic>
        <p:nvPicPr>
          <p:cNvPr id="9" name="Picture 8">
            <a:extLst>
              <a:ext uri="{FF2B5EF4-FFF2-40B4-BE49-F238E27FC236}">
                <a16:creationId xmlns:a16="http://schemas.microsoft.com/office/drawing/2014/main" id="{29598337-D1A9-F4BD-1120-41EAFB56F20B}"/>
              </a:ext>
            </a:extLst>
          </p:cNvPr>
          <p:cNvPicPr>
            <a:picLocks noChangeAspect="1"/>
          </p:cNvPicPr>
          <p:nvPr/>
        </p:nvPicPr>
        <p:blipFill>
          <a:blip r:embed="rId6"/>
          <a:stretch>
            <a:fillRect/>
          </a:stretch>
        </p:blipFill>
        <p:spPr>
          <a:xfrm>
            <a:off x="3202299" y="214312"/>
            <a:ext cx="8315325" cy="6429375"/>
          </a:xfrm>
          <a:prstGeom prst="rect">
            <a:avLst/>
          </a:prstGeom>
        </p:spPr>
      </p:pic>
    </p:spTree>
    <p:extLst>
      <p:ext uri="{BB962C8B-B14F-4D97-AF65-F5344CB8AC3E}">
        <p14:creationId xmlns:p14="http://schemas.microsoft.com/office/powerpoint/2010/main" val="83295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ECD96651-097F-11F2-805D-1898980DE8FE}"/>
              </a:ext>
            </a:extLst>
          </p:cNvPr>
          <p:cNvPicPr>
            <a:picLocks noChangeAspect="1"/>
          </p:cNvPicPr>
          <p:nvPr/>
        </p:nvPicPr>
        <p:blipFill>
          <a:blip r:embed="rId5"/>
          <a:stretch>
            <a:fillRect/>
          </a:stretch>
        </p:blipFill>
        <p:spPr>
          <a:xfrm>
            <a:off x="3478421" y="292196"/>
            <a:ext cx="7923653" cy="6273608"/>
          </a:xfrm>
          <a:prstGeom prst="rect">
            <a:avLst/>
          </a:prstGeom>
        </p:spPr>
      </p:pic>
      <p:pic>
        <p:nvPicPr>
          <p:cNvPr id="6" name="Picture 5">
            <a:extLst>
              <a:ext uri="{FF2B5EF4-FFF2-40B4-BE49-F238E27FC236}">
                <a16:creationId xmlns:a16="http://schemas.microsoft.com/office/drawing/2014/main" id="{50C9F233-4DF2-8DA4-8344-DFCF892B6FA6}"/>
              </a:ext>
            </a:extLst>
          </p:cNvPr>
          <p:cNvPicPr>
            <a:picLocks noChangeAspect="1"/>
          </p:cNvPicPr>
          <p:nvPr/>
        </p:nvPicPr>
        <p:blipFill>
          <a:blip r:embed="rId6"/>
          <a:stretch>
            <a:fillRect/>
          </a:stretch>
        </p:blipFill>
        <p:spPr>
          <a:xfrm>
            <a:off x="3439741" y="-5320"/>
            <a:ext cx="7962333" cy="6858000"/>
          </a:xfrm>
          <a:prstGeom prst="rect">
            <a:avLst/>
          </a:prstGeom>
        </p:spPr>
      </p:pic>
    </p:spTree>
    <p:extLst>
      <p:ext uri="{BB962C8B-B14F-4D97-AF65-F5344CB8AC3E}">
        <p14:creationId xmlns:p14="http://schemas.microsoft.com/office/powerpoint/2010/main" val="116967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5" name="Picture 4">
            <a:extLst>
              <a:ext uri="{FF2B5EF4-FFF2-40B4-BE49-F238E27FC236}">
                <a16:creationId xmlns:a16="http://schemas.microsoft.com/office/drawing/2014/main" id="{1288FEFB-C020-2834-139B-70F2109B6983}"/>
              </a:ext>
            </a:extLst>
          </p:cNvPr>
          <p:cNvPicPr>
            <a:picLocks noChangeAspect="1"/>
          </p:cNvPicPr>
          <p:nvPr/>
        </p:nvPicPr>
        <p:blipFill>
          <a:blip r:embed="rId5"/>
          <a:stretch>
            <a:fillRect/>
          </a:stretch>
        </p:blipFill>
        <p:spPr>
          <a:xfrm>
            <a:off x="1173169" y="1616711"/>
            <a:ext cx="9086198" cy="4234177"/>
          </a:xfrm>
          <a:prstGeom prst="rect">
            <a:avLst/>
          </a:prstGeom>
        </p:spPr>
      </p:pic>
      <p:pic>
        <p:nvPicPr>
          <p:cNvPr id="8" name="Picture 7">
            <a:extLst>
              <a:ext uri="{FF2B5EF4-FFF2-40B4-BE49-F238E27FC236}">
                <a16:creationId xmlns:a16="http://schemas.microsoft.com/office/drawing/2014/main" id="{067592F8-39CA-BDA4-C6BF-B5F6E875CC23}"/>
              </a:ext>
            </a:extLst>
          </p:cNvPr>
          <p:cNvPicPr>
            <a:picLocks noChangeAspect="1"/>
          </p:cNvPicPr>
          <p:nvPr/>
        </p:nvPicPr>
        <p:blipFill>
          <a:blip r:embed="rId6"/>
          <a:stretch>
            <a:fillRect/>
          </a:stretch>
        </p:blipFill>
        <p:spPr>
          <a:xfrm>
            <a:off x="1173168" y="121850"/>
            <a:ext cx="9699148" cy="6614300"/>
          </a:xfrm>
          <a:prstGeom prst="rect">
            <a:avLst/>
          </a:prstGeom>
        </p:spPr>
      </p:pic>
    </p:spTree>
    <p:extLst>
      <p:ext uri="{BB962C8B-B14F-4D97-AF65-F5344CB8AC3E}">
        <p14:creationId xmlns:p14="http://schemas.microsoft.com/office/powerpoint/2010/main" val="240083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B039106F-CEA3-D034-068C-C32AF861BF9B}"/>
              </a:ext>
            </a:extLst>
          </p:cNvPr>
          <p:cNvPicPr>
            <a:picLocks noChangeAspect="1"/>
          </p:cNvPicPr>
          <p:nvPr/>
        </p:nvPicPr>
        <p:blipFill>
          <a:blip r:embed="rId5"/>
          <a:stretch>
            <a:fillRect/>
          </a:stretch>
        </p:blipFill>
        <p:spPr>
          <a:xfrm>
            <a:off x="1649185" y="1759438"/>
            <a:ext cx="8893629" cy="3657600"/>
          </a:xfrm>
          <a:prstGeom prst="rect">
            <a:avLst/>
          </a:prstGeom>
        </p:spPr>
      </p:pic>
      <p:pic>
        <p:nvPicPr>
          <p:cNvPr id="7" name="Picture 6">
            <a:extLst>
              <a:ext uri="{FF2B5EF4-FFF2-40B4-BE49-F238E27FC236}">
                <a16:creationId xmlns:a16="http://schemas.microsoft.com/office/drawing/2014/main" id="{FFC04B31-5AD5-480C-1B60-43FC156652A0}"/>
              </a:ext>
            </a:extLst>
          </p:cNvPr>
          <p:cNvPicPr>
            <a:picLocks noChangeAspect="1"/>
          </p:cNvPicPr>
          <p:nvPr/>
        </p:nvPicPr>
        <p:blipFill>
          <a:blip r:embed="rId6"/>
          <a:stretch>
            <a:fillRect/>
          </a:stretch>
        </p:blipFill>
        <p:spPr>
          <a:xfrm>
            <a:off x="1260650" y="494157"/>
            <a:ext cx="9365900" cy="6286860"/>
          </a:xfrm>
          <a:prstGeom prst="rect">
            <a:avLst/>
          </a:prstGeom>
        </p:spPr>
      </p:pic>
    </p:spTree>
    <p:extLst>
      <p:ext uri="{BB962C8B-B14F-4D97-AF65-F5344CB8AC3E}">
        <p14:creationId xmlns:p14="http://schemas.microsoft.com/office/powerpoint/2010/main" val="418465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112777" y="532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TextBox 4">
            <a:extLst>
              <a:ext uri="{FF2B5EF4-FFF2-40B4-BE49-F238E27FC236}">
                <a16:creationId xmlns:a16="http://schemas.microsoft.com/office/drawing/2014/main" id="{02ED3121-8FAC-6A22-BDDF-555EA475F589}"/>
              </a:ext>
            </a:extLst>
          </p:cNvPr>
          <p:cNvSpPr txBox="1"/>
          <p:nvPr/>
        </p:nvSpPr>
        <p:spPr>
          <a:xfrm>
            <a:off x="480291" y="1369874"/>
            <a:ext cx="11598932" cy="1415772"/>
          </a:xfrm>
          <a:prstGeom prst="rect">
            <a:avLst/>
          </a:prstGeom>
          <a:noFill/>
        </p:spPr>
        <p:txBody>
          <a:bodyPr wrap="square">
            <a:spAutoFit/>
          </a:bodyPr>
          <a:lstStyle/>
          <a:p>
            <a:r>
              <a:rPr lang="vi-VN" b="1">
                <a:solidFill>
                  <a:schemeClr val="bg1"/>
                </a:solidFill>
              </a:rPr>
              <a:t>Tại sao khi node ở trạng thái Bus-Off phải chờ 128 lần × 11 bit recessive mới được trở lại Error Active (và tham gia lại bus)?</a:t>
            </a:r>
            <a:endParaRPr lang="en-US" b="1">
              <a:solidFill>
                <a:schemeClr val="bg1"/>
              </a:solidFill>
            </a:endParaRPr>
          </a:p>
          <a:p>
            <a:endParaRPr lang="vi-VN" b="1">
              <a:solidFill>
                <a:schemeClr val="bg1"/>
              </a:solidFill>
            </a:endParaRPr>
          </a:p>
          <a:p>
            <a:pPr marL="285750" indent="-285750">
              <a:buFont typeface="Wingdings" panose="05000000000000000000" pitchFamily="2" charset="2"/>
              <a:buChar char="Ø"/>
            </a:pPr>
            <a:r>
              <a:rPr lang="vi-VN" sz="1600">
                <a:solidFill>
                  <a:schemeClr val="bg1"/>
                </a:solidFill>
                <a:effectLst/>
              </a:rPr>
              <a:t>Đây là quy định bắt buộc trong chuẩn </a:t>
            </a:r>
            <a:r>
              <a:rPr lang="vi-VN" sz="1600" b="1">
                <a:solidFill>
                  <a:schemeClr val="bg1"/>
                </a:solidFill>
                <a:effectLst/>
              </a:rPr>
              <a:t>ISO 11898-1</a:t>
            </a:r>
            <a:r>
              <a:rPr lang="vi-VN" sz="1600">
                <a:solidFill>
                  <a:schemeClr val="bg1"/>
                </a:solidFill>
                <a:effectLst/>
              </a:rPr>
              <a:t> (CAN protocol). Không phải ngẫu nhiên mà là để đảm bảo </a:t>
            </a:r>
            <a:r>
              <a:rPr lang="vi-VN" sz="1600" b="1">
                <a:solidFill>
                  <a:schemeClr val="bg1"/>
                </a:solidFill>
                <a:effectLst/>
              </a:rPr>
              <a:t>an toàn và độ tin cậy</a:t>
            </a:r>
            <a:r>
              <a:rPr lang="vi-VN" sz="1600">
                <a:solidFill>
                  <a:schemeClr val="bg1"/>
                </a:solidFill>
                <a:effectLst/>
              </a:rPr>
              <a:t> cho toàn mạng CAN.</a:t>
            </a:r>
          </a:p>
        </p:txBody>
      </p:sp>
      <p:sp>
        <p:nvSpPr>
          <p:cNvPr id="8" name="TextBox 7">
            <a:extLst>
              <a:ext uri="{FF2B5EF4-FFF2-40B4-BE49-F238E27FC236}">
                <a16:creationId xmlns:a16="http://schemas.microsoft.com/office/drawing/2014/main" id="{37C6F09F-C78A-4A6D-979F-233C6A7B4BF4}"/>
              </a:ext>
            </a:extLst>
          </p:cNvPr>
          <p:cNvSpPr txBox="1"/>
          <p:nvPr/>
        </p:nvSpPr>
        <p:spPr>
          <a:xfrm>
            <a:off x="553998" y="3106617"/>
            <a:ext cx="11388804" cy="2585323"/>
          </a:xfrm>
          <a:prstGeom prst="rect">
            <a:avLst/>
          </a:prstGeom>
          <a:noFill/>
        </p:spPr>
        <p:txBody>
          <a:bodyPr wrap="square">
            <a:spAutoFit/>
          </a:bodyPr>
          <a:lstStyle/>
          <a:p>
            <a:r>
              <a:rPr lang="vi-VN" b="1">
                <a:solidFill>
                  <a:schemeClr val="bg1"/>
                </a:solidFill>
              </a:rPr>
              <a:t>1. Lý do chính (Mục đích thiết kế)</a:t>
            </a:r>
          </a:p>
          <a:p>
            <a:r>
              <a:rPr lang="vi-VN">
                <a:solidFill>
                  <a:schemeClr val="bg1"/>
                </a:solidFill>
                <a:effectLst/>
              </a:rPr>
              <a:t>Khi một node rơi vào </a:t>
            </a:r>
            <a:r>
              <a:rPr lang="vi-VN" b="1">
                <a:solidFill>
                  <a:schemeClr val="bg1"/>
                </a:solidFill>
                <a:effectLst/>
              </a:rPr>
              <a:t>Bus-Off</a:t>
            </a:r>
            <a:r>
              <a:rPr lang="vi-VN">
                <a:solidFill>
                  <a:schemeClr val="bg1"/>
                </a:solidFill>
                <a:effectLst/>
              </a:rPr>
              <a:t> (Transmit Error Counter ≥ 256), nghĩa là node này đã gây ra </a:t>
            </a:r>
            <a:r>
              <a:rPr lang="vi-VN" b="1">
                <a:solidFill>
                  <a:schemeClr val="bg1"/>
                </a:solidFill>
                <a:effectLst/>
              </a:rPr>
              <a:t>quá nhiều lỗi</a:t>
            </a:r>
            <a:r>
              <a:rPr lang="vi-VN">
                <a:solidFill>
                  <a:schemeClr val="bg1"/>
                </a:solidFill>
                <a:effectLst/>
              </a:rPr>
              <a:t> (thường do phần cứng hỏng, nhiễu cực mạnh, baudrate không khớp, hoặc lỗi nghiêm trọng khi truyền).</a:t>
            </a:r>
          </a:p>
          <a:p>
            <a:r>
              <a:rPr lang="vi-VN">
                <a:solidFill>
                  <a:schemeClr val="bg1"/>
                </a:solidFill>
                <a:effectLst/>
              </a:rPr>
              <a:t>Lúc này:</a:t>
            </a:r>
            <a:endParaRPr lang="en-US">
              <a:solidFill>
                <a:schemeClr val="bg1"/>
              </a:solidFill>
              <a:effectLst/>
            </a:endParaRPr>
          </a:p>
          <a:p>
            <a:endParaRPr lang="vi-VN">
              <a:solidFill>
                <a:schemeClr val="bg1"/>
              </a:solidFill>
              <a:effectLst/>
            </a:endParaRPr>
          </a:p>
          <a:p>
            <a:pPr marL="285750" indent="-285750">
              <a:buFont typeface="Arial" panose="020B0604020202020204" pitchFamily="34" charset="0"/>
              <a:buChar char="•"/>
            </a:pPr>
            <a:r>
              <a:rPr lang="vi-VN">
                <a:solidFill>
                  <a:schemeClr val="bg1"/>
                </a:solidFill>
              </a:rPr>
              <a:t>Node </a:t>
            </a:r>
            <a:r>
              <a:rPr lang="vi-VN" b="1">
                <a:solidFill>
                  <a:schemeClr val="bg1"/>
                </a:solidFill>
              </a:rPr>
              <a:t>tắt hoàn toàn</a:t>
            </a:r>
            <a:r>
              <a:rPr lang="vi-VN">
                <a:solidFill>
                  <a:schemeClr val="bg1"/>
                </a:solidFill>
              </a:rPr>
              <a:t> driver truyền (không được phép gửi bất kỳ bit dominant nào lên bus nữa) để </a:t>
            </a:r>
            <a:r>
              <a:rPr lang="vi-VN" b="1">
                <a:solidFill>
                  <a:schemeClr val="bg1"/>
                </a:solidFill>
              </a:rPr>
              <a:t>không làm hỏng thêm bus</a:t>
            </a:r>
            <a:r>
              <a:rPr lang="vi-VN">
                <a:solidFill>
                  <a:schemeClr val="bg1"/>
                </a:solidFill>
              </a:rPr>
              <a:t>.</a:t>
            </a:r>
          </a:p>
          <a:p>
            <a:pPr marL="285750" indent="-285750">
              <a:buFont typeface="Arial" panose="020B0604020202020204" pitchFamily="34" charset="0"/>
              <a:buChar char="•"/>
            </a:pPr>
            <a:r>
              <a:rPr lang="vi-VN">
                <a:solidFill>
                  <a:schemeClr val="bg1"/>
                </a:solidFill>
              </a:rPr>
              <a:t>Node phải </a:t>
            </a:r>
            <a:r>
              <a:rPr lang="vi-VN" b="1">
                <a:solidFill>
                  <a:schemeClr val="bg1"/>
                </a:solidFill>
              </a:rPr>
              <a:t>chờ một khoảng thời gian đủ dài</a:t>
            </a:r>
            <a:r>
              <a:rPr lang="vi-VN">
                <a:solidFill>
                  <a:schemeClr val="bg1"/>
                </a:solidFill>
              </a:rPr>
              <a:t> và </a:t>
            </a:r>
            <a:r>
              <a:rPr lang="vi-VN" b="1">
                <a:solidFill>
                  <a:schemeClr val="bg1"/>
                </a:solidFill>
              </a:rPr>
              <a:t>đủ an toàn</a:t>
            </a:r>
            <a:r>
              <a:rPr lang="vi-VN">
                <a:solidFill>
                  <a:schemeClr val="bg1"/>
                </a:solidFill>
              </a:rPr>
              <a:t> trước khi được phép trở lại hoạt động bình thường.</a:t>
            </a:r>
          </a:p>
        </p:txBody>
      </p:sp>
    </p:spTree>
    <p:extLst>
      <p:ext uri="{BB962C8B-B14F-4D97-AF65-F5344CB8AC3E}">
        <p14:creationId xmlns:p14="http://schemas.microsoft.com/office/powerpoint/2010/main" val="40285194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TextBox 4">
            <a:extLst>
              <a:ext uri="{FF2B5EF4-FFF2-40B4-BE49-F238E27FC236}">
                <a16:creationId xmlns:a16="http://schemas.microsoft.com/office/drawing/2014/main" id="{02ED3121-8FAC-6A22-BDDF-555EA475F589}"/>
              </a:ext>
            </a:extLst>
          </p:cNvPr>
          <p:cNvSpPr txBox="1"/>
          <p:nvPr/>
        </p:nvSpPr>
        <p:spPr>
          <a:xfrm>
            <a:off x="448934" y="1334378"/>
            <a:ext cx="11598932" cy="4801314"/>
          </a:xfrm>
          <a:prstGeom prst="rect">
            <a:avLst/>
          </a:prstGeom>
          <a:noFill/>
        </p:spPr>
        <p:txBody>
          <a:bodyPr wrap="square">
            <a:spAutoFit/>
          </a:bodyPr>
          <a:lstStyle/>
          <a:p>
            <a:r>
              <a:rPr lang="vi-VN" b="1">
                <a:solidFill>
                  <a:schemeClr val="bg1"/>
                </a:solidFill>
                <a:effectLst/>
              </a:rPr>
              <a:t>128 × 11 recessive bits</a:t>
            </a:r>
            <a:r>
              <a:rPr lang="vi-VN">
                <a:solidFill>
                  <a:schemeClr val="bg1"/>
                </a:solidFill>
                <a:effectLst/>
              </a:rPr>
              <a:t> được chọn vì những lý do sau:</a:t>
            </a:r>
            <a:endParaRPr lang="en-US">
              <a:solidFill>
                <a:schemeClr val="bg1"/>
              </a:solidFill>
              <a:effectLst/>
            </a:endParaRPr>
          </a:p>
          <a:p>
            <a:endParaRPr lang="vi-VN">
              <a:solidFill>
                <a:schemeClr val="bg1"/>
              </a:solidFill>
              <a:effectLst/>
            </a:endParaRPr>
          </a:p>
          <a:p>
            <a:pPr>
              <a:buFont typeface="Arial" panose="020B0604020202020204" pitchFamily="34" charset="0"/>
              <a:buChar char="•"/>
            </a:pPr>
            <a:r>
              <a:rPr lang="vi-VN" b="1">
                <a:solidFill>
                  <a:schemeClr val="bg1"/>
                </a:solidFill>
              </a:rPr>
              <a:t>11 recessive bits</a:t>
            </a:r>
            <a:r>
              <a:rPr lang="vi-VN">
                <a:solidFill>
                  <a:schemeClr val="bg1"/>
                </a:solidFill>
              </a:rPr>
              <a:t> = </a:t>
            </a:r>
            <a:r>
              <a:rPr lang="vi-VN" b="1">
                <a:solidFill>
                  <a:schemeClr val="bg1"/>
                </a:solidFill>
              </a:rPr>
              <a:t>Bus Idle condition</a:t>
            </a:r>
            <a:r>
              <a:rPr lang="vi-VN">
                <a:solidFill>
                  <a:schemeClr val="bg1"/>
                </a:solidFill>
              </a:rPr>
              <a:t> (điều kiện bus rảnh)</a:t>
            </a:r>
          </a:p>
          <a:p>
            <a:pPr marL="742950" lvl="1" indent="-285750">
              <a:buFont typeface="Arial" panose="020B0604020202020204" pitchFamily="34" charset="0"/>
              <a:buChar char="•"/>
            </a:pPr>
            <a:r>
              <a:rPr lang="vi-VN">
                <a:solidFill>
                  <a:schemeClr val="bg1"/>
                </a:solidFill>
              </a:rPr>
              <a:t>Đây chính là chuỗi mà chúng ta đã học: </a:t>
            </a:r>
            <a:r>
              <a:rPr lang="vi-VN" b="1">
                <a:solidFill>
                  <a:schemeClr val="bg1"/>
                </a:solidFill>
              </a:rPr>
              <a:t>ACK Delimiter (1 bit) + EOF (7 bit) + IFS (3 bit) = 11 recessive bits</a:t>
            </a:r>
            <a:r>
              <a:rPr lang="vi-VN">
                <a:solidFill>
                  <a:schemeClr val="bg1"/>
                </a:solidFill>
              </a:rPr>
              <a:t>.</a:t>
            </a:r>
          </a:p>
          <a:p>
            <a:pPr marL="742950" lvl="1" indent="-285750">
              <a:buFont typeface="Arial" panose="020B0604020202020204" pitchFamily="34" charset="0"/>
              <a:buChar char="•"/>
            </a:pPr>
            <a:r>
              <a:rPr lang="vi-VN">
                <a:solidFill>
                  <a:schemeClr val="bg1"/>
                </a:solidFill>
              </a:rPr>
              <a:t>Mỗi khi một frame (Data Frame, Remote Frame, hoặc thậm chí Error Frame) kết thúc bình thường → bus sẽ có ít nhất </a:t>
            </a:r>
            <a:r>
              <a:rPr lang="vi-VN" b="1">
                <a:solidFill>
                  <a:schemeClr val="bg1"/>
                </a:solidFill>
              </a:rPr>
              <a:t>11 recessive bits</a:t>
            </a:r>
            <a:r>
              <a:rPr lang="vi-VN">
                <a:solidFill>
                  <a:schemeClr val="bg1"/>
                </a:solidFill>
              </a:rPr>
              <a:t>.</a:t>
            </a:r>
            <a:endParaRPr lang="en-US">
              <a:solidFill>
                <a:schemeClr val="bg1"/>
              </a:solidFill>
            </a:endParaRPr>
          </a:p>
          <a:p>
            <a:pPr lvl="1"/>
            <a:endParaRPr lang="vi-VN">
              <a:solidFill>
                <a:schemeClr val="bg1"/>
              </a:solidFill>
            </a:endParaRPr>
          </a:p>
          <a:p>
            <a:pPr>
              <a:buFont typeface="Arial" panose="020B0604020202020204" pitchFamily="34" charset="0"/>
              <a:buChar char="•"/>
            </a:pPr>
            <a:r>
              <a:rPr lang="vi-VN" b="1">
                <a:solidFill>
                  <a:schemeClr val="bg1"/>
                </a:solidFill>
              </a:rPr>
              <a:t>128 lần</a:t>
            </a:r>
            <a:r>
              <a:rPr lang="vi-VN">
                <a:solidFill>
                  <a:schemeClr val="bg1"/>
                </a:solidFill>
              </a:rPr>
              <a:t> = một con số đủ lớn để:</a:t>
            </a:r>
          </a:p>
          <a:p>
            <a:pPr marL="742950" lvl="1" indent="-285750">
              <a:buFont typeface="Arial" panose="020B0604020202020204" pitchFamily="34" charset="0"/>
              <a:buChar char="•"/>
            </a:pPr>
            <a:r>
              <a:rPr lang="vi-VN">
                <a:solidFill>
                  <a:schemeClr val="bg1"/>
                </a:solidFill>
              </a:rPr>
              <a:t>Đảm bảo bus đã </a:t>
            </a:r>
            <a:r>
              <a:rPr lang="vi-VN" b="1">
                <a:solidFill>
                  <a:schemeClr val="bg1"/>
                </a:solidFill>
              </a:rPr>
              <a:t>ổn định</a:t>
            </a:r>
            <a:r>
              <a:rPr lang="vi-VN">
                <a:solidFill>
                  <a:schemeClr val="bg1"/>
                </a:solidFill>
              </a:rPr>
              <a:t> trong một khoảng thời gian đáng kể (không còn lỗi lan truyền).</a:t>
            </a:r>
          </a:p>
          <a:p>
            <a:pPr marL="742950" lvl="1" indent="-285750">
              <a:buFont typeface="Arial" panose="020B0604020202020204" pitchFamily="34" charset="0"/>
              <a:buChar char="•"/>
            </a:pPr>
            <a:r>
              <a:rPr lang="vi-VN">
                <a:solidFill>
                  <a:schemeClr val="bg1"/>
                </a:solidFill>
              </a:rPr>
              <a:t>Cho phép node quan sát được </a:t>
            </a:r>
            <a:r>
              <a:rPr lang="vi-VN" b="1">
                <a:solidFill>
                  <a:schemeClr val="bg1"/>
                </a:solidFill>
              </a:rPr>
              <a:t>nhiều hoạt động bình thường</a:t>
            </a:r>
            <a:r>
              <a:rPr lang="vi-VN">
                <a:solidFill>
                  <a:schemeClr val="bg1"/>
                </a:solidFill>
              </a:rPr>
              <a:t> của bus (các frame khác đang truyền qua).</a:t>
            </a:r>
          </a:p>
          <a:p>
            <a:pPr marL="742950" lvl="1" indent="-285750">
              <a:buFont typeface="Arial" panose="020B0604020202020204" pitchFamily="34" charset="0"/>
              <a:buChar char="•"/>
            </a:pPr>
            <a:r>
              <a:rPr lang="vi-VN">
                <a:solidFill>
                  <a:schemeClr val="bg1"/>
                </a:solidFill>
              </a:rPr>
              <a:t>Tránh tình trạng node </a:t>
            </a:r>
            <a:r>
              <a:rPr lang="vi-VN" b="1">
                <a:solidFill>
                  <a:schemeClr val="bg1"/>
                </a:solidFill>
              </a:rPr>
              <a:t>phục hồi quá nhanh</a:t>
            </a:r>
            <a:r>
              <a:rPr lang="vi-VN">
                <a:solidFill>
                  <a:schemeClr val="bg1"/>
                </a:solidFill>
              </a:rPr>
              <a:t> và gây lỗi thêm (ví dụ: node hỏng cố gắng truyền lại ngay lập tức làm bus rối loạn).</a:t>
            </a:r>
            <a:endParaRPr lang="en-US">
              <a:solidFill>
                <a:schemeClr val="bg1"/>
              </a:solidFill>
            </a:endParaRPr>
          </a:p>
          <a:p>
            <a:pPr marL="742950" lvl="1" indent="-285750">
              <a:buFont typeface="Arial" panose="020B0604020202020204" pitchFamily="34" charset="0"/>
              <a:buChar char="•"/>
            </a:pPr>
            <a:endParaRPr lang="vi-VN">
              <a:solidFill>
                <a:schemeClr val="bg1"/>
              </a:solidFill>
            </a:endParaRPr>
          </a:p>
          <a:p>
            <a:r>
              <a:rPr lang="vi-VN">
                <a:solidFill>
                  <a:schemeClr val="bg1"/>
                </a:solidFill>
                <a:effectLst/>
              </a:rPr>
              <a:t>Tóm lại: </a:t>
            </a:r>
            <a:r>
              <a:rPr lang="vi-VN" b="1">
                <a:solidFill>
                  <a:schemeClr val="bg1"/>
                </a:solidFill>
                <a:effectLst/>
              </a:rPr>
              <a:t>128 × 11 recessive bits</a:t>
            </a:r>
            <a:r>
              <a:rPr lang="vi-VN">
                <a:solidFill>
                  <a:schemeClr val="bg1"/>
                </a:solidFill>
                <a:effectLst/>
              </a:rPr>
              <a:t> ≈ quan sát được </a:t>
            </a:r>
            <a:r>
              <a:rPr lang="vi-VN" b="1">
                <a:solidFill>
                  <a:schemeClr val="bg1"/>
                </a:solidFill>
                <a:effectLst/>
              </a:rPr>
              <a:t>128 frame thành công</a:t>
            </a:r>
            <a:r>
              <a:rPr lang="vi-VN">
                <a:solidFill>
                  <a:schemeClr val="bg1"/>
                </a:solidFill>
                <a:effectLst/>
              </a:rPr>
              <a:t> (hoặc tương đương thời gian idle dài) → chứng minh rằng bus đã trở lại trạng thái bình thường và an toàn để node này tham gia lại.</a:t>
            </a:r>
          </a:p>
        </p:txBody>
      </p:sp>
    </p:spTree>
    <p:extLst>
      <p:ext uri="{BB962C8B-B14F-4D97-AF65-F5344CB8AC3E}">
        <p14:creationId xmlns:p14="http://schemas.microsoft.com/office/powerpoint/2010/main" val="21803354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TextBox 4">
            <a:extLst>
              <a:ext uri="{FF2B5EF4-FFF2-40B4-BE49-F238E27FC236}">
                <a16:creationId xmlns:a16="http://schemas.microsoft.com/office/drawing/2014/main" id="{02ED3121-8FAC-6A22-BDDF-555EA475F589}"/>
              </a:ext>
            </a:extLst>
          </p:cNvPr>
          <p:cNvSpPr txBox="1"/>
          <p:nvPr/>
        </p:nvSpPr>
        <p:spPr>
          <a:xfrm>
            <a:off x="448934" y="1484246"/>
            <a:ext cx="11598932" cy="369332"/>
          </a:xfrm>
          <a:prstGeom prst="rect">
            <a:avLst/>
          </a:prstGeom>
          <a:noFill/>
        </p:spPr>
        <p:txBody>
          <a:bodyPr wrap="square">
            <a:spAutoFit/>
          </a:bodyPr>
          <a:lstStyle/>
          <a:p>
            <a:r>
              <a:rPr lang="vi-VN" b="1">
                <a:solidFill>
                  <a:schemeClr val="bg1"/>
                </a:solidFill>
                <a:effectLst/>
              </a:rPr>
              <a:t>Thời gian chờ thực tế</a:t>
            </a:r>
          </a:p>
        </p:txBody>
      </p:sp>
      <p:graphicFrame>
        <p:nvGraphicFramePr>
          <p:cNvPr id="2" name="Table 1">
            <a:extLst>
              <a:ext uri="{FF2B5EF4-FFF2-40B4-BE49-F238E27FC236}">
                <a16:creationId xmlns:a16="http://schemas.microsoft.com/office/drawing/2014/main" id="{94E869EB-875C-5802-D395-D83AEB8E719F}"/>
              </a:ext>
            </a:extLst>
          </p:cNvPr>
          <p:cNvGraphicFramePr>
            <a:graphicFrameLocks noGrp="1"/>
          </p:cNvGraphicFramePr>
          <p:nvPr>
            <p:extLst>
              <p:ext uri="{D42A27DB-BD31-4B8C-83A1-F6EECF244321}">
                <p14:modId xmlns:p14="http://schemas.microsoft.com/office/powerpoint/2010/main" val="2467903907"/>
              </p:ext>
            </p:extLst>
          </p:nvPr>
        </p:nvGraphicFramePr>
        <p:xfrm>
          <a:off x="570345" y="2164088"/>
          <a:ext cx="10515600" cy="1737360"/>
        </p:xfrm>
        <a:graphic>
          <a:graphicData uri="http://schemas.openxmlformats.org/drawingml/2006/table">
            <a:tbl>
              <a:tblPr/>
              <a:tblGrid>
                <a:gridCol w="2628900">
                  <a:extLst>
                    <a:ext uri="{9D8B030D-6E8A-4147-A177-3AD203B41FA5}">
                      <a16:colId xmlns:a16="http://schemas.microsoft.com/office/drawing/2014/main" val="2863500003"/>
                    </a:ext>
                  </a:extLst>
                </a:gridCol>
                <a:gridCol w="2628900">
                  <a:extLst>
                    <a:ext uri="{9D8B030D-6E8A-4147-A177-3AD203B41FA5}">
                      <a16:colId xmlns:a16="http://schemas.microsoft.com/office/drawing/2014/main" val="1793833131"/>
                    </a:ext>
                  </a:extLst>
                </a:gridCol>
                <a:gridCol w="2628900">
                  <a:extLst>
                    <a:ext uri="{9D8B030D-6E8A-4147-A177-3AD203B41FA5}">
                      <a16:colId xmlns:a16="http://schemas.microsoft.com/office/drawing/2014/main" val="1597438996"/>
                    </a:ext>
                  </a:extLst>
                </a:gridCol>
                <a:gridCol w="2628900">
                  <a:extLst>
                    <a:ext uri="{9D8B030D-6E8A-4147-A177-3AD203B41FA5}">
                      <a16:colId xmlns:a16="http://schemas.microsoft.com/office/drawing/2014/main" val="2834914117"/>
                    </a:ext>
                  </a:extLst>
                </a:gridCol>
              </a:tblGrid>
              <a:tr h="0">
                <a:tc>
                  <a:txBody>
                    <a:bodyPr/>
                    <a:lstStyle/>
                    <a:p>
                      <a:r>
                        <a:rPr lang="vi-VN">
                          <a:solidFill>
                            <a:schemeClr val="bg1"/>
                          </a:solidFill>
                        </a:rPr>
                        <a:t>Baudrate</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Thời gian 1 bit</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Thời gian tối thiểu cho 128 × 11 bit</a:t>
                      </a:r>
                    </a:p>
                  </a:txBody>
                  <a:tcPr anchor="ctr">
                    <a:lnL>
                      <a:noFill/>
                    </a:lnL>
                    <a:lnR>
                      <a:noFill/>
                    </a:lnR>
                    <a:lnT>
                      <a:noFill/>
                    </a:lnT>
                    <a:lnB>
                      <a:noFill/>
                    </a:lnB>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solidFill>
                            <a:schemeClr val="bg1"/>
                          </a:solidFill>
                        </a:rPr>
                        <a:t>Ghi chú</a:t>
                      </a:r>
                    </a:p>
                  </a:txBody>
                  <a:tcPr anchor="ctr">
                    <a:lnL>
                      <a:noFill/>
                    </a:lnL>
                    <a:lnR>
                      <a:noFill/>
                    </a:lnR>
                    <a:lnT>
                      <a:noFill/>
                    </a:lnT>
                    <a:lnB>
                      <a:noFill/>
                    </a:lnB>
                    <a:solidFill>
                      <a:schemeClr val="accent1">
                        <a:lumMod val="75000"/>
                      </a:schemeClr>
                    </a:solidFill>
                  </a:tcPr>
                </a:tc>
                <a:extLst>
                  <a:ext uri="{0D108BD9-81ED-4DB2-BD59-A6C34878D82A}">
                    <a16:rowId xmlns:a16="http://schemas.microsoft.com/office/drawing/2014/main" val="2342205295"/>
                  </a:ext>
                </a:extLst>
              </a:tr>
              <a:tr h="0">
                <a:tc>
                  <a:txBody>
                    <a:bodyPr/>
                    <a:lstStyle/>
                    <a:p>
                      <a:r>
                        <a:rPr lang="vi-VN">
                          <a:solidFill>
                            <a:schemeClr val="bg1"/>
                          </a:solidFill>
                        </a:rPr>
                        <a:t>1 Mbps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1 µs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1408 µs (~1.4 ms)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Rất nhanh</a:t>
                      </a:r>
                    </a:p>
                  </a:txBody>
                  <a:tcPr anchor="ctr">
                    <a:lnL>
                      <a:noFill/>
                    </a:lnL>
                    <a:lnR>
                      <a:noFill/>
                    </a:lnR>
                    <a:lnT>
                      <a:noFill/>
                    </a:lnT>
                    <a:lnB>
                      <a:noFill/>
                    </a:lnB>
                    <a:solidFill>
                      <a:schemeClr val="accent1">
                        <a:lumMod val="75000"/>
                      </a:schemeClr>
                    </a:solidFill>
                  </a:tcPr>
                </a:tc>
                <a:extLst>
                  <a:ext uri="{0D108BD9-81ED-4DB2-BD59-A6C34878D82A}">
                    <a16:rowId xmlns:a16="http://schemas.microsoft.com/office/drawing/2014/main" val="1855730301"/>
                  </a:ext>
                </a:extLst>
              </a:tr>
              <a:tr h="0">
                <a:tc>
                  <a:txBody>
                    <a:bodyPr/>
                    <a:lstStyle/>
                    <a:p>
                      <a:r>
                        <a:rPr lang="vi-VN">
                          <a:solidFill>
                            <a:schemeClr val="bg1"/>
                          </a:solidFill>
                        </a:rPr>
                        <a:t>500 kbps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2 µs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2816 µs (~2.8 ms)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Phổ biến</a:t>
                      </a:r>
                    </a:p>
                  </a:txBody>
                  <a:tcPr anchor="ctr">
                    <a:lnL>
                      <a:noFill/>
                    </a:lnL>
                    <a:lnR>
                      <a:noFill/>
                    </a:lnR>
                    <a:lnT>
                      <a:noFill/>
                    </a:lnT>
                    <a:lnB>
                      <a:noFill/>
                    </a:lnB>
                    <a:solidFill>
                      <a:schemeClr val="accent1">
                        <a:lumMod val="75000"/>
                      </a:schemeClr>
                    </a:solidFill>
                  </a:tcPr>
                </a:tc>
                <a:extLst>
                  <a:ext uri="{0D108BD9-81ED-4DB2-BD59-A6C34878D82A}">
                    <a16:rowId xmlns:a16="http://schemas.microsoft.com/office/drawing/2014/main" val="2567467150"/>
                  </a:ext>
                </a:extLst>
              </a:tr>
              <a:tr h="0">
                <a:tc>
                  <a:txBody>
                    <a:bodyPr/>
                    <a:lstStyle/>
                    <a:p>
                      <a:r>
                        <a:rPr lang="vi-VN">
                          <a:solidFill>
                            <a:schemeClr val="bg1"/>
                          </a:solidFill>
                        </a:rPr>
                        <a:t>250 kbps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4 µs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5632 µs (~5.6 ms)</a:t>
                      </a:r>
                    </a:p>
                  </a:txBody>
                  <a:tcPr anchor="ctr">
                    <a:lnL>
                      <a:noFill/>
                    </a:lnL>
                    <a:lnR>
                      <a:noFill/>
                    </a:lnR>
                    <a:lnT>
                      <a:noFill/>
                    </a:lnT>
                    <a:lnB>
                      <a:noFill/>
                    </a:lnB>
                    <a:solidFill>
                      <a:schemeClr val="accent1">
                        <a:lumMod val="75000"/>
                      </a:schemeClr>
                    </a:solidFill>
                  </a:tcPr>
                </a:tc>
                <a:tc>
                  <a:txBody>
                    <a:bodyPr/>
                    <a:lstStyle/>
                    <a:p>
                      <a:r>
                        <a:rPr lang="vi-VN">
                          <a:solidFill>
                            <a:schemeClr val="bg1"/>
                          </a:solidFill>
                        </a:rPr>
                        <a:t>Bus dài</a:t>
                      </a:r>
                    </a:p>
                  </a:txBody>
                  <a:tcPr anchor="ctr">
                    <a:lnL>
                      <a:noFill/>
                    </a:lnL>
                    <a:lnR>
                      <a:noFill/>
                    </a:lnR>
                    <a:lnT>
                      <a:noFill/>
                    </a:lnT>
                    <a:lnB>
                      <a:noFill/>
                    </a:lnB>
                    <a:solidFill>
                      <a:schemeClr val="accent1">
                        <a:lumMod val="75000"/>
                      </a:schemeClr>
                    </a:solidFill>
                  </a:tcPr>
                </a:tc>
                <a:extLst>
                  <a:ext uri="{0D108BD9-81ED-4DB2-BD59-A6C34878D82A}">
                    <a16:rowId xmlns:a16="http://schemas.microsoft.com/office/drawing/2014/main" val="3172808745"/>
                  </a:ext>
                </a:extLst>
              </a:tr>
            </a:tbl>
          </a:graphicData>
        </a:graphic>
      </p:graphicFrame>
    </p:spTree>
    <p:extLst>
      <p:ext uri="{BB962C8B-B14F-4D97-AF65-F5344CB8AC3E}">
        <p14:creationId xmlns:p14="http://schemas.microsoft.com/office/powerpoint/2010/main" val="42337867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2671693" cy="584775"/>
          </a:xfrm>
          <a:prstGeom prst="rect">
            <a:avLst/>
          </a:prstGeom>
          <a:noFill/>
        </p:spPr>
        <p:txBody>
          <a:bodyPr wrap="none" rtlCol="0">
            <a:spAutoFit/>
          </a:bodyPr>
          <a:lstStyle/>
          <a:p>
            <a:r>
              <a:rPr lang="en-US" sz="3200" b="1">
                <a:solidFill>
                  <a:schemeClr val="bg1"/>
                </a:solidFill>
              </a:rPr>
              <a:t>ERROR FRAME</a:t>
            </a:r>
            <a:endParaRPr lang="en-US" sz="3200" b="1" dirty="0">
              <a:solidFill>
                <a:schemeClr val="bg1"/>
              </a:solidFill>
            </a:endParaRPr>
          </a:p>
        </p:txBody>
      </p:sp>
      <p:sp>
        <p:nvSpPr>
          <p:cNvPr id="19" name="AutoShape 13" descr="Understanding CAN bus error types | Anis HASSEN posted on the topic |  LinkedIn">
            <a:extLst>
              <a:ext uri="{FF2B5EF4-FFF2-40B4-BE49-F238E27FC236}">
                <a16:creationId xmlns:a16="http://schemas.microsoft.com/office/drawing/2014/main" id="{EF6FD336-8359-8BBA-47BB-F008F7EEA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0" name="AutoShape 15" descr="No alternative text description for this image">
            <a:extLst>
              <a:ext uri="{FF2B5EF4-FFF2-40B4-BE49-F238E27FC236}">
                <a16:creationId xmlns:a16="http://schemas.microsoft.com/office/drawing/2014/main" id="{095FEE85-C3DF-801F-92E5-CA9ECFAB6BE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TextBox 4">
            <a:extLst>
              <a:ext uri="{FF2B5EF4-FFF2-40B4-BE49-F238E27FC236}">
                <a16:creationId xmlns:a16="http://schemas.microsoft.com/office/drawing/2014/main" id="{02ED3121-8FAC-6A22-BDDF-555EA475F589}"/>
              </a:ext>
            </a:extLst>
          </p:cNvPr>
          <p:cNvSpPr txBox="1"/>
          <p:nvPr/>
        </p:nvSpPr>
        <p:spPr>
          <a:xfrm>
            <a:off x="448934" y="1334378"/>
            <a:ext cx="11598932" cy="3416320"/>
          </a:xfrm>
          <a:prstGeom prst="rect">
            <a:avLst/>
          </a:prstGeom>
          <a:noFill/>
        </p:spPr>
        <p:txBody>
          <a:bodyPr wrap="square">
            <a:spAutoFit/>
          </a:bodyPr>
          <a:lstStyle/>
          <a:p>
            <a:r>
              <a:rPr lang="vi-VN" b="1">
                <a:solidFill>
                  <a:schemeClr val="bg1"/>
                </a:solidFill>
              </a:rPr>
              <a:t>3. Lưu ý quan trọng</a:t>
            </a:r>
            <a:endParaRPr lang="en-US" b="1">
              <a:solidFill>
                <a:schemeClr val="bg1"/>
              </a:solidFill>
            </a:endParaRPr>
          </a:p>
          <a:p>
            <a:endParaRPr lang="vi-VN" b="1">
              <a:solidFill>
                <a:schemeClr val="bg1"/>
              </a:solidFill>
            </a:endParaRPr>
          </a:p>
          <a:p>
            <a:pPr marL="285750" indent="-285750">
              <a:buFont typeface="Arial" panose="020B0604020202020204" pitchFamily="34" charset="0"/>
              <a:buChar char="•"/>
            </a:pPr>
            <a:r>
              <a:rPr lang="vi-VN" b="1">
                <a:solidFill>
                  <a:schemeClr val="bg1"/>
                </a:solidFill>
              </a:rPr>
              <a:t>Không phải chờ liên tục 128 × 11 bit</a:t>
            </a:r>
            <a:r>
              <a:rPr lang="vi-VN">
                <a:solidFill>
                  <a:schemeClr val="bg1"/>
                </a:solidFill>
              </a:rPr>
              <a:t> mà là </a:t>
            </a:r>
            <a:r>
              <a:rPr lang="vi-VN" b="1">
                <a:solidFill>
                  <a:schemeClr val="bg1"/>
                </a:solidFill>
              </a:rPr>
              <a:t>đếm đủ 128 lần xuất hiện</a:t>
            </a:r>
            <a:r>
              <a:rPr lang="vi-VN">
                <a:solidFill>
                  <a:schemeClr val="bg1"/>
                </a:solidFill>
              </a:rPr>
              <a:t> của chuỗi 11 recessive bits (có thể xen kẽ frame).</a:t>
            </a:r>
            <a:endParaRPr lang="en-US">
              <a:solidFill>
                <a:schemeClr val="bg1"/>
              </a:solidFill>
            </a:endParaRPr>
          </a:p>
          <a:p>
            <a:pPr>
              <a:buFont typeface="Arial" panose="020B0604020202020204" pitchFamily="34" charset="0"/>
              <a:buChar char="•"/>
            </a:pPr>
            <a:endParaRPr lang="vi-VN">
              <a:solidFill>
                <a:schemeClr val="bg1"/>
              </a:solidFill>
            </a:endParaRPr>
          </a:p>
          <a:p>
            <a:pPr marL="285750" indent="-285750">
              <a:buFont typeface="Arial" panose="020B0604020202020204" pitchFamily="34" charset="0"/>
              <a:buChar char="•"/>
            </a:pPr>
            <a:r>
              <a:rPr lang="vi-VN">
                <a:solidFill>
                  <a:schemeClr val="bg1"/>
                </a:solidFill>
              </a:rPr>
              <a:t>Sau khi đếm đủ 128 lần, error counters (TEC và REC) sẽ được </a:t>
            </a:r>
            <a:r>
              <a:rPr lang="vi-VN" b="1">
                <a:solidFill>
                  <a:schemeClr val="bg1"/>
                </a:solidFill>
              </a:rPr>
              <a:t>reset về 0</a:t>
            </a:r>
            <a:r>
              <a:rPr lang="vi-VN">
                <a:solidFill>
                  <a:schemeClr val="bg1"/>
                </a:solidFill>
              </a:rPr>
              <a:t>, node chuyển sang </a:t>
            </a:r>
            <a:r>
              <a:rPr lang="vi-VN" b="1">
                <a:solidFill>
                  <a:schemeClr val="bg1"/>
                </a:solidFill>
              </a:rPr>
              <a:t>Error Active</a:t>
            </a:r>
            <a:r>
              <a:rPr lang="vi-VN">
                <a:solidFill>
                  <a:schemeClr val="bg1"/>
                </a:solidFill>
              </a:rPr>
              <a:t>.</a:t>
            </a:r>
            <a:endParaRPr lang="en-US">
              <a:solidFill>
                <a:schemeClr val="bg1"/>
              </a:solidFill>
            </a:endParaRPr>
          </a:p>
          <a:p>
            <a:pPr>
              <a:buFont typeface="Arial" panose="020B0604020202020204" pitchFamily="34" charset="0"/>
              <a:buChar char="•"/>
            </a:pPr>
            <a:endParaRPr lang="vi-VN">
              <a:solidFill>
                <a:schemeClr val="bg1"/>
              </a:solidFill>
            </a:endParaRPr>
          </a:p>
          <a:p>
            <a:pPr marL="285750" indent="-285750">
              <a:buFont typeface="Arial" panose="020B0604020202020204" pitchFamily="34" charset="0"/>
              <a:buChar char="•"/>
            </a:pPr>
            <a:r>
              <a:rPr lang="vi-VN">
                <a:solidFill>
                  <a:schemeClr val="bg1"/>
                </a:solidFill>
              </a:rPr>
              <a:t>Một số controller (như STM32 FDCAN, NXP) có chế độ </a:t>
            </a:r>
            <a:r>
              <a:rPr lang="vi-VN" b="1">
                <a:solidFill>
                  <a:schemeClr val="bg1"/>
                </a:solidFill>
              </a:rPr>
              <a:t>Automatic Bus-Off Recovery</a:t>
            </a:r>
            <a:r>
              <a:rPr lang="vi-VN">
                <a:solidFill>
                  <a:schemeClr val="bg1"/>
                </a:solidFill>
              </a:rPr>
              <a:t> (tự động) hoặc phải làm thủ công (phần mềm can thiệp).</a:t>
            </a:r>
            <a:endParaRPr lang="en-US">
              <a:solidFill>
                <a:schemeClr val="bg1"/>
              </a:solidFill>
            </a:endParaRPr>
          </a:p>
          <a:p>
            <a:pPr>
              <a:buFont typeface="Arial" panose="020B0604020202020204" pitchFamily="34" charset="0"/>
              <a:buChar char="•"/>
            </a:pPr>
            <a:endParaRPr lang="vi-VN">
              <a:solidFill>
                <a:schemeClr val="bg1"/>
              </a:solidFill>
            </a:endParaRPr>
          </a:p>
          <a:p>
            <a:pPr marL="285750" indent="-285750">
              <a:buFont typeface="Arial" panose="020B0604020202020204" pitchFamily="34" charset="0"/>
              <a:buChar char="•"/>
            </a:pPr>
            <a:r>
              <a:rPr lang="vi-VN">
                <a:solidFill>
                  <a:schemeClr val="bg1"/>
                </a:solidFill>
              </a:rPr>
              <a:t>Trong thực tế ô tô: Bus-Off thường do lỗi vật lý nghiêm trọng (dây đứt, short circuit, transceiver hỏng…). Việc chờ lâu như vậy giúp tránh node “tỉnh dậy” và làm hỏng cả mạng.</a:t>
            </a:r>
          </a:p>
        </p:txBody>
      </p:sp>
    </p:spTree>
    <p:extLst>
      <p:ext uri="{BB962C8B-B14F-4D97-AF65-F5344CB8AC3E}">
        <p14:creationId xmlns:p14="http://schemas.microsoft.com/office/powerpoint/2010/main" val="368220555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590740" y="1335832"/>
            <a:ext cx="11167872" cy="1815882"/>
          </a:xfrm>
          <a:prstGeom prst="rect">
            <a:avLst/>
          </a:prstGeom>
        </p:spPr>
        <p:txBody>
          <a:bodyPr wrap="square">
            <a:spAutoFit/>
          </a:bodyPr>
          <a:lstStyle/>
          <a:p>
            <a:r>
              <a:rPr lang="vi-VN" sz="1400">
                <a:solidFill>
                  <a:schemeClr val="bg1">
                    <a:lumMod val="95000"/>
                  </a:schemeClr>
                </a:solidFill>
                <a:effectLst/>
              </a:rPr>
              <a:t>Overload Frame trong CAN protocol (CAN 2.0 / ISO 11898) là khung tin đặc biệt dùng để yêu cầu thêm thời gian delay giữa các khung tin Data Frame hoặc Remote Frame. Nó giúp một node (thường là receiver) "thở" khi bị quá tải, chưa xử lý kịp dữ liệu nhận được.</a:t>
            </a:r>
            <a:endParaRPr lang="en-US" sz="1400">
              <a:solidFill>
                <a:schemeClr val="bg1">
                  <a:lumMod val="95000"/>
                </a:schemeClr>
              </a:solidFill>
              <a:effectLst/>
            </a:endParaRPr>
          </a:p>
          <a:p>
            <a:endParaRPr lang="en-US" sz="1400">
              <a:solidFill>
                <a:schemeClr val="bg1">
                  <a:lumMod val="95000"/>
                </a:schemeClr>
              </a:solidFill>
            </a:endParaRPr>
          </a:p>
          <a:p>
            <a:r>
              <a:rPr lang="vi-VN" sz="1400">
                <a:solidFill>
                  <a:schemeClr val="bg1">
                    <a:lumMod val="95000"/>
                  </a:schemeClr>
                </a:solidFill>
                <a:effectLst/>
              </a:rPr>
              <a:t>👉 Overload Frame được gửi khi node cần trì hoãn (delay) việc nhận frame tiếp theo</a:t>
            </a:r>
          </a:p>
          <a:p>
            <a:endParaRPr lang="vi-VN" sz="1400">
              <a:solidFill>
                <a:schemeClr val="bg1">
                  <a:lumMod val="95000"/>
                </a:schemeClr>
              </a:solidFill>
              <a:effectLst/>
            </a:endParaRPr>
          </a:p>
          <a:p>
            <a:r>
              <a:rPr lang="vi-VN" sz="1400">
                <a:solidFill>
                  <a:schemeClr val="bg1">
                    <a:lumMod val="95000"/>
                  </a:schemeClr>
                </a:solidFill>
                <a:effectLst/>
              </a:rPr>
              <a:t>📌 Hiểu đơn giản:</a:t>
            </a:r>
          </a:p>
          <a:p>
            <a:endParaRPr lang="vi-VN" sz="1400">
              <a:solidFill>
                <a:schemeClr val="bg1">
                  <a:lumMod val="95000"/>
                </a:schemeClr>
              </a:solidFill>
              <a:effectLst/>
            </a:endParaRPr>
          </a:p>
          <a:p>
            <a:r>
              <a:rPr lang="vi-VN" sz="1400">
                <a:solidFill>
                  <a:schemeClr val="bg1">
                    <a:lumMod val="95000"/>
                  </a:schemeClr>
                </a:solidFill>
                <a:effectLst/>
              </a:rPr>
              <a:t>“Khoan! Tôi chưa xử lý xong → đợi thêm chút”</a:t>
            </a:r>
          </a:p>
        </p:txBody>
      </p:sp>
      <p:pic>
        <p:nvPicPr>
          <p:cNvPr id="3076" name="Picture 4" descr="Wiki - CAN">
            <a:extLst>
              <a:ext uri="{FF2B5EF4-FFF2-40B4-BE49-F238E27FC236}">
                <a16:creationId xmlns:a16="http://schemas.microsoft.com/office/drawing/2014/main" id="{7D0E4B9F-CBA9-D724-6820-64EAF92DC5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1491" y="3706287"/>
            <a:ext cx="5934075"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74507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590740" y="1335832"/>
            <a:ext cx="11167872" cy="2083712"/>
          </a:xfrm>
          <a:prstGeom prst="rect">
            <a:avLst/>
          </a:prstGeom>
        </p:spPr>
        <p:txBody>
          <a:bodyPr wrap="square">
            <a:spAutoFit/>
          </a:bodyPr>
          <a:lstStyle/>
          <a:p>
            <a:pPr>
              <a:lnSpc>
                <a:spcPct val="150000"/>
              </a:lnSpc>
            </a:pPr>
            <a:r>
              <a:rPr lang="vi-VN" b="1">
                <a:solidFill>
                  <a:schemeClr val="bg1"/>
                </a:solidFill>
              </a:rPr>
              <a:t>Tác dụng chính</a:t>
            </a:r>
          </a:p>
          <a:p>
            <a:pPr marL="285750" indent="-285750">
              <a:lnSpc>
                <a:spcPct val="150000"/>
              </a:lnSpc>
              <a:buFont typeface="Arial" panose="020B0604020202020204" pitchFamily="34" charset="0"/>
              <a:buChar char="•"/>
            </a:pPr>
            <a:r>
              <a:rPr lang="vi-VN" sz="1400">
                <a:solidFill>
                  <a:schemeClr val="bg1"/>
                </a:solidFill>
              </a:rPr>
              <a:t>Tạo thêm </a:t>
            </a:r>
            <a:r>
              <a:rPr lang="vi-VN" sz="1400" b="1">
                <a:solidFill>
                  <a:schemeClr val="bg1"/>
                </a:solidFill>
              </a:rPr>
              <a:t>độ trễ</a:t>
            </a:r>
            <a:r>
              <a:rPr lang="vi-VN" sz="1400">
                <a:solidFill>
                  <a:schemeClr val="bg1"/>
                </a:solidFill>
              </a:rPr>
              <a:t> giữa hai frame liên tiếp.</a:t>
            </a:r>
          </a:p>
          <a:p>
            <a:pPr marL="285750" indent="-285750">
              <a:lnSpc>
                <a:spcPct val="150000"/>
              </a:lnSpc>
              <a:buFont typeface="Arial" panose="020B0604020202020204" pitchFamily="34" charset="0"/>
              <a:buChar char="•"/>
            </a:pPr>
            <a:r>
              <a:rPr lang="vi-VN" sz="1400">
                <a:solidFill>
                  <a:schemeClr val="bg1"/>
                </a:solidFill>
              </a:rPr>
              <a:t>Cho node nhận có thêm thời gian xử lý dữ liệu (internal processing), đọc dữ liệu ra khỏi buffer, hoặc chuẩn bị mailbox.</a:t>
            </a:r>
          </a:p>
          <a:p>
            <a:pPr marL="285750" indent="-285750">
              <a:lnSpc>
                <a:spcPct val="150000"/>
              </a:lnSpc>
              <a:buFont typeface="Arial" panose="020B0604020202020204" pitchFamily="34" charset="0"/>
              <a:buChar char="•"/>
            </a:pPr>
            <a:r>
              <a:rPr lang="vi-VN" sz="1400">
                <a:solidFill>
                  <a:schemeClr val="bg1"/>
                </a:solidFill>
              </a:rPr>
              <a:t>Ngăn chặn tình trạng node nhận bị </a:t>
            </a:r>
            <a:r>
              <a:rPr lang="vi-VN" sz="1400" b="1">
                <a:solidFill>
                  <a:schemeClr val="bg1"/>
                </a:solidFill>
              </a:rPr>
              <a:t>tràn buffer</a:t>
            </a:r>
            <a:r>
              <a:rPr lang="vi-VN" sz="1400">
                <a:solidFill>
                  <a:schemeClr val="bg1"/>
                </a:solidFill>
              </a:rPr>
              <a:t> (overflow) khi bus truyền quá nhanh.</a:t>
            </a:r>
          </a:p>
          <a:p>
            <a:pPr marL="285750" indent="-285750">
              <a:lnSpc>
                <a:spcPct val="150000"/>
              </a:lnSpc>
              <a:buFont typeface="Arial" panose="020B0604020202020204" pitchFamily="34" charset="0"/>
              <a:buChar char="•"/>
            </a:pPr>
            <a:r>
              <a:rPr lang="vi-VN" sz="1400">
                <a:solidFill>
                  <a:schemeClr val="bg1"/>
                </a:solidFill>
              </a:rPr>
              <a:t>Tất cả các node khác trên bus khi nhận Overload Frame cũng sẽ gửi Overload Flag → toàn bus tạm dừng một chút.</a:t>
            </a:r>
          </a:p>
          <a:p>
            <a:pPr>
              <a:lnSpc>
                <a:spcPct val="150000"/>
              </a:lnSpc>
            </a:pPr>
            <a:r>
              <a:rPr lang="vi-VN" sz="1400" b="1">
                <a:solidFill>
                  <a:schemeClr val="bg1"/>
                </a:solidFill>
                <a:effectLst/>
              </a:rPr>
              <a:t>Quan trọng</a:t>
            </a:r>
            <a:r>
              <a:rPr lang="vi-VN" sz="1400">
                <a:solidFill>
                  <a:schemeClr val="bg1"/>
                </a:solidFill>
                <a:effectLst/>
              </a:rPr>
              <a:t>: Overload Frame </a:t>
            </a:r>
            <a:r>
              <a:rPr lang="vi-VN" sz="1400" b="1">
                <a:solidFill>
                  <a:schemeClr val="bg1"/>
                </a:solidFill>
                <a:effectLst/>
              </a:rPr>
              <a:t>không làm retransmit</a:t>
            </a:r>
            <a:r>
              <a:rPr lang="vi-VN" sz="1400">
                <a:solidFill>
                  <a:schemeClr val="bg1"/>
                </a:solidFill>
                <a:effectLst/>
              </a:rPr>
              <a:t> frame trước đó (khác hoàn toàn với Error Frame).</a:t>
            </a:r>
          </a:p>
        </p:txBody>
      </p:sp>
      <p:pic>
        <p:nvPicPr>
          <p:cNvPr id="3076" name="Picture 4" descr="Wiki - CAN">
            <a:extLst>
              <a:ext uri="{FF2B5EF4-FFF2-40B4-BE49-F238E27FC236}">
                <a16:creationId xmlns:a16="http://schemas.microsoft.com/office/drawing/2014/main" id="{7D0E4B9F-CBA9-D724-6820-64EAF92DC5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2001" y="3644334"/>
            <a:ext cx="7991009" cy="2629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1911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226043"/>
            <a:ext cx="11167872" cy="3053208"/>
          </a:xfrm>
          <a:prstGeom prst="rect">
            <a:avLst/>
          </a:prstGeom>
        </p:spPr>
        <p:txBody>
          <a:bodyPr wrap="square">
            <a:spAutoFit/>
          </a:bodyPr>
          <a:lstStyle/>
          <a:p>
            <a:pPr>
              <a:lnSpc>
                <a:spcPct val="150000"/>
              </a:lnSpc>
            </a:pPr>
            <a:r>
              <a:rPr lang="vi-VN" b="1">
                <a:solidFill>
                  <a:schemeClr val="bg1"/>
                </a:solidFill>
              </a:rPr>
              <a:t>Cấu trúc của Overload Frame</a:t>
            </a:r>
          </a:p>
          <a:p>
            <a:pPr>
              <a:lnSpc>
                <a:spcPct val="150000"/>
              </a:lnSpc>
            </a:pPr>
            <a:r>
              <a:rPr lang="vi-VN" sz="1400">
                <a:solidFill>
                  <a:schemeClr val="bg1"/>
                </a:solidFill>
                <a:effectLst/>
              </a:rPr>
              <a:t>Overload Frame </a:t>
            </a:r>
            <a:r>
              <a:rPr lang="vi-VN" sz="1400" b="1">
                <a:solidFill>
                  <a:schemeClr val="bg1"/>
                </a:solidFill>
                <a:effectLst/>
              </a:rPr>
              <a:t>gần giống hệt</a:t>
            </a:r>
            <a:r>
              <a:rPr lang="vi-VN" sz="1400">
                <a:solidFill>
                  <a:schemeClr val="bg1"/>
                </a:solidFill>
                <a:effectLst/>
              </a:rPr>
              <a:t> Active Error Frame về hình dạng:</a:t>
            </a:r>
          </a:p>
          <a:p>
            <a:pPr marL="285750" indent="-285750">
              <a:lnSpc>
                <a:spcPct val="150000"/>
              </a:lnSpc>
              <a:buFont typeface="Arial" panose="020B0604020202020204" pitchFamily="34" charset="0"/>
              <a:buChar char="•"/>
            </a:pPr>
            <a:r>
              <a:rPr lang="vi-VN" sz="1400" b="1">
                <a:solidFill>
                  <a:schemeClr val="bg1"/>
                </a:solidFill>
              </a:rPr>
              <a:t>Overload Flag</a:t>
            </a:r>
            <a:r>
              <a:rPr lang="vi-VN" sz="1400">
                <a:solidFill>
                  <a:schemeClr val="bg1"/>
                </a:solidFill>
              </a:rPr>
              <a:t>: </a:t>
            </a:r>
            <a:r>
              <a:rPr lang="vi-VN" sz="1400" b="1">
                <a:solidFill>
                  <a:schemeClr val="bg1"/>
                </a:solidFill>
              </a:rPr>
              <a:t>6 dominant bits</a:t>
            </a:r>
            <a:r>
              <a:rPr lang="vi-VN" sz="1400">
                <a:solidFill>
                  <a:schemeClr val="bg1"/>
                </a:solidFill>
              </a:rPr>
              <a:t> (000000)</a:t>
            </a:r>
          </a:p>
          <a:p>
            <a:pPr marL="285750" indent="-285750">
              <a:lnSpc>
                <a:spcPct val="150000"/>
              </a:lnSpc>
              <a:buFont typeface="Arial" panose="020B0604020202020204" pitchFamily="34" charset="0"/>
              <a:buChar char="•"/>
            </a:pPr>
            <a:r>
              <a:rPr lang="vi-VN" sz="1400" b="1">
                <a:solidFill>
                  <a:schemeClr val="bg1"/>
                </a:solidFill>
              </a:rPr>
              <a:t>Overload Delimiter</a:t>
            </a:r>
            <a:r>
              <a:rPr lang="vi-VN" sz="1400">
                <a:solidFill>
                  <a:schemeClr val="bg1"/>
                </a:solidFill>
              </a:rPr>
              <a:t>: </a:t>
            </a:r>
            <a:r>
              <a:rPr lang="vi-VN" sz="1400" b="1">
                <a:solidFill>
                  <a:schemeClr val="bg1"/>
                </a:solidFill>
              </a:rPr>
              <a:t>8 recessive bits</a:t>
            </a:r>
            <a:r>
              <a:rPr lang="vi-VN" sz="1400">
                <a:solidFill>
                  <a:schemeClr val="bg1"/>
                </a:solidFill>
              </a:rPr>
              <a:t> (11111111)</a:t>
            </a:r>
          </a:p>
          <a:p>
            <a:pPr>
              <a:lnSpc>
                <a:spcPct val="150000"/>
              </a:lnSpc>
            </a:pPr>
            <a:r>
              <a:rPr lang="vi-VN" sz="1400">
                <a:solidFill>
                  <a:schemeClr val="bg1"/>
                </a:solidFill>
                <a:effectLst/>
              </a:rPr>
              <a:t>→ Tổng cộng cũng là </a:t>
            </a:r>
            <a:r>
              <a:rPr lang="vi-VN" sz="1400" b="1">
                <a:solidFill>
                  <a:schemeClr val="bg1"/>
                </a:solidFill>
                <a:effectLst/>
              </a:rPr>
              <a:t>6 dominant + 8 recessive</a:t>
            </a:r>
            <a:r>
              <a:rPr lang="vi-VN" sz="1400">
                <a:solidFill>
                  <a:schemeClr val="bg1"/>
                </a:solidFill>
                <a:effectLst/>
              </a:rPr>
              <a:t>, giống như Error Frame ở trạng thái Error Active.</a:t>
            </a:r>
          </a:p>
          <a:p>
            <a:pPr>
              <a:lnSpc>
                <a:spcPct val="150000"/>
              </a:lnSpc>
            </a:pPr>
            <a:r>
              <a:rPr lang="vi-VN" sz="1400" b="1">
                <a:solidFill>
                  <a:schemeClr val="bg1"/>
                </a:solidFill>
                <a:effectLst/>
              </a:rPr>
              <a:t>Đặc điểm nổi bật</a:t>
            </a:r>
            <a:r>
              <a:rPr lang="vi-VN" sz="1400">
                <a:solidFill>
                  <a:schemeClr val="bg1"/>
                </a:solidFill>
                <a:effectLst/>
              </a:rPr>
              <a:t>:</a:t>
            </a:r>
          </a:p>
          <a:p>
            <a:pPr marL="285750" indent="-285750">
              <a:lnSpc>
                <a:spcPct val="150000"/>
              </a:lnSpc>
              <a:buFont typeface="Arial" panose="020B0604020202020204" pitchFamily="34" charset="0"/>
              <a:buChar char="•"/>
            </a:pPr>
            <a:r>
              <a:rPr lang="vi-VN" sz="1400">
                <a:solidFill>
                  <a:schemeClr val="bg1"/>
                </a:solidFill>
              </a:rPr>
              <a:t>Overload Flag </a:t>
            </a:r>
            <a:r>
              <a:rPr lang="vi-VN" sz="1400" b="1">
                <a:solidFill>
                  <a:schemeClr val="bg1"/>
                </a:solidFill>
              </a:rPr>
              <a:t>không áp dụng Bit Stuffing</a:t>
            </a:r>
            <a:r>
              <a:rPr lang="vi-VN" sz="1400">
                <a:solidFill>
                  <a:schemeClr val="bg1"/>
                </a:solidFill>
              </a:rPr>
              <a:t> (cố ý vi phạm để các node khác dễ phát hiện).</a:t>
            </a:r>
          </a:p>
          <a:p>
            <a:pPr marL="285750" indent="-285750">
              <a:lnSpc>
                <a:spcPct val="150000"/>
              </a:lnSpc>
              <a:buFont typeface="Arial" panose="020B0604020202020204" pitchFamily="34" charset="0"/>
              <a:buChar char="•"/>
            </a:pPr>
            <a:r>
              <a:rPr lang="vi-VN" sz="1400">
                <a:solidFill>
                  <a:schemeClr val="bg1"/>
                </a:solidFill>
              </a:rPr>
              <a:t>Không làm tăng </a:t>
            </a:r>
            <a:r>
              <a:rPr lang="vi-VN" sz="1400" b="1">
                <a:solidFill>
                  <a:schemeClr val="bg1"/>
                </a:solidFill>
              </a:rPr>
              <a:t>Error Counter</a:t>
            </a:r>
            <a:r>
              <a:rPr lang="vi-VN" sz="1400">
                <a:solidFill>
                  <a:schemeClr val="bg1"/>
                </a:solidFill>
              </a:rPr>
              <a:t> (TEC/REC) – đây là điểm khác lớn nhất so với Error Frame.</a:t>
            </a:r>
          </a:p>
          <a:p>
            <a:pPr marL="285750" indent="-285750">
              <a:lnSpc>
                <a:spcPct val="150000"/>
              </a:lnSpc>
              <a:buFont typeface="Arial" panose="020B0604020202020204" pitchFamily="34" charset="0"/>
              <a:buChar char="•"/>
            </a:pPr>
            <a:r>
              <a:rPr lang="vi-VN" sz="1400">
                <a:solidFill>
                  <a:schemeClr val="bg1"/>
                </a:solidFill>
              </a:rPr>
              <a:t>Có thể xuất hiện </a:t>
            </a:r>
            <a:r>
              <a:rPr lang="vi-VN" sz="1400" b="1">
                <a:solidFill>
                  <a:schemeClr val="bg1"/>
                </a:solidFill>
              </a:rPr>
              <a:t>nhiều Overload Frame liên tiếp</a:t>
            </a:r>
            <a:r>
              <a:rPr lang="vi-VN" sz="1400">
                <a:solidFill>
                  <a:schemeClr val="bg1"/>
                </a:solidFill>
              </a:rPr>
              <a:t> (không có IFS giữa chúng).</a:t>
            </a:r>
          </a:p>
        </p:txBody>
      </p:sp>
      <p:pic>
        <p:nvPicPr>
          <p:cNvPr id="3076" name="Picture 4" descr="Wiki - CAN">
            <a:extLst>
              <a:ext uri="{FF2B5EF4-FFF2-40B4-BE49-F238E27FC236}">
                <a16:creationId xmlns:a16="http://schemas.microsoft.com/office/drawing/2014/main" id="{7D0E4B9F-CBA9-D724-6820-64EAF92DC5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8618" y="4336318"/>
            <a:ext cx="7076610" cy="2328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66649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194292"/>
            <a:ext cx="11167872" cy="3053208"/>
          </a:xfrm>
          <a:prstGeom prst="rect">
            <a:avLst/>
          </a:prstGeom>
        </p:spPr>
        <p:txBody>
          <a:bodyPr wrap="square">
            <a:spAutoFit/>
          </a:bodyPr>
          <a:lstStyle/>
          <a:p>
            <a:pPr>
              <a:lnSpc>
                <a:spcPct val="150000"/>
              </a:lnSpc>
            </a:pPr>
            <a:r>
              <a:rPr lang="vi-VN" b="1">
                <a:solidFill>
                  <a:schemeClr val="bg1"/>
                </a:solidFill>
              </a:rPr>
              <a:t>Cấu trúc của Overload Frame</a:t>
            </a:r>
          </a:p>
          <a:p>
            <a:pPr>
              <a:lnSpc>
                <a:spcPct val="150000"/>
              </a:lnSpc>
            </a:pPr>
            <a:r>
              <a:rPr lang="vi-VN" sz="1400">
                <a:solidFill>
                  <a:schemeClr val="bg1"/>
                </a:solidFill>
                <a:effectLst/>
              </a:rPr>
              <a:t>Overload Frame </a:t>
            </a:r>
            <a:r>
              <a:rPr lang="vi-VN" sz="1400" b="1">
                <a:solidFill>
                  <a:schemeClr val="bg1"/>
                </a:solidFill>
                <a:effectLst/>
              </a:rPr>
              <a:t>gần giống hệt</a:t>
            </a:r>
            <a:r>
              <a:rPr lang="vi-VN" sz="1400">
                <a:solidFill>
                  <a:schemeClr val="bg1"/>
                </a:solidFill>
                <a:effectLst/>
              </a:rPr>
              <a:t> Active Error Frame về hình dạng:</a:t>
            </a:r>
          </a:p>
          <a:p>
            <a:pPr marL="285750" indent="-285750">
              <a:lnSpc>
                <a:spcPct val="150000"/>
              </a:lnSpc>
              <a:buFont typeface="Arial" panose="020B0604020202020204" pitchFamily="34" charset="0"/>
              <a:buChar char="•"/>
            </a:pPr>
            <a:r>
              <a:rPr lang="vi-VN" sz="1400" b="1">
                <a:solidFill>
                  <a:schemeClr val="bg1"/>
                </a:solidFill>
              </a:rPr>
              <a:t>Overload Flag</a:t>
            </a:r>
            <a:r>
              <a:rPr lang="vi-VN" sz="1400">
                <a:solidFill>
                  <a:schemeClr val="bg1"/>
                </a:solidFill>
              </a:rPr>
              <a:t>: </a:t>
            </a:r>
            <a:r>
              <a:rPr lang="vi-VN" sz="1400" b="1">
                <a:solidFill>
                  <a:schemeClr val="bg1"/>
                </a:solidFill>
              </a:rPr>
              <a:t>6 dominant bits</a:t>
            </a:r>
            <a:r>
              <a:rPr lang="vi-VN" sz="1400">
                <a:solidFill>
                  <a:schemeClr val="bg1"/>
                </a:solidFill>
              </a:rPr>
              <a:t> (000000)</a:t>
            </a:r>
          </a:p>
          <a:p>
            <a:pPr marL="285750" indent="-285750">
              <a:lnSpc>
                <a:spcPct val="150000"/>
              </a:lnSpc>
              <a:buFont typeface="Arial" panose="020B0604020202020204" pitchFamily="34" charset="0"/>
              <a:buChar char="•"/>
            </a:pPr>
            <a:r>
              <a:rPr lang="vi-VN" sz="1400" b="1">
                <a:solidFill>
                  <a:schemeClr val="bg1"/>
                </a:solidFill>
              </a:rPr>
              <a:t>Overload Delimiter</a:t>
            </a:r>
            <a:r>
              <a:rPr lang="vi-VN" sz="1400">
                <a:solidFill>
                  <a:schemeClr val="bg1"/>
                </a:solidFill>
              </a:rPr>
              <a:t>: </a:t>
            </a:r>
            <a:r>
              <a:rPr lang="vi-VN" sz="1400" b="1">
                <a:solidFill>
                  <a:schemeClr val="bg1"/>
                </a:solidFill>
              </a:rPr>
              <a:t>8 recessive bits</a:t>
            </a:r>
            <a:r>
              <a:rPr lang="vi-VN" sz="1400">
                <a:solidFill>
                  <a:schemeClr val="bg1"/>
                </a:solidFill>
              </a:rPr>
              <a:t> (11111111)</a:t>
            </a:r>
          </a:p>
          <a:p>
            <a:pPr>
              <a:lnSpc>
                <a:spcPct val="150000"/>
              </a:lnSpc>
            </a:pPr>
            <a:r>
              <a:rPr lang="vi-VN" sz="1400">
                <a:solidFill>
                  <a:schemeClr val="bg1"/>
                </a:solidFill>
                <a:effectLst/>
              </a:rPr>
              <a:t>→ Tổng cộng cũng là </a:t>
            </a:r>
            <a:r>
              <a:rPr lang="vi-VN" sz="1400" b="1">
                <a:solidFill>
                  <a:schemeClr val="bg1"/>
                </a:solidFill>
                <a:effectLst/>
              </a:rPr>
              <a:t>6 dominant + 8 recessive</a:t>
            </a:r>
            <a:r>
              <a:rPr lang="vi-VN" sz="1400">
                <a:solidFill>
                  <a:schemeClr val="bg1"/>
                </a:solidFill>
                <a:effectLst/>
              </a:rPr>
              <a:t>, giống như Error Frame ở trạng thái Error Active.</a:t>
            </a:r>
          </a:p>
          <a:p>
            <a:pPr>
              <a:lnSpc>
                <a:spcPct val="150000"/>
              </a:lnSpc>
            </a:pPr>
            <a:r>
              <a:rPr lang="vi-VN" sz="1400" b="1">
                <a:solidFill>
                  <a:schemeClr val="bg1"/>
                </a:solidFill>
                <a:effectLst/>
              </a:rPr>
              <a:t>Đặc điểm nổi bật</a:t>
            </a:r>
            <a:r>
              <a:rPr lang="vi-VN" sz="1400">
                <a:solidFill>
                  <a:schemeClr val="bg1"/>
                </a:solidFill>
                <a:effectLst/>
              </a:rPr>
              <a:t>:</a:t>
            </a:r>
          </a:p>
          <a:p>
            <a:pPr marL="285750" indent="-285750">
              <a:lnSpc>
                <a:spcPct val="150000"/>
              </a:lnSpc>
              <a:buFont typeface="Arial" panose="020B0604020202020204" pitchFamily="34" charset="0"/>
              <a:buChar char="•"/>
            </a:pPr>
            <a:r>
              <a:rPr lang="vi-VN" sz="1400">
                <a:solidFill>
                  <a:schemeClr val="bg1"/>
                </a:solidFill>
              </a:rPr>
              <a:t>Overload Flag </a:t>
            </a:r>
            <a:r>
              <a:rPr lang="vi-VN" sz="1400" b="1">
                <a:solidFill>
                  <a:schemeClr val="bg1"/>
                </a:solidFill>
              </a:rPr>
              <a:t>không áp dụng Bit Stuffing</a:t>
            </a:r>
            <a:r>
              <a:rPr lang="vi-VN" sz="1400">
                <a:solidFill>
                  <a:schemeClr val="bg1"/>
                </a:solidFill>
              </a:rPr>
              <a:t> (cố ý vi phạm để các node khác dễ phát hiện).</a:t>
            </a:r>
          </a:p>
          <a:p>
            <a:pPr marL="285750" indent="-285750">
              <a:lnSpc>
                <a:spcPct val="150000"/>
              </a:lnSpc>
              <a:buFont typeface="Arial" panose="020B0604020202020204" pitchFamily="34" charset="0"/>
              <a:buChar char="•"/>
            </a:pPr>
            <a:r>
              <a:rPr lang="vi-VN" sz="1400">
                <a:solidFill>
                  <a:schemeClr val="bg1"/>
                </a:solidFill>
              </a:rPr>
              <a:t>Không làm tăng </a:t>
            </a:r>
            <a:r>
              <a:rPr lang="vi-VN" sz="1400" b="1">
                <a:solidFill>
                  <a:schemeClr val="bg1"/>
                </a:solidFill>
              </a:rPr>
              <a:t>Error Counter</a:t>
            </a:r>
            <a:r>
              <a:rPr lang="vi-VN" sz="1400">
                <a:solidFill>
                  <a:schemeClr val="bg1"/>
                </a:solidFill>
              </a:rPr>
              <a:t> (TEC/REC) – đây là điểm khác lớn nhất so với Error Frame.</a:t>
            </a:r>
          </a:p>
          <a:p>
            <a:pPr marL="285750" indent="-285750">
              <a:lnSpc>
                <a:spcPct val="150000"/>
              </a:lnSpc>
              <a:buFont typeface="Arial" panose="020B0604020202020204" pitchFamily="34" charset="0"/>
              <a:buChar char="•"/>
            </a:pPr>
            <a:r>
              <a:rPr lang="vi-VN" sz="1400">
                <a:solidFill>
                  <a:schemeClr val="bg1"/>
                </a:solidFill>
              </a:rPr>
              <a:t>Có thể xuất hiện </a:t>
            </a:r>
            <a:r>
              <a:rPr lang="vi-VN" sz="1400" b="1">
                <a:solidFill>
                  <a:schemeClr val="bg1"/>
                </a:solidFill>
              </a:rPr>
              <a:t>nhiều Overload Frame liên tiếp</a:t>
            </a:r>
            <a:r>
              <a:rPr lang="vi-VN" sz="1400">
                <a:solidFill>
                  <a:schemeClr val="bg1"/>
                </a:solidFill>
              </a:rPr>
              <a:t> (không có IFS giữa chúng).</a:t>
            </a:r>
          </a:p>
        </p:txBody>
      </p:sp>
      <p:pic>
        <p:nvPicPr>
          <p:cNvPr id="3076" name="Picture 4" descr="Wiki - CAN">
            <a:extLst>
              <a:ext uri="{FF2B5EF4-FFF2-40B4-BE49-F238E27FC236}">
                <a16:creationId xmlns:a16="http://schemas.microsoft.com/office/drawing/2014/main" id="{7D0E4B9F-CBA9-D724-6820-64EAF92DC5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8618" y="4336318"/>
            <a:ext cx="7076610" cy="2328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9366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194292"/>
            <a:ext cx="11167872" cy="5027017"/>
          </a:xfrm>
          <a:prstGeom prst="rect">
            <a:avLst/>
          </a:prstGeom>
        </p:spPr>
        <p:txBody>
          <a:bodyPr wrap="square">
            <a:spAutoFit/>
          </a:bodyPr>
          <a:lstStyle/>
          <a:p>
            <a:pPr>
              <a:lnSpc>
                <a:spcPct val="150000"/>
              </a:lnSpc>
            </a:pPr>
            <a:r>
              <a:rPr lang="vi-VN" b="1">
                <a:solidFill>
                  <a:schemeClr val="bg1"/>
                </a:solidFill>
              </a:rPr>
              <a:t>Overload Frame hoạt động như thế nào?</a:t>
            </a:r>
          </a:p>
          <a:p>
            <a:pPr>
              <a:lnSpc>
                <a:spcPct val="150000"/>
              </a:lnSpc>
            </a:pPr>
            <a:r>
              <a:rPr lang="vi-VN">
                <a:solidFill>
                  <a:schemeClr val="bg1"/>
                </a:solidFill>
                <a:effectLst/>
              </a:rPr>
              <a:t>Overload Frame chỉ được gửi trong </a:t>
            </a:r>
            <a:r>
              <a:rPr lang="vi-VN" b="1">
                <a:solidFill>
                  <a:schemeClr val="bg1"/>
                </a:solidFill>
                <a:effectLst/>
              </a:rPr>
              <a:t>2 trường hợp chính</a:t>
            </a:r>
            <a:r>
              <a:rPr lang="vi-VN">
                <a:solidFill>
                  <a:schemeClr val="bg1"/>
                </a:solidFill>
                <a:effectLst/>
              </a:rPr>
              <a:t> (theo chuẩn ISO 11898):</a:t>
            </a:r>
          </a:p>
          <a:p>
            <a:pPr>
              <a:lnSpc>
                <a:spcPct val="150000"/>
              </a:lnSpc>
              <a:buFont typeface="+mj-lt"/>
              <a:buAutoNum type="arabicPeriod"/>
            </a:pPr>
            <a:r>
              <a:rPr lang="vi-VN" b="1">
                <a:solidFill>
                  <a:schemeClr val="bg1"/>
                </a:solidFill>
              </a:rPr>
              <a:t>Internal Overload</a:t>
            </a:r>
            <a:r>
              <a:rPr lang="vi-VN">
                <a:solidFill>
                  <a:schemeClr val="bg1"/>
                </a:solidFill>
              </a:rPr>
              <a:t>:</a:t>
            </a:r>
          </a:p>
          <a:p>
            <a:pPr marL="742950" lvl="1" indent="-285750">
              <a:lnSpc>
                <a:spcPct val="150000"/>
              </a:lnSpc>
              <a:buFont typeface="+mj-lt"/>
              <a:buAutoNum type="arabicPeriod"/>
            </a:pPr>
            <a:r>
              <a:rPr lang="vi-VN">
                <a:solidFill>
                  <a:schemeClr val="bg1"/>
                </a:solidFill>
              </a:rPr>
              <a:t>Node nhận quá bận, buffer chưa kịp xử lý.</a:t>
            </a:r>
          </a:p>
          <a:p>
            <a:pPr marL="742950" lvl="1" indent="-285750">
              <a:lnSpc>
                <a:spcPct val="150000"/>
              </a:lnSpc>
              <a:buFont typeface="+mj-lt"/>
              <a:buAutoNum type="arabicPeriod"/>
            </a:pPr>
            <a:r>
              <a:rPr lang="vi-VN">
                <a:solidFill>
                  <a:schemeClr val="bg1"/>
                </a:solidFill>
              </a:rPr>
              <a:t>Node cần thêm thời gian trước khi nhận frame tiếp theo.</a:t>
            </a:r>
          </a:p>
          <a:p>
            <a:pPr>
              <a:lnSpc>
                <a:spcPct val="150000"/>
              </a:lnSpc>
              <a:buFont typeface="+mj-lt"/>
              <a:buAutoNum type="arabicPeriod"/>
            </a:pPr>
            <a:r>
              <a:rPr lang="vi-VN" b="1">
                <a:solidFill>
                  <a:schemeClr val="bg1"/>
                </a:solidFill>
              </a:rPr>
              <a:t>Reactive Overload</a:t>
            </a:r>
            <a:r>
              <a:rPr lang="vi-VN">
                <a:solidFill>
                  <a:schemeClr val="bg1"/>
                </a:solidFill>
              </a:rPr>
              <a:t>:</a:t>
            </a:r>
          </a:p>
          <a:p>
            <a:pPr marL="742950" lvl="1" indent="-285750">
              <a:lnSpc>
                <a:spcPct val="150000"/>
              </a:lnSpc>
              <a:buFont typeface="+mj-lt"/>
              <a:buAutoNum type="arabicPeriod"/>
            </a:pPr>
            <a:r>
              <a:rPr lang="vi-VN">
                <a:solidFill>
                  <a:schemeClr val="bg1"/>
                </a:solidFill>
              </a:rPr>
              <a:t>Phát hiện </a:t>
            </a:r>
            <a:r>
              <a:rPr lang="vi-VN" b="1">
                <a:solidFill>
                  <a:schemeClr val="bg1"/>
                </a:solidFill>
              </a:rPr>
              <a:t>dominant bit</a:t>
            </a:r>
            <a:r>
              <a:rPr lang="vi-VN">
                <a:solidFill>
                  <a:schemeClr val="bg1"/>
                </a:solidFill>
              </a:rPr>
              <a:t> trong </a:t>
            </a:r>
            <a:r>
              <a:rPr lang="vi-VN" b="1">
                <a:solidFill>
                  <a:schemeClr val="bg1"/>
                </a:solidFill>
              </a:rPr>
              <a:t>2 bit đầu tiên của Intermission (IFS)</a:t>
            </a:r>
            <a:r>
              <a:rPr lang="vi-VN">
                <a:solidFill>
                  <a:schemeClr val="bg1"/>
                </a:solidFill>
              </a:rPr>
              <a:t>.</a:t>
            </a:r>
          </a:p>
          <a:p>
            <a:pPr marL="742950" lvl="1" indent="-285750">
              <a:lnSpc>
                <a:spcPct val="150000"/>
              </a:lnSpc>
              <a:buFont typeface="+mj-lt"/>
              <a:buAutoNum type="arabicPeriod"/>
            </a:pPr>
            <a:r>
              <a:rPr lang="vi-VN">
                <a:solidFill>
                  <a:schemeClr val="bg1"/>
                </a:solidFill>
              </a:rPr>
              <a:t>Phát hiện dominant bit ở </a:t>
            </a:r>
            <a:r>
              <a:rPr lang="vi-VN" b="1">
                <a:solidFill>
                  <a:schemeClr val="bg1"/>
                </a:solidFill>
              </a:rPr>
              <a:t>bit cuối cùng của EOF</a:t>
            </a:r>
            <a:r>
              <a:rPr lang="vi-VN">
                <a:solidFill>
                  <a:schemeClr val="bg1"/>
                </a:solidFill>
              </a:rPr>
              <a:t> (đối với receiver).</a:t>
            </a:r>
          </a:p>
          <a:p>
            <a:pPr marL="742950" lvl="1" indent="-285750">
              <a:lnSpc>
                <a:spcPct val="150000"/>
              </a:lnSpc>
              <a:buFont typeface="+mj-lt"/>
              <a:buAutoNum type="arabicPeriod"/>
            </a:pPr>
            <a:r>
              <a:rPr lang="vi-VN">
                <a:solidFill>
                  <a:schemeClr val="bg1"/>
                </a:solidFill>
              </a:rPr>
              <a:t>Phát hiện dominant bit ở </a:t>
            </a:r>
            <a:r>
              <a:rPr lang="vi-VN" b="1">
                <a:solidFill>
                  <a:schemeClr val="bg1"/>
                </a:solidFill>
              </a:rPr>
              <a:t>bit cuối cùng của Error Delimiter hoặc Overload Delimiter</a:t>
            </a:r>
            <a:r>
              <a:rPr lang="vi-VN">
                <a:solidFill>
                  <a:schemeClr val="bg1"/>
                </a:solidFill>
              </a:rPr>
              <a:t>.</a:t>
            </a:r>
          </a:p>
          <a:p>
            <a:pPr>
              <a:lnSpc>
                <a:spcPct val="150000"/>
              </a:lnSpc>
            </a:pPr>
            <a:r>
              <a:rPr lang="vi-VN">
                <a:solidFill>
                  <a:schemeClr val="bg1"/>
                </a:solidFill>
                <a:effectLst/>
              </a:rPr>
              <a:t>Khi một node gửi Overload Flag → các node khác cũng sẽ gửi theo (superposition) → bus bị kéo xuống dominant trong ít nhất 6 bit → tạo độ trễ.</a:t>
            </a:r>
          </a:p>
          <a:p>
            <a:pPr>
              <a:lnSpc>
                <a:spcPct val="150000"/>
              </a:lnSpc>
            </a:pPr>
            <a:r>
              <a:rPr lang="vi-VN">
                <a:solidFill>
                  <a:schemeClr val="bg1"/>
                </a:solidFill>
                <a:effectLst/>
              </a:rPr>
              <a:t>Sau Overload Frame là </a:t>
            </a:r>
            <a:r>
              <a:rPr lang="vi-VN" b="1">
                <a:solidFill>
                  <a:schemeClr val="bg1"/>
                </a:solidFill>
                <a:effectLst/>
              </a:rPr>
              <a:t>Overload Delimiter (8 recessive)</a:t>
            </a:r>
            <a:r>
              <a:rPr lang="vi-VN">
                <a:solidFill>
                  <a:schemeClr val="bg1"/>
                </a:solidFill>
                <a:effectLst/>
              </a:rPr>
              <a:t>, sau đó mới tiếp tục IFS và Bus Idle.</a:t>
            </a:r>
          </a:p>
        </p:txBody>
      </p:sp>
    </p:spTree>
    <p:extLst>
      <p:ext uri="{BB962C8B-B14F-4D97-AF65-F5344CB8AC3E}">
        <p14:creationId xmlns:p14="http://schemas.microsoft.com/office/powerpoint/2010/main" val="37808185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194292"/>
            <a:ext cx="11167872" cy="2949525"/>
          </a:xfrm>
          <a:prstGeom prst="rect">
            <a:avLst/>
          </a:prstGeom>
        </p:spPr>
        <p:txBody>
          <a:bodyPr wrap="square">
            <a:spAutoFit/>
          </a:bodyPr>
          <a:lstStyle/>
          <a:p>
            <a:pPr>
              <a:lnSpc>
                <a:spcPct val="150000"/>
              </a:lnSpc>
            </a:pPr>
            <a:r>
              <a:rPr lang="vi-VN" b="1">
                <a:solidFill>
                  <a:schemeClr val="bg1"/>
                </a:solidFill>
              </a:rPr>
              <a:t>Tại sao phát hiện dominant bit ở những vị trí đó KHÔNG bị coi là Bit Error, mà lại kích hoạt Overload Frame?</a:t>
            </a:r>
            <a:endParaRPr lang="en-US" b="1">
              <a:solidFill>
                <a:schemeClr val="bg1"/>
              </a:solidFill>
            </a:endParaRPr>
          </a:p>
          <a:p>
            <a:pPr>
              <a:lnSpc>
                <a:spcPct val="150000"/>
              </a:lnSpc>
            </a:pPr>
            <a:endParaRPr lang="vi-VN" b="1">
              <a:solidFill>
                <a:schemeClr val="bg1"/>
              </a:solidFill>
            </a:endParaRPr>
          </a:p>
          <a:p>
            <a:pPr>
              <a:lnSpc>
                <a:spcPct val="150000"/>
              </a:lnSpc>
            </a:pPr>
            <a:r>
              <a:rPr lang="vi-VN" b="1">
                <a:solidFill>
                  <a:schemeClr val="bg1"/>
                </a:solidFill>
                <a:effectLst/>
              </a:rPr>
              <a:t>Lý do cốt lõi</a:t>
            </a:r>
            <a:r>
              <a:rPr lang="vi-VN">
                <a:solidFill>
                  <a:schemeClr val="bg1"/>
                </a:solidFill>
                <a:effectLst/>
              </a:rPr>
              <a:t>: CAN protocol đã </a:t>
            </a:r>
            <a:r>
              <a:rPr lang="vi-VN" b="1">
                <a:solidFill>
                  <a:schemeClr val="bg1"/>
                </a:solidFill>
                <a:effectLst/>
              </a:rPr>
              <a:t>cố ý định nghĩa ngoại lệ</a:t>
            </a:r>
            <a:r>
              <a:rPr lang="vi-VN">
                <a:solidFill>
                  <a:schemeClr val="bg1"/>
                </a:solidFill>
                <a:effectLst/>
              </a:rPr>
              <a:t> cho một số vị trí đặc biệt ở </a:t>
            </a:r>
            <a:r>
              <a:rPr lang="vi-VN" b="1">
                <a:solidFill>
                  <a:schemeClr val="bg1"/>
                </a:solidFill>
                <a:effectLst/>
              </a:rPr>
              <a:t>cuối frame</a:t>
            </a:r>
            <a:r>
              <a:rPr lang="vi-VN">
                <a:solidFill>
                  <a:schemeClr val="bg1"/>
                </a:solidFill>
                <a:effectLst/>
              </a:rPr>
              <a:t> và </a:t>
            </a:r>
            <a:r>
              <a:rPr lang="vi-VN" b="1">
                <a:solidFill>
                  <a:schemeClr val="bg1"/>
                </a:solidFill>
                <a:effectLst/>
              </a:rPr>
              <a:t>khoảng cách giữa các frame</a:t>
            </a:r>
            <a:r>
              <a:rPr lang="vi-VN">
                <a:solidFill>
                  <a:schemeClr val="bg1"/>
                </a:solidFill>
                <a:effectLst/>
              </a:rPr>
              <a:t>. Những vị trí này </a:t>
            </a:r>
            <a:r>
              <a:rPr lang="vi-VN" b="1">
                <a:solidFill>
                  <a:schemeClr val="bg1"/>
                </a:solidFill>
                <a:effectLst/>
              </a:rPr>
              <a:t>không áp dụng quy tắc Bit Error</a:t>
            </a:r>
            <a:r>
              <a:rPr lang="vi-VN">
                <a:solidFill>
                  <a:schemeClr val="bg1"/>
                </a:solidFill>
                <a:effectLst/>
              </a:rPr>
              <a:t> thông thường, mà được xử lý riêng để hỗ trợ cơ chế </a:t>
            </a:r>
            <a:r>
              <a:rPr lang="vi-VN" b="1">
                <a:solidFill>
                  <a:schemeClr val="bg1"/>
                </a:solidFill>
                <a:effectLst/>
              </a:rPr>
              <a:t>Overload</a:t>
            </a:r>
            <a:r>
              <a:rPr lang="vi-VN">
                <a:solidFill>
                  <a:schemeClr val="bg1"/>
                </a:solidFill>
                <a:effectLst/>
              </a:rPr>
              <a:t> (yêu cầu delay) và tránh nhầm lẫn giữa lỗi thực sự với tình trạng “bus cần nghỉ”.</a:t>
            </a:r>
          </a:p>
        </p:txBody>
      </p:sp>
    </p:spTree>
    <p:extLst>
      <p:ext uri="{BB962C8B-B14F-4D97-AF65-F5344CB8AC3E}">
        <p14:creationId xmlns:p14="http://schemas.microsoft.com/office/powerpoint/2010/main" val="15446884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194292"/>
            <a:ext cx="11167872" cy="4992392"/>
          </a:xfrm>
          <a:prstGeom prst="rect">
            <a:avLst/>
          </a:prstGeom>
        </p:spPr>
        <p:txBody>
          <a:bodyPr wrap="square">
            <a:spAutoFit/>
          </a:bodyPr>
          <a:lstStyle/>
          <a:p>
            <a:pPr>
              <a:lnSpc>
                <a:spcPct val="200000"/>
              </a:lnSpc>
            </a:pPr>
            <a:r>
              <a:rPr lang="vi-VN" b="1">
                <a:solidFill>
                  <a:schemeClr val="bg1"/>
                </a:solidFill>
              </a:rPr>
              <a:t>Phân tích từng trường hợp :</a:t>
            </a:r>
          </a:p>
          <a:p>
            <a:pPr>
              <a:lnSpc>
                <a:spcPct val="200000"/>
              </a:lnSpc>
              <a:buFont typeface="+mj-lt"/>
              <a:buAutoNum type="arabicPeriod"/>
            </a:pPr>
            <a:r>
              <a:rPr lang="vi-VN" b="1">
                <a:solidFill>
                  <a:schemeClr val="bg1"/>
                </a:solidFill>
              </a:rPr>
              <a:t>Phát hiện dominant bit trong 2 bit đầu tiên của Intermission (IFS)</a:t>
            </a:r>
            <a:endParaRPr lang="vi-VN">
              <a:solidFill>
                <a:schemeClr val="bg1"/>
              </a:solidFill>
            </a:endParaRPr>
          </a:p>
          <a:p>
            <a:pPr marL="742950" lvl="1" indent="-285750">
              <a:lnSpc>
                <a:spcPct val="200000"/>
              </a:lnSpc>
              <a:buFont typeface="+mj-lt"/>
              <a:buAutoNum type="arabicPeriod"/>
            </a:pPr>
            <a:r>
              <a:rPr lang="vi-VN">
                <a:solidFill>
                  <a:schemeClr val="bg1"/>
                </a:solidFill>
              </a:rPr>
              <a:t>IFS gồm </a:t>
            </a:r>
            <a:r>
              <a:rPr lang="vi-VN" b="1">
                <a:solidFill>
                  <a:schemeClr val="bg1"/>
                </a:solidFill>
              </a:rPr>
              <a:t>3 bit recessive</a:t>
            </a:r>
            <a:r>
              <a:rPr lang="vi-VN">
                <a:solidFill>
                  <a:schemeClr val="bg1"/>
                </a:solidFill>
              </a:rPr>
              <a:t> (Intermission).</a:t>
            </a:r>
          </a:p>
          <a:p>
            <a:pPr marL="742950" lvl="1" indent="-285750">
              <a:lnSpc>
                <a:spcPct val="200000"/>
              </a:lnSpc>
              <a:buFont typeface="+mj-lt"/>
              <a:buAutoNum type="arabicPeriod"/>
            </a:pPr>
            <a:r>
              <a:rPr lang="vi-VN">
                <a:solidFill>
                  <a:schemeClr val="bg1"/>
                </a:solidFill>
              </a:rPr>
              <a:t>Nếu có dominant bit xuất hiện ở </a:t>
            </a:r>
            <a:r>
              <a:rPr lang="vi-VN" b="1">
                <a:solidFill>
                  <a:schemeClr val="bg1"/>
                </a:solidFill>
              </a:rPr>
              <a:t>bit 1 hoặc bit 2</a:t>
            </a:r>
            <a:r>
              <a:rPr lang="vi-VN">
                <a:solidFill>
                  <a:schemeClr val="bg1"/>
                </a:solidFill>
              </a:rPr>
              <a:t> của IFS → </a:t>
            </a:r>
            <a:r>
              <a:rPr lang="vi-VN" b="1">
                <a:solidFill>
                  <a:schemeClr val="bg1"/>
                </a:solidFill>
              </a:rPr>
              <a:t>Overload Frame</a:t>
            </a:r>
            <a:r>
              <a:rPr lang="vi-VN">
                <a:solidFill>
                  <a:schemeClr val="bg1"/>
                </a:solidFill>
              </a:rPr>
              <a:t> được kích hoạt (bắt đầu từ bit tiếp theo).</a:t>
            </a:r>
          </a:p>
          <a:p>
            <a:pPr marL="742950" lvl="1" indent="-285750">
              <a:lnSpc>
                <a:spcPct val="200000"/>
              </a:lnSpc>
              <a:buFont typeface="+mj-lt"/>
              <a:buAutoNum type="arabicPeriod"/>
            </a:pPr>
            <a:r>
              <a:rPr lang="vi-VN" b="1">
                <a:solidFill>
                  <a:schemeClr val="bg1"/>
                </a:solidFill>
              </a:rPr>
              <a:t>Tại sao không phải Bit Error?</a:t>
            </a:r>
            <a:r>
              <a:rPr lang="vi-VN">
                <a:solidFill>
                  <a:schemeClr val="bg1"/>
                </a:solidFill>
              </a:rPr>
              <a:t> Vì đây là khoảng </a:t>
            </a:r>
            <a:r>
              <a:rPr lang="vi-VN" b="1">
                <a:solidFill>
                  <a:schemeClr val="bg1"/>
                </a:solidFill>
              </a:rPr>
              <a:t>sau khi frame đã kết thúc</a:t>
            </a:r>
            <a:r>
              <a:rPr lang="vi-VN">
                <a:solidFill>
                  <a:schemeClr val="bg1"/>
                </a:solidFill>
              </a:rPr>
              <a:t> (sau EOF). Lúc này không còn “đang truyền bit” của một frame nào nữa. Dominant bit ở đây được hiểu là </a:t>
            </a:r>
            <a:r>
              <a:rPr lang="vi-VN" b="1">
                <a:solidFill>
                  <a:schemeClr val="bg1"/>
                </a:solidFill>
              </a:rPr>
              <a:t>yêu cầu overload</a:t>
            </a:r>
            <a:r>
              <a:rPr lang="vi-VN">
                <a:solidFill>
                  <a:schemeClr val="bg1"/>
                </a:solidFill>
              </a:rPr>
              <a:t> (có thể do nhiễu hoặc do một node muốn delay), chứ không phải lỗi bit trong quá trình truyền dữ liệu.</a:t>
            </a:r>
          </a:p>
        </p:txBody>
      </p:sp>
    </p:spTree>
    <p:extLst>
      <p:ext uri="{BB962C8B-B14F-4D97-AF65-F5344CB8AC3E}">
        <p14:creationId xmlns:p14="http://schemas.microsoft.com/office/powerpoint/2010/main" val="2060900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194292"/>
            <a:ext cx="11167872" cy="4992392"/>
          </a:xfrm>
          <a:prstGeom prst="rect">
            <a:avLst/>
          </a:prstGeom>
        </p:spPr>
        <p:txBody>
          <a:bodyPr wrap="square">
            <a:spAutoFit/>
          </a:bodyPr>
          <a:lstStyle/>
          <a:p>
            <a:pPr>
              <a:lnSpc>
                <a:spcPct val="200000"/>
              </a:lnSpc>
            </a:pPr>
            <a:r>
              <a:rPr lang="vi-VN" b="1">
                <a:solidFill>
                  <a:schemeClr val="bg1"/>
                </a:solidFill>
              </a:rPr>
              <a:t>Phân tích từng trường hợp :</a:t>
            </a:r>
          </a:p>
          <a:p>
            <a:pPr>
              <a:lnSpc>
                <a:spcPct val="200000"/>
              </a:lnSpc>
            </a:pPr>
            <a:r>
              <a:rPr lang="en-US" b="1">
                <a:solidFill>
                  <a:schemeClr val="bg1"/>
                </a:solidFill>
              </a:rPr>
              <a:t>2. </a:t>
            </a:r>
            <a:r>
              <a:rPr lang="vi-VN" b="1">
                <a:solidFill>
                  <a:schemeClr val="bg1"/>
                </a:solidFill>
              </a:rPr>
              <a:t>Phát hiện dominant bit ở bit cuối cùng của EOF (đối với receiver)</a:t>
            </a:r>
            <a:r>
              <a:rPr lang="vi-VN">
                <a:solidFill>
                  <a:schemeClr val="bg1"/>
                </a:solidFill>
              </a:rPr>
              <a:t> </a:t>
            </a:r>
            <a:endParaRPr lang="en-US">
              <a:solidFill>
                <a:schemeClr val="bg1"/>
              </a:solidFill>
            </a:endParaRPr>
          </a:p>
          <a:p>
            <a:pPr marL="800100" lvl="1" indent="-342900">
              <a:lnSpc>
                <a:spcPct val="200000"/>
              </a:lnSpc>
              <a:buFont typeface="+mj-lt"/>
              <a:buAutoNum type="arabicPeriod"/>
            </a:pPr>
            <a:r>
              <a:rPr lang="vi-VN">
                <a:solidFill>
                  <a:schemeClr val="bg1"/>
                </a:solidFill>
              </a:rPr>
              <a:t>EOF phải là </a:t>
            </a:r>
            <a:r>
              <a:rPr lang="vi-VN" b="1">
                <a:solidFill>
                  <a:schemeClr val="bg1"/>
                </a:solidFill>
              </a:rPr>
              <a:t>7 bit recessive</a:t>
            </a:r>
            <a:r>
              <a:rPr lang="vi-VN">
                <a:solidFill>
                  <a:schemeClr val="bg1"/>
                </a:solidFill>
              </a:rPr>
              <a:t>.</a:t>
            </a:r>
          </a:p>
          <a:p>
            <a:pPr marL="800100" lvl="1" indent="-342900">
              <a:lnSpc>
                <a:spcPct val="200000"/>
              </a:lnSpc>
              <a:buFont typeface="+mj-lt"/>
              <a:buAutoNum type="arabicPeriod"/>
            </a:pPr>
            <a:r>
              <a:rPr lang="vi-VN">
                <a:solidFill>
                  <a:schemeClr val="bg1"/>
                </a:solidFill>
              </a:rPr>
              <a:t>Nếu receiver phát hiện </a:t>
            </a:r>
            <a:r>
              <a:rPr lang="vi-VN" b="1">
                <a:solidFill>
                  <a:schemeClr val="bg1"/>
                </a:solidFill>
              </a:rPr>
              <a:t>dominant bit ngay ở bit thứ 7 (bit cuối) của EOF</a:t>
            </a:r>
            <a:r>
              <a:rPr lang="vi-VN">
                <a:solidFill>
                  <a:schemeClr val="bg1"/>
                </a:solidFill>
              </a:rPr>
              <a:t> → </a:t>
            </a:r>
            <a:r>
              <a:rPr lang="vi-VN" b="1">
                <a:solidFill>
                  <a:schemeClr val="bg1"/>
                </a:solidFill>
              </a:rPr>
              <a:t>KHÔNG</a:t>
            </a:r>
            <a:r>
              <a:rPr lang="vi-VN">
                <a:solidFill>
                  <a:schemeClr val="bg1"/>
                </a:solidFill>
              </a:rPr>
              <a:t> coi là </a:t>
            </a:r>
            <a:r>
              <a:rPr lang="vi-VN" b="1">
                <a:solidFill>
                  <a:schemeClr val="bg1"/>
                </a:solidFill>
              </a:rPr>
              <a:t>Form Error</a:t>
            </a:r>
            <a:r>
              <a:rPr lang="vi-VN">
                <a:solidFill>
                  <a:schemeClr val="bg1"/>
                </a:solidFill>
              </a:rPr>
              <a:t> hay </a:t>
            </a:r>
            <a:r>
              <a:rPr lang="vi-VN" b="1">
                <a:solidFill>
                  <a:schemeClr val="bg1"/>
                </a:solidFill>
              </a:rPr>
              <a:t>Bit Error</a:t>
            </a:r>
            <a:r>
              <a:rPr lang="vi-VN">
                <a:solidFill>
                  <a:schemeClr val="bg1"/>
                </a:solidFill>
              </a:rPr>
              <a:t>, mà kích hoạt </a:t>
            </a:r>
            <a:r>
              <a:rPr lang="vi-VN" b="1">
                <a:solidFill>
                  <a:schemeClr val="bg1"/>
                </a:solidFill>
              </a:rPr>
              <a:t>Overload Frame</a:t>
            </a:r>
            <a:r>
              <a:rPr lang="vi-VN">
                <a:solidFill>
                  <a:schemeClr val="bg1"/>
                </a:solidFill>
              </a:rPr>
              <a:t>.</a:t>
            </a:r>
          </a:p>
          <a:p>
            <a:pPr marL="800100" lvl="1" indent="-342900">
              <a:lnSpc>
                <a:spcPct val="200000"/>
              </a:lnSpc>
              <a:buFont typeface="+mj-lt"/>
              <a:buAutoNum type="arabicPeriod"/>
            </a:pPr>
            <a:r>
              <a:rPr lang="vi-VN" b="1">
                <a:solidFill>
                  <a:schemeClr val="bg1"/>
                </a:solidFill>
              </a:rPr>
              <a:t>Lý do</a:t>
            </a:r>
            <a:r>
              <a:rPr lang="vi-VN">
                <a:solidFill>
                  <a:schemeClr val="bg1"/>
                </a:solidFill>
              </a:rPr>
              <a:t>: Đây là ngoại lệ đặc biệt trong chuẩn CAN. Nó cho phép một node receiver “báo” rằng mình chưa sẵn sàng nhận frame tiếp theo, mà không làm hỏng frame vừa nhận (không tăng error counter, không retransmit). Nếu dominant bit xuất hiện ở </a:t>
            </a:r>
            <a:r>
              <a:rPr lang="vi-VN" b="1">
                <a:solidFill>
                  <a:schemeClr val="bg1"/>
                </a:solidFill>
              </a:rPr>
              <a:t>bit 1 đến bit 6</a:t>
            </a:r>
            <a:r>
              <a:rPr lang="vi-VN">
                <a:solidFill>
                  <a:schemeClr val="bg1"/>
                </a:solidFill>
              </a:rPr>
              <a:t> của EOF thì mới là </a:t>
            </a:r>
            <a:r>
              <a:rPr lang="vi-VN" b="1">
                <a:solidFill>
                  <a:schemeClr val="bg1"/>
                </a:solidFill>
              </a:rPr>
              <a:t>Form Error</a:t>
            </a:r>
            <a:r>
              <a:rPr lang="vi-VN">
                <a:solidFill>
                  <a:schemeClr val="bg1"/>
                </a:solidFill>
              </a:rPr>
              <a:t> thật sự.</a:t>
            </a:r>
          </a:p>
        </p:txBody>
      </p:sp>
    </p:spTree>
    <p:extLst>
      <p:ext uri="{BB962C8B-B14F-4D97-AF65-F5344CB8AC3E}">
        <p14:creationId xmlns:p14="http://schemas.microsoft.com/office/powerpoint/2010/main" val="25146277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194292"/>
            <a:ext cx="11167872" cy="3884397"/>
          </a:xfrm>
          <a:prstGeom prst="rect">
            <a:avLst/>
          </a:prstGeom>
        </p:spPr>
        <p:txBody>
          <a:bodyPr wrap="square">
            <a:spAutoFit/>
          </a:bodyPr>
          <a:lstStyle/>
          <a:p>
            <a:pPr>
              <a:lnSpc>
                <a:spcPct val="200000"/>
              </a:lnSpc>
            </a:pPr>
            <a:r>
              <a:rPr lang="vi-VN" b="1">
                <a:solidFill>
                  <a:schemeClr val="bg1"/>
                </a:solidFill>
              </a:rPr>
              <a:t>Phân tích từng trường hợp :</a:t>
            </a:r>
          </a:p>
          <a:p>
            <a:pPr>
              <a:lnSpc>
                <a:spcPct val="200000"/>
              </a:lnSpc>
            </a:pPr>
            <a:r>
              <a:rPr lang="en-US" b="1">
                <a:solidFill>
                  <a:schemeClr val="bg1"/>
                </a:solidFill>
              </a:rPr>
              <a:t>3. </a:t>
            </a:r>
            <a:r>
              <a:rPr lang="vi-VN" b="1">
                <a:solidFill>
                  <a:schemeClr val="bg1"/>
                </a:solidFill>
              </a:rPr>
              <a:t>Phát hiện dominant bit ở bit cuối cùng của Error Delimiter hoặc Overload Delimiter</a:t>
            </a:r>
            <a:r>
              <a:rPr lang="vi-VN">
                <a:solidFill>
                  <a:schemeClr val="bg1"/>
                </a:solidFill>
              </a:rPr>
              <a:t> </a:t>
            </a:r>
            <a:endParaRPr lang="en-US">
              <a:solidFill>
                <a:schemeClr val="bg1"/>
              </a:solidFill>
            </a:endParaRPr>
          </a:p>
          <a:p>
            <a:pPr marL="800100" lvl="1" indent="-342900">
              <a:lnSpc>
                <a:spcPct val="200000"/>
              </a:lnSpc>
              <a:buFont typeface="+mj-lt"/>
              <a:buAutoNum type="arabicPeriod"/>
            </a:pPr>
            <a:r>
              <a:rPr lang="vi-VN">
                <a:solidFill>
                  <a:schemeClr val="bg1"/>
                </a:solidFill>
              </a:rPr>
              <a:t>Error Delimiter và Overload Delimiter đều là </a:t>
            </a:r>
            <a:r>
              <a:rPr lang="vi-VN" b="1">
                <a:solidFill>
                  <a:schemeClr val="bg1"/>
                </a:solidFill>
              </a:rPr>
              <a:t>8 bit recessive</a:t>
            </a:r>
            <a:r>
              <a:rPr lang="vi-VN">
                <a:solidFill>
                  <a:schemeClr val="bg1"/>
                </a:solidFill>
              </a:rPr>
              <a:t>.</a:t>
            </a:r>
          </a:p>
          <a:p>
            <a:pPr marL="800100" lvl="1" indent="-342900">
              <a:lnSpc>
                <a:spcPct val="200000"/>
              </a:lnSpc>
              <a:buFont typeface="+mj-lt"/>
              <a:buAutoNum type="arabicPeriod"/>
            </a:pPr>
            <a:r>
              <a:rPr lang="vi-VN">
                <a:solidFill>
                  <a:schemeClr val="bg1"/>
                </a:solidFill>
              </a:rPr>
              <a:t>Nếu có dominant bit ở </a:t>
            </a:r>
            <a:r>
              <a:rPr lang="vi-VN" b="1">
                <a:solidFill>
                  <a:schemeClr val="bg1"/>
                </a:solidFill>
              </a:rPr>
              <a:t>bit cuối cùng (bit thứ 8)</a:t>
            </a:r>
            <a:r>
              <a:rPr lang="vi-VN">
                <a:solidFill>
                  <a:schemeClr val="bg1"/>
                </a:solidFill>
              </a:rPr>
              <a:t> → </a:t>
            </a:r>
            <a:r>
              <a:rPr lang="vi-VN" b="1">
                <a:solidFill>
                  <a:schemeClr val="bg1"/>
                </a:solidFill>
              </a:rPr>
              <a:t>Không coi là lỗi</a:t>
            </a:r>
            <a:r>
              <a:rPr lang="vi-VN">
                <a:solidFill>
                  <a:schemeClr val="bg1"/>
                </a:solidFill>
              </a:rPr>
              <a:t>, mà cũng kích hoạt </a:t>
            </a:r>
            <a:r>
              <a:rPr lang="vi-VN" b="1">
                <a:solidFill>
                  <a:schemeClr val="bg1"/>
                </a:solidFill>
              </a:rPr>
              <a:t>Overload Frame</a:t>
            </a:r>
            <a:r>
              <a:rPr lang="vi-VN">
                <a:solidFill>
                  <a:schemeClr val="bg1"/>
                </a:solidFill>
              </a:rPr>
              <a:t>.</a:t>
            </a:r>
          </a:p>
          <a:p>
            <a:pPr marL="800100" lvl="1" indent="-342900">
              <a:lnSpc>
                <a:spcPct val="200000"/>
              </a:lnSpc>
              <a:buFont typeface="+mj-lt"/>
              <a:buAutoNum type="arabicPeriod"/>
            </a:pPr>
            <a:r>
              <a:rPr lang="vi-VN" b="1">
                <a:solidFill>
                  <a:schemeClr val="bg1"/>
                </a:solidFill>
              </a:rPr>
              <a:t>Lý do</a:t>
            </a:r>
            <a:r>
              <a:rPr lang="vi-VN">
                <a:solidFill>
                  <a:schemeClr val="bg1"/>
                </a:solidFill>
              </a:rPr>
              <a:t>: Tương tự như trên, đây là vị trí “an toàn” để cho phép delay thêm mà không phạt node bằng cách tăng error counter.</a:t>
            </a:r>
          </a:p>
        </p:txBody>
      </p:sp>
    </p:spTree>
    <p:extLst>
      <p:ext uri="{BB962C8B-B14F-4D97-AF65-F5344CB8AC3E}">
        <p14:creationId xmlns:p14="http://schemas.microsoft.com/office/powerpoint/2010/main" val="296738829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0"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414529" y="1194292"/>
            <a:ext cx="11167872" cy="4438395"/>
          </a:xfrm>
          <a:prstGeom prst="rect">
            <a:avLst/>
          </a:prstGeom>
        </p:spPr>
        <p:txBody>
          <a:bodyPr wrap="square">
            <a:spAutoFit/>
          </a:bodyPr>
          <a:lstStyle/>
          <a:p>
            <a:pPr>
              <a:lnSpc>
                <a:spcPct val="200000"/>
              </a:lnSpc>
            </a:pPr>
            <a:r>
              <a:rPr lang="en-US" b="1">
                <a:solidFill>
                  <a:schemeClr val="bg1"/>
                </a:solidFill>
              </a:rPr>
              <a:t>T</a:t>
            </a:r>
            <a:r>
              <a:rPr lang="vi-VN" b="1">
                <a:solidFill>
                  <a:schemeClr val="bg1"/>
                </a:solidFill>
              </a:rPr>
              <a:t>óm tắt quy tắc thông minh của CAN:</a:t>
            </a:r>
          </a:p>
          <a:p>
            <a:pPr marL="342900" indent="-342900">
              <a:lnSpc>
                <a:spcPct val="200000"/>
              </a:lnSpc>
              <a:buFont typeface="+mj-lt"/>
              <a:buAutoNum type="arabicPeriod"/>
            </a:pPr>
            <a:r>
              <a:rPr lang="vi-VN" b="1">
                <a:solidFill>
                  <a:schemeClr val="bg1"/>
                </a:solidFill>
              </a:rPr>
              <a:t>Trong frame</a:t>
            </a:r>
            <a:r>
              <a:rPr lang="vi-VN">
                <a:solidFill>
                  <a:schemeClr val="bg1"/>
                </a:solidFill>
              </a:rPr>
              <a:t> (từ SOF đến CRC, kể cả phần lớn EOF): → Dominant bit sai vị trí → </a:t>
            </a:r>
            <a:r>
              <a:rPr lang="vi-VN" b="1">
                <a:solidFill>
                  <a:schemeClr val="bg1"/>
                </a:solidFill>
              </a:rPr>
              <a:t>Bit Error / Form Error / Stuff Error</a:t>
            </a:r>
            <a:r>
              <a:rPr lang="vi-VN">
                <a:solidFill>
                  <a:schemeClr val="bg1"/>
                </a:solidFill>
              </a:rPr>
              <a:t> → gửi </a:t>
            </a:r>
            <a:r>
              <a:rPr lang="vi-VN" b="1">
                <a:solidFill>
                  <a:schemeClr val="bg1"/>
                </a:solidFill>
              </a:rPr>
              <a:t>Error Frame</a:t>
            </a:r>
            <a:r>
              <a:rPr lang="vi-VN">
                <a:solidFill>
                  <a:schemeClr val="bg1"/>
                </a:solidFill>
              </a:rPr>
              <a:t> + tăng error counter.</a:t>
            </a:r>
          </a:p>
          <a:p>
            <a:pPr marL="342900" indent="-342900">
              <a:lnSpc>
                <a:spcPct val="200000"/>
              </a:lnSpc>
              <a:buFont typeface="+mj-lt"/>
              <a:buAutoNum type="arabicPeriod"/>
            </a:pPr>
            <a:r>
              <a:rPr lang="vi-VN" b="1">
                <a:solidFill>
                  <a:schemeClr val="bg1"/>
                </a:solidFill>
              </a:rPr>
              <a:t>Ở các vị trí đặc biệt cuối frame và IFS</a:t>
            </a:r>
            <a:r>
              <a:rPr lang="vi-VN">
                <a:solidFill>
                  <a:schemeClr val="bg1"/>
                </a:solidFill>
              </a:rPr>
              <a:t>: → Dominant bit → </a:t>
            </a:r>
            <a:r>
              <a:rPr lang="vi-VN" b="1">
                <a:solidFill>
                  <a:schemeClr val="bg1"/>
                </a:solidFill>
              </a:rPr>
              <a:t>Overload condition</a:t>
            </a:r>
            <a:r>
              <a:rPr lang="vi-VN">
                <a:solidFill>
                  <a:schemeClr val="bg1"/>
                </a:solidFill>
              </a:rPr>
              <a:t> → gửi </a:t>
            </a:r>
            <a:r>
              <a:rPr lang="vi-VN" b="1">
                <a:solidFill>
                  <a:schemeClr val="bg1"/>
                </a:solidFill>
              </a:rPr>
              <a:t>Overload Frame</a:t>
            </a:r>
            <a:r>
              <a:rPr lang="vi-VN">
                <a:solidFill>
                  <a:schemeClr val="bg1"/>
                </a:solidFill>
              </a:rPr>
              <a:t> (chỉ tạo delay, </a:t>
            </a:r>
            <a:r>
              <a:rPr lang="vi-VN" b="1">
                <a:solidFill>
                  <a:schemeClr val="bg1"/>
                </a:solidFill>
              </a:rPr>
              <a:t>không tăng error counter</a:t>
            </a:r>
            <a:r>
              <a:rPr lang="vi-VN">
                <a:solidFill>
                  <a:schemeClr val="bg1"/>
                </a:solidFill>
              </a:rPr>
              <a:t>, </a:t>
            </a:r>
            <a:r>
              <a:rPr lang="vi-VN" b="1">
                <a:solidFill>
                  <a:schemeClr val="bg1"/>
                </a:solidFill>
              </a:rPr>
              <a:t>không retransmit</a:t>
            </a:r>
            <a:r>
              <a:rPr lang="vi-VN">
                <a:solidFill>
                  <a:schemeClr val="bg1"/>
                </a:solidFill>
              </a:rPr>
              <a:t>).</a:t>
            </a:r>
          </a:p>
          <a:p>
            <a:pPr>
              <a:lnSpc>
                <a:spcPct val="200000"/>
              </a:lnSpc>
            </a:pPr>
            <a:r>
              <a:rPr lang="vi-VN">
                <a:solidFill>
                  <a:schemeClr val="bg1"/>
                </a:solidFill>
                <a:effectLst/>
              </a:rPr>
              <a:t>Điều này giúp CAN linh hoạt hơn:</a:t>
            </a:r>
          </a:p>
          <a:p>
            <a:pPr marL="342900" indent="-342900">
              <a:lnSpc>
                <a:spcPct val="200000"/>
              </a:lnSpc>
              <a:buFont typeface="+mj-lt"/>
              <a:buAutoNum type="arabicPeriod"/>
            </a:pPr>
            <a:r>
              <a:rPr lang="vi-VN">
                <a:solidFill>
                  <a:schemeClr val="bg1"/>
                </a:solidFill>
              </a:rPr>
              <a:t>Cho phép node “xin nghỉ” mà không bị coi là lỗi nghiêm trọng.</a:t>
            </a:r>
          </a:p>
          <a:p>
            <a:pPr marL="342900" indent="-342900">
              <a:lnSpc>
                <a:spcPct val="200000"/>
              </a:lnSpc>
              <a:buFont typeface="+mj-lt"/>
              <a:buAutoNum type="arabicPeriod"/>
            </a:pPr>
            <a:r>
              <a:rPr lang="vi-VN">
                <a:solidFill>
                  <a:schemeClr val="bg1"/>
                </a:solidFill>
              </a:rPr>
              <a:t>Tránh tình trạng nhiễu nhẹ ở cuối frame làm toàn bộ hệ thống rối loạn liên tục.</a:t>
            </a:r>
          </a:p>
        </p:txBody>
      </p:sp>
    </p:spTree>
    <p:extLst>
      <p:ext uri="{BB962C8B-B14F-4D97-AF65-F5344CB8AC3E}">
        <p14:creationId xmlns:p14="http://schemas.microsoft.com/office/powerpoint/2010/main" val="37714788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3201" y="279401"/>
            <a:ext cx="1952779" cy="461665"/>
          </a:xfrm>
          <a:prstGeom prst="rect">
            <a:avLst/>
          </a:prstGeom>
        </p:spPr>
        <p:txBody>
          <a:bodyPr wrap="none">
            <a:spAutoFit/>
          </a:bodyPr>
          <a:lstStyle/>
          <a:p>
            <a:r>
              <a:rPr lang="en-US" sz="2400" dirty="0"/>
              <a:t>WHY CAN FD?</a:t>
            </a:r>
          </a:p>
        </p:txBody>
      </p:sp>
      <p:pic>
        <p:nvPicPr>
          <p:cNvPr id="12" name="Picture Placeholder 11"/>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78676" y="0"/>
            <a:ext cx="12192000" cy="6858000"/>
          </a:xfrm>
        </p:spPr>
      </p:pic>
      <p:sp>
        <p:nvSpPr>
          <p:cNvPr id="13" name="TextBox 12"/>
          <p:cNvSpPr txBox="1"/>
          <p:nvPr/>
        </p:nvSpPr>
        <p:spPr>
          <a:xfrm>
            <a:off x="414529" y="584201"/>
            <a:ext cx="3393237" cy="584775"/>
          </a:xfrm>
          <a:prstGeom prst="rect">
            <a:avLst/>
          </a:prstGeom>
          <a:noFill/>
        </p:spPr>
        <p:txBody>
          <a:bodyPr wrap="none" rtlCol="0">
            <a:spAutoFit/>
          </a:bodyPr>
          <a:lstStyle/>
          <a:p>
            <a:r>
              <a:rPr lang="en-US" sz="3200" b="1">
                <a:solidFill>
                  <a:schemeClr val="bg1"/>
                </a:solidFill>
              </a:rPr>
              <a:t>OVERLOAD FRAME</a:t>
            </a:r>
            <a:endParaRPr lang="en-US" sz="3200" b="1" dirty="0">
              <a:solidFill>
                <a:schemeClr val="bg1"/>
              </a:solidFill>
            </a:endParaRPr>
          </a:p>
        </p:txBody>
      </p:sp>
      <p:sp>
        <p:nvSpPr>
          <p:cNvPr id="7" name="Rectangle 6"/>
          <p:cNvSpPr/>
          <p:nvPr/>
        </p:nvSpPr>
        <p:spPr>
          <a:xfrm>
            <a:off x="590740" y="1335832"/>
            <a:ext cx="11167872" cy="4801314"/>
          </a:xfrm>
          <a:prstGeom prst="rect">
            <a:avLst/>
          </a:prstGeom>
        </p:spPr>
        <p:txBody>
          <a:bodyPr wrap="square">
            <a:spAutoFit/>
          </a:bodyPr>
          <a:lstStyle/>
          <a:p>
            <a:r>
              <a:rPr lang="en-US" b="1">
                <a:solidFill>
                  <a:schemeClr val="bg1">
                    <a:lumMod val="95000"/>
                  </a:schemeClr>
                </a:solidFill>
                <a:latin typeface="Arial" panose="020B0604020202020204" pitchFamily="34" charset="0"/>
                <a:cs typeface="Arial" panose="020B0604020202020204" pitchFamily="34" charset="0"/>
              </a:rPr>
              <a:t>Overload frame hoạt </a:t>
            </a:r>
            <a:r>
              <a:rPr lang="vi-VN" b="1">
                <a:solidFill>
                  <a:schemeClr val="bg1">
                    <a:lumMod val="95000"/>
                  </a:schemeClr>
                </a:solidFill>
              </a:rPr>
              <a:t>động như thế nào?</a:t>
            </a:r>
          </a:p>
          <a:p>
            <a:pPr>
              <a:buFont typeface="+mj-lt"/>
              <a:buAutoNum type="arabicPeriod"/>
            </a:pPr>
            <a:r>
              <a:rPr lang="vi-VN" b="1">
                <a:solidFill>
                  <a:schemeClr val="bg1">
                    <a:lumMod val="95000"/>
                  </a:schemeClr>
                </a:solidFill>
              </a:rPr>
              <a:t>Điều kiện kích hoạt</a:t>
            </a:r>
            <a:r>
              <a:rPr lang="vi-VN">
                <a:solidFill>
                  <a:schemeClr val="bg1">
                    <a:lumMod val="95000"/>
                  </a:schemeClr>
                </a:solidFill>
              </a:rPr>
              <a:t> (theo ISO 11898):</a:t>
            </a:r>
          </a:p>
          <a:p>
            <a:pPr marL="742950" lvl="1" indent="-285750">
              <a:buFont typeface="+mj-lt"/>
              <a:buAutoNum type="arabicPeriod"/>
            </a:pPr>
            <a:r>
              <a:rPr lang="vi-VN">
                <a:solidFill>
                  <a:schemeClr val="bg1">
                    <a:lumMod val="95000"/>
                  </a:schemeClr>
                </a:solidFill>
              </a:rPr>
              <a:t>Node receiver cần delay → phát hiện internal condition (buffer RX đầy, CPU bận).</a:t>
            </a:r>
          </a:p>
          <a:p>
            <a:pPr marL="742950" lvl="1" indent="-285750">
              <a:buFont typeface="+mj-lt"/>
              <a:buAutoNum type="arabicPeriod"/>
            </a:pPr>
            <a:r>
              <a:rPr lang="vi-VN">
                <a:solidFill>
                  <a:schemeClr val="bg1">
                    <a:lumMod val="95000"/>
                  </a:schemeClr>
                </a:solidFill>
              </a:rPr>
              <a:t>Hoặc phát hiện </a:t>
            </a:r>
            <a:r>
              <a:rPr lang="vi-VN" b="1">
                <a:solidFill>
                  <a:schemeClr val="bg1">
                    <a:lumMod val="95000"/>
                  </a:schemeClr>
                </a:solidFill>
              </a:rPr>
              <a:t>dominant bit</a:t>
            </a:r>
            <a:r>
              <a:rPr lang="vi-VN">
                <a:solidFill>
                  <a:schemeClr val="bg1">
                    <a:lumMod val="95000"/>
                  </a:schemeClr>
                </a:solidFill>
              </a:rPr>
              <a:t> trong </a:t>
            </a:r>
            <a:r>
              <a:rPr lang="vi-VN" b="1">
                <a:solidFill>
                  <a:schemeClr val="bg1">
                    <a:lumMod val="95000"/>
                  </a:schemeClr>
                </a:solidFill>
              </a:rPr>
              <a:t>Interframe Space</a:t>
            </a:r>
            <a:r>
              <a:rPr lang="vi-VN">
                <a:solidFill>
                  <a:schemeClr val="bg1">
                    <a:lumMod val="95000"/>
                  </a:schemeClr>
                </a:solidFill>
              </a:rPr>
              <a:t> (IFS):</a:t>
            </a:r>
          </a:p>
          <a:p>
            <a:pPr marL="1143000" lvl="2" indent="-228600">
              <a:buFont typeface="+mj-lt"/>
              <a:buAutoNum type="arabicPeriod"/>
            </a:pPr>
            <a:r>
              <a:rPr lang="vi-VN">
                <a:solidFill>
                  <a:schemeClr val="bg1">
                    <a:lumMod val="95000"/>
                  </a:schemeClr>
                </a:solidFill>
              </a:rPr>
              <a:t>Tại bit thứ 1 hoặc 2 của Intermission (3 recessive bits sau EOF). → Overload Frame </a:t>
            </a:r>
            <a:r>
              <a:rPr lang="vi-VN" b="1">
                <a:solidFill>
                  <a:schemeClr val="bg1">
                    <a:lumMod val="95000"/>
                  </a:schemeClr>
                </a:solidFill>
              </a:rPr>
              <a:t>chỉ bắt đầu</a:t>
            </a:r>
            <a:r>
              <a:rPr lang="vi-VN">
                <a:solidFill>
                  <a:schemeClr val="bg1">
                    <a:lumMod val="95000"/>
                  </a:schemeClr>
                </a:solidFill>
              </a:rPr>
              <a:t> ở vị trí cụ thể: đầu Intermission hoặc ngay sau dominant bit trong IFS.</a:t>
            </a:r>
          </a:p>
          <a:p>
            <a:pPr>
              <a:buFont typeface="+mj-lt"/>
              <a:buAutoNum type="arabicPeriod"/>
            </a:pPr>
            <a:r>
              <a:rPr lang="vi-VN" b="1">
                <a:solidFill>
                  <a:schemeClr val="bg1">
                    <a:lumMod val="95000"/>
                  </a:schemeClr>
                </a:solidFill>
              </a:rPr>
              <a:t>Quá trình</a:t>
            </a:r>
            <a:r>
              <a:rPr lang="vi-VN">
                <a:solidFill>
                  <a:schemeClr val="bg1">
                    <a:lumMod val="95000"/>
                  </a:schemeClr>
                </a:solidFill>
              </a:rPr>
              <a:t>:</a:t>
            </a:r>
          </a:p>
          <a:p>
            <a:pPr marL="742950" lvl="1" indent="-285750">
              <a:buFont typeface="+mj-lt"/>
              <a:buAutoNum type="arabicPeriod"/>
            </a:pPr>
            <a:r>
              <a:rPr lang="vi-VN">
                <a:solidFill>
                  <a:schemeClr val="bg1">
                    <a:lumMod val="95000"/>
                  </a:schemeClr>
                </a:solidFill>
              </a:rPr>
              <a:t>Node gửi Overload Flag (6 dominant) → vi phạm stuffing → tất cả node khác nhận ra và có thể tham gia gửi Overload Flag theo (superposition).</a:t>
            </a:r>
          </a:p>
          <a:p>
            <a:pPr marL="742950" lvl="1" indent="-285750">
              <a:buFont typeface="+mj-lt"/>
              <a:buAutoNum type="arabicPeriod"/>
            </a:pPr>
            <a:r>
              <a:rPr lang="vi-VN">
                <a:solidFill>
                  <a:schemeClr val="bg1">
                    <a:lumMod val="95000"/>
                  </a:schemeClr>
                </a:solidFill>
              </a:rPr>
              <a:t>Khung tin tiếp theo bị delay (không bị hủy như Error Frame).</a:t>
            </a:r>
          </a:p>
          <a:p>
            <a:pPr marL="742950" lvl="1" indent="-285750">
              <a:buFont typeface="+mj-lt"/>
              <a:buAutoNum type="arabicPeriod"/>
            </a:pPr>
            <a:r>
              <a:rPr lang="vi-VN">
                <a:solidFill>
                  <a:schemeClr val="bg1">
                    <a:lumMod val="95000"/>
                  </a:schemeClr>
                </a:solidFill>
              </a:rPr>
              <a:t>Sau Overload Delimiter → bus idle → node có thể gửi khung tin mới (thường có thêm Interframe Space).</a:t>
            </a:r>
          </a:p>
          <a:p>
            <a:pPr>
              <a:buFont typeface="+mj-lt"/>
              <a:buAutoNum type="arabicPeriod"/>
            </a:pPr>
            <a:r>
              <a:rPr lang="vi-VN" b="1">
                <a:solidFill>
                  <a:schemeClr val="bg1">
                    <a:lumMod val="95000"/>
                  </a:schemeClr>
                </a:solidFill>
              </a:rPr>
              <a:t>Khác biệt quan trọng với Error Frame</a:t>
            </a:r>
            <a:r>
              <a:rPr lang="vi-VN">
                <a:solidFill>
                  <a:schemeClr val="bg1">
                    <a:lumMod val="95000"/>
                  </a:schemeClr>
                </a:solidFill>
              </a:rPr>
              <a:t>:</a:t>
            </a:r>
          </a:p>
          <a:p>
            <a:pPr marL="742950" lvl="1" indent="-285750">
              <a:buFont typeface="+mj-lt"/>
              <a:buAutoNum type="arabicPeriod"/>
            </a:pPr>
            <a:r>
              <a:rPr lang="vi-VN" b="1">
                <a:solidFill>
                  <a:schemeClr val="bg1">
                    <a:lumMod val="95000"/>
                  </a:schemeClr>
                </a:solidFill>
              </a:rPr>
              <a:t>Thời điểm</a:t>
            </a:r>
            <a:r>
              <a:rPr lang="vi-VN">
                <a:solidFill>
                  <a:schemeClr val="bg1">
                    <a:lumMod val="95000"/>
                  </a:schemeClr>
                </a:solidFill>
              </a:rPr>
              <a:t>: Overload Frame chỉ gửi trong </a:t>
            </a:r>
            <a:r>
              <a:rPr lang="vi-VN" b="1">
                <a:solidFill>
                  <a:schemeClr val="bg1">
                    <a:lumMod val="95000"/>
                  </a:schemeClr>
                </a:solidFill>
              </a:rPr>
              <a:t>Interframe Space</a:t>
            </a:r>
            <a:r>
              <a:rPr lang="vi-VN">
                <a:solidFill>
                  <a:schemeClr val="bg1">
                    <a:lumMod val="95000"/>
                  </a:schemeClr>
                </a:solidFill>
              </a:rPr>
              <a:t> (sau khi khung trước hoàn tất), không chen giữa khung đang truyền.</a:t>
            </a:r>
          </a:p>
          <a:p>
            <a:pPr marL="742950" lvl="1" indent="-285750">
              <a:buFont typeface="+mj-lt"/>
              <a:buAutoNum type="arabicPeriod"/>
            </a:pPr>
            <a:r>
              <a:rPr lang="vi-VN" b="1">
                <a:solidFill>
                  <a:schemeClr val="bg1">
                    <a:lumMod val="95000"/>
                  </a:schemeClr>
                </a:solidFill>
              </a:rPr>
              <a:t>Hậu quả</a:t>
            </a:r>
            <a:r>
              <a:rPr lang="vi-VN">
                <a:solidFill>
                  <a:schemeClr val="bg1">
                    <a:lumMod val="95000"/>
                  </a:schemeClr>
                </a:solidFill>
              </a:rPr>
              <a:t>: Không tăng error counter, không retransmit.</a:t>
            </a:r>
          </a:p>
          <a:p>
            <a:pPr marL="742950" lvl="1" indent="-285750">
              <a:buFont typeface="+mj-lt"/>
              <a:buAutoNum type="arabicPeriod"/>
            </a:pPr>
            <a:r>
              <a:rPr lang="vi-VN" b="1">
                <a:solidFill>
                  <a:schemeClr val="bg1">
                    <a:lumMod val="95000"/>
                  </a:schemeClr>
                </a:solidFill>
              </a:rPr>
              <a:t>Loại flag</a:t>
            </a:r>
            <a:r>
              <a:rPr lang="vi-VN">
                <a:solidFill>
                  <a:schemeClr val="bg1">
                    <a:lumMod val="95000"/>
                  </a:schemeClr>
                </a:solidFill>
              </a:rPr>
              <a:t>: Chỉ Active (dominant), không có Passive.</a:t>
            </a:r>
          </a:p>
        </p:txBody>
      </p:sp>
      <p:pic>
        <p:nvPicPr>
          <p:cNvPr id="4098" name="Picture 2" descr="CAN2.0][Controller Area Network][Bài 6] Khung báo tải (Overload frame) và  Khoảng liên khung (Interframe Spacing) ~ VLSI TECHNOLOGY">
            <a:extLst>
              <a:ext uri="{FF2B5EF4-FFF2-40B4-BE49-F238E27FC236}">
                <a16:creationId xmlns:a16="http://schemas.microsoft.com/office/drawing/2014/main" id="{55551217-3280-24CE-267B-737F6D6F69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04825"/>
            <a:ext cx="12192000" cy="584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2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3234</TotalTime>
  <Words>55781</Words>
  <Application>Microsoft Office PowerPoint</Application>
  <PresentationFormat>Widescreen</PresentationFormat>
  <Paragraphs>3407</Paragraphs>
  <Slides>117</Slides>
  <Notes>109</Notes>
  <HiddenSlides>0</HiddenSlides>
  <MMClips>1</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117</vt:i4>
      </vt:variant>
    </vt:vector>
  </HeadingPairs>
  <TitlesOfParts>
    <vt:vector size="129" baseType="lpstr">
      <vt:lpstr>Arial</vt:lpstr>
      <vt:lpstr>Arial (Body)</vt:lpstr>
      <vt:lpstr>Calibri</vt:lpstr>
      <vt:lpstr>Calibri Light</vt:lpstr>
      <vt:lpstr>Century Gothic</vt:lpstr>
      <vt:lpstr>Courier New</vt:lpstr>
      <vt:lpstr>Google Sans</vt:lpstr>
      <vt:lpstr>Google Sans Text</vt:lpstr>
      <vt:lpstr>quote-cjk-patch</vt:lpstr>
      <vt:lpstr>Wingdings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Hoang Tran</dc:creator>
  <cp:lastModifiedBy>ADMIN-PC</cp:lastModifiedBy>
  <cp:revision>431</cp:revision>
  <dcterms:created xsi:type="dcterms:W3CDTF">2024-10-15T03:17:11Z</dcterms:created>
  <dcterms:modified xsi:type="dcterms:W3CDTF">2026-05-24T15:19:22Z</dcterms:modified>
</cp:coreProperties>
</file>