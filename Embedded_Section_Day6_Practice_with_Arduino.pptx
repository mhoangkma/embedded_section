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6">
  <p:sldMasterIdLst>
    <p:sldMasterId id="2147483648" r:id="rId1"/>
  </p:sldMasterIdLst>
  <p:notesMasterIdLst>
    <p:notesMasterId r:id="rId44"/>
  </p:notesMasterIdLst>
  <p:sldIdLst>
    <p:sldId id="508" r:id="rId2"/>
    <p:sldId id="509" r:id="rId3"/>
    <p:sldId id="515" r:id="rId4"/>
    <p:sldId id="516" r:id="rId5"/>
    <p:sldId id="517" r:id="rId6"/>
    <p:sldId id="511" r:id="rId7"/>
    <p:sldId id="510" r:id="rId8"/>
    <p:sldId id="518" r:id="rId9"/>
    <p:sldId id="512" r:id="rId10"/>
    <p:sldId id="513" r:id="rId11"/>
    <p:sldId id="514" r:id="rId12"/>
    <p:sldId id="519" r:id="rId13"/>
    <p:sldId id="520" r:id="rId14"/>
    <p:sldId id="521" r:id="rId15"/>
    <p:sldId id="522" r:id="rId16"/>
    <p:sldId id="523" r:id="rId17"/>
    <p:sldId id="524" r:id="rId18"/>
    <p:sldId id="526" r:id="rId19"/>
    <p:sldId id="527" r:id="rId20"/>
    <p:sldId id="528" r:id="rId21"/>
    <p:sldId id="529" r:id="rId22"/>
    <p:sldId id="530" r:id="rId23"/>
    <p:sldId id="531" r:id="rId24"/>
    <p:sldId id="532" r:id="rId25"/>
    <p:sldId id="533" r:id="rId26"/>
    <p:sldId id="534" r:id="rId27"/>
    <p:sldId id="535" r:id="rId28"/>
    <p:sldId id="536" r:id="rId29"/>
    <p:sldId id="537" r:id="rId30"/>
    <p:sldId id="538" r:id="rId31"/>
    <p:sldId id="539" r:id="rId32"/>
    <p:sldId id="540" r:id="rId33"/>
    <p:sldId id="541" r:id="rId34"/>
    <p:sldId id="542" r:id="rId35"/>
    <p:sldId id="543" r:id="rId36"/>
    <p:sldId id="546" r:id="rId37"/>
    <p:sldId id="544" r:id="rId38"/>
    <p:sldId id="545" r:id="rId39"/>
    <p:sldId id="547" r:id="rId40"/>
    <p:sldId id="549" r:id="rId41"/>
    <p:sldId id="548" r:id="rId42"/>
    <p:sldId id="550" r:id="rId4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3" autoAdjust="0"/>
    <p:restoredTop sz="88983" autoAdjust="0"/>
  </p:normalViewPr>
  <p:slideViewPr>
    <p:cSldViewPr>
      <p:cViewPr varScale="1">
        <p:scale>
          <a:sx n="66" d="100"/>
          <a:sy n="66" d="100"/>
        </p:scale>
        <p:origin x="1320" y="108"/>
      </p:cViewPr>
      <p:guideLst>
        <p:guide orient="horz" pos="2160"/>
        <p:guide pos="2880"/>
      </p:guideLst>
    </p:cSldViewPr>
  </p:slideViewPr>
  <p:outlineViewPr>
    <p:cViewPr>
      <p:scale>
        <a:sx n="33" d="100"/>
        <a:sy n="33" d="100"/>
      </p:scale>
      <p:origin x="0" y="0"/>
    </p:cViewPr>
  </p:outlineViewPr>
  <p:notesTextViewPr>
    <p:cViewPr>
      <p:scale>
        <a:sx n="125" d="100"/>
        <a:sy n="125" d="100"/>
      </p:scale>
      <p:origin x="0" y="-265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FDD0A-8E9A-403A-8A26-3515633FB2A5}"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01E2C-B751-4C38-A4F8-4A97733E0BA7}" type="slidenum">
              <a:rPr lang="en-US" smtClean="0"/>
              <a:t>‹#›</a:t>
            </a:fld>
            <a:endParaRPr lang="en-US"/>
          </a:p>
        </p:txBody>
      </p:sp>
    </p:spTree>
    <p:extLst>
      <p:ext uri="{BB962C8B-B14F-4D97-AF65-F5344CB8AC3E}">
        <p14:creationId xmlns:p14="http://schemas.microsoft.com/office/powerpoint/2010/main" val="36204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a:t>
            </a:fld>
            <a:endParaRPr lang="en-US"/>
          </a:p>
        </p:txBody>
      </p:sp>
    </p:spTree>
    <p:extLst>
      <p:ext uri="{BB962C8B-B14F-4D97-AF65-F5344CB8AC3E}">
        <p14:creationId xmlns:p14="http://schemas.microsoft.com/office/powerpoint/2010/main" val="217469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1AB1-5E66-FA4F-2B23-BEFE26A25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6C031-03DD-5EE8-800F-01FF894EC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4EA03-9721-4566-334C-C0DF7FEE3C28}"/>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E54E4FEF-749B-FA0E-E5C1-B9C31194A0E9}"/>
              </a:ext>
            </a:extLst>
          </p:cNvPr>
          <p:cNvSpPr>
            <a:spLocks noGrp="1"/>
          </p:cNvSpPr>
          <p:nvPr>
            <p:ph type="sldNum" sz="quarter" idx="5"/>
          </p:nvPr>
        </p:nvSpPr>
        <p:spPr/>
        <p:txBody>
          <a:bodyPr/>
          <a:lstStyle/>
          <a:p>
            <a:fld id="{37D01E2C-B751-4C38-A4F8-4A97733E0BA7}" type="slidenum">
              <a:rPr lang="en-US" smtClean="0"/>
              <a:t>2</a:t>
            </a:fld>
            <a:endParaRPr lang="en-US"/>
          </a:p>
        </p:txBody>
      </p:sp>
    </p:spTree>
    <p:extLst>
      <p:ext uri="{BB962C8B-B14F-4D97-AF65-F5344CB8AC3E}">
        <p14:creationId xmlns:p14="http://schemas.microsoft.com/office/powerpoint/2010/main" val="701726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71AE-76E6-7E3F-A6BE-E53E06B30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9498B-41DF-3B79-76ED-1D3D84BD9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4661B-E5AC-6E53-AAE1-53DB7DA67CE0}"/>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70DC036A-8BF8-4146-2F54-3C8808DA1728}"/>
              </a:ext>
            </a:extLst>
          </p:cNvPr>
          <p:cNvSpPr>
            <a:spLocks noGrp="1"/>
          </p:cNvSpPr>
          <p:nvPr>
            <p:ph type="sldNum" sz="quarter" idx="5"/>
          </p:nvPr>
        </p:nvSpPr>
        <p:spPr/>
        <p:txBody>
          <a:bodyPr/>
          <a:lstStyle/>
          <a:p>
            <a:fld id="{37D01E2C-B751-4C38-A4F8-4A97733E0BA7}" type="slidenum">
              <a:rPr lang="en-US" smtClean="0"/>
              <a:t>3</a:t>
            </a:fld>
            <a:endParaRPr lang="en-US"/>
          </a:p>
        </p:txBody>
      </p:sp>
    </p:spTree>
    <p:extLst>
      <p:ext uri="{BB962C8B-B14F-4D97-AF65-F5344CB8AC3E}">
        <p14:creationId xmlns:p14="http://schemas.microsoft.com/office/powerpoint/2010/main" val="2761179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C235B-448B-E54C-F6EF-D451E52D5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10C23-AE32-D3A4-A2A5-02E454D26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1685E-3D20-D26E-FD16-97C100BAFB1E}"/>
              </a:ext>
            </a:extLst>
          </p:cNvPr>
          <p:cNvSpPr>
            <a:spLocks noGrp="1"/>
          </p:cNvSpPr>
          <p:nvPr>
            <p:ph type="body" idx="1"/>
          </p:nvPr>
        </p:nvSpPr>
        <p:spPr/>
        <p:txBody>
          <a:bodyPr/>
          <a:lstStyle/>
          <a:p>
            <a:r>
              <a:rPr lang="vi-VN" b="1" dirty="0">
                <a:highlight>
                  <a:srgbClr val="FFFFFF"/>
                </a:highlight>
              </a:rPr>
              <a:t>🧩 2️⃣ Vì sao phải có </a:t>
            </a:r>
            <a:r>
              <a:rPr lang="vi-VN" sz="1200" b="1" kern="1200" dirty="0">
                <a:solidFill>
                  <a:schemeClr val="tx1"/>
                </a:solidFill>
                <a:highlight>
                  <a:srgbClr val="FFFFFF"/>
                </a:highlight>
                <a:latin typeface="+mn-lt"/>
                <a:ea typeface="+mn-ea"/>
                <a:cs typeface="+mn-cs"/>
              </a:rPr>
              <a:t>.begin()</a:t>
            </a:r>
            <a:endParaRPr lang="vi-VN" b="1" dirty="0">
              <a:highlight>
                <a:srgbClr val="FFFFFF"/>
              </a:highlight>
            </a:endParaRPr>
          </a:p>
          <a:p>
            <a:r>
              <a:rPr lang="vi-VN" dirty="0">
                <a:highlight>
                  <a:srgbClr val="FFFFFF"/>
                </a:highlight>
              </a:rPr>
              <a:t>Khi chương trình bắt đầu, UART chưa tự động chạy.</a:t>
            </a:r>
            <a:br>
              <a:rPr lang="vi-VN" dirty="0">
                <a:highlight>
                  <a:srgbClr val="FFFFFF"/>
                </a:highlight>
              </a:rPr>
            </a:br>
            <a:r>
              <a:rPr lang="vi-VN" sz="1200" kern="1200" dirty="0">
                <a:solidFill>
                  <a:schemeClr val="tx1"/>
                </a:solidFill>
                <a:highlight>
                  <a:srgbClr val="FFFFFF"/>
                </a:highlight>
                <a:latin typeface="+mn-lt"/>
                <a:ea typeface="+mn-ea"/>
                <a:cs typeface="+mn-cs"/>
              </a:rPr>
              <a:t>Serial.begin(baudrate)</a:t>
            </a:r>
            <a:r>
              <a:rPr lang="vi-VN" dirty="0">
                <a:highlight>
                  <a:srgbClr val="FFFFFF"/>
                </a:highlight>
              </a:rPr>
              <a:t> dùng để </a:t>
            </a:r>
            <a:r>
              <a:rPr lang="vi-VN" b="1" dirty="0">
                <a:highlight>
                  <a:srgbClr val="FFFFFF"/>
                </a:highlight>
              </a:rPr>
              <a:t>khởi tạo giao tiếp UART</a:t>
            </a:r>
            <a:r>
              <a:rPr lang="vi-VN" dirty="0">
                <a:highlight>
                  <a:srgbClr val="FFFFFF"/>
                </a:highlight>
              </a:rPr>
              <a:t>, cụ thể là:</a:t>
            </a:r>
            <a:endParaRPr lang="en-US" dirty="0">
              <a:highlight>
                <a:srgbClr val="FFFFFF"/>
              </a:highlight>
            </a:endParaRPr>
          </a:p>
          <a:p>
            <a:endParaRPr lang="vi-VN" dirty="0">
              <a:highlight>
                <a:srgbClr val="FFFFFF"/>
              </a:highlight>
            </a:endParaRPr>
          </a:p>
          <a:p>
            <a:r>
              <a:rPr lang="vi-VN" dirty="0">
                <a:highlight>
                  <a:srgbClr val="FFFFFF"/>
                </a:highlight>
              </a:rPr>
              <a:t>Thao tác của </a:t>
            </a:r>
            <a:r>
              <a:rPr lang="vi-VN" sz="1200" kern="1200" dirty="0">
                <a:solidFill>
                  <a:schemeClr val="tx1"/>
                </a:solidFill>
                <a:highlight>
                  <a:srgbClr val="FFFFFF"/>
                </a:highlight>
                <a:latin typeface="+mn-lt"/>
                <a:ea typeface="+mn-ea"/>
                <a:cs typeface="+mn-cs"/>
              </a:rPr>
              <a:t>Serial.begin(baudrate)</a:t>
            </a:r>
            <a:r>
              <a:rPr lang="vi-VN" dirty="0">
                <a:highlight>
                  <a:srgbClr val="FFFFFF"/>
                </a:highlight>
              </a:rPr>
              <a:t>Giải thíchCấu hình tốc độ baud (9600, 115200, …)</a:t>
            </a:r>
            <a:endParaRPr lang="en-US" dirty="0">
              <a:highlight>
                <a:srgbClr val="FFFFFF"/>
              </a:highlight>
            </a:endParaRPr>
          </a:p>
          <a:p>
            <a:r>
              <a:rPr lang="vi-VN" dirty="0">
                <a:highlight>
                  <a:srgbClr val="FFFFFF"/>
                </a:highlight>
              </a:rPr>
              <a:t>Quy định tốc độ truyền nhận dữ liệu giữa Arduino và máy tínhBật cổng UART (USART)</a:t>
            </a:r>
            <a:endParaRPr lang="en-US" dirty="0">
              <a:highlight>
                <a:srgbClr val="FFFFFF"/>
              </a:highlight>
            </a:endParaRPr>
          </a:p>
          <a:p>
            <a:r>
              <a:rPr lang="vi-VN" dirty="0">
                <a:highlight>
                  <a:srgbClr val="FFFFFF"/>
                </a:highlight>
              </a:rPr>
              <a:t>Kích hoạt phần cứng UART trong vi điều khiển</a:t>
            </a:r>
            <a:endParaRPr lang="en-US" dirty="0">
              <a:highlight>
                <a:srgbClr val="FFFFFF"/>
              </a:highlight>
            </a:endParaRPr>
          </a:p>
          <a:p>
            <a:r>
              <a:rPr lang="vi-VN" dirty="0">
                <a:highlight>
                  <a:srgbClr val="FFFFFF"/>
                </a:highlight>
              </a:rPr>
              <a:t>Khởi tạo bộ đệm (buffer) RX và TXTạo vùng nhớ tạm để lưu dữ liệu nhận và gửi</a:t>
            </a:r>
            <a:endParaRPr lang="en-US" dirty="0">
              <a:highlight>
                <a:srgbClr val="FFFFFF"/>
              </a:highlight>
            </a:endParaRPr>
          </a:p>
          <a:p>
            <a:r>
              <a:rPr lang="vi-VN" dirty="0">
                <a:highlight>
                  <a:srgbClr val="FFFFFF"/>
                </a:highlight>
              </a:rPr>
              <a:t>Chuẩn bị cho </a:t>
            </a:r>
            <a:r>
              <a:rPr lang="vi-VN" sz="1200" kern="1200" dirty="0">
                <a:solidFill>
                  <a:schemeClr val="tx1"/>
                </a:solidFill>
                <a:highlight>
                  <a:srgbClr val="FFFFFF"/>
                </a:highlight>
                <a:latin typeface="+mn-lt"/>
                <a:ea typeface="+mn-ea"/>
                <a:cs typeface="+mn-cs"/>
              </a:rPr>
              <a:t>Serial.print()</a:t>
            </a:r>
            <a:r>
              <a:rPr lang="vi-VN" dirty="0">
                <a:highlight>
                  <a:srgbClr val="FFFFFF"/>
                </a:highlight>
              </a:rPr>
              <a:t>, </a:t>
            </a:r>
            <a:r>
              <a:rPr lang="vi-VN" sz="1200" kern="1200" dirty="0">
                <a:solidFill>
                  <a:schemeClr val="tx1"/>
                </a:solidFill>
                <a:highlight>
                  <a:srgbClr val="FFFFFF"/>
                </a:highlight>
                <a:latin typeface="+mn-lt"/>
                <a:ea typeface="+mn-ea"/>
                <a:cs typeface="+mn-cs"/>
              </a:rPr>
              <a:t>Serial.read()</a:t>
            </a:r>
            <a:r>
              <a:rPr lang="vi-VN" dirty="0">
                <a:highlight>
                  <a:srgbClr val="FFFFFF"/>
                </a:highlight>
              </a:rPr>
              <a:t> hoạt động</a:t>
            </a:r>
            <a:endParaRPr lang="en-US" dirty="0">
              <a:highlight>
                <a:srgbClr val="FFFFFF"/>
              </a:highlight>
            </a:endParaRPr>
          </a:p>
          <a:p>
            <a:r>
              <a:rPr lang="vi-VN" dirty="0">
                <a:highlight>
                  <a:srgbClr val="FFFFFF"/>
                </a:highlight>
              </a:rPr>
              <a:t>Nếu chưa </a:t>
            </a:r>
            <a:r>
              <a:rPr lang="vi-VN" sz="1200" kern="1200" dirty="0">
                <a:solidFill>
                  <a:schemeClr val="tx1"/>
                </a:solidFill>
                <a:highlight>
                  <a:srgbClr val="FFFFFF"/>
                </a:highlight>
                <a:latin typeface="+mn-lt"/>
                <a:ea typeface="+mn-ea"/>
                <a:cs typeface="+mn-cs"/>
              </a:rPr>
              <a:t>begin()</a:t>
            </a:r>
            <a:r>
              <a:rPr lang="vi-VN" dirty="0">
                <a:highlight>
                  <a:srgbClr val="FFFFFF"/>
                </a:highlight>
              </a:rPr>
              <a:t>, các hàm này sẽ không làm việc</a:t>
            </a:r>
          </a:p>
        </p:txBody>
      </p:sp>
      <p:sp>
        <p:nvSpPr>
          <p:cNvPr id="4" name="Slide Number Placeholder 3">
            <a:extLst>
              <a:ext uri="{FF2B5EF4-FFF2-40B4-BE49-F238E27FC236}">
                <a16:creationId xmlns:a16="http://schemas.microsoft.com/office/drawing/2014/main" id="{6004B1A1-C2FB-3BD6-0CA7-E1E2600886BB}"/>
              </a:ext>
            </a:extLst>
          </p:cNvPr>
          <p:cNvSpPr>
            <a:spLocks noGrp="1"/>
          </p:cNvSpPr>
          <p:nvPr>
            <p:ph type="sldNum" sz="quarter" idx="5"/>
          </p:nvPr>
        </p:nvSpPr>
        <p:spPr/>
        <p:txBody>
          <a:bodyPr/>
          <a:lstStyle/>
          <a:p>
            <a:fld id="{37D01E2C-B751-4C38-A4F8-4A97733E0BA7}" type="slidenum">
              <a:rPr lang="en-US" smtClean="0"/>
              <a:t>4</a:t>
            </a:fld>
            <a:endParaRPr lang="en-US"/>
          </a:p>
        </p:txBody>
      </p:sp>
    </p:spTree>
    <p:extLst>
      <p:ext uri="{BB962C8B-B14F-4D97-AF65-F5344CB8AC3E}">
        <p14:creationId xmlns:p14="http://schemas.microsoft.com/office/powerpoint/2010/main" val="3184482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9489-E792-2A78-B911-3DB66747F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61799-0168-49E5-40C2-8C1D7A9E0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84542-B455-17AB-BA50-F1E5060047BF}"/>
              </a:ext>
            </a:extLst>
          </p:cNvPr>
          <p:cNvSpPr>
            <a:spLocks noGrp="1"/>
          </p:cNvSpPr>
          <p:nvPr>
            <p:ph type="body" idx="1"/>
          </p:nvPr>
        </p:nvSpPr>
        <p:spPr/>
        <p:txBody>
          <a:bodyPr/>
          <a:lstStyle/>
          <a:p>
            <a:r>
              <a:rPr lang="vi-VN" b="1" dirty="0">
                <a:highlight>
                  <a:srgbClr val="FFFFFF"/>
                </a:highlight>
              </a:rPr>
              <a:t>🧩 3️⃣ Tại sao không viết </a:t>
            </a:r>
            <a:r>
              <a:rPr lang="vi-VN" sz="1200" b="1" kern="1200" dirty="0">
                <a:solidFill>
                  <a:schemeClr val="tx1"/>
                </a:solidFill>
                <a:highlight>
                  <a:srgbClr val="FFFFFF"/>
                </a:highlight>
                <a:latin typeface="+mn-lt"/>
                <a:ea typeface="+mn-ea"/>
                <a:cs typeface="+mn-cs"/>
              </a:rPr>
              <a:t>begin(9600);</a:t>
            </a:r>
            <a:r>
              <a:rPr lang="vi-VN" b="1" dirty="0">
                <a:highlight>
                  <a:srgbClr val="FFFFFF"/>
                </a:highlight>
              </a:rPr>
              <a:t> mà phải </a:t>
            </a:r>
            <a:r>
              <a:rPr lang="vi-VN" sz="1200" b="1" kern="1200" dirty="0">
                <a:solidFill>
                  <a:schemeClr val="tx1"/>
                </a:solidFill>
                <a:highlight>
                  <a:srgbClr val="FFFFFF"/>
                </a:highlight>
                <a:latin typeface="+mn-lt"/>
                <a:ea typeface="+mn-ea"/>
                <a:cs typeface="+mn-cs"/>
              </a:rPr>
              <a:t>Serial.begin(9600);</a:t>
            </a:r>
            <a:endParaRPr lang="vi-VN" b="1" dirty="0">
              <a:highlight>
                <a:srgbClr val="FFFFFF"/>
              </a:highlight>
            </a:endParaRPr>
          </a:p>
          <a:p>
            <a:r>
              <a:rPr lang="vi-VN" dirty="0">
                <a:highlight>
                  <a:srgbClr val="FFFFFF"/>
                </a:highlight>
              </a:rPr>
              <a:t>Vì </a:t>
            </a:r>
            <a:r>
              <a:rPr lang="vi-VN" sz="1200" kern="1200" dirty="0">
                <a:solidFill>
                  <a:schemeClr val="tx1"/>
                </a:solidFill>
                <a:highlight>
                  <a:srgbClr val="FFFFFF"/>
                </a:highlight>
                <a:latin typeface="+mn-lt"/>
                <a:ea typeface="+mn-ea"/>
                <a:cs typeface="+mn-cs"/>
              </a:rPr>
              <a:t>begin()</a:t>
            </a:r>
            <a:r>
              <a:rPr lang="vi-VN" dirty="0">
                <a:highlight>
                  <a:srgbClr val="FFFFFF"/>
                </a:highlight>
              </a:rPr>
              <a:t> </a:t>
            </a:r>
            <a:r>
              <a:rPr lang="vi-VN" b="1" dirty="0">
                <a:highlight>
                  <a:srgbClr val="FFFFFF"/>
                </a:highlight>
              </a:rPr>
              <a:t>không phải là hàm toàn cục</a:t>
            </a:r>
            <a:r>
              <a:rPr lang="vi-VN" dirty="0">
                <a:highlight>
                  <a:srgbClr val="FFFFFF"/>
                </a:highlight>
              </a:rPr>
              <a:t>, mà là </a:t>
            </a:r>
            <a:r>
              <a:rPr lang="vi-VN" b="1" dirty="0">
                <a:highlight>
                  <a:srgbClr val="FFFFFF"/>
                </a:highlight>
              </a:rPr>
              <a:t>hàm riêng của đối tượng </a:t>
            </a:r>
            <a:r>
              <a:rPr lang="vi-VN" sz="1200" b="1" kern="1200" dirty="0">
                <a:solidFill>
                  <a:schemeClr val="tx1"/>
                </a:solidFill>
                <a:highlight>
                  <a:srgbClr val="FFFFFF"/>
                </a:highlight>
                <a:latin typeface="+mn-lt"/>
                <a:ea typeface="+mn-ea"/>
                <a:cs typeface="+mn-cs"/>
              </a:rPr>
              <a:t>Serial</a:t>
            </a:r>
            <a:r>
              <a:rPr lang="vi-VN" dirty="0">
                <a:highlight>
                  <a:srgbClr val="FFFFFF"/>
                </a:highlight>
              </a:rPr>
              <a:t>.</a:t>
            </a:r>
            <a:br>
              <a:rPr lang="vi-VN" dirty="0">
                <a:highlight>
                  <a:srgbClr val="FFFFFF"/>
                </a:highlight>
              </a:rPr>
            </a:br>
            <a:r>
              <a:rPr lang="vi-VN" dirty="0">
                <a:highlight>
                  <a:srgbClr val="FFFFFF"/>
                </a:highlight>
              </a:rPr>
              <a:t>Nếu bạn chỉ viết </a:t>
            </a:r>
            <a:r>
              <a:rPr lang="vi-VN" sz="1200" kern="1200" dirty="0">
                <a:solidFill>
                  <a:schemeClr val="tx1"/>
                </a:solidFill>
                <a:highlight>
                  <a:srgbClr val="FFFFFF"/>
                </a:highlight>
                <a:latin typeface="+mn-lt"/>
                <a:ea typeface="+mn-ea"/>
                <a:cs typeface="+mn-cs"/>
              </a:rPr>
              <a:t>begin(9600);</a:t>
            </a:r>
            <a:r>
              <a:rPr lang="vi-VN" dirty="0">
                <a:highlight>
                  <a:srgbClr val="FFFFFF"/>
                </a:highlight>
              </a:rPr>
              <a:t> thì trình biên dịch </a:t>
            </a:r>
            <a:r>
              <a:rPr lang="vi-VN" b="1" dirty="0">
                <a:highlight>
                  <a:srgbClr val="FFFFFF"/>
                </a:highlight>
              </a:rPr>
              <a:t>không biết</a:t>
            </a:r>
            <a:r>
              <a:rPr lang="vi-VN" dirty="0">
                <a:highlight>
                  <a:srgbClr val="FFFFFF"/>
                </a:highlight>
              </a:rPr>
              <a:t> bạn muốn gọi hàm </a:t>
            </a:r>
            <a:r>
              <a:rPr lang="vi-VN" sz="1200" kern="1200" dirty="0">
                <a:solidFill>
                  <a:schemeClr val="tx1"/>
                </a:solidFill>
                <a:highlight>
                  <a:srgbClr val="FFFFFF"/>
                </a:highlight>
                <a:latin typeface="+mn-lt"/>
                <a:ea typeface="+mn-ea"/>
                <a:cs typeface="+mn-cs"/>
              </a:rPr>
              <a:t>begin()</a:t>
            </a:r>
            <a:r>
              <a:rPr lang="vi-VN" dirty="0">
                <a:highlight>
                  <a:srgbClr val="FFFFFF"/>
                </a:highlight>
              </a:rPr>
              <a:t> của đối tượng nào → </a:t>
            </a:r>
            <a:r>
              <a:rPr lang="vi-VN" b="1" dirty="0">
                <a:highlight>
                  <a:srgbClr val="FFFFFF"/>
                </a:highlight>
              </a:rPr>
              <a:t>lỗi ngay.</a:t>
            </a:r>
            <a:endParaRPr lang="vi-VN" dirty="0">
              <a:highlight>
                <a:srgbClr val="FFFFFF"/>
              </a:highlight>
            </a:endParaRPr>
          </a:p>
          <a:p>
            <a:r>
              <a:rPr lang="vi-VN" dirty="0">
                <a:highlight>
                  <a:srgbClr val="FFFFFF"/>
                </a:highlight>
              </a:rPr>
              <a:t>Tương tự như ví dụ trong đời thường:</a:t>
            </a:r>
          </a:p>
          <a:p>
            <a:pPr rtl="0"/>
            <a:r>
              <a:rPr lang="vi-VN" sz="1200" kern="1200" dirty="0">
                <a:solidFill>
                  <a:schemeClr val="tx1"/>
                </a:solidFill>
                <a:highlight>
                  <a:srgbClr val="FFFFFF"/>
                </a:highlight>
                <a:latin typeface="+mn-lt"/>
                <a:ea typeface="+mn-ea"/>
                <a:cs typeface="+mn-cs"/>
              </a:rPr>
              <a:t>TV.turnOn();    // Bật TV</a:t>
            </a:r>
          </a:p>
          <a:p>
            <a:pPr rtl="0"/>
            <a:r>
              <a:rPr lang="vi-VN" sz="1200" kern="1200" dirty="0">
                <a:solidFill>
                  <a:schemeClr val="tx1"/>
                </a:solidFill>
                <a:highlight>
                  <a:srgbClr val="FFFFFF"/>
                </a:highlight>
                <a:latin typeface="+mn-lt"/>
                <a:ea typeface="+mn-ea"/>
                <a:cs typeface="+mn-cs"/>
              </a:rPr>
              <a:t>Fan.turnOn();   // Bật quạt</a:t>
            </a:r>
          </a:p>
          <a:p>
            <a:r>
              <a:rPr lang="vi-VN" dirty="0">
                <a:highlight>
                  <a:srgbClr val="FFFFFF"/>
                </a:highlight>
              </a:rPr>
              <a:t>Bạn không thể chỉ viết </a:t>
            </a:r>
            <a:r>
              <a:rPr lang="vi-VN" sz="1200" kern="1200" dirty="0">
                <a:solidFill>
                  <a:schemeClr val="tx1"/>
                </a:solidFill>
                <a:highlight>
                  <a:srgbClr val="FFFFFF"/>
                </a:highlight>
                <a:latin typeface="+mn-lt"/>
                <a:ea typeface="+mn-ea"/>
                <a:cs typeface="+mn-cs"/>
              </a:rPr>
              <a:t>turnOn();</a:t>
            </a:r>
            <a:r>
              <a:rPr lang="vi-VN" dirty="0">
                <a:highlight>
                  <a:srgbClr val="FFFFFF"/>
                </a:highlight>
              </a:rPr>
              <a:t> vì không biết “bật cái gì”.</a:t>
            </a:r>
          </a:p>
        </p:txBody>
      </p:sp>
      <p:sp>
        <p:nvSpPr>
          <p:cNvPr id="4" name="Slide Number Placeholder 3">
            <a:extLst>
              <a:ext uri="{FF2B5EF4-FFF2-40B4-BE49-F238E27FC236}">
                <a16:creationId xmlns:a16="http://schemas.microsoft.com/office/drawing/2014/main" id="{43E47F65-8662-DD91-8A36-AF45982847D2}"/>
              </a:ext>
            </a:extLst>
          </p:cNvPr>
          <p:cNvSpPr>
            <a:spLocks noGrp="1"/>
          </p:cNvSpPr>
          <p:nvPr>
            <p:ph type="sldNum" sz="quarter" idx="5"/>
          </p:nvPr>
        </p:nvSpPr>
        <p:spPr/>
        <p:txBody>
          <a:bodyPr/>
          <a:lstStyle/>
          <a:p>
            <a:fld id="{37D01E2C-B751-4C38-A4F8-4A97733E0BA7}" type="slidenum">
              <a:rPr lang="en-US" smtClean="0"/>
              <a:t>5</a:t>
            </a:fld>
            <a:endParaRPr lang="en-US"/>
          </a:p>
        </p:txBody>
      </p:sp>
    </p:spTree>
    <p:extLst>
      <p:ext uri="{BB962C8B-B14F-4D97-AF65-F5344CB8AC3E}">
        <p14:creationId xmlns:p14="http://schemas.microsoft.com/office/powerpoint/2010/main" val="3725976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93AB-8255-0AD8-517F-F3187E868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30BDD-0671-DC69-826A-001249A0D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63D90-44D8-E664-6DED-9BAE5CE58CF8}"/>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49FEFE37-FCFD-6752-E2AD-FBDF9F189887}"/>
              </a:ext>
            </a:extLst>
          </p:cNvPr>
          <p:cNvSpPr>
            <a:spLocks noGrp="1"/>
          </p:cNvSpPr>
          <p:nvPr>
            <p:ph type="sldNum" sz="quarter" idx="5"/>
          </p:nvPr>
        </p:nvSpPr>
        <p:spPr/>
        <p:txBody>
          <a:bodyPr/>
          <a:lstStyle/>
          <a:p>
            <a:fld id="{37D01E2C-B751-4C38-A4F8-4A97733E0BA7}" type="slidenum">
              <a:rPr lang="en-US" smtClean="0"/>
              <a:t>6</a:t>
            </a:fld>
            <a:endParaRPr lang="en-US"/>
          </a:p>
        </p:txBody>
      </p:sp>
    </p:spTree>
    <p:extLst>
      <p:ext uri="{BB962C8B-B14F-4D97-AF65-F5344CB8AC3E}">
        <p14:creationId xmlns:p14="http://schemas.microsoft.com/office/powerpoint/2010/main" val="3950400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68F1D-9E9F-58D8-B7FF-D895C9480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96477-13D9-9008-4DE1-2759AA0B4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AB82D-A384-DA40-863F-F9F15D1E9187}"/>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2D810E67-7FF7-8642-279A-992863AF17A0}"/>
              </a:ext>
            </a:extLst>
          </p:cNvPr>
          <p:cNvSpPr>
            <a:spLocks noGrp="1"/>
          </p:cNvSpPr>
          <p:nvPr>
            <p:ph type="sldNum" sz="quarter" idx="5"/>
          </p:nvPr>
        </p:nvSpPr>
        <p:spPr/>
        <p:txBody>
          <a:bodyPr/>
          <a:lstStyle/>
          <a:p>
            <a:fld id="{37D01E2C-B751-4C38-A4F8-4A97733E0BA7}" type="slidenum">
              <a:rPr lang="en-US" smtClean="0"/>
              <a:t>7</a:t>
            </a:fld>
            <a:endParaRPr lang="en-US"/>
          </a:p>
        </p:txBody>
      </p:sp>
    </p:spTree>
    <p:extLst>
      <p:ext uri="{BB962C8B-B14F-4D97-AF65-F5344CB8AC3E}">
        <p14:creationId xmlns:p14="http://schemas.microsoft.com/office/powerpoint/2010/main" val="1753645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55FAF-B5F6-6316-2FAC-50E614AC5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91915-7793-3AB7-AEAC-22EF0403B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41021-2261-4FF3-8DAD-525F86381244}"/>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30EC126C-428C-7EA1-87C5-9C81828971C5}"/>
              </a:ext>
            </a:extLst>
          </p:cNvPr>
          <p:cNvSpPr>
            <a:spLocks noGrp="1"/>
          </p:cNvSpPr>
          <p:nvPr>
            <p:ph type="sldNum" sz="quarter" idx="5"/>
          </p:nvPr>
        </p:nvSpPr>
        <p:spPr/>
        <p:txBody>
          <a:bodyPr/>
          <a:lstStyle/>
          <a:p>
            <a:fld id="{37D01E2C-B751-4C38-A4F8-4A97733E0BA7}" type="slidenum">
              <a:rPr lang="en-US" smtClean="0"/>
              <a:t>8</a:t>
            </a:fld>
            <a:endParaRPr lang="en-US"/>
          </a:p>
        </p:txBody>
      </p:sp>
    </p:spTree>
    <p:extLst>
      <p:ext uri="{BB962C8B-B14F-4D97-AF65-F5344CB8AC3E}">
        <p14:creationId xmlns:p14="http://schemas.microsoft.com/office/powerpoint/2010/main" val="2010613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6E7BD-1B61-3A97-5A63-B198238CF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970B9-8FB4-F9D9-F665-D6390A71F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85EB1-005B-63D5-41A8-BC05C5254CE8}"/>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7791F337-42BC-827F-EDFE-7D79299331C5}"/>
              </a:ext>
            </a:extLst>
          </p:cNvPr>
          <p:cNvSpPr>
            <a:spLocks noGrp="1"/>
          </p:cNvSpPr>
          <p:nvPr>
            <p:ph type="sldNum" sz="quarter" idx="5"/>
          </p:nvPr>
        </p:nvSpPr>
        <p:spPr/>
        <p:txBody>
          <a:bodyPr/>
          <a:lstStyle/>
          <a:p>
            <a:fld id="{37D01E2C-B751-4C38-A4F8-4A97733E0BA7}" type="slidenum">
              <a:rPr lang="en-US" smtClean="0"/>
              <a:t>9</a:t>
            </a:fld>
            <a:endParaRPr lang="en-US"/>
          </a:p>
        </p:txBody>
      </p:sp>
    </p:spTree>
    <p:extLst>
      <p:ext uri="{BB962C8B-B14F-4D97-AF65-F5344CB8AC3E}">
        <p14:creationId xmlns:p14="http://schemas.microsoft.com/office/powerpoint/2010/main" val="3851227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FFBE-360F-7584-50FE-E7BF96B7B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75458-6FDE-D967-13A2-C2747B754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E281B-F3AE-50FE-732C-DE65DA3102A7}"/>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F476DEA5-D29C-CB6D-DEA5-0600F52F44A4}"/>
              </a:ext>
            </a:extLst>
          </p:cNvPr>
          <p:cNvSpPr>
            <a:spLocks noGrp="1"/>
          </p:cNvSpPr>
          <p:nvPr>
            <p:ph type="sldNum" sz="quarter" idx="5"/>
          </p:nvPr>
        </p:nvSpPr>
        <p:spPr/>
        <p:txBody>
          <a:bodyPr/>
          <a:lstStyle/>
          <a:p>
            <a:fld id="{37D01E2C-B751-4C38-A4F8-4A97733E0BA7}" type="slidenum">
              <a:rPr lang="en-US" smtClean="0"/>
              <a:t>10</a:t>
            </a:fld>
            <a:endParaRPr lang="en-US"/>
          </a:p>
        </p:txBody>
      </p:sp>
    </p:spTree>
    <p:extLst>
      <p:ext uri="{BB962C8B-B14F-4D97-AF65-F5344CB8AC3E}">
        <p14:creationId xmlns:p14="http://schemas.microsoft.com/office/powerpoint/2010/main" val="269027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5B27C-07C6-5E1C-8DDE-193D795C6E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CD149-A1E5-5DF6-EF16-A5262D152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AB0C4-AFA9-4607-A635-A4F6BFE5FBED}"/>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E29D74D0-ACE8-FE66-1A80-1C22E521BA5D}"/>
              </a:ext>
            </a:extLst>
          </p:cNvPr>
          <p:cNvSpPr>
            <a:spLocks noGrp="1"/>
          </p:cNvSpPr>
          <p:nvPr>
            <p:ph type="sldNum" sz="quarter" idx="5"/>
          </p:nvPr>
        </p:nvSpPr>
        <p:spPr/>
        <p:txBody>
          <a:bodyPr/>
          <a:lstStyle/>
          <a:p>
            <a:fld id="{37D01E2C-B751-4C38-A4F8-4A97733E0BA7}" type="slidenum">
              <a:rPr lang="en-US" smtClean="0"/>
              <a:t>11</a:t>
            </a:fld>
            <a:endParaRPr lang="en-US"/>
          </a:p>
        </p:txBody>
      </p:sp>
    </p:spTree>
    <p:extLst>
      <p:ext uri="{BB962C8B-B14F-4D97-AF65-F5344CB8AC3E}">
        <p14:creationId xmlns:p14="http://schemas.microsoft.com/office/powerpoint/2010/main" val="1134078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21A18-A9FE-EB5D-F6F5-7110DEBC9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266B0-A092-5EBD-BA36-65C9CE761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A31DA-6AC3-1910-2CBF-3E0BC22C1D13}"/>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B084BBE0-F270-91B6-AA65-7484EEB4127C}"/>
              </a:ext>
            </a:extLst>
          </p:cNvPr>
          <p:cNvSpPr>
            <a:spLocks noGrp="1"/>
          </p:cNvSpPr>
          <p:nvPr>
            <p:ph type="sldNum" sz="quarter" idx="5"/>
          </p:nvPr>
        </p:nvSpPr>
        <p:spPr/>
        <p:txBody>
          <a:bodyPr/>
          <a:lstStyle/>
          <a:p>
            <a:fld id="{37D01E2C-B751-4C38-A4F8-4A97733E0BA7}" type="slidenum">
              <a:rPr lang="en-US" smtClean="0"/>
              <a:t>12</a:t>
            </a:fld>
            <a:endParaRPr lang="en-US"/>
          </a:p>
        </p:txBody>
      </p:sp>
    </p:spTree>
    <p:extLst>
      <p:ext uri="{BB962C8B-B14F-4D97-AF65-F5344CB8AC3E}">
        <p14:creationId xmlns:p14="http://schemas.microsoft.com/office/powerpoint/2010/main" val="4176151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D59CC-4C8F-53DE-DACA-A226EDA7F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D6B3A-6E28-6FFE-3461-B93B48F11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B710C-FD11-AC38-7BE9-C28D85B091F5}"/>
              </a:ext>
            </a:extLst>
          </p:cNvPr>
          <p:cNvSpPr>
            <a:spLocks noGrp="1"/>
          </p:cNvSpPr>
          <p:nvPr>
            <p:ph type="body" idx="1"/>
          </p:nvPr>
        </p:nvSpPr>
        <p:spPr/>
        <p:txBody>
          <a:bodyPr/>
          <a:lstStyle/>
          <a:p>
            <a:r>
              <a:rPr lang="en-US" dirty="0"/>
              <a:t>/*</a:t>
            </a:r>
          </a:p>
          <a:p>
            <a:r>
              <a:rPr lang="en-US" dirty="0"/>
              <a:t>  Arduino Serial Available Test</a:t>
            </a:r>
          </a:p>
          <a:p>
            <a:r>
              <a:rPr lang="en-US" dirty="0"/>
              <a:t>  - Checks for data from the computer</a:t>
            </a:r>
          </a:p>
          <a:p>
            <a:r>
              <a:rPr lang="en-US" dirty="0"/>
              <a:t>  - If a character is received, Arduino returns that character</a:t>
            </a:r>
          </a:p>
          <a:p>
            <a:r>
              <a:rPr lang="en-US" dirty="0"/>
              <a:t>*/</a:t>
            </a:r>
          </a:p>
          <a:p>
            <a:endParaRPr lang="en-US" dirty="0"/>
          </a:p>
          <a:p>
            <a:r>
              <a:rPr lang="en-US" dirty="0"/>
              <a:t>void setup() {</a:t>
            </a:r>
          </a:p>
          <a:p>
            <a:r>
              <a:rPr lang="en-US" dirty="0"/>
              <a:t>  </a:t>
            </a:r>
            <a:r>
              <a:rPr lang="en-US" dirty="0" err="1"/>
              <a:t>Serial.begin</a:t>
            </a:r>
            <a:r>
              <a:rPr lang="en-US" dirty="0"/>
              <a:t>(9600); // Initialize UART with a baud rate of 9600</a:t>
            </a:r>
          </a:p>
          <a:p>
            <a:r>
              <a:rPr lang="en-US" dirty="0"/>
              <a:t>  </a:t>
            </a:r>
            <a:r>
              <a:rPr lang="en-US" dirty="0" err="1"/>
              <a:t>Serial.println</a:t>
            </a:r>
            <a:r>
              <a:rPr lang="en-US" dirty="0"/>
              <a:t>("Arduino is ready. Type something in Serial Monitor...");</a:t>
            </a:r>
          </a:p>
          <a:p>
            <a:r>
              <a:rPr lang="en-US" dirty="0"/>
              <a:t>}</a:t>
            </a:r>
          </a:p>
          <a:p>
            <a:endParaRPr lang="en-US" dirty="0"/>
          </a:p>
          <a:p>
            <a:r>
              <a:rPr lang="en-US" dirty="0"/>
              <a:t>void loop() {</a:t>
            </a:r>
          </a:p>
          <a:p>
            <a:r>
              <a:rPr lang="en-US" dirty="0"/>
              <a:t>  // Check if there is data available from the computer</a:t>
            </a:r>
          </a:p>
          <a:p>
            <a:r>
              <a:rPr lang="en-US" dirty="0"/>
              <a:t>  if (</a:t>
            </a:r>
            <a:r>
              <a:rPr lang="en-US" dirty="0" err="1"/>
              <a:t>Serial.available</a:t>
            </a:r>
            <a:r>
              <a:rPr lang="en-US" dirty="0"/>
              <a:t>() &gt; 0) {</a:t>
            </a:r>
          </a:p>
          <a:p>
            <a:r>
              <a:rPr lang="en-US" dirty="0"/>
              <a:t>    char </a:t>
            </a:r>
            <a:r>
              <a:rPr lang="en-US" dirty="0" err="1"/>
              <a:t>receivedChar</a:t>
            </a:r>
            <a:r>
              <a:rPr lang="en-US" dirty="0"/>
              <a:t> = </a:t>
            </a:r>
            <a:r>
              <a:rPr lang="en-US" dirty="0" err="1"/>
              <a:t>Serial.read</a:t>
            </a:r>
            <a:r>
              <a:rPr lang="en-US" dirty="0"/>
              <a:t>(); // Read the character from the RX buffer</a:t>
            </a:r>
          </a:p>
          <a:p>
            <a:r>
              <a:rPr lang="en-US" dirty="0"/>
              <a:t>    </a:t>
            </a:r>
            <a:r>
              <a:rPr lang="en-US" dirty="0" err="1"/>
              <a:t>Serial.print</a:t>
            </a:r>
            <a:r>
              <a:rPr lang="en-US" dirty="0"/>
              <a:t>("You sent: ");      // Print the notification</a:t>
            </a:r>
          </a:p>
          <a:p>
            <a:r>
              <a:rPr lang="en-US" dirty="0"/>
              <a:t>    </a:t>
            </a:r>
            <a:r>
              <a:rPr lang="en-US" dirty="0" err="1"/>
              <a:t>Serial.println</a:t>
            </a:r>
            <a:r>
              <a:rPr lang="en-US" dirty="0"/>
              <a:t>(</a:t>
            </a:r>
            <a:r>
              <a:rPr lang="en-US" dirty="0" err="1"/>
              <a:t>receivedChar</a:t>
            </a:r>
            <a:r>
              <a:rPr lang="en-US" dirty="0"/>
              <a:t>);      // Print the received character</a:t>
            </a:r>
          </a:p>
          <a:p>
            <a:endParaRPr lang="en-US" dirty="0"/>
          </a:p>
          <a:p>
            <a:r>
              <a:rPr lang="en-US" dirty="0"/>
              <a:t>    // If desired, you can add more conditions, for example:</a:t>
            </a:r>
          </a:p>
          <a:p>
            <a:r>
              <a:rPr lang="en-US" dirty="0"/>
              <a:t>    if (</a:t>
            </a:r>
            <a:r>
              <a:rPr lang="en-US" dirty="0" err="1"/>
              <a:t>receivedChar</a:t>
            </a:r>
            <a:r>
              <a:rPr lang="en-US" dirty="0"/>
              <a:t> == 'A') {</a:t>
            </a:r>
          </a:p>
          <a:p>
            <a:r>
              <a:rPr lang="en-US" dirty="0"/>
              <a:t>      </a:t>
            </a:r>
            <a:r>
              <a:rPr lang="en-US" dirty="0" err="1"/>
              <a:t>Serial.println</a:t>
            </a:r>
            <a:r>
              <a:rPr lang="en-US" dirty="0"/>
              <a:t>("You pressed A!");</a:t>
            </a:r>
          </a:p>
          <a:p>
            <a:r>
              <a:rPr lang="en-US" dirty="0"/>
              <a:t>    }</a:t>
            </a:r>
          </a:p>
          <a:p>
            <a:r>
              <a:rPr lang="en-US" dirty="0"/>
              <a:t>  }</a:t>
            </a:r>
          </a:p>
          <a:p>
            <a:r>
              <a:rPr lang="en-US" dirty="0"/>
              <a:t>}</a:t>
            </a:r>
            <a:endParaRPr lang="vi-VN" dirty="0">
              <a:highlight>
                <a:srgbClr val="FFFFFF"/>
              </a:highlight>
            </a:endParaRPr>
          </a:p>
        </p:txBody>
      </p:sp>
      <p:sp>
        <p:nvSpPr>
          <p:cNvPr id="4" name="Slide Number Placeholder 3">
            <a:extLst>
              <a:ext uri="{FF2B5EF4-FFF2-40B4-BE49-F238E27FC236}">
                <a16:creationId xmlns:a16="http://schemas.microsoft.com/office/drawing/2014/main" id="{07DEF124-D162-32A3-03E0-F90E7A203571}"/>
              </a:ext>
            </a:extLst>
          </p:cNvPr>
          <p:cNvSpPr>
            <a:spLocks noGrp="1"/>
          </p:cNvSpPr>
          <p:nvPr>
            <p:ph type="sldNum" sz="quarter" idx="5"/>
          </p:nvPr>
        </p:nvSpPr>
        <p:spPr/>
        <p:txBody>
          <a:bodyPr/>
          <a:lstStyle/>
          <a:p>
            <a:fld id="{37D01E2C-B751-4C38-A4F8-4A97733E0BA7}" type="slidenum">
              <a:rPr lang="en-US" smtClean="0"/>
              <a:t>13</a:t>
            </a:fld>
            <a:endParaRPr lang="en-US"/>
          </a:p>
        </p:txBody>
      </p:sp>
    </p:spTree>
    <p:extLst>
      <p:ext uri="{BB962C8B-B14F-4D97-AF65-F5344CB8AC3E}">
        <p14:creationId xmlns:p14="http://schemas.microsoft.com/office/powerpoint/2010/main" val="1254080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F6D6F-4070-E0A0-7319-C3ECF361E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98D0E-1E72-812E-322A-2441945CD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8878A-EAEB-EE92-F7BD-F9CA91A904EF}"/>
              </a:ext>
            </a:extLst>
          </p:cNvPr>
          <p:cNvSpPr>
            <a:spLocks noGrp="1"/>
          </p:cNvSpPr>
          <p:nvPr>
            <p:ph type="body" idx="1"/>
          </p:nvPr>
        </p:nvSpPr>
        <p:spPr/>
        <p:txBody>
          <a:bodyPr/>
          <a:lstStyle/>
          <a:p>
            <a:r>
              <a:rPr lang="vi-VN" dirty="0">
                <a:highlight>
                  <a:srgbClr val="FFFFFF"/>
                </a:highlight>
              </a:rPr>
              <a:t>🧩 3️⃣ Serial.read() 🧠 Chức năng: </a:t>
            </a:r>
            <a:endParaRPr lang="en-US" dirty="0">
              <a:highlight>
                <a:srgbClr val="FFFFFF"/>
              </a:highlight>
            </a:endParaRPr>
          </a:p>
          <a:p>
            <a:r>
              <a:rPr lang="vi-VN" dirty="0">
                <a:highlight>
                  <a:srgbClr val="FFFFFF"/>
                </a:highlight>
              </a:rPr>
              <a:t>Đọc 1 byte dữ liệu từ bộ đệm nhận (RX buffer). </a:t>
            </a:r>
            <a:endParaRPr lang="en-US" dirty="0">
              <a:highlight>
                <a:srgbClr val="FFFFFF"/>
              </a:highlight>
            </a:endParaRPr>
          </a:p>
          <a:p>
            <a:r>
              <a:rPr lang="vi-VN" dirty="0">
                <a:highlight>
                  <a:srgbClr val="FFFFFF"/>
                </a:highlight>
              </a:rPr>
              <a:t>🧱 Cú pháp: Serial.read() </a:t>
            </a:r>
            <a:endParaRPr lang="en-US" dirty="0">
              <a:highlight>
                <a:srgbClr val="FFFFFF"/>
              </a:highlight>
            </a:endParaRPr>
          </a:p>
          <a:p>
            <a:r>
              <a:rPr lang="vi-VN" dirty="0">
                <a:highlight>
                  <a:srgbClr val="FFFFFF"/>
                </a:highlight>
              </a:rPr>
              <a:t>💡 Trả về: </a:t>
            </a:r>
            <a:endParaRPr lang="en-US" dirty="0">
              <a:highlight>
                <a:srgbClr val="FFFFFF"/>
              </a:highlight>
            </a:endParaRPr>
          </a:p>
          <a:p>
            <a:r>
              <a:rPr lang="vi-VN" dirty="0">
                <a:highlight>
                  <a:srgbClr val="FFFFFF"/>
                </a:highlight>
              </a:rPr>
              <a:t>Một giá trị kiểu int (0–255) tương ứng byte đọc được.</a:t>
            </a:r>
            <a:endParaRPr lang="en-US" dirty="0">
              <a:highlight>
                <a:srgbClr val="FFFFFF"/>
              </a:highlight>
            </a:endParaRPr>
          </a:p>
          <a:p>
            <a:r>
              <a:rPr lang="vi-VN" dirty="0">
                <a:highlight>
                  <a:srgbClr val="FFFFFF"/>
                </a:highlight>
              </a:rPr>
              <a:t>Nếu không có dữ liệu, trả về -1. </a:t>
            </a:r>
            <a:endParaRPr lang="en-US" dirty="0">
              <a:highlight>
                <a:srgbClr val="FFFFFF"/>
              </a:highlight>
            </a:endParaRPr>
          </a:p>
          <a:p>
            <a:r>
              <a:rPr lang="vi-VN" dirty="0">
                <a:highlight>
                  <a:srgbClr val="FFFFFF"/>
                </a:highlight>
              </a:rPr>
              <a:t>📤 Ví dụ: </a:t>
            </a:r>
            <a:endParaRPr lang="en-US" dirty="0">
              <a:highlight>
                <a:srgbClr val="FFFFFF"/>
              </a:highlight>
            </a:endParaRPr>
          </a:p>
          <a:p>
            <a:r>
              <a:rPr lang="vi-VN" dirty="0">
                <a:highlight>
                  <a:srgbClr val="FFFFFF"/>
                </a:highlight>
              </a:rPr>
              <a:t>void loop() {</a:t>
            </a:r>
            <a:endParaRPr lang="en-US" dirty="0">
              <a:highlight>
                <a:srgbClr val="FFFFFF"/>
              </a:highlight>
            </a:endParaRPr>
          </a:p>
          <a:p>
            <a:r>
              <a:rPr lang="vi-VN" dirty="0">
                <a:highlight>
                  <a:srgbClr val="FFFFFF"/>
                </a:highlight>
              </a:rPr>
              <a:t> if (Serial.available() &gt; 0) </a:t>
            </a:r>
            <a:endParaRPr lang="en-US" dirty="0">
              <a:highlight>
                <a:srgbClr val="FFFFFF"/>
              </a:highlight>
            </a:endParaRPr>
          </a:p>
          <a:p>
            <a:r>
              <a:rPr lang="vi-VN" dirty="0">
                <a:highlight>
                  <a:srgbClr val="FFFFFF"/>
                </a:highlight>
              </a:rPr>
              <a:t>{ </a:t>
            </a:r>
            <a:endParaRPr lang="en-US" dirty="0">
              <a:highlight>
                <a:srgbClr val="FFFFFF"/>
              </a:highlight>
            </a:endParaRPr>
          </a:p>
          <a:p>
            <a:r>
              <a:rPr lang="vi-VN" dirty="0">
                <a:highlight>
                  <a:srgbClr val="FFFFFF"/>
                </a:highlight>
              </a:rPr>
              <a:t>int data = Serial.read(); // đọc 1 byte </a:t>
            </a:r>
            <a:endParaRPr lang="en-US" dirty="0">
              <a:highlight>
                <a:srgbClr val="FFFFFF"/>
              </a:highlight>
            </a:endParaRPr>
          </a:p>
          <a:p>
            <a:r>
              <a:rPr lang="vi-VN" dirty="0">
                <a:highlight>
                  <a:srgbClr val="FFFFFF"/>
                </a:highlight>
              </a:rPr>
              <a:t>Serial.print("Đã nhận: "); </a:t>
            </a:r>
            <a:endParaRPr lang="en-US" dirty="0">
              <a:highlight>
                <a:srgbClr val="FFFFFF"/>
              </a:highlight>
            </a:endParaRPr>
          </a:p>
          <a:p>
            <a:r>
              <a:rPr lang="vi-VN" dirty="0">
                <a:highlight>
                  <a:srgbClr val="FFFFFF"/>
                </a:highlight>
              </a:rPr>
              <a:t>Serial.println((char)data); // ép kiểu sang ký tự để in </a:t>
            </a:r>
            <a:endParaRPr lang="en-US" dirty="0">
              <a:highlight>
                <a:srgbClr val="FFFFFF"/>
              </a:highlight>
            </a:endParaRPr>
          </a:p>
          <a:p>
            <a:r>
              <a:rPr lang="vi-VN" dirty="0">
                <a:highlight>
                  <a:srgbClr val="FFFFFF"/>
                </a:highlight>
              </a:rPr>
              <a:t>}</a:t>
            </a:r>
            <a:endParaRPr lang="en-US" dirty="0">
              <a:highlight>
                <a:srgbClr val="FFFFFF"/>
              </a:highlight>
            </a:endParaRPr>
          </a:p>
          <a:p>
            <a:r>
              <a:rPr lang="vi-VN" dirty="0">
                <a:highlight>
                  <a:srgbClr val="FFFFFF"/>
                </a:highlight>
              </a:rPr>
              <a:t> } </a:t>
            </a:r>
            <a:endParaRPr lang="en-US" dirty="0">
              <a:highlight>
                <a:srgbClr val="FFFFFF"/>
              </a:highlight>
            </a:endParaRPr>
          </a:p>
          <a:p>
            <a:r>
              <a:rPr lang="vi-VN" dirty="0">
                <a:highlight>
                  <a:srgbClr val="FFFFFF"/>
                </a:highlight>
              </a:rPr>
              <a:t>⚙️ Giải thích: Mỗi lần Serial.read() được gọi, 1 byte trong RX buffer bị lấy ra (xóa khỏi bộ đệm). Nếu đọc liên tục mà không có dữ liệu mới → nhận giá trị -1</a:t>
            </a:r>
          </a:p>
        </p:txBody>
      </p:sp>
      <p:sp>
        <p:nvSpPr>
          <p:cNvPr id="4" name="Slide Number Placeholder 3">
            <a:extLst>
              <a:ext uri="{FF2B5EF4-FFF2-40B4-BE49-F238E27FC236}">
                <a16:creationId xmlns:a16="http://schemas.microsoft.com/office/drawing/2014/main" id="{4482E7C1-183A-3195-4B6F-7A9D3632BBFA}"/>
              </a:ext>
            </a:extLst>
          </p:cNvPr>
          <p:cNvSpPr>
            <a:spLocks noGrp="1"/>
          </p:cNvSpPr>
          <p:nvPr>
            <p:ph type="sldNum" sz="quarter" idx="5"/>
          </p:nvPr>
        </p:nvSpPr>
        <p:spPr/>
        <p:txBody>
          <a:bodyPr/>
          <a:lstStyle/>
          <a:p>
            <a:fld id="{37D01E2C-B751-4C38-A4F8-4A97733E0BA7}" type="slidenum">
              <a:rPr lang="en-US" smtClean="0"/>
              <a:t>14</a:t>
            </a:fld>
            <a:endParaRPr lang="en-US"/>
          </a:p>
        </p:txBody>
      </p:sp>
    </p:spTree>
    <p:extLst>
      <p:ext uri="{BB962C8B-B14F-4D97-AF65-F5344CB8AC3E}">
        <p14:creationId xmlns:p14="http://schemas.microsoft.com/office/powerpoint/2010/main" val="1204221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4C9D-306E-8055-DD6E-D00EB867D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E06A0-3BC4-F497-443F-2674BB108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6AE29-C72C-CB75-CAF7-20D60C10318A}"/>
              </a:ext>
            </a:extLst>
          </p:cNvPr>
          <p:cNvSpPr>
            <a:spLocks noGrp="1"/>
          </p:cNvSpPr>
          <p:nvPr>
            <p:ph type="body" idx="1"/>
          </p:nvPr>
        </p:nvSpPr>
        <p:spPr/>
        <p:txBody>
          <a:bodyPr/>
          <a:lstStyle/>
          <a:p>
            <a:r>
              <a:rPr lang="vi-VN" dirty="0"/>
              <a:t>void setup() {</a:t>
            </a:r>
          </a:p>
          <a:p>
            <a:r>
              <a:rPr lang="vi-VN" dirty="0"/>
              <a:t>  Serial.begin(9600);  // Initialize UART with baud rate 9600</a:t>
            </a:r>
          </a:p>
          <a:p>
            <a:r>
              <a:rPr lang="vi-VN" dirty="0"/>
              <a:t>  Serial.println("Type a character and Arduino will send it back:");</a:t>
            </a:r>
          </a:p>
          <a:p>
            <a:r>
              <a:rPr lang="vi-VN" dirty="0"/>
              <a:t>}</a:t>
            </a:r>
          </a:p>
          <a:p>
            <a:endParaRPr lang="vi-VN" dirty="0"/>
          </a:p>
          <a:p>
            <a:r>
              <a:rPr lang="vi-VN" dirty="0"/>
              <a:t>void loop() {</a:t>
            </a:r>
          </a:p>
          <a:p>
            <a:r>
              <a:rPr lang="vi-VN" dirty="0"/>
              <a:t>  if (Serial.available() &gt; 0) {   // If there is data from the computer</a:t>
            </a:r>
          </a:p>
          <a:p>
            <a:r>
              <a:rPr lang="vi-VN" dirty="0"/>
              <a:t>    char c = Serial.read();        // Read 1 byte</a:t>
            </a:r>
          </a:p>
          <a:p>
            <a:r>
              <a:rPr lang="vi-VN" dirty="0"/>
              <a:t>    Serial.print("Arduino received: ");</a:t>
            </a:r>
          </a:p>
          <a:p>
            <a:r>
              <a:rPr lang="vi-VN" dirty="0"/>
              <a:t>    Serial.println(c);             // Send it back to the computer</a:t>
            </a:r>
          </a:p>
          <a:p>
            <a:r>
              <a:rPr lang="vi-VN" dirty="0"/>
              <a:t>  }</a:t>
            </a:r>
          </a:p>
          <a:p>
            <a:r>
              <a:rPr lang="vi-VN" dirty="0"/>
              <a:t>}</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D9C8A5D5-9AD2-D5FA-51F3-FEECE7122B70}"/>
              </a:ext>
            </a:extLst>
          </p:cNvPr>
          <p:cNvSpPr>
            <a:spLocks noGrp="1"/>
          </p:cNvSpPr>
          <p:nvPr>
            <p:ph type="sldNum" sz="quarter" idx="5"/>
          </p:nvPr>
        </p:nvSpPr>
        <p:spPr/>
        <p:txBody>
          <a:bodyPr/>
          <a:lstStyle/>
          <a:p>
            <a:fld id="{37D01E2C-B751-4C38-A4F8-4A97733E0BA7}" type="slidenum">
              <a:rPr lang="en-US" smtClean="0"/>
              <a:t>15</a:t>
            </a:fld>
            <a:endParaRPr lang="en-US"/>
          </a:p>
        </p:txBody>
      </p:sp>
    </p:spTree>
    <p:extLst>
      <p:ext uri="{BB962C8B-B14F-4D97-AF65-F5344CB8AC3E}">
        <p14:creationId xmlns:p14="http://schemas.microsoft.com/office/powerpoint/2010/main" val="3655057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3C3B-D621-5254-AC0F-D672E2A08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3E2BE-E4AD-6D42-E46A-F85676502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D951-6713-B825-97D9-1492F3731C2E}"/>
              </a:ext>
            </a:extLst>
          </p:cNvPr>
          <p:cNvSpPr>
            <a:spLocks noGrp="1"/>
          </p:cNvSpPr>
          <p:nvPr>
            <p:ph type="body" idx="1"/>
          </p:nvPr>
        </p:nvSpPr>
        <p:spPr/>
        <p:txBody>
          <a:bodyPr/>
          <a:lstStyle/>
          <a:p>
            <a:r>
              <a:rPr lang="vi-VN" dirty="0">
                <a:highlight>
                  <a:srgbClr val="FFFFFF"/>
                </a:highlight>
              </a:rPr>
              <a:t>🧩 4️⃣ Serial.readBytes() </a:t>
            </a:r>
            <a:endParaRPr lang="en-US" dirty="0">
              <a:highlight>
                <a:srgbClr val="FFFFFF"/>
              </a:highlight>
            </a:endParaRPr>
          </a:p>
          <a:p>
            <a:r>
              <a:rPr lang="vi-VN" dirty="0">
                <a:highlight>
                  <a:srgbClr val="FFFFFF"/>
                </a:highlight>
              </a:rPr>
              <a:t>🧠 Chức năng: Đọc nhiều byte liên tiếp từ RX buffer vào mảng. </a:t>
            </a:r>
            <a:endParaRPr lang="en-US" dirty="0">
              <a:highlight>
                <a:srgbClr val="FFFFFF"/>
              </a:highlight>
            </a:endParaRPr>
          </a:p>
          <a:p>
            <a:r>
              <a:rPr lang="vi-VN" dirty="0">
                <a:highlight>
                  <a:srgbClr val="FFFFFF"/>
                </a:highlight>
              </a:rPr>
              <a:t>🧱 Cú pháp: Serial.readBytes(buffer, length) </a:t>
            </a:r>
            <a:endParaRPr lang="en-US" dirty="0">
              <a:highlight>
                <a:srgbClr val="FFFFFF"/>
              </a:highlight>
            </a:endParaRPr>
          </a:p>
          <a:p>
            <a:r>
              <a:rPr lang="vi-VN" dirty="0">
                <a:highlight>
                  <a:srgbClr val="FFFFFF"/>
                </a:highlight>
              </a:rPr>
              <a:t> Tham số: </a:t>
            </a:r>
            <a:endParaRPr lang="en-US" dirty="0">
              <a:highlight>
                <a:srgbClr val="FFFFFF"/>
              </a:highlight>
            </a:endParaRPr>
          </a:p>
          <a:p>
            <a:r>
              <a:rPr lang="vi-VN" dirty="0">
                <a:highlight>
                  <a:srgbClr val="FFFFFF"/>
                </a:highlight>
              </a:rPr>
              <a:t>buffer: mảng (hoặc con trỏ) nơi lưu dữ liệu đọc được. length: số byte muốn đọc. </a:t>
            </a:r>
            <a:endParaRPr lang="en-US" dirty="0">
              <a:highlight>
                <a:srgbClr val="FFFFFF"/>
              </a:highlight>
            </a:endParaRPr>
          </a:p>
          <a:p>
            <a:r>
              <a:rPr lang="vi-VN" dirty="0">
                <a:highlight>
                  <a:srgbClr val="FFFFFF"/>
                </a:highlight>
              </a:rPr>
              <a:t>💡 Trả về:</a:t>
            </a:r>
            <a:endParaRPr lang="en-US" dirty="0">
              <a:highlight>
                <a:srgbClr val="FFFFFF"/>
              </a:highlight>
            </a:endParaRPr>
          </a:p>
          <a:p>
            <a:r>
              <a:rPr lang="vi-VN" dirty="0">
                <a:highlight>
                  <a:srgbClr val="FFFFFF"/>
                </a:highlight>
              </a:rPr>
              <a:t> Số byte thực sự đã đọc được (kiểu size_t). </a:t>
            </a:r>
            <a:endParaRPr lang="en-US" dirty="0">
              <a:highlight>
                <a:srgbClr val="FFFFFF"/>
              </a:highlight>
            </a:endParaRPr>
          </a:p>
          <a:p>
            <a:r>
              <a:rPr lang="vi-VN" dirty="0">
                <a:highlight>
                  <a:srgbClr val="FFFFFF"/>
                </a:highlight>
              </a:rPr>
              <a:t>📤 Ví dụ: byte data[5]; int num = Serial.readBytes(data, 5); Serial.print("Đã đọc "); Serial.print(num); Serial.println(" byte.");</a:t>
            </a:r>
          </a:p>
        </p:txBody>
      </p:sp>
      <p:sp>
        <p:nvSpPr>
          <p:cNvPr id="4" name="Slide Number Placeholder 3">
            <a:extLst>
              <a:ext uri="{FF2B5EF4-FFF2-40B4-BE49-F238E27FC236}">
                <a16:creationId xmlns:a16="http://schemas.microsoft.com/office/drawing/2014/main" id="{9437A842-F093-1CD1-2D7C-E0481F6EBF89}"/>
              </a:ext>
            </a:extLst>
          </p:cNvPr>
          <p:cNvSpPr>
            <a:spLocks noGrp="1"/>
          </p:cNvSpPr>
          <p:nvPr>
            <p:ph type="sldNum" sz="quarter" idx="5"/>
          </p:nvPr>
        </p:nvSpPr>
        <p:spPr/>
        <p:txBody>
          <a:bodyPr/>
          <a:lstStyle/>
          <a:p>
            <a:fld id="{37D01E2C-B751-4C38-A4F8-4A97733E0BA7}" type="slidenum">
              <a:rPr lang="en-US" smtClean="0"/>
              <a:t>16</a:t>
            </a:fld>
            <a:endParaRPr lang="en-US"/>
          </a:p>
        </p:txBody>
      </p:sp>
    </p:spTree>
    <p:extLst>
      <p:ext uri="{BB962C8B-B14F-4D97-AF65-F5344CB8AC3E}">
        <p14:creationId xmlns:p14="http://schemas.microsoft.com/office/powerpoint/2010/main" val="501621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1648-C6CC-7552-9F03-98D119FE3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658AE-F8BB-2F1F-4687-249AC4119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4A7F7-867A-F8C1-4862-3D855D366526}"/>
              </a:ext>
            </a:extLst>
          </p:cNvPr>
          <p:cNvSpPr>
            <a:spLocks noGrp="1"/>
          </p:cNvSpPr>
          <p:nvPr>
            <p:ph type="body" idx="1"/>
          </p:nvPr>
        </p:nvSpPr>
        <p:spPr/>
        <p:txBody>
          <a:bodyPr/>
          <a:lstStyle/>
          <a:p>
            <a:r>
              <a:rPr lang="vi-VN" dirty="0">
                <a:highlight>
                  <a:srgbClr val="FFFFFF"/>
                </a:highlight>
              </a:rPr>
              <a:t>🧩 1️⃣ Cú pháp</a:t>
            </a:r>
          </a:p>
          <a:p>
            <a:r>
              <a:rPr lang="vi-VN" dirty="0">
                <a:highlight>
                  <a:srgbClr val="FFFFFF"/>
                </a:highlight>
              </a:rPr>
              <a:t>size_t Serial.readBytes(char *buffer, size_t length);</a:t>
            </a:r>
          </a:p>
          <a:p>
            <a:endParaRPr lang="vi-VN" dirty="0">
              <a:highlight>
                <a:srgbClr val="FFFFFF"/>
              </a:highlight>
            </a:endParaRPr>
          </a:p>
          <a:p>
            <a:endParaRPr lang="vi-VN" dirty="0">
              <a:highlight>
                <a:srgbClr val="FFFFFF"/>
              </a:highlight>
            </a:endParaRPr>
          </a:p>
          <a:p>
            <a:r>
              <a:rPr lang="vi-VN" dirty="0">
                <a:highlight>
                  <a:srgbClr val="FFFFFF"/>
                </a:highlight>
              </a:rPr>
              <a:t>buffer → mảng char để lưu dữ liệu đọc.</a:t>
            </a:r>
          </a:p>
          <a:p>
            <a:endParaRPr lang="vi-VN" dirty="0">
              <a:highlight>
                <a:srgbClr val="FFFFFF"/>
              </a:highlight>
            </a:endParaRPr>
          </a:p>
          <a:p>
            <a:r>
              <a:rPr lang="vi-VN" dirty="0">
                <a:highlight>
                  <a:srgbClr val="FFFFFF"/>
                </a:highlight>
              </a:rPr>
              <a:t>length → số byte tối đa muốn đọc.</a:t>
            </a:r>
          </a:p>
          <a:p>
            <a:endParaRPr lang="vi-VN" dirty="0">
              <a:highlight>
                <a:srgbClr val="FFFFFF"/>
              </a:highlight>
            </a:endParaRPr>
          </a:p>
          <a:p>
            <a:r>
              <a:rPr lang="vi-VN" dirty="0">
                <a:highlight>
                  <a:srgbClr val="FFFFFF"/>
                </a:highlight>
              </a:rPr>
              <a:t>Trả về số byte thực sự đọc được (có thể &lt; length).</a:t>
            </a:r>
          </a:p>
          <a:p>
            <a:endParaRPr lang="vi-VN" dirty="0">
              <a:highlight>
                <a:srgbClr val="FFFFFF"/>
              </a:highlight>
            </a:endParaRPr>
          </a:p>
          <a:p>
            <a:r>
              <a:rPr lang="vi-VN" dirty="0">
                <a:highlight>
                  <a:srgbClr val="FFFFFF"/>
                </a:highlight>
              </a:rPr>
              <a:t>Lưu ý: readBytes() chặn chương trình cho đến khi:</a:t>
            </a:r>
          </a:p>
          <a:p>
            <a:endParaRPr lang="vi-VN" dirty="0">
              <a:highlight>
                <a:srgbClr val="FFFFFF"/>
              </a:highlight>
            </a:endParaRPr>
          </a:p>
          <a:p>
            <a:r>
              <a:rPr lang="vi-VN" dirty="0">
                <a:highlight>
                  <a:srgbClr val="FFFFFF"/>
                </a:highlight>
              </a:rPr>
              <a:t>Đọc đủ length byte, hoặc</a:t>
            </a:r>
          </a:p>
          <a:p>
            <a:endParaRPr lang="vi-VN" dirty="0">
              <a:highlight>
                <a:srgbClr val="FFFFFF"/>
              </a:highlight>
            </a:endParaRPr>
          </a:p>
          <a:p>
            <a:r>
              <a:rPr lang="vi-VN" dirty="0">
                <a:highlight>
                  <a:srgbClr val="FFFFFF"/>
                </a:highlight>
              </a:rPr>
              <a:t>Hết thời gian chờ (timeout mặc định 1000 ms).</a:t>
            </a:r>
          </a:p>
        </p:txBody>
      </p:sp>
      <p:sp>
        <p:nvSpPr>
          <p:cNvPr id="4" name="Slide Number Placeholder 3">
            <a:extLst>
              <a:ext uri="{FF2B5EF4-FFF2-40B4-BE49-F238E27FC236}">
                <a16:creationId xmlns:a16="http://schemas.microsoft.com/office/drawing/2014/main" id="{9DC9357F-3DA9-BE86-3AF1-D46F6826E50A}"/>
              </a:ext>
            </a:extLst>
          </p:cNvPr>
          <p:cNvSpPr>
            <a:spLocks noGrp="1"/>
          </p:cNvSpPr>
          <p:nvPr>
            <p:ph type="sldNum" sz="quarter" idx="5"/>
          </p:nvPr>
        </p:nvSpPr>
        <p:spPr/>
        <p:txBody>
          <a:bodyPr/>
          <a:lstStyle/>
          <a:p>
            <a:fld id="{37D01E2C-B751-4C38-A4F8-4A97733E0BA7}" type="slidenum">
              <a:rPr lang="en-US" smtClean="0"/>
              <a:t>17</a:t>
            </a:fld>
            <a:endParaRPr lang="en-US"/>
          </a:p>
        </p:txBody>
      </p:sp>
    </p:spTree>
    <p:extLst>
      <p:ext uri="{BB962C8B-B14F-4D97-AF65-F5344CB8AC3E}">
        <p14:creationId xmlns:p14="http://schemas.microsoft.com/office/powerpoint/2010/main" val="4289994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DF414-3CE4-26D9-1628-EC99F70D3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CB0C9-35DD-83E1-822B-5A0364D8A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4CCB6-FE56-FF41-9DED-529FF55E712B}"/>
              </a:ext>
            </a:extLst>
          </p:cNvPr>
          <p:cNvSpPr>
            <a:spLocks noGrp="1"/>
          </p:cNvSpPr>
          <p:nvPr>
            <p:ph type="body" idx="1"/>
          </p:nvPr>
        </p:nvSpPr>
        <p:spPr/>
        <p:txBody>
          <a:bodyPr/>
          <a:lstStyle/>
          <a:p>
            <a:r>
              <a:rPr lang="vi-VN" b="1" dirty="0">
                <a:highlight>
                  <a:srgbClr val="FFFFFF"/>
                </a:highlight>
              </a:rPr>
              <a:t>🧩 2️⃣ Khi đọc đúng dữ liệu</a:t>
            </a:r>
          </a:p>
          <a:p>
            <a:r>
              <a:rPr lang="vi-VN" dirty="0">
                <a:highlight>
                  <a:srgbClr val="FFFFFF"/>
                </a:highlight>
              </a:rPr>
              <a:t>Ví dụ Arduino muốn đọc 5 byte:</a:t>
            </a:r>
          </a:p>
          <a:p>
            <a:pPr rtl="0"/>
            <a:r>
              <a:rPr lang="vi-VN" sz="1200" kern="1200" dirty="0">
                <a:solidFill>
                  <a:schemeClr val="tx1"/>
                </a:solidFill>
                <a:highlight>
                  <a:srgbClr val="FFFFFF"/>
                </a:highlight>
                <a:latin typeface="+mn-lt"/>
                <a:ea typeface="+mn-ea"/>
                <a:cs typeface="+mn-cs"/>
              </a:rPr>
              <a:t>char buf[5];</a:t>
            </a:r>
          </a:p>
          <a:p>
            <a:pPr rtl="0"/>
            <a:r>
              <a:rPr lang="vi-VN" sz="1200" kern="1200" dirty="0">
                <a:solidFill>
                  <a:schemeClr val="tx1"/>
                </a:solidFill>
                <a:highlight>
                  <a:srgbClr val="FFFFFF"/>
                </a:highlight>
                <a:latin typeface="+mn-lt"/>
                <a:ea typeface="+mn-ea"/>
                <a:cs typeface="+mn-cs"/>
              </a:rPr>
              <a:t>size_t n = Serial.readBytes(buf, 5);  // Chờ tối đa 1000ms</a:t>
            </a:r>
          </a:p>
          <a:p>
            <a:pPr rtl="0"/>
            <a:r>
              <a:rPr lang="vi-VN" sz="1200" kern="1200" dirty="0">
                <a:solidFill>
                  <a:schemeClr val="tx1"/>
                </a:solidFill>
                <a:highlight>
                  <a:srgbClr val="FFFFFF"/>
                </a:highlight>
                <a:latin typeface="+mn-lt"/>
                <a:ea typeface="+mn-ea"/>
                <a:cs typeface="+mn-cs"/>
              </a:rPr>
              <a:t>Serial.print("Da doc: "); Serial.println(n);</a:t>
            </a:r>
          </a:p>
          <a:p>
            <a:r>
              <a:rPr lang="vi-VN" dirty="0">
                <a:highlight>
                  <a:srgbClr val="FFFFFF"/>
                </a:highlight>
              </a:rPr>
              <a:t>Nếu </a:t>
            </a:r>
            <a:r>
              <a:rPr lang="vi-VN" b="1" dirty="0">
                <a:highlight>
                  <a:srgbClr val="FFFFFF"/>
                </a:highlight>
              </a:rPr>
              <a:t>máy tính gửi đủ 5 byte trong 1 giây</a:t>
            </a:r>
            <a:r>
              <a:rPr lang="vi-VN" dirty="0">
                <a:highlight>
                  <a:srgbClr val="FFFFFF"/>
                </a:highlight>
              </a:rPr>
              <a:t>, </a:t>
            </a:r>
            <a:r>
              <a:rPr lang="vi-VN" sz="1200" kern="1200" dirty="0">
                <a:solidFill>
                  <a:schemeClr val="tx1"/>
                </a:solidFill>
                <a:highlight>
                  <a:srgbClr val="FFFFFF"/>
                </a:highlight>
                <a:latin typeface="+mn-lt"/>
                <a:ea typeface="+mn-ea"/>
                <a:cs typeface="+mn-cs"/>
              </a:rPr>
              <a:t>readBytes()</a:t>
            </a:r>
            <a:r>
              <a:rPr lang="vi-VN" dirty="0">
                <a:highlight>
                  <a:srgbClr val="FFFFFF"/>
                </a:highlight>
              </a:rPr>
              <a:t> sẽ:</a:t>
            </a:r>
          </a:p>
          <a:p>
            <a:pPr lvl="1"/>
            <a:r>
              <a:rPr lang="vi-VN" dirty="0">
                <a:highlight>
                  <a:srgbClr val="FFFFFF"/>
                </a:highlight>
              </a:rPr>
              <a:t>Lưu 5 byte vào </a:t>
            </a:r>
            <a:r>
              <a:rPr lang="vi-VN" sz="1200" kern="1200" dirty="0">
                <a:solidFill>
                  <a:schemeClr val="tx1"/>
                </a:solidFill>
                <a:highlight>
                  <a:srgbClr val="FFFFFF"/>
                </a:highlight>
                <a:latin typeface="+mn-lt"/>
                <a:ea typeface="+mn-ea"/>
                <a:cs typeface="+mn-cs"/>
              </a:rPr>
              <a:t>buf</a:t>
            </a:r>
            <a:endParaRPr lang="vi-VN" dirty="0">
              <a:highlight>
                <a:srgbClr val="FFFFFF"/>
              </a:highlight>
            </a:endParaRPr>
          </a:p>
          <a:p>
            <a:pPr lvl="1"/>
            <a:r>
              <a:rPr lang="vi-VN" dirty="0">
                <a:highlight>
                  <a:srgbClr val="FFFFFF"/>
                </a:highlight>
              </a:rPr>
              <a:t>Trả về </a:t>
            </a:r>
            <a:r>
              <a:rPr lang="vi-VN" sz="1200" kern="1200" dirty="0">
                <a:solidFill>
                  <a:schemeClr val="tx1"/>
                </a:solidFill>
                <a:highlight>
                  <a:srgbClr val="FFFFFF"/>
                </a:highlight>
                <a:latin typeface="+mn-lt"/>
                <a:ea typeface="+mn-ea"/>
                <a:cs typeface="+mn-cs"/>
              </a:rPr>
              <a:t>n = 5</a:t>
            </a:r>
            <a:endParaRPr lang="en-US" sz="1200" kern="1200" dirty="0">
              <a:solidFill>
                <a:schemeClr val="tx1"/>
              </a:solidFill>
              <a:highlight>
                <a:srgbClr val="FFFFFF"/>
              </a:highlight>
              <a:latin typeface="+mn-lt"/>
              <a:ea typeface="+mn-ea"/>
              <a:cs typeface="+mn-cs"/>
            </a:endParaRPr>
          </a:p>
          <a:p>
            <a:pPr lvl="1"/>
            <a:endParaRPr lang="en-US" sz="1200" kern="1200" dirty="0">
              <a:solidFill>
                <a:schemeClr val="tx1"/>
              </a:solidFill>
              <a:highlight>
                <a:srgbClr val="FFFFFF"/>
              </a:highlight>
              <a:latin typeface="+mn-lt"/>
              <a:ea typeface="+mn-ea"/>
              <a:cs typeface="+mn-cs"/>
            </a:endParaRPr>
          </a:p>
          <a:p>
            <a:r>
              <a:rPr lang="vi-VN" b="1" dirty="0"/>
              <a:t>🧩 3️⃣ Khi không đọc được đủ</a:t>
            </a:r>
          </a:p>
          <a:p>
            <a:r>
              <a:rPr lang="vi-VN" dirty="0"/>
              <a:t>Các tình huống:</a:t>
            </a:r>
          </a:p>
          <a:p>
            <a:r>
              <a:rPr lang="vi-VN" b="1" dirty="0"/>
              <a:t>Buffer không đủ dữ liệu</a:t>
            </a:r>
            <a:endParaRPr lang="vi-VN" dirty="0"/>
          </a:p>
          <a:p>
            <a:pPr lvl="1"/>
            <a:r>
              <a:rPr lang="vi-VN" dirty="0"/>
              <a:t>Máy tính gửi ít hơn 5 byte trong vòng timeout</a:t>
            </a:r>
          </a:p>
          <a:p>
            <a:pPr lvl="1"/>
            <a:r>
              <a:rPr lang="vi-VN" dirty="0"/>
              <a:t>Arduino đọc hết dữ liệu có sẵn → trả về số byte thực tế (&lt;5)</a:t>
            </a:r>
          </a:p>
          <a:p>
            <a:r>
              <a:rPr lang="vi-VN" b="1" dirty="0"/>
              <a:t>Không có dữ liệu</a:t>
            </a:r>
            <a:endParaRPr lang="vi-VN" dirty="0"/>
          </a:p>
          <a:p>
            <a:pPr lvl="1"/>
            <a:r>
              <a:rPr lang="vi-VN" dirty="0"/>
              <a:t>Không có byte nào trong RX buffer → Arduino chờ tối đa </a:t>
            </a:r>
            <a:r>
              <a:rPr lang="vi-VN" b="1" dirty="0"/>
              <a:t>timeout</a:t>
            </a:r>
            <a:endParaRPr lang="vi-VN" dirty="0"/>
          </a:p>
          <a:p>
            <a:pPr lvl="1"/>
            <a:r>
              <a:rPr lang="vi-VN" dirty="0"/>
              <a:t>Kết thúc → trả về </a:t>
            </a:r>
            <a:r>
              <a:rPr lang="vi-VN" sz="1200" kern="1200" dirty="0">
                <a:solidFill>
                  <a:schemeClr val="tx1"/>
                </a:solidFill>
                <a:latin typeface="+mn-lt"/>
                <a:ea typeface="+mn-ea"/>
                <a:cs typeface="+mn-cs"/>
              </a:rPr>
              <a:t>0</a:t>
            </a:r>
            <a:endParaRPr lang="vi-VN" dirty="0"/>
          </a:p>
          <a:p>
            <a:pPr lvl="1"/>
            <a:endParaRPr lang="en-US" sz="1200" kern="1200" dirty="0">
              <a:solidFill>
                <a:schemeClr val="tx1"/>
              </a:solidFill>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7EAE127C-42FD-74AE-19A9-32174747F316}"/>
              </a:ext>
            </a:extLst>
          </p:cNvPr>
          <p:cNvSpPr>
            <a:spLocks noGrp="1"/>
          </p:cNvSpPr>
          <p:nvPr>
            <p:ph type="sldNum" sz="quarter" idx="5"/>
          </p:nvPr>
        </p:nvSpPr>
        <p:spPr/>
        <p:txBody>
          <a:bodyPr/>
          <a:lstStyle/>
          <a:p>
            <a:fld id="{37D01E2C-B751-4C38-A4F8-4A97733E0BA7}" type="slidenum">
              <a:rPr lang="en-US" smtClean="0"/>
              <a:t>18</a:t>
            </a:fld>
            <a:endParaRPr lang="en-US"/>
          </a:p>
        </p:txBody>
      </p:sp>
    </p:spTree>
    <p:extLst>
      <p:ext uri="{BB962C8B-B14F-4D97-AF65-F5344CB8AC3E}">
        <p14:creationId xmlns:p14="http://schemas.microsoft.com/office/powerpoint/2010/main" val="24937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56FD-F9B2-6E91-1CE0-A91434E71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D26D3-7DDD-ECD0-D4F7-D22CB7733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32E2D-24ED-92B5-1F1E-F5539B5271CB}"/>
              </a:ext>
            </a:extLst>
          </p:cNvPr>
          <p:cNvSpPr>
            <a:spLocks noGrp="1"/>
          </p:cNvSpPr>
          <p:nvPr>
            <p:ph type="body" idx="1"/>
          </p:nvPr>
        </p:nvSpPr>
        <p:spPr/>
        <p:txBody>
          <a:bodyPr/>
          <a:lstStyle/>
          <a:p>
            <a:r>
              <a:rPr lang="vi-VN" b="1" dirty="0">
                <a:highlight>
                  <a:srgbClr val="FFFFFF"/>
                </a:highlight>
              </a:rPr>
              <a:t>🧩 4️⃣ Timeout</a:t>
            </a:r>
          </a:p>
          <a:p>
            <a:r>
              <a:rPr lang="vi-VN" dirty="0">
                <a:highlight>
                  <a:srgbClr val="FFFFFF"/>
                </a:highlight>
              </a:rPr>
              <a:t>Mặc định là </a:t>
            </a:r>
            <a:r>
              <a:rPr lang="vi-VN" b="1" dirty="0">
                <a:highlight>
                  <a:srgbClr val="FFFFFF"/>
                </a:highlight>
              </a:rPr>
              <a:t>1000 ms</a:t>
            </a:r>
            <a:endParaRPr lang="vi-VN" dirty="0">
              <a:highlight>
                <a:srgbClr val="FFFFFF"/>
              </a:highlight>
            </a:endParaRPr>
          </a:p>
          <a:p>
            <a:r>
              <a:rPr lang="vi-VN" dirty="0">
                <a:highlight>
                  <a:srgbClr val="FFFFFF"/>
                </a:highlight>
              </a:rPr>
              <a:t>Có thể thay đổi bằng:</a:t>
            </a:r>
          </a:p>
          <a:p>
            <a:pPr rtl="0"/>
            <a:r>
              <a:rPr lang="vi-VN" sz="1200" kern="1200" dirty="0">
                <a:solidFill>
                  <a:schemeClr val="tx1"/>
                </a:solidFill>
                <a:highlight>
                  <a:srgbClr val="FFFFFF"/>
                </a:highlight>
                <a:latin typeface="+mn-lt"/>
                <a:ea typeface="+mn-ea"/>
                <a:cs typeface="+mn-cs"/>
              </a:rPr>
              <a:t>Serial.setTimeout(500); // 0.5 giây</a:t>
            </a:r>
          </a:p>
          <a:p>
            <a:r>
              <a:rPr lang="vi-VN" dirty="0">
                <a:highlight>
                  <a:srgbClr val="FFFFFF"/>
                </a:highlight>
              </a:rPr>
              <a:t>Nếu hết timeout mà chưa đọc đủ </a:t>
            </a:r>
            <a:r>
              <a:rPr lang="vi-VN" sz="1200" kern="1200" dirty="0">
                <a:solidFill>
                  <a:schemeClr val="tx1"/>
                </a:solidFill>
                <a:highlight>
                  <a:srgbClr val="FFFFFF"/>
                </a:highlight>
                <a:latin typeface="+mn-lt"/>
                <a:ea typeface="+mn-ea"/>
                <a:cs typeface="+mn-cs"/>
              </a:rPr>
              <a:t>length</a:t>
            </a:r>
            <a:r>
              <a:rPr lang="vi-VN" dirty="0">
                <a:highlight>
                  <a:srgbClr val="FFFFFF"/>
                </a:highlight>
              </a:rPr>
              <a:t> byte → trả về số byte đã đọc (có thể là 0)</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32E05213-BBEC-2D0C-E3A1-4C531A4E0B4E}"/>
              </a:ext>
            </a:extLst>
          </p:cNvPr>
          <p:cNvSpPr>
            <a:spLocks noGrp="1"/>
          </p:cNvSpPr>
          <p:nvPr>
            <p:ph type="sldNum" sz="quarter" idx="5"/>
          </p:nvPr>
        </p:nvSpPr>
        <p:spPr/>
        <p:txBody>
          <a:bodyPr/>
          <a:lstStyle/>
          <a:p>
            <a:fld id="{37D01E2C-B751-4C38-A4F8-4A97733E0BA7}" type="slidenum">
              <a:rPr lang="en-US" smtClean="0"/>
              <a:t>19</a:t>
            </a:fld>
            <a:endParaRPr lang="en-US"/>
          </a:p>
        </p:txBody>
      </p:sp>
    </p:spTree>
    <p:extLst>
      <p:ext uri="{BB962C8B-B14F-4D97-AF65-F5344CB8AC3E}">
        <p14:creationId xmlns:p14="http://schemas.microsoft.com/office/powerpoint/2010/main" val="35190252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93EEC-2DE7-28D1-76F1-915F41A66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081BC-4F76-AD18-D597-566CCDEF5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1CFA0-55A6-50C2-239A-98BDD497DC6E}"/>
              </a:ext>
            </a:extLst>
          </p:cNvPr>
          <p:cNvSpPr>
            <a:spLocks noGrp="1"/>
          </p:cNvSpPr>
          <p:nvPr>
            <p:ph type="body" idx="1"/>
          </p:nvPr>
        </p:nvSpPr>
        <p:spPr/>
        <p:txBody>
          <a:bodyPr/>
          <a:lstStyle/>
          <a:p>
            <a:r>
              <a:rPr lang="vi-VN" b="1" dirty="0"/>
              <a:t>void setup() {</a:t>
            </a:r>
          </a:p>
          <a:p>
            <a:r>
              <a:rPr lang="vi-VN" b="1" dirty="0"/>
              <a:t>  Serial.begin(9600);           // Initialize UART at 9600 baud</a:t>
            </a:r>
          </a:p>
          <a:p>
            <a:r>
              <a:rPr lang="vi-VN" b="1" dirty="0"/>
              <a:t>  Serial.setTimeout(2000);      // Set timeout to 2 seconds if data is incomplete</a:t>
            </a:r>
          </a:p>
          <a:p>
            <a:r>
              <a:rPr lang="vi-VN" b="1" dirty="0"/>
              <a:t>  Serial.println("Send up to 5 characters, Arduino will read and print them.");</a:t>
            </a:r>
          </a:p>
          <a:p>
            <a:r>
              <a:rPr lang="vi-VN" b="1" dirty="0"/>
              <a:t>}</a:t>
            </a:r>
          </a:p>
          <a:p>
            <a:endParaRPr lang="vi-VN" b="1" dirty="0"/>
          </a:p>
          <a:p>
            <a:r>
              <a:rPr lang="vi-VN" b="1" dirty="0"/>
              <a:t>void loop() {</a:t>
            </a:r>
          </a:p>
          <a:p>
            <a:r>
              <a:rPr lang="vi-VN" b="1" dirty="0"/>
              <a:t>  char buf[5];                  // Buffer to store received data</a:t>
            </a:r>
          </a:p>
          <a:p>
            <a:r>
              <a:rPr lang="vi-VN" b="1" dirty="0"/>
              <a:t>  size_t n = Serial.readBytes(buf, 5); // Read up to 5 bytes</a:t>
            </a:r>
          </a:p>
          <a:p>
            <a:endParaRPr lang="vi-VN" b="1" dirty="0"/>
          </a:p>
          <a:p>
            <a:r>
              <a:rPr lang="vi-VN" b="1" dirty="0"/>
              <a:t>  // Print the actual number of bytes read</a:t>
            </a:r>
          </a:p>
          <a:p>
            <a:r>
              <a:rPr lang="vi-VN" b="1" dirty="0"/>
              <a:t>  Serial.print("Read ");</a:t>
            </a:r>
          </a:p>
          <a:p>
            <a:r>
              <a:rPr lang="vi-VN" b="1" dirty="0"/>
              <a:t>  Serial.print(n);</a:t>
            </a:r>
          </a:p>
          <a:p>
            <a:r>
              <a:rPr lang="vi-VN" b="1" dirty="0"/>
              <a:t>  Serial.println(" bytes:");</a:t>
            </a:r>
          </a:p>
          <a:p>
            <a:endParaRPr lang="vi-VN" b="1" dirty="0"/>
          </a:p>
          <a:p>
            <a:r>
              <a:rPr lang="vi-VN" b="1" dirty="0"/>
              <a:t>  // Print each received character</a:t>
            </a:r>
          </a:p>
          <a:p>
            <a:r>
              <a:rPr lang="vi-VN" b="1" dirty="0"/>
              <a:t>  for (size_t i = 0; i &lt; n; i++) {</a:t>
            </a:r>
          </a:p>
          <a:p>
            <a:r>
              <a:rPr lang="vi-VN" b="1" dirty="0"/>
              <a:t>    Serial.print(buf[i]);</a:t>
            </a:r>
          </a:p>
          <a:p>
            <a:r>
              <a:rPr lang="vi-VN" b="1" dirty="0"/>
              <a:t>  }</a:t>
            </a:r>
          </a:p>
          <a:p>
            <a:r>
              <a:rPr lang="vi-VN" b="1" dirty="0"/>
              <a:t>  Serial.println();</a:t>
            </a:r>
          </a:p>
          <a:p>
            <a:endParaRPr lang="vi-VN" b="1" dirty="0"/>
          </a:p>
          <a:p>
            <a:r>
              <a:rPr lang="vi-VN" b="1" dirty="0"/>
              <a:t>  delay(1000);                  // Delay 1 second before the next read</a:t>
            </a:r>
          </a:p>
          <a:p>
            <a:r>
              <a:rPr lang="vi-VN" b="1" dirty="0"/>
              <a:t>}</a:t>
            </a:r>
            <a:endParaRPr lang="vi-VN" dirty="0">
              <a:highlight>
                <a:srgbClr val="FFFFFF"/>
              </a:highlight>
            </a:endParaRPr>
          </a:p>
        </p:txBody>
      </p:sp>
      <p:sp>
        <p:nvSpPr>
          <p:cNvPr id="4" name="Slide Number Placeholder 3">
            <a:extLst>
              <a:ext uri="{FF2B5EF4-FFF2-40B4-BE49-F238E27FC236}">
                <a16:creationId xmlns:a16="http://schemas.microsoft.com/office/drawing/2014/main" id="{4757900B-77B8-B817-1B28-F0F309D0C71C}"/>
              </a:ext>
            </a:extLst>
          </p:cNvPr>
          <p:cNvSpPr>
            <a:spLocks noGrp="1"/>
          </p:cNvSpPr>
          <p:nvPr>
            <p:ph type="sldNum" sz="quarter" idx="5"/>
          </p:nvPr>
        </p:nvSpPr>
        <p:spPr/>
        <p:txBody>
          <a:bodyPr/>
          <a:lstStyle/>
          <a:p>
            <a:fld id="{37D01E2C-B751-4C38-A4F8-4A97733E0BA7}" type="slidenum">
              <a:rPr lang="en-US" smtClean="0"/>
              <a:t>20</a:t>
            </a:fld>
            <a:endParaRPr lang="en-US"/>
          </a:p>
        </p:txBody>
      </p:sp>
    </p:spTree>
    <p:extLst>
      <p:ext uri="{BB962C8B-B14F-4D97-AF65-F5344CB8AC3E}">
        <p14:creationId xmlns:p14="http://schemas.microsoft.com/office/powerpoint/2010/main" val="57546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795E-BF2F-5E09-A0E4-190A6745C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B1E35-A330-6184-C0DA-75DD84E52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5A223-8F7F-8516-C671-DB620C6BD0A0}"/>
              </a:ext>
            </a:extLst>
          </p:cNvPr>
          <p:cNvSpPr>
            <a:spLocks noGrp="1"/>
          </p:cNvSpPr>
          <p:nvPr>
            <p:ph type="body" idx="1"/>
          </p:nvPr>
        </p:nvSpPr>
        <p:spPr/>
        <p:txBody>
          <a:bodyPr/>
          <a:lstStyle/>
          <a:p>
            <a:r>
              <a:rPr lang="vi-VN" b="1" dirty="0">
                <a:highlight>
                  <a:srgbClr val="FFFFFF"/>
                </a:highlight>
              </a:rPr>
              <a:t>🧩 4️⃣ Timeout</a:t>
            </a:r>
          </a:p>
          <a:p>
            <a:r>
              <a:rPr lang="vi-VN" dirty="0">
                <a:highlight>
                  <a:srgbClr val="FFFFFF"/>
                </a:highlight>
              </a:rPr>
              <a:t>Mặc định là </a:t>
            </a:r>
            <a:r>
              <a:rPr lang="vi-VN" b="1" dirty="0">
                <a:highlight>
                  <a:srgbClr val="FFFFFF"/>
                </a:highlight>
              </a:rPr>
              <a:t>1000 ms</a:t>
            </a:r>
            <a:endParaRPr lang="vi-VN" dirty="0">
              <a:highlight>
                <a:srgbClr val="FFFFFF"/>
              </a:highlight>
            </a:endParaRPr>
          </a:p>
          <a:p>
            <a:r>
              <a:rPr lang="vi-VN" dirty="0">
                <a:highlight>
                  <a:srgbClr val="FFFFFF"/>
                </a:highlight>
              </a:rPr>
              <a:t>Có thể thay đổi bằng:</a:t>
            </a:r>
          </a:p>
          <a:p>
            <a:pPr rtl="0"/>
            <a:r>
              <a:rPr lang="vi-VN" sz="1200" kern="1200" dirty="0">
                <a:solidFill>
                  <a:schemeClr val="tx1"/>
                </a:solidFill>
                <a:highlight>
                  <a:srgbClr val="FFFFFF"/>
                </a:highlight>
                <a:latin typeface="+mn-lt"/>
                <a:ea typeface="+mn-ea"/>
                <a:cs typeface="+mn-cs"/>
              </a:rPr>
              <a:t>Serial.setTimeout(500); // 0.5 giây</a:t>
            </a:r>
          </a:p>
          <a:p>
            <a:r>
              <a:rPr lang="vi-VN" dirty="0">
                <a:highlight>
                  <a:srgbClr val="FFFFFF"/>
                </a:highlight>
              </a:rPr>
              <a:t>Nếu hết timeout mà chưa đọc đủ </a:t>
            </a:r>
            <a:r>
              <a:rPr lang="vi-VN" sz="1200" kern="1200" dirty="0">
                <a:solidFill>
                  <a:schemeClr val="tx1"/>
                </a:solidFill>
                <a:highlight>
                  <a:srgbClr val="FFFFFF"/>
                </a:highlight>
                <a:latin typeface="+mn-lt"/>
                <a:ea typeface="+mn-ea"/>
                <a:cs typeface="+mn-cs"/>
              </a:rPr>
              <a:t>length</a:t>
            </a:r>
            <a:r>
              <a:rPr lang="vi-VN" dirty="0">
                <a:highlight>
                  <a:srgbClr val="FFFFFF"/>
                </a:highlight>
              </a:rPr>
              <a:t> byte → trả về số byte đã đọc (có thể là 0)</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5866E5CF-FFD2-1CB1-C9D7-82896882850C}"/>
              </a:ext>
            </a:extLst>
          </p:cNvPr>
          <p:cNvSpPr>
            <a:spLocks noGrp="1"/>
          </p:cNvSpPr>
          <p:nvPr>
            <p:ph type="sldNum" sz="quarter" idx="5"/>
          </p:nvPr>
        </p:nvSpPr>
        <p:spPr/>
        <p:txBody>
          <a:bodyPr/>
          <a:lstStyle/>
          <a:p>
            <a:fld id="{37D01E2C-B751-4C38-A4F8-4A97733E0BA7}" type="slidenum">
              <a:rPr lang="en-US" smtClean="0"/>
              <a:t>21</a:t>
            </a:fld>
            <a:endParaRPr lang="en-US"/>
          </a:p>
        </p:txBody>
      </p:sp>
    </p:spTree>
    <p:extLst>
      <p:ext uri="{BB962C8B-B14F-4D97-AF65-F5344CB8AC3E}">
        <p14:creationId xmlns:p14="http://schemas.microsoft.com/office/powerpoint/2010/main" val="8880089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5A44B-9200-6855-BCBD-635B486CF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8BE0-3620-02FB-B62E-2856E0D81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FB201-9988-AA73-92B1-CFA70F7B0CFE}"/>
              </a:ext>
            </a:extLst>
          </p:cNvPr>
          <p:cNvSpPr>
            <a:spLocks noGrp="1"/>
          </p:cNvSpPr>
          <p:nvPr>
            <p:ph type="body" idx="1"/>
          </p:nvPr>
        </p:nvSpPr>
        <p:spPr/>
        <p:txBody>
          <a:bodyPr/>
          <a:lstStyle/>
          <a:p>
            <a:r>
              <a:rPr lang="vi-VN" b="1" dirty="0"/>
              <a:t>1️⃣ Chức năng của </a:t>
            </a:r>
            <a:r>
              <a:rPr lang="vi-VN" sz="1200" b="1" kern="1200" dirty="0">
                <a:solidFill>
                  <a:schemeClr val="tx1"/>
                </a:solidFill>
                <a:latin typeface="+mn-lt"/>
                <a:ea typeface="+mn-ea"/>
                <a:cs typeface="+mn-cs"/>
              </a:rPr>
              <a:t>Serial.readString()</a:t>
            </a:r>
            <a:endParaRPr lang="vi-VN" b="1" dirty="0"/>
          </a:p>
          <a:p>
            <a:r>
              <a:rPr lang="vi-VN" sz="1200" kern="1200" dirty="0">
                <a:solidFill>
                  <a:schemeClr val="tx1"/>
                </a:solidFill>
                <a:latin typeface="+mn-lt"/>
                <a:ea typeface="+mn-ea"/>
                <a:cs typeface="+mn-cs"/>
              </a:rPr>
              <a:t>Serial.readString()</a:t>
            </a:r>
            <a:r>
              <a:rPr lang="vi-VN" dirty="0"/>
              <a:t> dùng để </a:t>
            </a:r>
            <a:r>
              <a:rPr lang="vi-VN" b="1" dirty="0"/>
              <a:t>đọc tất cả dữ liệu UART đã nhận</a:t>
            </a:r>
            <a:r>
              <a:rPr lang="vi-VN" dirty="0"/>
              <a:t>, </a:t>
            </a:r>
            <a:r>
              <a:rPr lang="vi-VN" b="1" dirty="0"/>
              <a:t>trả về kiểu </a:t>
            </a:r>
            <a:r>
              <a:rPr lang="vi-VN" sz="1200" b="1" kern="1200" dirty="0">
                <a:solidFill>
                  <a:schemeClr val="tx1"/>
                </a:solidFill>
                <a:latin typeface="+mn-lt"/>
                <a:ea typeface="+mn-ea"/>
                <a:cs typeface="+mn-cs"/>
              </a:rPr>
              <a:t>String</a:t>
            </a:r>
            <a:r>
              <a:rPr lang="vi-VN" dirty="0"/>
              <a:t>.</a:t>
            </a:r>
          </a:p>
          <a:p>
            <a:r>
              <a:rPr lang="vi-VN" dirty="0"/>
              <a:t>Nó sẽ </a:t>
            </a:r>
            <a:r>
              <a:rPr lang="vi-VN" b="1" dirty="0"/>
              <a:t>chặn chương trình</a:t>
            </a:r>
            <a:r>
              <a:rPr lang="vi-VN" dirty="0"/>
              <a:t> cho đến khi:</a:t>
            </a:r>
          </a:p>
          <a:p>
            <a:pPr lvl="1"/>
            <a:r>
              <a:rPr lang="vi-VN" b="1" dirty="0"/>
              <a:t>Hết dữ liệu trong buffer</a:t>
            </a:r>
            <a:endParaRPr lang="vi-VN" dirty="0"/>
          </a:p>
          <a:p>
            <a:pPr lvl="1"/>
            <a:r>
              <a:rPr lang="vi-VN" b="1" dirty="0"/>
              <a:t>Hoặc timeout xảy ra</a:t>
            </a:r>
            <a:r>
              <a:rPr lang="vi-VN" dirty="0"/>
              <a:t> (mặc định 1000 ms)</a:t>
            </a:r>
          </a:p>
          <a:p>
            <a:r>
              <a:rPr lang="vi-VN" dirty="0"/>
              <a:t>✅ Khác với </a:t>
            </a:r>
            <a:r>
              <a:rPr lang="vi-VN" sz="1200" kern="1200" dirty="0">
                <a:solidFill>
                  <a:schemeClr val="tx1"/>
                </a:solidFill>
                <a:latin typeface="+mn-lt"/>
                <a:ea typeface="+mn-ea"/>
                <a:cs typeface="+mn-cs"/>
              </a:rPr>
              <a:t>Serial.read()</a:t>
            </a:r>
            <a:r>
              <a:rPr lang="vi-VN" dirty="0"/>
              <a:t>:</a:t>
            </a:r>
          </a:p>
          <a:p>
            <a:r>
              <a:rPr lang="vi-VN" sz="1200" kern="1200" dirty="0">
                <a:solidFill>
                  <a:schemeClr val="tx1"/>
                </a:solidFill>
                <a:latin typeface="+mn-lt"/>
                <a:ea typeface="+mn-ea"/>
                <a:cs typeface="+mn-cs"/>
              </a:rPr>
              <a:t>read()</a:t>
            </a:r>
            <a:r>
              <a:rPr lang="vi-VN" dirty="0"/>
              <a:t> chỉ đọc </a:t>
            </a:r>
            <a:r>
              <a:rPr lang="vi-VN" b="1" dirty="0"/>
              <a:t>1 byte</a:t>
            </a:r>
            <a:endParaRPr lang="vi-VN" dirty="0"/>
          </a:p>
          <a:p>
            <a:r>
              <a:rPr lang="vi-VN" sz="1200" kern="1200" dirty="0">
                <a:solidFill>
                  <a:schemeClr val="tx1"/>
                </a:solidFill>
                <a:latin typeface="+mn-lt"/>
                <a:ea typeface="+mn-ea"/>
                <a:cs typeface="+mn-cs"/>
              </a:rPr>
              <a:t>readBytes()</a:t>
            </a:r>
            <a:r>
              <a:rPr lang="vi-VN" dirty="0"/>
              <a:t> đọc </a:t>
            </a:r>
            <a:r>
              <a:rPr lang="vi-VN" b="1" dirty="0"/>
              <a:t>n byte cố định</a:t>
            </a:r>
            <a:endParaRPr lang="vi-VN" dirty="0"/>
          </a:p>
          <a:p>
            <a:r>
              <a:rPr lang="vi-VN" sz="1200" kern="1200" dirty="0">
                <a:solidFill>
                  <a:schemeClr val="tx1"/>
                </a:solidFill>
                <a:latin typeface="+mn-lt"/>
                <a:ea typeface="+mn-ea"/>
                <a:cs typeface="+mn-cs"/>
              </a:rPr>
              <a:t>readString()</a:t>
            </a:r>
            <a:r>
              <a:rPr lang="vi-VN" dirty="0"/>
              <a:t> đọc </a:t>
            </a:r>
            <a:r>
              <a:rPr lang="vi-VN" b="1" dirty="0"/>
              <a:t>tất cả dữ liệu có sẵn và trả về một chuỗi</a:t>
            </a:r>
            <a:r>
              <a:rPr lang="vi-VN" dirty="0"/>
              <a:t>, cho đến khi buffer hết hoặc timeout.</a:t>
            </a:r>
          </a:p>
        </p:txBody>
      </p:sp>
      <p:sp>
        <p:nvSpPr>
          <p:cNvPr id="4" name="Slide Number Placeholder 3">
            <a:extLst>
              <a:ext uri="{FF2B5EF4-FFF2-40B4-BE49-F238E27FC236}">
                <a16:creationId xmlns:a16="http://schemas.microsoft.com/office/drawing/2014/main" id="{FFB4AD0A-E97A-1968-EDD8-CD61D4D50ADF}"/>
              </a:ext>
            </a:extLst>
          </p:cNvPr>
          <p:cNvSpPr>
            <a:spLocks noGrp="1"/>
          </p:cNvSpPr>
          <p:nvPr>
            <p:ph type="sldNum" sz="quarter" idx="5"/>
          </p:nvPr>
        </p:nvSpPr>
        <p:spPr/>
        <p:txBody>
          <a:bodyPr/>
          <a:lstStyle/>
          <a:p>
            <a:fld id="{37D01E2C-B751-4C38-A4F8-4A97733E0BA7}" type="slidenum">
              <a:rPr lang="en-US" smtClean="0"/>
              <a:t>22</a:t>
            </a:fld>
            <a:endParaRPr lang="en-US"/>
          </a:p>
        </p:txBody>
      </p:sp>
    </p:spTree>
    <p:extLst>
      <p:ext uri="{BB962C8B-B14F-4D97-AF65-F5344CB8AC3E}">
        <p14:creationId xmlns:p14="http://schemas.microsoft.com/office/powerpoint/2010/main" val="3504927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FFED9-8F37-0318-2CA0-FE12BADE7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D0FAB-86E6-B00F-57A6-56A6B5DC9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6398C-1E43-CBB7-2E6E-D8ECD5C61E28}"/>
              </a:ext>
            </a:extLst>
          </p:cNvPr>
          <p:cNvSpPr>
            <a:spLocks noGrp="1"/>
          </p:cNvSpPr>
          <p:nvPr>
            <p:ph type="body" idx="1"/>
          </p:nvPr>
        </p:nvSpPr>
        <p:spPr/>
        <p:txBody>
          <a:bodyPr/>
          <a:lstStyle/>
          <a:p>
            <a:r>
              <a:rPr lang="vi-VN" b="1" dirty="0"/>
              <a:t>🧩 2️⃣ Cú pháp</a:t>
            </a:r>
          </a:p>
          <a:p>
            <a:pPr rtl="0"/>
            <a:r>
              <a:rPr lang="vi-VN" sz="1200" kern="1200" dirty="0">
                <a:solidFill>
                  <a:schemeClr val="tx1"/>
                </a:solidFill>
                <a:latin typeface="+mn-lt"/>
                <a:ea typeface="+mn-ea"/>
                <a:cs typeface="+mn-cs"/>
              </a:rPr>
              <a:t>String myString = Serial.readString();</a:t>
            </a:r>
          </a:p>
          <a:p>
            <a:r>
              <a:rPr lang="vi-VN" dirty="0"/>
              <a:t>Không cần truyền tham số</a:t>
            </a:r>
          </a:p>
          <a:p>
            <a:r>
              <a:rPr lang="vi-VN" dirty="0"/>
              <a:t>Trả về </a:t>
            </a:r>
            <a:r>
              <a:rPr lang="vi-VN" b="1" dirty="0"/>
              <a:t>1 chuỗi </a:t>
            </a:r>
            <a:r>
              <a:rPr lang="vi-VN" sz="1200" b="1" kern="1200" dirty="0">
                <a:solidFill>
                  <a:schemeClr val="tx1"/>
                </a:solidFill>
                <a:latin typeface="+mn-lt"/>
                <a:ea typeface="+mn-ea"/>
                <a:cs typeface="+mn-cs"/>
              </a:rPr>
              <a:t>String</a:t>
            </a:r>
            <a:r>
              <a:rPr lang="vi-VN" dirty="0"/>
              <a:t> chứa tất cả dữ liệu nhận được trong buffer UART.</a:t>
            </a:r>
          </a:p>
          <a:p>
            <a:br>
              <a:rPr lang="vi-VN" dirty="0"/>
            </a:br>
            <a:endParaRPr lang="vi-VN" dirty="0"/>
          </a:p>
          <a:p>
            <a:r>
              <a:rPr lang="vi-VN" b="1" dirty="0"/>
              <a:t>🧩 3️⃣ Thời gian chờ (timeout)</a:t>
            </a:r>
          </a:p>
          <a:p>
            <a:r>
              <a:rPr lang="vi-VN" dirty="0"/>
              <a:t>Mặc định: </a:t>
            </a:r>
            <a:r>
              <a:rPr lang="vi-VN" b="1" dirty="0"/>
              <a:t>1000 ms</a:t>
            </a:r>
            <a:r>
              <a:rPr lang="vi-VN" dirty="0"/>
              <a:t> (1 giây)</a:t>
            </a:r>
          </a:p>
          <a:p>
            <a:r>
              <a:rPr lang="vi-VN" dirty="0"/>
              <a:t>Nếu trong khoảng thời gian đó không có byte mới nào nhận → hàm kết thúc.</a:t>
            </a:r>
          </a:p>
          <a:p>
            <a:r>
              <a:rPr lang="vi-VN" dirty="0"/>
              <a:t>Bạn có thể thay đổi thời gian chờ bằng:</a:t>
            </a:r>
          </a:p>
          <a:p>
            <a:pPr rtl="0"/>
            <a:r>
              <a:rPr lang="vi-VN" sz="1200" kern="1200" dirty="0">
                <a:solidFill>
                  <a:schemeClr val="tx1"/>
                </a:solidFill>
                <a:latin typeface="+mn-lt"/>
                <a:ea typeface="+mn-ea"/>
                <a:cs typeface="+mn-cs"/>
              </a:rPr>
              <a:t>Serial.setTimeout(3000);  // timeout 3 giây</a:t>
            </a:r>
          </a:p>
          <a:p>
            <a:r>
              <a:rPr lang="vi-VN" b="1" dirty="0"/>
              <a:t>Chú ý:</a:t>
            </a:r>
            <a:r>
              <a:rPr lang="vi-VN" dirty="0"/>
              <a:t> </a:t>
            </a:r>
            <a:r>
              <a:rPr lang="vi-VN" sz="1200" kern="1200" dirty="0">
                <a:solidFill>
                  <a:schemeClr val="tx1"/>
                </a:solidFill>
                <a:latin typeface="+mn-lt"/>
                <a:ea typeface="+mn-ea"/>
                <a:cs typeface="+mn-cs"/>
              </a:rPr>
              <a:t>readString()</a:t>
            </a:r>
            <a:r>
              <a:rPr lang="vi-VN" dirty="0"/>
              <a:t> sẽ chờ </a:t>
            </a:r>
            <a:r>
              <a:rPr lang="vi-VN" b="1" dirty="0"/>
              <a:t>chuỗi tạm dừng</a:t>
            </a:r>
            <a:r>
              <a:rPr lang="vi-VN" dirty="0"/>
              <a:t> đến khi timeout chứ không cần đủ số byte.</a:t>
            </a:r>
          </a:p>
        </p:txBody>
      </p:sp>
      <p:sp>
        <p:nvSpPr>
          <p:cNvPr id="4" name="Slide Number Placeholder 3">
            <a:extLst>
              <a:ext uri="{FF2B5EF4-FFF2-40B4-BE49-F238E27FC236}">
                <a16:creationId xmlns:a16="http://schemas.microsoft.com/office/drawing/2014/main" id="{EE5BFEEF-8D8E-9020-C17D-E4EAB96F588E}"/>
              </a:ext>
            </a:extLst>
          </p:cNvPr>
          <p:cNvSpPr>
            <a:spLocks noGrp="1"/>
          </p:cNvSpPr>
          <p:nvPr>
            <p:ph type="sldNum" sz="quarter" idx="5"/>
          </p:nvPr>
        </p:nvSpPr>
        <p:spPr/>
        <p:txBody>
          <a:bodyPr/>
          <a:lstStyle/>
          <a:p>
            <a:fld id="{37D01E2C-B751-4C38-A4F8-4A97733E0BA7}" type="slidenum">
              <a:rPr lang="en-US" smtClean="0"/>
              <a:t>23</a:t>
            </a:fld>
            <a:endParaRPr lang="en-US"/>
          </a:p>
        </p:txBody>
      </p:sp>
    </p:spTree>
    <p:extLst>
      <p:ext uri="{BB962C8B-B14F-4D97-AF65-F5344CB8AC3E}">
        <p14:creationId xmlns:p14="http://schemas.microsoft.com/office/powerpoint/2010/main" val="1787777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C71D-E6B5-4204-7FDB-3263ADEC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49AA9-6EF0-1041-89D4-55BF87A84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7B6FC-5BE4-8860-3D1B-9938B8EC11F1}"/>
              </a:ext>
            </a:extLst>
          </p:cNvPr>
          <p:cNvSpPr>
            <a:spLocks noGrp="1"/>
          </p:cNvSpPr>
          <p:nvPr>
            <p:ph type="body" idx="1"/>
          </p:nvPr>
        </p:nvSpPr>
        <p:spPr/>
        <p:txBody>
          <a:bodyPr/>
          <a:lstStyle/>
          <a:p>
            <a:r>
              <a:rPr lang="vi-VN" b="1" dirty="0"/>
              <a:t>void setup() {</a:t>
            </a:r>
          </a:p>
          <a:p>
            <a:r>
              <a:rPr lang="vi-VN" b="1" dirty="0"/>
              <a:t>  Serial.begin(9600);</a:t>
            </a:r>
          </a:p>
          <a:p>
            <a:r>
              <a:rPr lang="vi-VN" b="1" dirty="0"/>
              <a:t>  Serial.setTimeout(2000);  // Timeout 2 seconds</a:t>
            </a:r>
          </a:p>
          <a:p>
            <a:r>
              <a:rPr lang="vi-VN" b="1" dirty="0"/>
              <a:t>  Serial.println("Type a string of characters and press Enter:");</a:t>
            </a:r>
          </a:p>
          <a:p>
            <a:r>
              <a:rPr lang="vi-VN" b="1" dirty="0"/>
              <a:t>}</a:t>
            </a:r>
          </a:p>
          <a:p>
            <a:endParaRPr lang="vi-VN" b="1" dirty="0"/>
          </a:p>
          <a:p>
            <a:r>
              <a:rPr lang="vi-VN" b="1" dirty="0"/>
              <a:t>void loop() {</a:t>
            </a:r>
          </a:p>
          <a:p>
            <a:r>
              <a:rPr lang="vi-VN" b="1" dirty="0"/>
              <a:t>  if (Serial.available() &gt; 0) {</a:t>
            </a:r>
          </a:p>
          <a:p>
            <a:r>
              <a:rPr lang="vi-VN" b="1" dirty="0"/>
              <a:t>    String input = Serial.readString();  // Read all data in the buffer</a:t>
            </a:r>
          </a:p>
          <a:p>
            <a:r>
              <a:rPr lang="vi-VN" b="1" dirty="0"/>
              <a:t>    Serial.print("Arduino received string: ");</a:t>
            </a:r>
          </a:p>
          <a:p>
            <a:r>
              <a:rPr lang="vi-VN" b="1" dirty="0"/>
              <a:t>    Serial.println(input);               // Print to Serial Monitor</a:t>
            </a:r>
          </a:p>
          <a:p>
            <a:r>
              <a:rPr lang="vi-VN" b="1" dirty="0"/>
              <a:t>  }</a:t>
            </a:r>
          </a:p>
          <a:p>
            <a:r>
              <a:rPr lang="vi-VN" b="1" dirty="0"/>
              <a:t>}</a:t>
            </a:r>
          </a:p>
        </p:txBody>
      </p:sp>
      <p:sp>
        <p:nvSpPr>
          <p:cNvPr id="4" name="Slide Number Placeholder 3">
            <a:extLst>
              <a:ext uri="{FF2B5EF4-FFF2-40B4-BE49-F238E27FC236}">
                <a16:creationId xmlns:a16="http://schemas.microsoft.com/office/drawing/2014/main" id="{CA71F80C-13AD-1DD9-536E-3A04B3FCC639}"/>
              </a:ext>
            </a:extLst>
          </p:cNvPr>
          <p:cNvSpPr>
            <a:spLocks noGrp="1"/>
          </p:cNvSpPr>
          <p:nvPr>
            <p:ph type="sldNum" sz="quarter" idx="5"/>
          </p:nvPr>
        </p:nvSpPr>
        <p:spPr/>
        <p:txBody>
          <a:bodyPr/>
          <a:lstStyle/>
          <a:p>
            <a:fld id="{37D01E2C-B751-4C38-A4F8-4A97733E0BA7}" type="slidenum">
              <a:rPr lang="en-US" smtClean="0"/>
              <a:t>24</a:t>
            </a:fld>
            <a:endParaRPr lang="en-US"/>
          </a:p>
        </p:txBody>
      </p:sp>
    </p:spTree>
    <p:extLst>
      <p:ext uri="{BB962C8B-B14F-4D97-AF65-F5344CB8AC3E}">
        <p14:creationId xmlns:p14="http://schemas.microsoft.com/office/powerpoint/2010/main" val="3752307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7BCDA-8A13-57C9-A490-C34FC7828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101C6-6697-00A7-F3ED-0CAAF0630C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C7E5C-B9A6-60BD-47AB-0DC57E2CEBCE}"/>
              </a:ext>
            </a:extLst>
          </p:cNvPr>
          <p:cNvSpPr>
            <a:spLocks noGrp="1"/>
          </p:cNvSpPr>
          <p:nvPr>
            <p:ph type="body" idx="1"/>
          </p:nvPr>
        </p:nvSpPr>
        <p:spPr/>
        <p:txBody>
          <a:bodyPr/>
          <a:lstStyle/>
          <a:p>
            <a:r>
              <a:rPr lang="vi-VN" b="1" dirty="0"/>
              <a:t>🧩 6️⃣ </a:t>
            </a:r>
            <a:r>
              <a:rPr lang="vi-VN" sz="1200" b="1" kern="1200" dirty="0">
                <a:solidFill>
                  <a:schemeClr val="tx1"/>
                </a:solidFill>
                <a:latin typeface="+mn-lt"/>
                <a:ea typeface="+mn-ea"/>
                <a:cs typeface="+mn-cs"/>
              </a:rPr>
              <a:t>Serial.peek()</a:t>
            </a:r>
            <a:endParaRPr lang="vi-VN" b="1" dirty="0"/>
          </a:p>
          <a:p>
            <a:r>
              <a:rPr lang="vi-VN" b="1" dirty="0"/>
              <a:t>🧠 Chức năng:</a:t>
            </a:r>
          </a:p>
          <a:p>
            <a:r>
              <a:rPr lang="vi-VN" dirty="0"/>
              <a:t>Xem </a:t>
            </a:r>
            <a:r>
              <a:rPr lang="vi-VN" b="1" dirty="0"/>
              <a:t>byte kế tiếp</a:t>
            </a:r>
            <a:r>
              <a:rPr lang="vi-VN" dirty="0"/>
              <a:t> trong bộ đệm RX mà </a:t>
            </a:r>
            <a:r>
              <a:rPr lang="vi-VN" b="1" dirty="0"/>
              <a:t>không xóa</a:t>
            </a:r>
            <a:r>
              <a:rPr lang="vi-VN" dirty="0"/>
              <a:t> nó.</a:t>
            </a:r>
          </a:p>
          <a:p>
            <a:r>
              <a:rPr lang="vi-VN" b="1" dirty="0"/>
              <a:t>🧱 Cú pháp:</a:t>
            </a:r>
          </a:p>
          <a:p>
            <a:pPr rtl="0"/>
            <a:r>
              <a:rPr lang="vi-VN" sz="1200" kern="1200" dirty="0">
                <a:solidFill>
                  <a:schemeClr val="tx1"/>
                </a:solidFill>
                <a:latin typeface="+mn-lt"/>
                <a:ea typeface="+mn-ea"/>
                <a:cs typeface="+mn-cs"/>
              </a:rPr>
              <a:t>Serial.peek()</a:t>
            </a:r>
          </a:p>
          <a:p>
            <a:r>
              <a:rPr lang="vi-VN" b="1" dirty="0"/>
              <a:t>💡 Trả về:</a:t>
            </a:r>
          </a:p>
          <a:p>
            <a:r>
              <a:rPr lang="vi-VN" dirty="0"/>
              <a:t>Byte kế tiếp trong buffer (0–255).</a:t>
            </a:r>
          </a:p>
          <a:p>
            <a:r>
              <a:rPr lang="vi-VN" dirty="0"/>
              <a:t>Nếu không có dữ liệu → trả về -1.</a:t>
            </a:r>
          </a:p>
          <a:p>
            <a:r>
              <a:rPr lang="vi-VN" b="1" dirty="0"/>
              <a:t>📤 Ví dụ:</a:t>
            </a:r>
          </a:p>
          <a:p>
            <a:pPr rtl="0"/>
            <a:r>
              <a:rPr lang="vi-VN" sz="1200" kern="1200" dirty="0">
                <a:solidFill>
                  <a:schemeClr val="tx1"/>
                </a:solidFill>
                <a:latin typeface="+mn-lt"/>
                <a:ea typeface="+mn-ea"/>
                <a:cs typeface="+mn-cs"/>
              </a:rPr>
              <a:t>if (Serial.available() &gt; 0) {</a:t>
            </a:r>
          </a:p>
          <a:p>
            <a:pPr rtl="0"/>
            <a:r>
              <a:rPr lang="vi-VN" sz="1200" kern="1200" dirty="0">
                <a:solidFill>
                  <a:schemeClr val="tx1"/>
                </a:solidFill>
                <a:latin typeface="+mn-lt"/>
                <a:ea typeface="+mn-ea"/>
                <a:cs typeface="+mn-cs"/>
              </a:rPr>
              <a:t>  char nextChar = Serial.peek();</a:t>
            </a:r>
          </a:p>
          <a:p>
            <a:pPr rtl="0"/>
            <a:r>
              <a:rPr lang="vi-VN" sz="1200" kern="1200" dirty="0">
                <a:solidFill>
                  <a:schemeClr val="tx1"/>
                </a:solidFill>
                <a:latin typeface="+mn-lt"/>
                <a:ea typeface="+mn-ea"/>
                <a:cs typeface="+mn-cs"/>
              </a:rPr>
              <a:t>  Serial.print("Byte tiếp theo là: ");</a:t>
            </a:r>
          </a:p>
          <a:p>
            <a:pPr rtl="0"/>
            <a:r>
              <a:rPr lang="vi-VN" sz="1200" kern="1200" dirty="0">
                <a:solidFill>
                  <a:schemeClr val="tx1"/>
                </a:solidFill>
                <a:latin typeface="+mn-lt"/>
                <a:ea typeface="+mn-ea"/>
                <a:cs typeface="+mn-cs"/>
              </a:rPr>
              <a:t>  Serial.println(nextChar);</a:t>
            </a:r>
          </a:p>
          <a:p>
            <a:pPr rtl="0"/>
            <a:r>
              <a:rPr lang="vi-VN" sz="1200" kern="1200" dirty="0">
                <a:solidFill>
                  <a:schemeClr val="tx1"/>
                </a:solidFill>
                <a:latin typeface="+mn-lt"/>
                <a:ea typeface="+mn-ea"/>
                <a:cs typeface="+mn-cs"/>
              </a:rPr>
              <a:t>}</a:t>
            </a:r>
          </a:p>
        </p:txBody>
      </p:sp>
      <p:sp>
        <p:nvSpPr>
          <p:cNvPr id="4" name="Slide Number Placeholder 3">
            <a:extLst>
              <a:ext uri="{FF2B5EF4-FFF2-40B4-BE49-F238E27FC236}">
                <a16:creationId xmlns:a16="http://schemas.microsoft.com/office/drawing/2014/main" id="{150C2403-8390-3A84-3AD9-95F3F1706CA4}"/>
              </a:ext>
            </a:extLst>
          </p:cNvPr>
          <p:cNvSpPr>
            <a:spLocks noGrp="1"/>
          </p:cNvSpPr>
          <p:nvPr>
            <p:ph type="sldNum" sz="quarter" idx="5"/>
          </p:nvPr>
        </p:nvSpPr>
        <p:spPr/>
        <p:txBody>
          <a:bodyPr/>
          <a:lstStyle/>
          <a:p>
            <a:fld id="{37D01E2C-B751-4C38-A4F8-4A97733E0BA7}" type="slidenum">
              <a:rPr lang="en-US" smtClean="0"/>
              <a:t>25</a:t>
            </a:fld>
            <a:endParaRPr lang="en-US"/>
          </a:p>
        </p:txBody>
      </p:sp>
    </p:spTree>
    <p:extLst>
      <p:ext uri="{BB962C8B-B14F-4D97-AF65-F5344CB8AC3E}">
        <p14:creationId xmlns:p14="http://schemas.microsoft.com/office/powerpoint/2010/main" val="1004487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0A0FB-A287-523E-F3DF-550352A81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0E204-17F7-F01B-7B77-9684FF65A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17F8D-73B0-CDA1-FC27-23592596ACC4}"/>
              </a:ext>
            </a:extLst>
          </p:cNvPr>
          <p:cNvSpPr>
            <a:spLocks noGrp="1"/>
          </p:cNvSpPr>
          <p:nvPr>
            <p:ph type="body" idx="1"/>
          </p:nvPr>
        </p:nvSpPr>
        <p:spPr/>
        <p:txBody>
          <a:bodyPr/>
          <a:lstStyle/>
          <a:p>
            <a:r>
              <a:rPr lang="vi-VN" b="1" dirty="0"/>
              <a:t>void setup() {</a:t>
            </a:r>
          </a:p>
          <a:p>
            <a:r>
              <a:rPr lang="vi-VN" b="1" dirty="0"/>
              <a:t>  Serial.begin(9600);        // Initialize UART</a:t>
            </a:r>
          </a:p>
          <a:p>
            <a:r>
              <a:rPr lang="vi-VN" b="1" dirty="0"/>
              <a:t>  Serial.println("Type a character. ESP32/UNO will show peek and read:");</a:t>
            </a:r>
          </a:p>
          <a:p>
            <a:r>
              <a:rPr lang="vi-VN" b="1" dirty="0"/>
              <a:t>}</a:t>
            </a:r>
          </a:p>
          <a:p>
            <a:endParaRPr lang="vi-VN" b="1" dirty="0"/>
          </a:p>
          <a:p>
            <a:r>
              <a:rPr lang="vi-VN" b="1" dirty="0"/>
              <a:t>void loop() {</a:t>
            </a:r>
          </a:p>
          <a:p>
            <a:r>
              <a:rPr lang="vi-VN" b="1" dirty="0"/>
              <a:t>  if (Serial.available() &gt; 0) {</a:t>
            </a:r>
          </a:p>
          <a:p>
            <a:r>
              <a:rPr lang="vi-VN" b="1" dirty="0"/>
              <a:t>    // Look at the first character</a:t>
            </a:r>
          </a:p>
          <a:p>
            <a:r>
              <a:rPr lang="vi-VN" b="1" dirty="0"/>
              <a:t>    int c = Serial.peek();</a:t>
            </a:r>
          </a:p>
          <a:p>
            <a:r>
              <a:rPr lang="vi-VN" b="1" dirty="0"/>
              <a:t>    Serial.print("Peek first character:");</a:t>
            </a:r>
          </a:p>
          <a:p>
            <a:r>
              <a:rPr lang="vi-VN" b="1" dirty="0"/>
              <a:t>    if (c != -1) {</a:t>
            </a:r>
          </a:p>
          <a:p>
            <a:r>
              <a:rPr lang="vi-VN" b="1" dirty="0"/>
              <a:t>      Serial.println((char)c); // Print the character, still in buffer</a:t>
            </a:r>
          </a:p>
          <a:p>
            <a:r>
              <a:rPr lang="vi-VN" b="1" dirty="0"/>
              <a:t>    } else {</a:t>
            </a:r>
          </a:p>
          <a:p>
            <a:r>
              <a:rPr lang="vi-VN" b="1" dirty="0"/>
              <a:t>      Serial.println("Buffer is empty");</a:t>
            </a:r>
          </a:p>
          <a:p>
            <a:r>
              <a:rPr lang="vi-VN" b="1" dirty="0"/>
              <a:t>    }</a:t>
            </a:r>
          </a:p>
          <a:p>
            <a:endParaRPr lang="vi-VN" b="1" dirty="0"/>
          </a:p>
          <a:p>
            <a:r>
              <a:rPr lang="vi-VN" b="1" dirty="0"/>
              <a:t>    // Actually read the character</a:t>
            </a:r>
          </a:p>
          <a:p>
            <a:r>
              <a:rPr lang="vi-VN" b="1" dirty="0"/>
              <a:t>    char actual = Serial.read();</a:t>
            </a:r>
          </a:p>
          <a:p>
            <a:r>
              <a:rPr lang="vi-VN" b="1" dirty="0"/>
              <a:t>    Serial.print("Read character: ");</a:t>
            </a:r>
          </a:p>
          <a:p>
            <a:r>
              <a:rPr lang="vi-VN" b="1" dirty="0"/>
              <a:t>    Serial.println(actual);</a:t>
            </a:r>
          </a:p>
          <a:p>
            <a:endParaRPr lang="vi-VN" b="1" dirty="0"/>
          </a:p>
          <a:p>
            <a:r>
              <a:rPr lang="vi-VN" b="1" dirty="0"/>
              <a:t>    Serial.println("--------------------------------");</a:t>
            </a:r>
          </a:p>
          <a:p>
            <a:r>
              <a:rPr lang="vi-VN" b="1" dirty="0"/>
              <a:t>  }</a:t>
            </a:r>
          </a:p>
          <a:p>
            <a:r>
              <a:rPr lang="vi-VN" b="1"/>
              <a:t>}</a:t>
            </a:r>
            <a:endParaRPr lang="vi-VN" dirty="0"/>
          </a:p>
        </p:txBody>
      </p:sp>
      <p:sp>
        <p:nvSpPr>
          <p:cNvPr id="4" name="Slide Number Placeholder 3">
            <a:extLst>
              <a:ext uri="{FF2B5EF4-FFF2-40B4-BE49-F238E27FC236}">
                <a16:creationId xmlns:a16="http://schemas.microsoft.com/office/drawing/2014/main" id="{112693F1-E061-E548-FF75-3FB8D3D60928}"/>
              </a:ext>
            </a:extLst>
          </p:cNvPr>
          <p:cNvSpPr>
            <a:spLocks noGrp="1"/>
          </p:cNvSpPr>
          <p:nvPr>
            <p:ph type="sldNum" sz="quarter" idx="5"/>
          </p:nvPr>
        </p:nvSpPr>
        <p:spPr/>
        <p:txBody>
          <a:bodyPr/>
          <a:lstStyle/>
          <a:p>
            <a:fld id="{37D01E2C-B751-4C38-A4F8-4A97733E0BA7}" type="slidenum">
              <a:rPr lang="en-US" smtClean="0"/>
              <a:t>26</a:t>
            </a:fld>
            <a:endParaRPr lang="en-US"/>
          </a:p>
        </p:txBody>
      </p:sp>
    </p:spTree>
    <p:extLst>
      <p:ext uri="{BB962C8B-B14F-4D97-AF65-F5344CB8AC3E}">
        <p14:creationId xmlns:p14="http://schemas.microsoft.com/office/powerpoint/2010/main" val="34067405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F56D1-6E27-6A08-436F-5C5D7BDD1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E013B-0BAC-F953-AC6C-3AD865479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ECAFF-C005-6DB0-F62A-AA20E79F3EC0}"/>
              </a:ext>
            </a:extLst>
          </p:cNvPr>
          <p:cNvSpPr>
            <a:spLocks noGrp="1"/>
          </p:cNvSpPr>
          <p:nvPr>
            <p:ph type="body" idx="1"/>
          </p:nvPr>
        </p:nvSpPr>
        <p:spPr/>
        <p:txBody>
          <a:bodyPr/>
          <a:lstStyle/>
          <a:p>
            <a:r>
              <a:rPr lang="vi-VN" b="1" dirty="0"/>
              <a:t>🧩 8️⃣ </a:t>
            </a:r>
            <a:r>
              <a:rPr lang="vi-VN" sz="1200" b="1" kern="1200" dirty="0">
                <a:solidFill>
                  <a:schemeClr val="tx1"/>
                </a:solidFill>
                <a:latin typeface="+mn-lt"/>
                <a:ea typeface="+mn-ea"/>
                <a:cs typeface="+mn-cs"/>
              </a:rPr>
              <a:t>Serial.write()</a:t>
            </a:r>
            <a:endParaRPr lang="vi-VN" b="1" dirty="0"/>
          </a:p>
          <a:p>
            <a:r>
              <a:rPr lang="vi-VN" b="1" dirty="0"/>
              <a:t>🧠 Chức năng:</a:t>
            </a:r>
          </a:p>
          <a:p>
            <a:r>
              <a:rPr lang="vi-VN" dirty="0"/>
              <a:t>Gửi </a:t>
            </a:r>
            <a:r>
              <a:rPr lang="vi-VN" b="1" dirty="0"/>
              <a:t>dữ liệu thô (binary)</a:t>
            </a:r>
            <a:r>
              <a:rPr lang="vi-VN" dirty="0"/>
              <a:t> qua UART.</a:t>
            </a:r>
            <a:br>
              <a:rPr lang="vi-VN" dirty="0"/>
            </a:br>
            <a:r>
              <a:rPr lang="vi-VN" dirty="0"/>
              <a:t>Dùng khi gửi byte, mảng, hoặc ký tự không phải ASCII.</a:t>
            </a:r>
          </a:p>
          <a:p>
            <a:r>
              <a:rPr lang="vi-VN" b="1" dirty="0"/>
              <a:t>🧱 Cú pháp:</a:t>
            </a:r>
          </a:p>
          <a:p>
            <a:pPr rtl="0"/>
            <a:r>
              <a:rPr lang="vi-VN" sz="1200" kern="1200" dirty="0">
                <a:solidFill>
                  <a:schemeClr val="tx1"/>
                </a:solidFill>
                <a:latin typeface="+mn-lt"/>
                <a:ea typeface="+mn-ea"/>
                <a:cs typeface="+mn-cs"/>
              </a:rPr>
              <a:t>Serial.write(value);</a:t>
            </a:r>
          </a:p>
          <a:p>
            <a:pPr rtl="0"/>
            <a:r>
              <a:rPr lang="vi-VN" sz="1200" kern="1200" dirty="0">
                <a:solidFill>
                  <a:schemeClr val="tx1"/>
                </a:solidFill>
                <a:latin typeface="+mn-lt"/>
                <a:ea typeface="+mn-ea"/>
                <a:cs typeface="+mn-cs"/>
              </a:rPr>
              <a:t>Serial.write(buffer, length);</a:t>
            </a:r>
          </a:p>
          <a:p>
            <a:r>
              <a:rPr lang="vi-VN" b="1" dirty="0"/>
              <a:t>💡 Trả về:</a:t>
            </a:r>
          </a:p>
          <a:p>
            <a:r>
              <a:rPr lang="vi-VN" dirty="0"/>
              <a:t>Số byte đã gửi.</a:t>
            </a:r>
          </a:p>
          <a:p>
            <a:r>
              <a:rPr lang="vi-VN" b="1" dirty="0"/>
              <a:t>📤 Ví dụ:</a:t>
            </a:r>
          </a:p>
          <a:p>
            <a:pPr rtl="0"/>
            <a:r>
              <a:rPr lang="vi-VN" sz="1200" kern="1200" dirty="0">
                <a:solidFill>
                  <a:schemeClr val="tx1"/>
                </a:solidFill>
                <a:latin typeface="+mn-lt"/>
                <a:ea typeface="+mn-ea"/>
                <a:cs typeface="+mn-cs"/>
              </a:rPr>
              <a:t>byte packet[] = {0xAA, 0x55, 0x10, 0x20};</a:t>
            </a:r>
          </a:p>
          <a:p>
            <a:pPr rtl="0"/>
            <a:r>
              <a:rPr lang="vi-VN" sz="1200" kern="1200" dirty="0">
                <a:solidFill>
                  <a:schemeClr val="tx1"/>
                </a:solidFill>
                <a:latin typeface="+mn-lt"/>
                <a:ea typeface="+mn-ea"/>
                <a:cs typeface="+mn-cs"/>
              </a:rPr>
              <a:t>Serial.write(packet, 4); // gửi 4 byte nhị phân</a:t>
            </a:r>
          </a:p>
        </p:txBody>
      </p:sp>
      <p:sp>
        <p:nvSpPr>
          <p:cNvPr id="4" name="Slide Number Placeholder 3">
            <a:extLst>
              <a:ext uri="{FF2B5EF4-FFF2-40B4-BE49-F238E27FC236}">
                <a16:creationId xmlns:a16="http://schemas.microsoft.com/office/drawing/2014/main" id="{C95B72E0-CDBC-FD67-7FC1-D0AD4714F539}"/>
              </a:ext>
            </a:extLst>
          </p:cNvPr>
          <p:cNvSpPr>
            <a:spLocks noGrp="1"/>
          </p:cNvSpPr>
          <p:nvPr>
            <p:ph type="sldNum" sz="quarter" idx="5"/>
          </p:nvPr>
        </p:nvSpPr>
        <p:spPr/>
        <p:txBody>
          <a:bodyPr/>
          <a:lstStyle/>
          <a:p>
            <a:fld id="{37D01E2C-B751-4C38-A4F8-4A97733E0BA7}" type="slidenum">
              <a:rPr lang="en-US" smtClean="0"/>
              <a:t>27</a:t>
            </a:fld>
            <a:endParaRPr lang="en-US"/>
          </a:p>
        </p:txBody>
      </p:sp>
    </p:spTree>
    <p:extLst>
      <p:ext uri="{BB962C8B-B14F-4D97-AF65-F5344CB8AC3E}">
        <p14:creationId xmlns:p14="http://schemas.microsoft.com/office/powerpoint/2010/main" val="241655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64C7A-73E1-75C7-608A-CF58C6537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9132A-96F0-9017-B8D4-38EB30D11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BD774-570E-43BC-5940-EF5687DEAFEB}"/>
              </a:ext>
            </a:extLst>
          </p:cNvPr>
          <p:cNvSpPr>
            <a:spLocks noGrp="1"/>
          </p:cNvSpPr>
          <p:nvPr>
            <p:ph type="body" idx="1"/>
          </p:nvPr>
        </p:nvSpPr>
        <p:spPr/>
        <p:txBody>
          <a:bodyPr/>
          <a:lstStyle/>
          <a:p>
            <a:r>
              <a:rPr lang="vi-VN" b="1" dirty="0"/>
              <a:t>void setup() {</a:t>
            </a:r>
          </a:p>
          <a:p>
            <a:r>
              <a:rPr lang="vi-VN" b="1" dirty="0"/>
              <a:t>  Serial.begin(9600);</a:t>
            </a:r>
          </a:p>
          <a:p>
            <a:r>
              <a:rPr lang="vi-VN" b="1" dirty="0"/>
              <a:t>  Serial.println("Arduino test Serial.write:");</a:t>
            </a:r>
          </a:p>
          <a:p>
            <a:r>
              <a:rPr lang="vi-VN" b="1" dirty="0"/>
              <a:t>}</a:t>
            </a:r>
          </a:p>
          <a:p>
            <a:endParaRPr lang="vi-VN" b="1" dirty="0"/>
          </a:p>
          <a:p>
            <a:r>
              <a:rPr lang="vi-VN" b="1" dirty="0"/>
              <a:t>void loop() {</a:t>
            </a:r>
          </a:p>
          <a:p>
            <a:r>
              <a:rPr lang="vi-VN" b="1" dirty="0"/>
              <a:t>  // 1️⃣ Gửi 1 byte</a:t>
            </a:r>
          </a:p>
          <a:p>
            <a:r>
              <a:rPr lang="vi-VN" b="1" dirty="0"/>
              <a:t>  byte b = 65;  // ASCII 'A'</a:t>
            </a:r>
          </a:p>
          <a:p>
            <a:r>
              <a:rPr lang="vi-VN" b="1" dirty="0"/>
              <a:t>  Serial.write(b);</a:t>
            </a:r>
          </a:p>
          <a:p>
            <a:r>
              <a:rPr lang="vi-VN" b="1" dirty="0"/>
              <a:t>  Serial.println(" &lt;- da gui 1 byte (A)");</a:t>
            </a:r>
          </a:p>
          <a:p>
            <a:endParaRPr lang="vi-VN" b="1" dirty="0"/>
          </a:p>
          <a:p>
            <a:r>
              <a:rPr lang="vi-VN" b="1" dirty="0"/>
              <a:t>  delay(1000);</a:t>
            </a:r>
          </a:p>
          <a:p>
            <a:endParaRPr lang="vi-VN" b="1" dirty="0"/>
          </a:p>
          <a:p>
            <a:r>
              <a:rPr lang="vi-VN" b="1" dirty="0"/>
              <a:t>  // 2️⃣ Gửi mảng byte</a:t>
            </a:r>
          </a:p>
          <a:p>
            <a:r>
              <a:rPr lang="vi-VN" b="1" dirty="0"/>
              <a:t>  byte arr[] = {66, 67, 68}; // ASCII 'B', 'C', 'D'</a:t>
            </a:r>
          </a:p>
          <a:p>
            <a:r>
              <a:rPr lang="vi-VN" b="1" dirty="0"/>
              <a:t>  Serial.write(arr, 3);</a:t>
            </a:r>
          </a:p>
          <a:p>
            <a:r>
              <a:rPr lang="vi-VN" b="1" dirty="0"/>
              <a:t>  Serial.println(" &lt;- da gui mang 3 byte (BCD)");</a:t>
            </a:r>
          </a:p>
          <a:p>
            <a:endParaRPr lang="vi-VN" b="1" dirty="0"/>
          </a:p>
          <a:p>
            <a:r>
              <a:rPr lang="vi-VN" b="1" dirty="0"/>
              <a:t>  delay(1000);</a:t>
            </a:r>
          </a:p>
          <a:p>
            <a:endParaRPr lang="vi-VN" b="1" dirty="0"/>
          </a:p>
          <a:p>
            <a:r>
              <a:rPr lang="vi-VN" b="1" dirty="0"/>
              <a:t>  // 3️⃣ Gửi chuỗi</a:t>
            </a:r>
          </a:p>
          <a:p>
            <a:r>
              <a:rPr lang="vi-VN" b="1" dirty="0"/>
              <a:t>  Serial.write("Hello");</a:t>
            </a:r>
          </a:p>
          <a:p>
            <a:r>
              <a:rPr lang="vi-VN" b="1" dirty="0"/>
              <a:t>  Serial.println(" &lt;- da gui chuoi 'Hello'");</a:t>
            </a:r>
          </a:p>
          <a:p>
            <a:endParaRPr lang="vi-VN" b="1" dirty="0"/>
          </a:p>
          <a:p>
            <a:r>
              <a:rPr lang="vi-VN" b="1" dirty="0"/>
              <a:t>  delay(2000);</a:t>
            </a:r>
          </a:p>
          <a:p>
            <a:r>
              <a:rPr lang="vi-VN" b="1" dirty="0"/>
              <a:t>}</a:t>
            </a:r>
            <a:endParaRPr lang="en-US" b="1" dirty="0"/>
          </a:p>
          <a:p>
            <a:endParaRPr lang="en-US" b="1" dirty="0"/>
          </a:p>
          <a:p>
            <a:endParaRPr lang="en-US" b="1" dirty="0"/>
          </a:p>
          <a:p>
            <a:r>
              <a:rPr lang="vi-VN" b="1" dirty="0"/>
              <a:t>🔹 3️⃣ Hướng dẫn test với máy tính</a:t>
            </a:r>
          </a:p>
          <a:p>
            <a:r>
              <a:rPr lang="vi-VN" dirty="0"/>
              <a:t>Mở </a:t>
            </a:r>
            <a:r>
              <a:rPr lang="vi-VN" b="1" dirty="0"/>
              <a:t>Arduino IDE</a:t>
            </a:r>
            <a:r>
              <a:rPr lang="vi-VN" dirty="0"/>
              <a:t>, chọn </a:t>
            </a:r>
            <a:r>
              <a:rPr lang="vi-VN" b="1" dirty="0"/>
              <a:t>board: Arduino Uno</a:t>
            </a:r>
            <a:r>
              <a:rPr lang="vi-VN" dirty="0"/>
              <a:t> và COM port đúng.</a:t>
            </a:r>
          </a:p>
          <a:p>
            <a:r>
              <a:rPr lang="vi-VN" dirty="0"/>
              <a:t>Upload chương trình.</a:t>
            </a:r>
          </a:p>
          <a:p>
            <a:r>
              <a:rPr lang="vi-VN" dirty="0"/>
              <a:t>Mở </a:t>
            </a:r>
            <a:r>
              <a:rPr lang="vi-VN" b="1" dirty="0"/>
              <a:t>Serial Monitor</a:t>
            </a:r>
            <a:r>
              <a:rPr lang="vi-VN" dirty="0"/>
              <a:t>, baud </a:t>
            </a:r>
            <a:r>
              <a:rPr lang="vi-VN" b="1" dirty="0"/>
              <a:t>9600</a:t>
            </a:r>
            <a:endParaRPr lang="vi-VN" dirty="0"/>
          </a:p>
          <a:p>
            <a:r>
              <a:rPr lang="vi-VN" dirty="0"/>
              <a:t>Bạn sẽ thấy dữ liệu “raw bytes” được gửi, ví dụ:</a:t>
            </a:r>
          </a:p>
          <a:p>
            <a:pPr rtl="0"/>
            <a:r>
              <a:rPr lang="vi-VN" sz="1200" kern="1200" dirty="0">
                <a:solidFill>
                  <a:schemeClr val="tx1"/>
                </a:solidFill>
                <a:latin typeface="+mn-lt"/>
                <a:ea typeface="+mn-ea"/>
                <a:cs typeface="+mn-cs"/>
              </a:rPr>
              <a:t>A &lt;- da gui 1 byte (A)</a:t>
            </a:r>
          </a:p>
          <a:p>
            <a:pPr rtl="0"/>
            <a:r>
              <a:rPr lang="vi-VN" sz="1200" kern="1200" dirty="0">
                <a:solidFill>
                  <a:schemeClr val="tx1"/>
                </a:solidFill>
                <a:latin typeface="+mn-lt"/>
                <a:ea typeface="+mn-ea"/>
                <a:cs typeface="+mn-cs"/>
              </a:rPr>
              <a:t>BCD &lt;- da gui mang 3 byte (BCD)</a:t>
            </a:r>
          </a:p>
          <a:p>
            <a:pPr rtl="0"/>
            <a:r>
              <a:rPr lang="vi-VN" sz="1200" kern="1200" dirty="0">
                <a:solidFill>
                  <a:schemeClr val="tx1"/>
                </a:solidFill>
                <a:latin typeface="+mn-lt"/>
                <a:ea typeface="+mn-ea"/>
                <a:cs typeface="+mn-cs"/>
              </a:rPr>
              <a:t>Hello &lt;- da gui chuoi 'Hello'</a:t>
            </a:r>
          </a:p>
          <a:p>
            <a:r>
              <a:rPr lang="vi-VN" dirty="0"/>
              <a:t>Lưu ý: </a:t>
            </a:r>
            <a:r>
              <a:rPr lang="vi-VN" sz="1200" b="1" kern="1200" dirty="0">
                <a:solidFill>
                  <a:schemeClr val="tx1"/>
                </a:solidFill>
                <a:latin typeface="+mn-lt"/>
                <a:ea typeface="+mn-ea"/>
                <a:cs typeface="+mn-cs"/>
              </a:rPr>
              <a:t>Serial.write()</a:t>
            </a:r>
            <a:r>
              <a:rPr lang="vi-VN" b="1" dirty="0"/>
              <a:t> gửi byte</a:t>
            </a:r>
            <a:r>
              <a:rPr lang="vi-VN" dirty="0"/>
              <a:t>, nếu Serial Monitor hiển thị ASCII thì bạn sẽ thấy ký tự tương ứng.</a:t>
            </a:r>
          </a:p>
          <a:p>
            <a:r>
              <a:rPr lang="vi-VN" dirty="0"/>
              <a:t>Nếu bạn dùng </a:t>
            </a:r>
            <a:r>
              <a:rPr lang="vi-VN" b="1" dirty="0"/>
              <a:t>Terminal thô (ví dụ PuTTY)</a:t>
            </a:r>
            <a:r>
              <a:rPr lang="vi-VN" dirty="0"/>
              <a:t> thì sẽ thấy byte “gốc” mà không kèm newline.</a:t>
            </a:r>
          </a:p>
          <a:p>
            <a:br>
              <a:rPr lang="vi-VN" dirty="0"/>
            </a:br>
            <a:endParaRPr lang="vi-VN" dirty="0"/>
          </a:p>
          <a:p>
            <a:r>
              <a:rPr lang="vi-VN" dirty="0"/>
              <a:t>💡 </a:t>
            </a:r>
            <a:r>
              <a:rPr lang="vi-VN" b="1" dirty="0"/>
              <a:t>Mẹo:</a:t>
            </a:r>
            <a:endParaRPr lang="vi-VN" dirty="0"/>
          </a:p>
          <a:p>
            <a:r>
              <a:rPr lang="vi-VN" dirty="0"/>
              <a:t>Dùng </a:t>
            </a:r>
            <a:r>
              <a:rPr lang="vi-VN" sz="1200" kern="1200" dirty="0">
                <a:solidFill>
                  <a:schemeClr val="tx1"/>
                </a:solidFill>
                <a:latin typeface="+mn-lt"/>
                <a:ea typeface="+mn-ea"/>
                <a:cs typeface="+mn-cs"/>
              </a:rPr>
              <a:t>Serial.write()</a:t>
            </a:r>
            <a:r>
              <a:rPr lang="vi-VN" dirty="0"/>
              <a:t> khi muốn gửi </a:t>
            </a:r>
            <a:r>
              <a:rPr lang="vi-VN" b="1" dirty="0"/>
              <a:t>dữ liệu nhị phân</a:t>
            </a:r>
            <a:r>
              <a:rPr lang="vi-VN" dirty="0"/>
              <a:t>, ví dụ:</a:t>
            </a:r>
          </a:p>
          <a:p>
            <a:pPr lvl="1"/>
            <a:r>
              <a:rPr lang="vi-VN" dirty="0"/>
              <a:t>Truyền hình ảnh từ Arduino</a:t>
            </a:r>
          </a:p>
          <a:p>
            <a:pPr lvl="1"/>
            <a:r>
              <a:rPr lang="vi-VN" dirty="0"/>
              <a:t>Gửi giá trị cảm biến dạng byte hoặc struct</a:t>
            </a:r>
          </a:p>
          <a:p>
            <a:r>
              <a:rPr lang="vi-VN" sz="1200" kern="1200" dirty="0">
                <a:solidFill>
                  <a:schemeClr val="tx1"/>
                </a:solidFill>
                <a:latin typeface="+mn-lt"/>
                <a:ea typeface="+mn-ea"/>
                <a:cs typeface="+mn-cs"/>
              </a:rPr>
              <a:t>Serial.print()</a:t>
            </a:r>
            <a:r>
              <a:rPr lang="vi-VN" dirty="0"/>
              <a:t> chỉ dùng để </a:t>
            </a:r>
            <a:r>
              <a:rPr lang="vi-VN" b="1" dirty="0"/>
              <a:t>in đọc được</a:t>
            </a:r>
            <a:r>
              <a:rPr lang="vi-VN" dirty="0"/>
              <a:t>, không gửi dữ liệu nhị phân gốc.</a:t>
            </a:r>
          </a:p>
          <a:p>
            <a:endParaRPr lang="vi-VN" b="1" dirty="0"/>
          </a:p>
        </p:txBody>
      </p:sp>
      <p:sp>
        <p:nvSpPr>
          <p:cNvPr id="4" name="Slide Number Placeholder 3">
            <a:extLst>
              <a:ext uri="{FF2B5EF4-FFF2-40B4-BE49-F238E27FC236}">
                <a16:creationId xmlns:a16="http://schemas.microsoft.com/office/drawing/2014/main" id="{E1623AD2-31D0-D079-85D3-D46CD7431C48}"/>
              </a:ext>
            </a:extLst>
          </p:cNvPr>
          <p:cNvSpPr>
            <a:spLocks noGrp="1"/>
          </p:cNvSpPr>
          <p:nvPr>
            <p:ph type="sldNum" sz="quarter" idx="5"/>
          </p:nvPr>
        </p:nvSpPr>
        <p:spPr/>
        <p:txBody>
          <a:bodyPr/>
          <a:lstStyle/>
          <a:p>
            <a:fld id="{37D01E2C-B751-4C38-A4F8-4A97733E0BA7}" type="slidenum">
              <a:rPr lang="en-US" smtClean="0"/>
              <a:t>28</a:t>
            </a:fld>
            <a:endParaRPr lang="en-US"/>
          </a:p>
        </p:txBody>
      </p:sp>
    </p:spTree>
    <p:extLst>
      <p:ext uri="{BB962C8B-B14F-4D97-AF65-F5344CB8AC3E}">
        <p14:creationId xmlns:p14="http://schemas.microsoft.com/office/powerpoint/2010/main" val="210631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8F5C6-5A3D-9806-94A6-F5FEE7051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F5446-FF2E-CAE1-EEBC-9064069CA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3755E-A9A4-497C-7FDD-67388C4C2250}"/>
              </a:ext>
            </a:extLst>
          </p:cNvPr>
          <p:cNvSpPr>
            <a:spLocks noGrp="1"/>
          </p:cNvSpPr>
          <p:nvPr>
            <p:ph type="body" idx="1"/>
          </p:nvPr>
        </p:nvSpPr>
        <p:spPr/>
        <p:txBody>
          <a:bodyPr/>
          <a:lstStyle/>
          <a:p>
            <a:r>
              <a:rPr lang="vi-VN" b="1" dirty="0"/>
              <a:t>🧩 🔟 </a:t>
            </a:r>
            <a:r>
              <a:rPr lang="vi-VN" sz="1200" b="1" kern="1200" dirty="0">
                <a:solidFill>
                  <a:schemeClr val="tx1"/>
                </a:solidFill>
                <a:latin typeface="+mn-lt"/>
                <a:ea typeface="+mn-ea"/>
                <a:cs typeface="+mn-cs"/>
              </a:rPr>
              <a:t>Serial.end()</a:t>
            </a:r>
            <a:endParaRPr lang="vi-VN" b="1" dirty="0"/>
          </a:p>
          <a:p>
            <a:r>
              <a:rPr lang="vi-VN" b="1" dirty="0"/>
              <a:t>🧠 Chức năng:</a:t>
            </a:r>
          </a:p>
          <a:p>
            <a:r>
              <a:rPr lang="vi-VN" dirty="0"/>
              <a:t>Tắt UART và giải phóng chân TX/RX để dùng cho mục đích khác.</a:t>
            </a:r>
          </a:p>
          <a:p>
            <a:r>
              <a:rPr lang="vi-VN" b="1" dirty="0"/>
              <a:t>🧱 Cú pháp:</a:t>
            </a:r>
          </a:p>
          <a:p>
            <a:pPr rtl="0"/>
            <a:r>
              <a:rPr lang="vi-VN" sz="1200" kern="1200" dirty="0">
                <a:solidFill>
                  <a:schemeClr val="tx1"/>
                </a:solidFill>
                <a:latin typeface="+mn-lt"/>
                <a:ea typeface="+mn-ea"/>
                <a:cs typeface="+mn-cs"/>
              </a:rPr>
              <a:t>Serial.end()</a:t>
            </a:r>
          </a:p>
          <a:p>
            <a:r>
              <a:rPr lang="vi-VN" b="1" dirty="0"/>
              <a:t>📤 Ví dụ:</a:t>
            </a:r>
          </a:p>
          <a:p>
            <a:pPr rtl="0"/>
            <a:r>
              <a:rPr lang="vi-VN" sz="1200" kern="1200" dirty="0">
                <a:solidFill>
                  <a:schemeClr val="tx1"/>
                </a:solidFill>
                <a:latin typeface="+mn-lt"/>
                <a:ea typeface="+mn-ea"/>
                <a:cs typeface="+mn-cs"/>
              </a:rPr>
              <a:t>Serial.end();  // ngừng giao tiếp UART</a:t>
            </a:r>
          </a:p>
        </p:txBody>
      </p:sp>
      <p:sp>
        <p:nvSpPr>
          <p:cNvPr id="4" name="Slide Number Placeholder 3">
            <a:extLst>
              <a:ext uri="{FF2B5EF4-FFF2-40B4-BE49-F238E27FC236}">
                <a16:creationId xmlns:a16="http://schemas.microsoft.com/office/drawing/2014/main" id="{F1A68717-3D9A-02E7-191F-3030A2654C6E}"/>
              </a:ext>
            </a:extLst>
          </p:cNvPr>
          <p:cNvSpPr>
            <a:spLocks noGrp="1"/>
          </p:cNvSpPr>
          <p:nvPr>
            <p:ph type="sldNum" sz="quarter" idx="5"/>
          </p:nvPr>
        </p:nvSpPr>
        <p:spPr/>
        <p:txBody>
          <a:bodyPr/>
          <a:lstStyle/>
          <a:p>
            <a:fld id="{37D01E2C-B751-4C38-A4F8-4A97733E0BA7}" type="slidenum">
              <a:rPr lang="en-US" smtClean="0"/>
              <a:t>29</a:t>
            </a:fld>
            <a:endParaRPr lang="en-US"/>
          </a:p>
        </p:txBody>
      </p:sp>
    </p:spTree>
    <p:extLst>
      <p:ext uri="{BB962C8B-B14F-4D97-AF65-F5344CB8AC3E}">
        <p14:creationId xmlns:p14="http://schemas.microsoft.com/office/powerpoint/2010/main" val="32548179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5414-6166-AF7E-95EF-7FD5F1414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96239-2A5E-3BD1-5946-43FEFA7BA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B4D5D-537B-3179-9FF7-E12A1CF25B7B}"/>
              </a:ext>
            </a:extLst>
          </p:cNvPr>
          <p:cNvSpPr>
            <a:spLocks noGrp="1"/>
          </p:cNvSpPr>
          <p:nvPr>
            <p:ph type="body" idx="1"/>
          </p:nvPr>
        </p:nvSpPr>
        <p:spPr/>
        <p:txBody>
          <a:bodyPr/>
          <a:lstStyle/>
          <a:p>
            <a:r>
              <a:rPr lang="vi-VN" b="1" dirty="0"/>
              <a:t>🧩 11️⃣ </a:t>
            </a:r>
            <a:r>
              <a:rPr lang="vi-VN" sz="1200" b="1" kern="1200" dirty="0">
                <a:solidFill>
                  <a:schemeClr val="tx1"/>
                </a:solidFill>
                <a:latin typeface="+mn-lt"/>
                <a:ea typeface="+mn-ea"/>
                <a:cs typeface="+mn-cs"/>
              </a:rPr>
              <a:t>Serial.setTimeout()</a:t>
            </a:r>
            <a:endParaRPr lang="vi-VN" b="1" dirty="0"/>
          </a:p>
          <a:p>
            <a:r>
              <a:rPr lang="vi-VN" b="1" dirty="0"/>
              <a:t>🧠 Chức năng:</a:t>
            </a:r>
          </a:p>
          <a:p>
            <a:r>
              <a:rPr lang="vi-VN" dirty="0"/>
              <a:t>Thiết lập thời gian chờ cho các hàm đọc dữ liệu (như </a:t>
            </a:r>
            <a:r>
              <a:rPr lang="vi-VN" sz="1200" kern="1200" dirty="0">
                <a:solidFill>
                  <a:schemeClr val="tx1"/>
                </a:solidFill>
                <a:latin typeface="+mn-lt"/>
                <a:ea typeface="+mn-ea"/>
                <a:cs typeface="+mn-cs"/>
              </a:rPr>
              <a:t>readBytes()</a:t>
            </a:r>
            <a:r>
              <a:rPr lang="vi-VN" dirty="0"/>
              <a:t>, </a:t>
            </a:r>
            <a:r>
              <a:rPr lang="vi-VN" sz="1200" kern="1200" dirty="0">
                <a:solidFill>
                  <a:schemeClr val="tx1"/>
                </a:solidFill>
                <a:latin typeface="+mn-lt"/>
                <a:ea typeface="+mn-ea"/>
                <a:cs typeface="+mn-cs"/>
              </a:rPr>
              <a:t>readString()</a:t>
            </a:r>
            <a:r>
              <a:rPr lang="vi-VN" dirty="0"/>
              <a:t>).</a:t>
            </a:r>
          </a:p>
          <a:p>
            <a:r>
              <a:rPr lang="vi-VN" b="1" dirty="0"/>
              <a:t>🧱 Cú pháp:</a:t>
            </a:r>
          </a:p>
          <a:p>
            <a:pPr rtl="0"/>
            <a:r>
              <a:rPr lang="vi-VN" sz="1200" kern="1200" dirty="0">
                <a:solidFill>
                  <a:schemeClr val="tx1"/>
                </a:solidFill>
                <a:latin typeface="+mn-lt"/>
                <a:ea typeface="+mn-ea"/>
                <a:cs typeface="+mn-cs"/>
              </a:rPr>
              <a:t>Serial.setTimeout(ms)</a:t>
            </a:r>
          </a:p>
          <a:p>
            <a:r>
              <a:rPr lang="vi-VN" b="1" dirty="0"/>
              <a:t>📤 Ví dụ:</a:t>
            </a:r>
          </a:p>
          <a:p>
            <a:pPr rtl="0"/>
            <a:r>
              <a:rPr lang="vi-VN" sz="1200" kern="1200" dirty="0">
                <a:solidFill>
                  <a:schemeClr val="tx1"/>
                </a:solidFill>
                <a:latin typeface="+mn-lt"/>
                <a:ea typeface="+mn-ea"/>
                <a:cs typeface="+mn-cs"/>
              </a:rPr>
              <a:t>Serial.setTimeout(2000); // timeout 2 giây</a:t>
            </a:r>
          </a:p>
        </p:txBody>
      </p:sp>
      <p:sp>
        <p:nvSpPr>
          <p:cNvPr id="4" name="Slide Number Placeholder 3">
            <a:extLst>
              <a:ext uri="{FF2B5EF4-FFF2-40B4-BE49-F238E27FC236}">
                <a16:creationId xmlns:a16="http://schemas.microsoft.com/office/drawing/2014/main" id="{497DE34B-D08E-ED88-7F64-BC250D35A385}"/>
              </a:ext>
            </a:extLst>
          </p:cNvPr>
          <p:cNvSpPr>
            <a:spLocks noGrp="1"/>
          </p:cNvSpPr>
          <p:nvPr>
            <p:ph type="sldNum" sz="quarter" idx="5"/>
          </p:nvPr>
        </p:nvSpPr>
        <p:spPr/>
        <p:txBody>
          <a:bodyPr/>
          <a:lstStyle/>
          <a:p>
            <a:fld id="{37D01E2C-B751-4C38-A4F8-4A97733E0BA7}" type="slidenum">
              <a:rPr lang="en-US" smtClean="0"/>
              <a:t>30</a:t>
            </a:fld>
            <a:endParaRPr lang="en-US"/>
          </a:p>
        </p:txBody>
      </p:sp>
    </p:spTree>
    <p:extLst>
      <p:ext uri="{BB962C8B-B14F-4D97-AF65-F5344CB8AC3E}">
        <p14:creationId xmlns:p14="http://schemas.microsoft.com/office/powerpoint/2010/main" val="4186320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2EF08-D5CE-2F5D-4A87-18D373CBE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A22C2-F6EF-1B78-9C93-33BDA7F1E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26411-BA16-1E94-2B4B-57812DDC316A}"/>
              </a:ext>
            </a:extLst>
          </p:cNvPr>
          <p:cNvSpPr>
            <a:spLocks noGrp="1"/>
          </p:cNvSpPr>
          <p:nvPr>
            <p:ph type="body" idx="1"/>
          </p:nvPr>
        </p:nvSpPr>
        <p:spPr/>
        <p:txBody>
          <a:bodyPr/>
          <a:lstStyle/>
          <a:p>
            <a:r>
              <a:rPr lang="vi-VN" b="1" dirty="0"/>
              <a:t>🧩 12️⃣ </a:t>
            </a:r>
            <a:r>
              <a:rPr lang="vi-VN" sz="1200" b="1" kern="1200" dirty="0">
                <a:solidFill>
                  <a:schemeClr val="tx1"/>
                </a:solidFill>
                <a:latin typeface="+mn-lt"/>
                <a:ea typeface="+mn-ea"/>
                <a:cs typeface="+mn-cs"/>
              </a:rPr>
              <a:t>Serial.availableForWrite()</a:t>
            </a:r>
            <a:endParaRPr lang="vi-VN" b="1" dirty="0"/>
          </a:p>
          <a:p>
            <a:r>
              <a:rPr lang="vi-VN" b="1" dirty="0"/>
              <a:t>🧠 Chức năng:</a:t>
            </a:r>
          </a:p>
          <a:p>
            <a:r>
              <a:rPr lang="vi-VN" dirty="0"/>
              <a:t>Kiểm tra xem có bao nhiêu byte </a:t>
            </a:r>
            <a:r>
              <a:rPr lang="vi-VN" b="1" dirty="0"/>
              <a:t>chỗ trống còn lại</a:t>
            </a:r>
            <a:r>
              <a:rPr lang="vi-VN" dirty="0"/>
              <a:t> trong </a:t>
            </a:r>
            <a:r>
              <a:rPr lang="vi-VN" b="1" dirty="0"/>
              <a:t>bộ đệm truyền (TX buffer)</a:t>
            </a:r>
            <a:r>
              <a:rPr lang="vi-VN" dirty="0"/>
              <a:t>.</a:t>
            </a:r>
          </a:p>
          <a:p>
            <a:r>
              <a:rPr lang="vi-VN" b="1" dirty="0"/>
              <a:t>🧱 Cú pháp:</a:t>
            </a:r>
          </a:p>
          <a:p>
            <a:pPr rtl="0"/>
            <a:r>
              <a:rPr lang="vi-VN" sz="1200" kern="1200" dirty="0">
                <a:solidFill>
                  <a:schemeClr val="tx1"/>
                </a:solidFill>
                <a:latin typeface="+mn-lt"/>
                <a:ea typeface="+mn-ea"/>
                <a:cs typeface="+mn-cs"/>
              </a:rPr>
              <a:t>Serial.availableForWrite()</a:t>
            </a:r>
          </a:p>
          <a:p>
            <a:r>
              <a:rPr lang="vi-VN" b="1" dirty="0"/>
              <a:t>💡 Trả về:</a:t>
            </a:r>
          </a:p>
          <a:p>
            <a:r>
              <a:rPr lang="vi-VN" dirty="0"/>
              <a:t>Số byte còn trống trong TX buffer.</a:t>
            </a:r>
          </a:p>
          <a:p>
            <a:r>
              <a:rPr lang="vi-VN" b="1" dirty="0"/>
              <a:t>📤 Ví dụ:</a:t>
            </a:r>
          </a:p>
          <a:p>
            <a:pPr rtl="0"/>
            <a:r>
              <a:rPr lang="vi-VN" sz="1200" kern="1200" dirty="0">
                <a:solidFill>
                  <a:schemeClr val="tx1"/>
                </a:solidFill>
                <a:latin typeface="+mn-lt"/>
                <a:ea typeface="+mn-ea"/>
                <a:cs typeface="+mn-cs"/>
              </a:rPr>
              <a:t>if (Serial.availableForWrite() &gt; 0) {</a:t>
            </a:r>
          </a:p>
          <a:p>
            <a:pPr rtl="0"/>
            <a:r>
              <a:rPr lang="vi-VN" sz="1200" kern="1200" dirty="0">
                <a:solidFill>
                  <a:schemeClr val="tx1"/>
                </a:solidFill>
                <a:latin typeface="+mn-lt"/>
                <a:ea typeface="+mn-ea"/>
                <a:cs typeface="+mn-cs"/>
              </a:rPr>
              <a:t>  Serial.write('A');</a:t>
            </a:r>
          </a:p>
          <a:p>
            <a:pPr rtl="0"/>
            <a:r>
              <a:rPr lang="vi-VN" sz="1200" kern="1200" dirty="0">
                <a:solidFill>
                  <a:schemeClr val="tx1"/>
                </a:solidFill>
                <a:latin typeface="+mn-lt"/>
                <a:ea typeface="+mn-ea"/>
                <a:cs typeface="+mn-cs"/>
              </a:rPr>
              <a:t>}</a:t>
            </a:r>
          </a:p>
        </p:txBody>
      </p:sp>
      <p:sp>
        <p:nvSpPr>
          <p:cNvPr id="4" name="Slide Number Placeholder 3">
            <a:extLst>
              <a:ext uri="{FF2B5EF4-FFF2-40B4-BE49-F238E27FC236}">
                <a16:creationId xmlns:a16="http://schemas.microsoft.com/office/drawing/2014/main" id="{C126F2E6-AD9F-04ED-8EEC-08F54DBBDB43}"/>
              </a:ext>
            </a:extLst>
          </p:cNvPr>
          <p:cNvSpPr>
            <a:spLocks noGrp="1"/>
          </p:cNvSpPr>
          <p:nvPr>
            <p:ph type="sldNum" sz="quarter" idx="5"/>
          </p:nvPr>
        </p:nvSpPr>
        <p:spPr/>
        <p:txBody>
          <a:bodyPr/>
          <a:lstStyle/>
          <a:p>
            <a:fld id="{37D01E2C-B751-4C38-A4F8-4A97733E0BA7}" type="slidenum">
              <a:rPr lang="en-US" smtClean="0"/>
              <a:t>31</a:t>
            </a:fld>
            <a:endParaRPr lang="en-US"/>
          </a:p>
        </p:txBody>
      </p:sp>
    </p:spTree>
    <p:extLst>
      <p:ext uri="{BB962C8B-B14F-4D97-AF65-F5344CB8AC3E}">
        <p14:creationId xmlns:p14="http://schemas.microsoft.com/office/powerpoint/2010/main" val="11555205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69746-3D5F-A5CE-E3C0-0BD114D01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01D61-FE38-9A69-66EF-0C30FF0E6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3E64F-0B56-36CF-9BAE-D306B0B2A0E3}"/>
              </a:ext>
            </a:extLst>
          </p:cNvPr>
          <p:cNvSpPr>
            <a:spLocks noGrp="1"/>
          </p:cNvSpPr>
          <p:nvPr>
            <p:ph type="body" idx="1"/>
          </p:nvPr>
        </p:nvSpPr>
        <p:spPr/>
        <p:txBody>
          <a:bodyPr/>
          <a:lstStyle/>
          <a:p>
            <a:r>
              <a:rPr lang="vi-VN" b="1" dirty="0"/>
              <a:t>/* </a:t>
            </a:r>
          </a:p>
          <a:p>
            <a:r>
              <a:rPr lang="vi-VN" b="1" dirty="0"/>
              <a:t>  Arduino Serial.availableForWrite() Test</a:t>
            </a:r>
          </a:p>
          <a:p>
            <a:r>
              <a:rPr lang="vi-VN" b="1" dirty="0"/>
              <a:t>  - Send binary data (bytes) to the computer</a:t>
            </a:r>
          </a:p>
          <a:p>
            <a:r>
              <a:rPr lang="vi-VN" b="1" dirty="0"/>
              <a:t>  - Check UART buffer space before sending</a:t>
            </a:r>
          </a:p>
          <a:p>
            <a:r>
              <a:rPr lang="vi-VN" b="1" dirty="0"/>
              <a:t>*/</a:t>
            </a:r>
          </a:p>
          <a:p>
            <a:endParaRPr lang="vi-VN" b="1" dirty="0"/>
          </a:p>
          <a:p>
            <a:r>
              <a:rPr lang="vi-VN" b="1" dirty="0"/>
              <a:t>void setup() {</a:t>
            </a:r>
          </a:p>
          <a:p>
            <a:r>
              <a:rPr lang="vi-VN" b="1" dirty="0"/>
              <a:t>  Serial.begin(9600); // Initialize UART</a:t>
            </a:r>
          </a:p>
          <a:p>
            <a:r>
              <a:rPr lang="vi-VN" b="1" dirty="0"/>
              <a:t>  Serial.println("Arduino ready to send binary data!");</a:t>
            </a:r>
          </a:p>
          <a:p>
            <a:r>
              <a:rPr lang="vi-VN" b="1" dirty="0"/>
              <a:t>}</a:t>
            </a:r>
          </a:p>
          <a:p>
            <a:endParaRPr lang="vi-VN" b="1" dirty="0"/>
          </a:p>
          <a:p>
            <a:r>
              <a:rPr lang="vi-VN" b="1" dirty="0"/>
              <a:t>void loop() {</a:t>
            </a:r>
          </a:p>
          <a:p>
            <a:r>
              <a:rPr lang="vi-VN" b="1" dirty="0"/>
              <a:t>  byte packet[] = {0xAA, 0x55, 0x10, 0x20}; // 4-byte binary packet</a:t>
            </a:r>
          </a:p>
          <a:p>
            <a:endParaRPr lang="vi-VN" b="1" dirty="0"/>
          </a:p>
          <a:p>
            <a:r>
              <a:rPr lang="vi-VN" b="1" dirty="0"/>
              <a:t>  // Check if the buffer has enough space to send</a:t>
            </a:r>
          </a:p>
          <a:p>
            <a:r>
              <a:rPr lang="vi-VN" b="1" dirty="0"/>
              <a:t>  if (Serial.availableForWrite() &gt;= sizeof(packet)) {</a:t>
            </a:r>
          </a:p>
          <a:p>
            <a:r>
              <a:rPr lang="vi-VN" b="1" dirty="0"/>
              <a:t>    int bytesSent = Serial.write(packet, sizeof(packet)); // Send 4 bytes</a:t>
            </a:r>
          </a:p>
          <a:p>
            <a:r>
              <a:rPr lang="vi-VN" b="1" dirty="0"/>
              <a:t>    Serial.print("Bytes sent: ");</a:t>
            </a:r>
          </a:p>
          <a:p>
            <a:r>
              <a:rPr lang="vi-VN" b="1" dirty="0"/>
              <a:t>    Serial.println(bytesSent);</a:t>
            </a:r>
          </a:p>
          <a:p>
            <a:r>
              <a:rPr lang="vi-VN" b="1" dirty="0"/>
              <a:t>  } else {</a:t>
            </a:r>
          </a:p>
          <a:p>
            <a:r>
              <a:rPr lang="vi-VN" b="1" dirty="0"/>
              <a:t>    Serial.println("UART buffer full, waiting...");</a:t>
            </a:r>
          </a:p>
          <a:p>
            <a:r>
              <a:rPr lang="vi-VN" b="1" dirty="0"/>
              <a:t>  }</a:t>
            </a:r>
          </a:p>
          <a:p>
            <a:endParaRPr lang="vi-VN" b="1" dirty="0"/>
          </a:p>
          <a:p>
            <a:r>
              <a:rPr lang="vi-VN" b="1" dirty="0"/>
              <a:t>  delay(1000); // Send every second</a:t>
            </a:r>
          </a:p>
          <a:p>
            <a:r>
              <a:rPr lang="vi-VN" b="1" dirty="0"/>
              <a:t>}</a:t>
            </a:r>
            <a:endParaRPr lang="en-US" b="1" dirty="0"/>
          </a:p>
          <a:p>
            <a:endParaRPr lang="en-US" b="1" dirty="0"/>
          </a:p>
          <a:p>
            <a:r>
              <a:rPr lang="vi-VN" b="1" dirty="0"/>
              <a:t>Giải thích:</a:t>
            </a:r>
          </a:p>
          <a:p>
            <a:r>
              <a:rPr lang="vi-VN" sz="1200" kern="1200" dirty="0">
                <a:solidFill>
                  <a:schemeClr val="tx1"/>
                </a:solidFill>
                <a:latin typeface="+mn-lt"/>
                <a:ea typeface="+mn-ea"/>
                <a:cs typeface="+mn-cs"/>
              </a:rPr>
              <a:t>Serial.availableForWrite()</a:t>
            </a:r>
            <a:r>
              <a:rPr lang="vi-VN" dirty="0"/>
              <a:t> trả về </a:t>
            </a:r>
            <a:r>
              <a:rPr lang="vi-VN" b="1" dirty="0"/>
              <a:t>số byte còn trống trong buffer gửi (TX buffer)</a:t>
            </a:r>
            <a:r>
              <a:rPr lang="vi-VN" dirty="0"/>
              <a:t>.</a:t>
            </a:r>
          </a:p>
          <a:p>
            <a:r>
              <a:rPr lang="vi-VN" dirty="0"/>
              <a:t>Chỉ khi buffer còn đủ chỗ, Arduino mới gửi toàn bộ packet bằng </a:t>
            </a:r>
            <a:r>
              <a:rPr lang="vi-VN" sz="1200" kern="1200" dirty="0">
                <a:solidFill>
                  <a:schemeClr val="tx1"/>
                </a:solidFill>
                <a:latin typeface="+mn-lt"/>
                <a:ea typeface="+mn-ea"/>
                <a:cs typeface="+mn-cs"/>
              </a:rPr>
              <a:t>Serial.write()</a:t>
            </a:r>
            <a:r>
              <a:rPr lang="vi-VN" dirty="0"/>
              <a:t>.</a:t>
            </a:r>
          </a:p>
          <a:p>
            <a:r>
              <a:rPr lang="vi-VN" dirty="0"/>
              <a:t>Tránh mất dữ liệu khi gửi nhiều byte liên tục hoặc gửi packet lớn.</a:t>
            </a:r>
          </a:p>
          <a:p>
            <a:r>
              <a:rPr lang="vi-VN" sz="1200" kern="1200" dirty="0">
                <a:solidFill>
                  <a:schemeClr val="tx1"/>
                </a:solidFill>
                <a:latin typeface="+mn-lt"/>
                <a:ea typeface="+mn-ea"/>
                <a:cs typeface="+mn-cs"/>
              </a:rPr>
              <a:t>delay(1000)</a:t>
            </a:r>
            <a:r>
              <a:rPr lang="vi-VN" dirty="0"/>
              <a:t> để Arduino không spam buffer quá nhanh.</a:t>
            </a:r>
          </a:p>
          <a:p>
            <a:endParaRPr lang="en-US" b="1" dirty="0"/>
          </a:p>
          <a:p>
            <a:endParaRPr lang="vi-VN" b="1" dirty="0"/>
          </a:p>
        </p:txBody>
      </p:sp>
      <p:sp>
        <p:nvSpPr>
          <p:cNvPr id="4" name="Slide Number Placeholder 3">
            <a:extLst>
              <a:ext uri="{FF2B5EF4-FFF2-40B4-BE49-F238E27FC236}">
                <a16:creationId xmlns:a16="http://schemas.microsoft.com/office/drawing/2014/main" id="{B83E086B-3523-7970-5DA7-F55A0C4631E9}"/>
              </a:ext>
            </a:extLst>
          </p:cNvPr>
          <p:cNvSpPr>
            <a:spLocks noGrp="1"/>
          </p:cNvSpPr>
          <p:nvPr>
            <p:ph type="sldNum" sz="quarter" idx="5"/>
          </p:nvPr>
        </p:nvSpPr>
        <p:spPr/>
        <p:txBody>
          <a:bodyPr/>
          <a:lstStyle/>
          <a:p>
            <a:fld id="{37D01E2C-B751-4C38-A4F8-4A97733E0BA7}" type="slidenum">
              <a:rPr lang="en-US" smtClean="0"/>
              <a:t>32</a:t>
            </a:fld>
            <a:endParaRPr lang="en-US"/>
          </a:p>
        </p:txBody>
      </p:sp>
    </p:spTree>
    <p:extLst>
      <p:ext uri="{BB962C8B-B14F-4D97-AF65-F5344CB8AC3E}">
        <p14:creationId xmlns:p14="http://schemas.microsoft.com/office/powerpoint/2010/main" val="38865272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3F7C8-79CD-85D7-CF8B-D65D49CEF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60C9F-73C6-E008-506F-AC0A4375D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689FA-AFD1-9EEF-88F5-5C8E5D9A0259}"/>
              </a:ext>
            </a:extLst>
          </p:cNvPr>
          <p:cNvSpPr>
            <a:spLocks noGrp="1"/>
          </p:cNvSpPr>
          <p:nvPr>
            <p:ph type="body" idx="1"/>
          </p:nvPr>
        </p:nvSpPr>
        <p:spPr/>
        <p:txBody>
          <a:bodyPr/>
          <a:lstStyle/>
          <a:p>
            <a:r>
              <a:rPr lang="vi-VN" b="1" dirty="0"/>
              <a:t>🧩 9️⃣ </a:t>
            </a:r>
            <a:r>
              <a:rPr lang="vi-VN" sz="1200" b="1" kern="1200" dirty="0">
                <a:solidFill>
                  <a:schemeClr val="tx1"/>
                </a:solidFill>
                <a:latin typeface="+mn-lt"/>
                <a:ea typeface="+mn-ea"/>
                <a:cs typeface="+mn-cs"/>
              </a:rPr>
              <a:t>Serial.flush()</a:t>
            </a:r>
            <a:endParaRPr lang="vi-VN" b="1" dirty="0"/>
          </a:p>
          <a:p>
            <a:r>
              <a:rPr lang="vi-VN" b="1" dirty="0"/>
              <a:t>🧠 Chức năng:</a:t>
            </a:r>
          </a:p>
          <a:p>
            <a:r>
              <a:rPr lang="vi-VN" dirty="0"/>
              <a:t>Chờ cho đến khi </a:t>
            </a:r>
            <a:r>
              <a:rPr lang="vi-VN" b="1" dirty="0"/>
              <a:t>toàn bộ dữ liệu trong bộ đệm TX</a:t>
            </a:r>
            <a:r>
              <a:rPr lang="vi-VN" dirty="0"/>
              <a:t> được gửi hết.</a:t>
            </a:r>
          </a:p>
          <a:p>
            <a:r>
              <a:rPr lang="vi-VN" b="1" dirty="0"/>
              <a:t>🧱 Cú pháp:</a:t>
            </a:r>
          </a:p>
          <a:p>
            <a:pPr rtl="0"/>
            <a:r>
              <a:rPr lang="vi-VN" sz="1200" kern="1200" dirty="0">
                <a:solidFill>
                  <a:schemeClr val="tx1"/>
                </a:solidFill>
                <a:latin typeface="+mn-lt"/>
                <a:ea typeface="+mn-ea"/>
                <a:cs typeface="+mn-cs"/>
              </a:rPr>
              <a:t>Serial.flush()</a:t>
            </a:r>
          </a:p>
          <a:p>
            <a:r>
              <a:rPr lang="vi-VN" b="1" dirty="0"/>
              <a:t>⚠️ Lưu ý:</a:t>
            </a:r>
          </a:p>
          <a:p>
            <a:r>
              <a:rPr lang="vi-VN" dirty="0"/>
              <a:t>Trước Arduino 1.0: xoá RX buffer.</a:t>
            </a:r>
          </a:p>
          <a:p>
            <a:r>
              <a:rPr lang="vi-VN" dirty="0"/>
              <a:t>Sau Arduino 1.0: chỉ </a:t>
            </a:r>
            <a:r>
              <a:rPr lang="vi-VN" b="1" dirty="0"/>
              <a:t>chờ TX gửi xong</a:t>
            </a:r>
            <a:r>
              <a:rPr lang="vi-VN" dirty="0"/>
              <a:t> (không xoá RX).</a:t>
            </a:r>
          </a:p>
          <a:p>
            <a:r>
              <a:rPr lang="vi-VN" b="1" dirty="0"/>
              <a:t>📤 Ví dụ:</a:t>
            </a:r>
          </a:p>
          <a:p>
            <a:pPr rtl="0"/>
            <a:r>
              <a:rPr lang="vi-VN" sz="1200" kern="1200" dirty="0">
                <a:solidFill>
                  <a:schemeClr val="tx1"/>
                </a:solidFill>
                <a:latin typeface="+mn-lt"/>
                <a:ea typeface="+mn-ea"/>
                <a:cs typeface="+mn-cs"/>
              </a:rPr>
              <a:t>Serial.print("Sending...");</a:t>
            </a:r>
          </a:p>
          <a:p>
            <a:pPr rtl="0"/>
            <a:r>
              <a:rPr lang="vi-VN" sz="1200" kern="1200" dirty="0">
                <a:solidFill>
                  <a:schemeClr val="tx1"/>
                </a:solidFill>
                <a:latin typeface="+mn-lt"/>
                <a:ea typeface="+mn-ea"/>
                <a:cs typeface="+mn-cs"/>
              </a:rPr>
              <a:t>Serial.flush(); // đảm bảo gửi xong</a:t>
            </a:r>
          </a:p>
        </p:txBody>
      </p:sp>
      <p:sp>
        <p:nvSpPr>
          <p:cNvPr id="4" name="Slide Number Placeholder 3">
            <a:extLst>
              <a:ext uri="{FF2B5EF4-FFF2-40B4-BE49-F238E27FC236}">
                <a16:creationId xmlns:a16="http://schemas.microsoft.com/office/drawing/2014/main" id="{EF0A91E7-2A68-A9B4-C2D8-A47E396BFAD6}"/>
              </a:ext>
            </a:extLst>
          </p:cNvPr>
          <p:cNvSpPr>
            <a:spLocks noGrp="1"/>
          </p:cNvSpPr>
          <p:nvPr>
            <p:ph type="sldNum" sz="quarter" idx="5"/>
          </p:nvPr>
        </p:nvSpPr>
        <p:spPr/>
        <p:txBody>
          <a:bodyPr/>
          <a:lstStyle/>
          <a:p>
            <a:fld id="{37D01E2C-B751-4C38-A4F8-4A97733E0BA7}" type="slidenum">
              <a:rPr lang="en-US" smtClean="0"/>
              <a:t>33</a:t>
            </a:fld>
            <a:endParaRPr lang="en-US"/>
          </a:p>
        </p:txBody>
      </p:sp>
    </p:spTree>
    <p:extLst>
      <p:ext uri="{BB962C8B-B14F-4D97-AF65-F5344CB8AC3E}">
        <p14:creationId xmlns:p14="http://schemas.microsoft.com/office/powerpoint/2010/main" val="31704314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261D5-0F86-9DFA-DEB7-15C051594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AF149-043A-4FBA-AB40-9E03D1656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40B92-AAD5-F4E3-5FCF-0DAE830E842F}"/>
              </a:ext>
            </a:extLst>
          </p:cNvPr>
          <p:cNvSpPr>
            <a:spLocks noGrp="1"/>
          </p:cNvSpPr>
          <p:nvPr>
            <p:ph type="body" idx="1"/>
          </p:nvPr>
        </p:nvSpPr>
        <p:spPr/>
        <p:txBody>
          <a:bodyPr/>
          <a:lstStyle/>
          <a:p>
            <a:endParaRPr lang="vi-VN" sz="12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2D412DD6-976C-C606-42D4-E3F1721DFBAA}"/>
              </a:ext>
            </a:extLst>
          </p:cNvPr>
          <p:cNvSpPr>
            <a:spLocks noGrp="1"/>
          </p:cNvSpPr>
          <p:nvPr>
            <p:ph type="sldNum" sz="quarter" idx="5"/>
          </p:nvPr>
        </p:nvSpPr>
        <p:spPr/>
        <p:txBody>
          <a:bodyPr/>
          <a:lstStyle/>
          <a:p>
            <a:fld id="{37D01E2C-B751-4C38-A4F8-4A97733E0BA7}" type="slidenum">
              <a:rPr lang="en-US" smtClean="0"/>
              <a:t>34</a:t>
            </a:fld>
            <a:endParaRPr lang="en-US"/>
          </a:p>
        </p:txBody>
      </p:sp>
    </p:spTree>
    <p:extLst>
      <p:ext uri="{BB962C8B-B14F-4D97-AF65-F5344CB8AC3E}">
        <p14:creationId xmlns:p14="http://schemas.microsoft.com/office/powerpoint/2010/main" val="18829278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BF738-BC38-6130-1A8D-FE17F8F9A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1CEBC-6CE7-4BDA-8E30-943D905B7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FA704-F792-FF60-EE2C-6F7B71AC7C9B}"/>
              </a:ext>
            </a:extLst>
          </p:cNvPr>
          <p:cNvSpPr>
            <a:spLocks noGrp="1"/>
          </p:cNvSpPr>
          <p:nvPr>
            <p:ph type="body" idx="1"/>
          </p:nvPr>
        </p:nvSpPr>
        <p:spPr/>
        <p:txBody>
          <a:bodyPr/>
          <a:lstStyle/>
          <a:p>
            <a:endParaRPr lang="vi-VN" sz="12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A27D21D8-1D20-0EBA-1276-673D2CE5B6C8}"/>
              </a:ext>
            </a:extLst>
          </p:cNvPr>
          <p:cNvSpPr>
            <a:spLocks noGrp="1"/>
          </p:cNvSpPr>
          <p:nvPr>
            <p:ph type="sldNum" sz="quarter" idx="5"/>
          </p:nvPr>
        </p:nvSpPr>
        <p:spPr/>
        <p:txBody>
          <a:bodyPr/>
          <a:lstStyle/>
          <a:p>
            <a:fld id="{37D01E2C-B751-4C38-A4F8-4A97733E0BA7}" type="slidenum">
              <a:rPr lang="en-US" smtClean="0"/>
              <a:t>35</a:t>
            </a:fld>
            <a:endParaRPr lang="en-US"/>
          </a:p>
        </p:txBody>
      </p:sp>
    </p:spTree>
    <p:extLst>
      <p:ext uri="{BB962C8B-B14F-4D97-AF65-F5344CB8AC3E}">
        <p14:creationId xmlns:p14="http://schemas.microsoft.com/office/powerpoint/2010/main" val="1137179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F731-9474-3C8B-BB8F-BD33C3262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DD4E6-F396-9837-CDC2-89063654C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0C395-E052-0898-5DF5-16E2B5F78BAD}"/>
              </a:ext>
            </a:extLst>
          </p:cNvPr>
          <p:cNvSpPr>
            <a:spLocks noGrp="1"/>
          </p:cNvSpPr>
          <p:nvPr>
            <p:ph type="body" idx="1"/>
          </p:nvPr>
        </p:nvSpPr>
        <p:spPr/>
        <p:txBody>
          <a:bodyPr/>
          <a:lstStyle/>
          <a:p>
            <a:r>
              <a:rPr lang="vi-VN" b="1" dirty="0"/>
              <a:t>Hiệu ứng 8 LED</a:t>
            </a:r>
          </a:p>
          <a:p>
            <a:r>
              <a:rPr lang="vi-VN" b="1" dirty="0"/>
              <a:t>Bắt đầu:</a:t>
            </a:r>
            <a:r>
              <a:rPr lang="vi-VN" dirty="0"/>
              <a:t> Tất cả 8 LED tắt.</a:t>
            </a:r>
          </a:p>
          <a:p>
            <a:r>
              <a:rPr lang="vi-VN" b="1" dirty="0"/>
              <a:t>Hiệu ứng 1:</a:t>
            </a:r>
            <a:r>
              <a:rPr lang="vi-VN" dirty="0"/>
              <a:t> LED 1 → 3 → 5 → 7 sáng lần lượt, cách nhau 0.5s.</a:t>
            </a:r>
          </a:p>
          <a:p>
            <a:r>
              <a:rPr lang="vi-VN" b="1" dirty="0"/>
              <a:t>Hiệu ứng 2:</a:t>
            </a:r>
            <a:r>
              <a:rPr lang="vi-VN" dirty="0"/>
              <a:t> LED 2 → 4 → 6 → 8 sáng lần lượt, cách nhau 0.5s.</a:t>
            </a:r>
          </a:p>
          <a:p>
            <a:r>
              <a:rPr lang="vi-VN" b="1" dirty="0"/>
              <a:t>Tắt tất cả LED.</a:t>
            </a:r>
            <a:endParaRPr lang="vi-VN" dirty="0"/>
          </a:p>
          <a:p>
            <a:r>
              <a:rPr lang="vi-VN" b="1" dirty="0"/>
              <a:t>Hiệu ứng 3:</a:t>
            </a:r>
            <a:r>
              <a:rPr lang="vi-VN" dirty="0"/>
              <a:t> LED 8 → 6 → 4 → 2 sáng lần lượt, cách nhau 0.5s.</a:t>
            </a:r>
          </a:p>
          <a:p>
            <a:r>
              <a:rPr lang="vi-VN" b="1" dirty="0"/>
              <a:t>Hiệu ứng 4:</a:t>
            </a:r>
            <a:r>
              <a:rPr lang="vi-VN" dirty="0"/>
              <a:t> LED 7 → 5 → 3 → 1 sáng lần lượt, cách nhau 0.5s.</a:t>
            </a:r>
          </a:p>
          <a:p>
            <a:endParaRPr lang="vi-VN" sz="12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8CF9220A-4AC3-E130-98BF-28C9F9AB635B}"/>
              </a:ext>
            </a:extLst>
          </p:cNvPr>
          <p:cNvSpPr>
            <a:spLocks noGrp="1"/>
          </p:cNvSpPr>
          <p:nvPr>
            <p:ph type="sldNum" sz="quarter" idx="5"/>
          </p:nvPr>
        </p:nvSpPr>
        <p:spPr/>
        <p:txBody>
          <a:bodyPr/>
          <a:lstStyle/>
          <a:p>
            <a:fld id="{37D01E2C-B751-4C38-A4F8-4A97733E0BA7}" type="slidenum">
              <a:rPr lang="en-US" smtClean="0"/>
              <a:t>36</a:t>
            </a:fld>
            <a:endParaRPr lang="en-US"/>
          </a:p>
        </p:txBody>
      </p:sp>
    </p:spTree>
    <p:extLst>
      <p:ext uri="{BB962C8B-B14F-4D97-AF65-F5344CB8AC3E}">
        <p14:creationId xmlns:p14="http://schemas.microsoft.com/office/powerpoint/2010/main" val="23744561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7C030-0250-0618-D029-971BA7058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8FF05-79D7-C396-4F67-F4EE609CA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49FF3-548F-A98D-6203-1DDD8193E380}"/>
              </a:ext>
            </a:extLst>
          </p:cNvPr>
          <p:cNvSpPr>
            <a:spLocks noGrp="1"/>
          </p:cNvSpPr>
          <p:nvPr>
            <p:ph type="body" idx="1"/>
          </p:nvPr>
        </p:nvSpPr>
        <p:spPr/>
        <p:txBody>
          <a:bodyPr/>
          <a:lstStyle/>
          <a:p>
            <a:r>
              <a:rPr lang="vi-VN" dirty="0"/>
              <a:t>Điều khiển LED bằng Nút Nhấn</a:t>
            </a:r>
          </a:p>
          <a:p>
            <a:r>
              <a:rPr lang="vi-VN" dirty="0"/>
              <a:t>Mô tả:</a:t>
            </a:r>
          </a:p>
          <a:p>
            <a:endParaRPr lang="vi-VN" dirty="0"/>
          </a:p>
          <a:p>
            <a:r>
              <a:rPr lang="vi-VN" dirty="0"/>
              <a:t>Bạn có 1 nút nhấn và 1 LED được nối vào Arduino.</a:t>
            </a:r>
          </a:p>
          <a:p>
            <a:r>
              <a:rPr lang="vi-VN" dirty="0"/>
              <a:t>Hãy lập trình sao cho:</a:t>
            </a:r>
          </a:p>
          <a:p>
            <a:endParaRPr lang="vi-VN" dirty="0"/>
          </a:p>
          <a:p>
            <a:r>
              <a:rPr lang="vi-VN" dirty="0"/>
              <a:t>Nhấn nút 1 lần → LED bật.</a:t>
            </a:r>
          </a:p>
          <a:p>
            <a:endParaRPr lang="vi-VN" dirty="0"/>
          </a:p>
          <a:p>
            <a:r>
              <a:rPr lang="vi-VN" dirty="0"/>
              <a:t>Nhấn nút lần nữa → LED tắt.</a:t>
            </a:r>
          </a:p>
          <a:p>
            <a:endParaRPr lang="vi-VN" dirty="0"/>
          </a:p>
          <a:p>
            <a:r>
              <a:rPr lang="vi-VN" dirty="0"/>
              <a:t>Chương trình phải chống dội (debounce) để không bị bật/tắt liên tục khi nhấn.</a:t>
            </a:r>
          </a:p>
          <a:p>
            <a:endParaRPr lang="vi-VN" dirty="0"/>
          </a:p>
          <a:p>
            <a:r>
              <a:rPr lang="vi-VN" dirty="0"/>
              <a:t>Yêu cầu chi tiết:</a:t>
            </a:r>
          </a:p>
          <a:p>
            <a:endParaRPr lang="vi-VN" dirty="0"/>
          </a:p>
          <a:p>
            <a:r>
              <a:rPr lang="vi-VN" dirty="0"/>
              <a:t>LED được điều khiển bằng digitalWrite().</a:t>
            </a:r>
          </a:p>
          <a:p>
            <a:endParaRPr lang="vi-VN" dirty="0"/>
          </a:p>
          <a:p>
            <a:r>
              <a:rPr lang="vi-VN" dirty="0"/>
              <a:t>Nút nhấn nối kiểu pull-down hoặc pull-up, phải ghi rõ trong code.</a:t>
            </a:r>
          </a:p>
          <a:p>
            <a:endParaRPr lang="vi-VN" dirty="0"/>
          </a:p>
          <a:p>
            <a:r>
              <a:rPr lang="vi-VN" dirty="0"/>
              <a:t>Trạng thái của LED phải lưu trong một biến (ví dụ ledState).</a:t>
            </a:r>
          </a:p>
          <a:p>
            <a:endParaRPr lang="vi-VN" dirty="0"/>
          </a:p>
          <a:p>
            <a:r>
              <a:rPr lang="vi-VN" dirty="0"/>
              <a:t>Không dùng delay nếu muốn điểm cộng (dùng millis() để debounce).</a:t>
            </a:r>
          </a:p>
          <a:p>
            <a:endParaRPr lang="vi-VN" dirty="0"/>
          </a:p>
          <a:p>
            <a:r>
              <a:rPr lang="vi-VN" dirty="0"/>
              <a:t>Nhấn nhanh nhiều lần liên tiếp vẫn phải hoạt động ổn định.</a:t>
            </a:r>
          </a:p>
          <a:p>
            <a:endParaRPr lang="vi-VN" dirty="0"/>
          </a:p>
          <a:p>
            <a:r>
              <a:rPr lang="vi-VN" dirty="0"/>
              <a:t>Linh kiện:</a:t>
            </a:r>
          </a:p>
          <a:p>
            <a:endParaRPr lang="vi-VN" dirty="0"/>
          </a:p>
          <a:p>
            <a:r>
              <a:rPr lang="vi-VN" dirty="0"/>
              <a:t>Arduino Uno</a:t>
            </a:r>
          </a:p>
          <a:p>
            <a:endParaRPr lang="vi-VN" dirty="0"/>
          </a:p>
          <a:p>
            <a:r>
              <a:rPr lang="vi-VN" dirty="0"/>
              <a:t>1 nút nhấn (button)</a:t>
            </a:r>
          </a:p>
          <a:p>
            <a:endParaRPr lang="vi-VN" dirty="0"/>
          </a:p>
          <a:p>
            <a:r>
              <a:rPr lang="vi-VN" dirty="0"/>
              <a:t>1 điện trở 10k</a:t>
            </a:r>
            <a:r>
              <a:rPr lang="el-GR" dirty="0"/>
              <a:t>Ω (</a:t>
            </a:r>
            <a:r>
              <a:rPr lang="vi-VN" dirty="0"/>
              <a:t>nếu dùng pull-down)</a:t>
            </a:r>
          </a:p>
          <a:p>
            <a:endParaRPr lang="vi-VN" dirty="0"/>
          </a:p>
          <a:p>
            <a:r>
              <a:rPr lang="vi-VN" dirty="0"/>
              <a:t>1 LED + điện trở 220</a:t>
            </a:r>
            <a:r>
              <a:rPr lang="el-GR" dirty="0"/>
              <a:t>Ω</a:t>
            </a:r>
          </a:p>
          <a:p>
            <a:endParaRPr lang="el-GR" dirty="0"/>
          </a:p>
          <a:p>
            <a:r>
              <a:rPr lang="vi-VN" dirty="0"/>
              <a:t>Dây jumper</a:t>
            </a:r>
          </a:p>
          <a:p>
            <a:endParaRPr lang="vi-VN" dirty="0"/>
          </a:p>
          <a:p>
            <a:r>
              <a:rPr lang="vi-VN" dirty="0"/>
              <a:t>Breadboard</a:t>
            </a:r>
            <a:endParaRPr lang="vi-VN" sz="12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C5D25393-3936-F57B-C9CC-2E500FD1817D}"/>
              </a:ext>
            </a:extLst>
          </p:cNvPr>
          <p:cNvSpPr>
            <a:spLocks noGrp="1"/>
          </p:cNvSpPr>
          <p:nvPr>
            <p:ph type="sldNum" sz="quarter" idx="5"/>
          </p:nvPr>
        </p:nvSpPr>
        <p:spPr/>
        <p:txBody>
          <a:bodyPr/>
          <a:lstStyle/>
          <a:p>
            <a:fld id="{37D01E2C-B751-4C38-A4F8-4A97733E0BA7}" type="slidenum">
              <a:rPr lang="en-US" smtClean="0"/>
              <a:t>37</a:t>
            </a:fld>
            <a:endParaRPr lang="en-US"/>
          </a:p>
        </p:txBody>
      </p:sp>
    </p:spTree>
    <p:extLst>
      <p:ext uri="{BB962C8B-B14F-4D97-AF65-F5344CB8AC3E}">
        <p14:creationId xmlns:p14="http://schemas.microsoft.com/office/powerpoint/2010/main" val="17108527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ACF84-8568-93B1-E43F-78C368A4F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DC165-4E00-9C52-A704-3F336BFBF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A3BA9-4744-D6B1-D31A-9A5FF4C6B31E}"/>
              </a:ext>
            </a:extLst>
          </p:cNvPr>
          <p:cNvSpPr>
            <a:spLocks noGrp="1"/>
          </p:cNvSpPr>
          <p:nvPr>
            <p:ph type="body" idx="1"/>
          </p:nvPr>
        </p:nvSpPr>
        <p:spPr/>
        <p:txBody>
          <a:bodyPr/>
          <a:lstStyle/>
          <a:p>
            <a:r>
              <a:rPr lang="vi-VN" b="1" dirty="0"/>
              <a:t>Điều khiển 3 LED bằng 3 nút nhấn</a:t>
            </a:r>
          </a:p>
          <a:p>
            <a:r>
              <a:rPr lang="vi-VN" b="1" dirty="0"/>
              <a:t>Mô tả:</a:t>
            </a:r>
          </a:p>
          <a:p>
            <a:r>
              <a:rPr lang="vi-VN" dirty="0"/>
              <a:t>Có </a:t>
            </a:r>
            <a:r>
              <a:rPr lang="vi-VN" b="1" dirty="0"/>
              <a:t>3 nút nhấn</a:t>
            </a:r>
            <a:r>
              <a:rPr lang="vi-VN" dirty="0"/>
              <a:t> và </a:t>
            </a:r>
            <a:r>
              <a:rPr lang="vi-VN" b="1" dirty="0"/>
              <a:t>3 LED</a:t>
            </a:r>
            <a:r>
              <a:rPr lang="vi-VN" dirty="0"/>
              <a:t> được nối vào Arduino.</a:t>
            </a:r>
            <a:br>
              <a:rPr lang="vi-VN" dirty="0"/>
            </a:br>
            <a:r>
              <a:rPr lang="vi-VN" dirty="0"/>
              <a:t>Hãy lập trình theo yêu cầu sau:</a:t>
            </a:r>
          </a:p>
          <a:p>
            <a:r>
              <a:rPr lang="vi-VN" b="1" dirty="0"/>
              <a:t>Khi cấp nguồn hoặc reset Arduino → cả 3 LED đều tắt.</a:t>
            </a:r>
            <a:endParaRPr lang="vi-VN" dirty="0"/>
          </a:p>
          <a:p>
            <a:r>
              <a:rPr lang="vi-VN" b="1" dirty="0"/>
              <a:t>Nhấn nút 1 → chỉ LED 1 sáng (LED 2 và 3 phải tắt).</a:t>
            </a:r>
            <a:endParaRPr lang="vi-VN" dirty="0"/>
          </a:p>
          <a:p>
            <a:r>
              <a:rPr lang="vi-VN" b="1" dirty="0"/>
              <a:t>Nhấn nút 2 → LED 1 và LED 2 sáng (LED 3 tắt).</a:t>
            </a:r>
            <a:endParaRPr lang="vi-VN" dirty="0"/>
          </a:p>
          <a:p>
            <a:r>
              <a:rPr lang="vi-VN" b="1" dirty="0"/>
              <a:t>Nhấn nút 3 → cả 3 LED (LED 1, LED 2 và LED 3) đều sáng.</a:t>
            </a:r>
            <a:endParaRPr lang="vi-VN" dirty="0"/>
          </a:p>
          <a:p>
            <a:r>
              <a:rPr lang="vi-VN" dirty="0"/>
              <a:t>Mỗi nút nhấn chỉ cần nhấn 1 lần để kích hoạt chế độ tương ứng.</a:t>
            </a:r>
          </a:p>
          <a:p>
            <a:br>
              <a:rPr lang="vi-VN" dirty="0"/>
            </a:br>
            <a:endParaRPr lang="vi-VN" dirty="0"/>
          </a:p>
          <a:p>
            <a:r>
              <a:rPr lang="vi-VN" b="1" dirty="0"/>
              <a:t>Yêu cầu bổ sung:</a:t>
            </a:r>
          </a:p>
          <a:p>
            <a:r>
              <a:rPr lang="vi-VN" dirty="0"/>
              <a:t>Dùng </a:t>
            </a:r>
            <a:r>
              <a:rPr lang="vi-VN" sz="1200" kern="1200" dirty="0">
                <a:solidFill>
                  <a:schemeClr val="tx1"/>
                </a:solidFill>
                <a:latin typeface="+mn-lt"/>
                <a:ea typeface="+mn-ea"/>
                <a:cs typeface="+mn-cs"/>
              </a:rPr>
              <a:t>digitalRead()</a:t>
            </a:r>
            <a:r>
              <a:rPr lang="vi-VN" dirty="0"/>
              <a:t> để đọc trạng thái nút.</a:t>
            </a:r>
          </a:p>
          <a:p>
            <a:r>
              <a:rPr lang="vi-VN" dirty="0"/>
              <a:t>Mỗi LED được điều khiển bằng </a:t>
            </a:r>
            <a:r>
              <a:rPr lang="vi-VN" sz="1200" kern="1200" dirty="0">
                <a:solidFill>
                  <a:schemeClr val="tx1"/>
                </a:solidFill>
                <a:latin typeface="+mn-lt"/>
                <a:ea typeface="+mn-ea"/>
                <a:cs typeface="+mn-cs"/>
              </a:rPr>
              <a:t>digitalWrite()</a:t>
            </a:r>
            <a:r>
              <a:rPr lang="vi-VN" dirty="0"/>
              <a:t>.</a:t>
            </a:r>
          </a:p>
          <a:p>
            <a:r>
              <a:rPr lang="vi-VN" dirty="0"/>
              <a:t>Có thể dùng </a:t>
            </a:r>
            <a:r>
              <a:rPr lang="vi-VN" sz="1200" kern="1200" dirty="0">
                <a:solidFill>
                  <a:schemeClr val="tx1"/>
                </a:solidFill>
                <a:latin typeface="+mn-lt"/>
                <a:ea typeface="+mn-ea"/>
                <a:cs typeface="+mn-cs"/>
              </a:rPr>
              <a:t>INPUT_PULLUP</a:t>
            </a:r>
            <a:r>
              <a:rPr lang="vi-VN" dirty="0"/>
              <a:t> hoặc điện trở ngoài tùy bạn chọn.</a:t>
            </a:r>
          </a:p>
          <a:p>
            <a:r>
              <a:rPr lang="vi-VN" dirty="0"/>
              <a:t>Đảm bảo chỉ một trong ba chế độ được kích hoạt tại một thời điểm.</a:t>
            </a:r>
          </a:p>
        </p:txBody>
      </p:sp>
      <p:sp>
        <p:nvSpPr>
          <p:cNvPr id="4" name="Slide Number Placeholder 3">
            <a:extLst>
              <a:ext uri="{FF2B5EF4-FFF2-40B4-BE49-F238E27FC236}">
                <a16:creationId xmlns:a16="http://schemas.microsoft.com/office/drawing/2014/main" id="{CEF5DD0D-1060-EBAE-A7F1-1787646FFB64}"/>
              </a:ext>
            </a:extLst>
          </p:cNvPr>
          <p:cNvSpPr>
            <a:spLocks noGrp="1"/>
          </p:cNvSpPr>
          <p:nvPr>
            <p:ph type="sldNum" sz="quarter" idx="5"/>
          </p:nvPr>
        </p:nvSpPr>
        <p:spPr/>
        <p:txBody>
          <a:bodyPr/>
          <a:lstStyle/>
          <a:p>
            <a:fld id="{37D01E2C-B751-4C38-A4F8-4A97733E0BA7}" type="slidenum">
              <a:rPr lang="en-US" smtClean="0"/>
              <a:t>38</a:t>
            </a:fld>
            <a:endParaRPr lang="en-US"/>
          </a:p>
        </p:txBody>
      </p:sp>
    </p:spTree>
    <p:extLst>
      <p:ext uri="{BB962C8B-B14F-4D97-AF65-F5344CB8AC3E}">
        <p14:creationId xmlns:p14="http://schemas.microsoft.com/office/powerpoint/2010/main" val="1428923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22A5-FF2F-A80A-CFEA-45ACB7C45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6BEBF-6E3D-D401-35B0-A96898A5E1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0F744-3B39-CDEC-24A9-CDD2ACB030A3}"/>
              </a:ext>
            </a:extLst>
          </p:cNvPr>
          <p:cNvSpPr>
            <a:spLocks noGrp="1"/>
          </p:cNvSpPr>
          <p:nvPr>
            <p:ph type="body" idx="1"/>
          </p:nvPr>
        </p:nvSpPr>
        <p:spPr/>
        <p:txBody>
          <a:bodyPr/>
          <a:lstStyle/>
          <a:p>
            <a:r>
              <a:rPr lang="vi-VN" b="1" dirty="0"/>
              <a:t>Điều khiển 3 LED bằng 3 nút nhấn</a:t>
            </a:r>
          </a:p>
          <a:p>
            <a:r>
              <a:rPr lang="vi-VN" b="1" dirty="0"/>
              <a:t>Mô tả:</a:t>
            </a:r>
          </a:p>
          <a:p>
            <a:r>
              <a:rPr lang="vi-VN" dirty="0"/>
              <a:t>Có </a:t>
            </a:r>
            <a:r>
              <a:rPr lang="vi-VN" b="1" dirty="0"/>
              <a:t>3 nút nhấn</a:t>
            </a:r>
            <a:r>
              <a:rPr lang="vi-VN" dirty="0"/>
              <a:t> và </a:t>
            </a:r>
            <a:r>
              <a:rPr lang="vi-VN" b="1" dirty="0"/>
              <a:t>3 LED</a:t>
            </a:r>
            <a:r>
              <a:rPr lang="vi-VN" dirty="0"/>
              <a:t> được nối vào Arduino.</a:t>
            </a:r>
            <a:br>
              <a:rPr lang="vi-VN" dirty="0"/>
            </a:br>
            <a:r>
              <a:rPr lang="vi-VN" dirty="0"/>
              <a:t>Hãy lập trình theo yêu cầu sau:</a:t>
            </a:r>
          </a:p>
          <a:p>
            <a:r>
              <a:rPr lang="vi-VN" b="1" dirty="0"/>
              <a:t>Khi cấp nguồn hoặc reset Arduino → cả 3 LED đều tắt.</a:t>
            </a:r>
            <a:endParaRPr lang="vi-VN" dirty="0"/>
          </a:p>
          <a:p>
            <a:r>
              <a:rPr lang="vi-VN" b="1" dirty="0"/>
              <a:t>Nhấn nút 1 → chỉ LED 1 sáng (LED 2 và 3 phải tắt).</a:t>
            </a:r>
            <a:endParaRPr lang="vi-VN" dirty="0"/>
          </a:p>
          <a:p>
            <a:r>
              <a:rPr lang="vi-VN" b="1" dirty="0"/>
              <a:t>Nhấn nút 2 → LED 1 và LED 2 sáng (LED 3 tắt).</a:t>
            </a:r>
            <a:endParaRPr lang="vi-VN" dirty="0"/>
          </a:p>
          <a:p>
            <a:r>
              <a:rPr lang="vi-VN" b="1" dirty="0"/>
              <a:t>Nhấn nút 3 → cả 3 LED (LED 1, LED 2 và LED 3) đều sáng.</a:t>
            </a:r>
            <a:endParaRPr lang="vi-VN" dirty="0"/>
          </a:p>
          <a:p>
            <a:r>
              <a:rPr lang="vi-VN" dirty="0"/>
              <a:t>Mỗi nút nhấn chỉ cần nhấn 1 lần để kích hoạt chế độ tương ứng.</a:t>
            </a:r>
          </a:p>
          <a:p>
            <a:br>
              <a:rPr lang="vi-VN" dirty="0"/>
            </a:br>
            <a:endParaRPr lang="vi-VN" dirty="0"/>
          </a:p>
          <a:p>
            <a:r>
              <a:rPr lang="vi-VN" b="1" dirty="0"/>
              <a:t>Yêu cầu bổ sung:</a:t>
            </a:r>
          </a:p>
          <a:p>
            <a:r>
              <a:rPr lang="vi-VN" dirty="0"/>
              <a:t>Dùng </a:t>
            </a:r>
            <a:r>
              <a:rPr lang="vi-VN" sz="1200" kern="1200" dirty="0">
                <a:solidFill>
                  <a:schemeClr val="tx1"/>
                </a:solidFill>
                <a:latin typeface="+mn-lt"/>
                <a:ea typeface="+mn-ea"/>
                <a:cs typeface="+mn-cs"/>
              </a:rPr>
              <a:t>digitalRead()</a:t>
            </a:r>
            <a:r>
              <a:rPr lang="vi-VN" dirty="0"/>
              <a:t> để đọc trạng thái nút.</a:t>
            </a:r>
          </a:p>
          <a:p>
            <a:r>
              <a:rPr lang="vi-VN" dirty="0"/>
              <a:t>Mỗi LED được điều khiển bằng </a:t>
            </a:r>
            <a:r>
              <a:rPr lang="vi-VN" sz="1200" kern="1200" dirty="0">
                <a:solidFill>
                  <a:schemeClr val="tx1"/>
                </a:solidFill>
                <a:latin typeface="+mn-lt"/>
                <a:ea typeface="+mn-ea"/>
                <a:cs typeface="+mn-cs"/>
              </a:rPr>
              <a:t>digitalWrite()</a:t>
            </a:r>
            <a:r>
              <a:rPr lang="vi-VN" dirty="0"/>
              <a:t>.</a:t>
            </a:r>
          </a:p>
          <a:p>
            <a:r>
              <a:rPr lang="vi-VN" dirty="0"/>
              <a:t>Có thể dùng </a:t>
            </a:r>
            <a:r>
              <a:rPr lang="vi-VN" sz="1200" kern="1200" dirty="0">
                <a:solidFill>
                  <a:schemeClr val="tx1"/>
                </a:solidFill>
                <a:latin typeface="+mn-lt"/>
                <a:ea typeface="+mn-ea"/>
                <a:cs typeface="+mn-cs"/>
              </a:rPr>
              <a:t>INPUT_PULLUP</a:t>
            </a:r>
            <a:r>
              <a:rPr lang="vi-VN" dirty="0"/>
              <a:t> hoặc điện trở ngoài tùy bạn chọn.</a:t>
            </a:r>
          </a:p>
          <a:p>
            <a:r>
              <a:rPr lang="vi-VN" dirty="0"/>
              <a:t>Đảm bảo chỉ một trong ba chế độ được kích hoạt tại một thời điểm.</a:t>
            </a:r>
          </a:p>
        </p:txBody>
      </p:sp>
      <p:sp>
        <p:nvSpPr>
          <p:cNvPr id="4" name="Slide Number Placeholder 3">
            <a:extLst>
              <a:ext uri="{FF2B5EF4-FFF2-40B4-BE49-F238E27FC236}">
                <a16:creationId xmlns:a16="http://schemas.microsoft.com/office/drawing/2014/main" id="{53509F8F-EE38-B3CE-6332-63AE80BCFC8D}"/>
              </a:ext>
            </a:extLst>
          </p:cNvPr>
          <p:cNvSpPr>
            <a:spLocks noGrp="1"/>
          </p:cNvSpPr>
          <p:nvPr>
            <p:ph type="sldNum" sz="quarter" idx="5"/>
          </p:nvPr>
        </p:nvSpPr>
        <p:spPr/>
        <p:txBody>
          <a:bodyPr/>
          <a:lstStyle/>
          <a:p>
            <a:fld id="{37D01E2C-B751-4C38-A4F8-4A97733E0BA7}" type="slidenum">
              <a:rPr lang="en-US" smtClean="0"/>
              <a:t>39</a:t>
            </a:fld>
            <a:endParaRPr lang="en-US"/>
          </a:p>
        </p:txBody>
      </p:sp>
    </p:spTree>
    <p:extLst>
      <p:ext uri="{BB962C8B-B14F-4D97-AF65-F5344CB8AC3E}">
        <p14:creationId xmlns:p14="http://schemas.microsoft.com/office/powerpoint/2010/main" val="33755496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31A67-4F56-0041-0BEA-FFB56A278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5626A-2AE0-DC57-8A3B-833D920B4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7014D-90D3-40FC-9C61-EE9D700FBEC1}"/>
              </a:ext>
            </a:extLst>
          </p:cNvPr>
          <p:cNvSpPr>
            <a:spLocks noGrp="1"/>
          </p:cNvSpPr>
          <p:nvPr>
            <p:ph type="body" idx="1"/>
          </p:nvPr>
        </p:nvSpPr>
        <p:spPr/>
        <p:txBody>
          <a:bodyPr/>
          <a:lstStyle/>
          <a:p>
            <a:r>
              <a:rPr lang="vi-VN" b="1" dirty="0"/>
              <a:t>🛠️ Bài Tập: Điều Khiển Servo bằng 2 Nút Nhấn</a:t>
            </a:r>
          </a:p>
          <a:p>
            <a:r>
              <a:rPr lang="vi-VN" b="1" dirty="0"/>
              <a:t>1. Mục Tiêu</a:t>
            </a:r>
          </a:p>
          <a:p>
            <a:r>
              <a:rPr lang="vi-VN" dirty="0"/>
              <a:t>Sử dụng </a:t>
            </a:r>
            <a:r>
              <a:rPr lang="vi-VN" b="1" dirty="0"/>
              <a:t>Thư viện Servo</a:t>
            </a:r>
            <a:r>
              <a:rPr lang="vi-VN" dirty="0"/>
              <a:t> của Arduino.</a:t>
            </a:r>
          </a:p>
          <a:p>
            <a:r>
              <a:rPr lang="vi-VN" dirty="0"/>
              <a:t>Điều khiển góc quay của động cơ Servo theo lệnh từ hai nút nhấn.</a:t>
            </a:r>
          </a:p>
          <a:p>
            <a:r>
              <a:rPr lang="vi-VN" dirty="0"/>
              <a:t>Nút 1: Tăng góc quay (Quay sang phải).</a:t>
            </a:r>
          </a:p>
          <a:p>
            <a:r>
              <a:rPr lang="vi-VN" dirty="0"/>
              <a:t>Nút 2: Giảm góc quay (Quay sang trái).</a:t>
            </a:r>
          </a:p>
          <a:p>
            <a:r>
              <a:rPr lang="vi-VN" b="1" dirty="0"/>
              <a:t>2. Linh Kiện Cần Thiết</a:t>
            </a:r>
          </a:p>
          <a:p>
            <a:r>
              <a:rPr lang="vi-VN" b="1" dirty="0"/>
              <a:t>Arduino Uno</a:t>
            </a:r>
            <a:endParaRPr lang="vi-VN" dirty="0"/>
          </a:p>
          <a:p>
            <a:r>
              <a:rPr lang="vi-VN" b="1" dirty="0"/>
              <a:t>Động cơ Servo</a:t>
            </a:r>
            <a:r>
              <a:rPr lang="vi-VN" dirty="0"/>
              <a:t> (Ví dụ: SG90 hoặc MG995)</a:t>
            </a:r>
          </a:p>
          <a:p>
            <a:r>
              <a:rPr lang="vi-VN" b="1" dirty="0"/>
              <a:t>2 Nút nhấn</a:t>
            </a:r>
            <a:r>
              <a:rPr lang="vi-VN" dirty="0"/>
              <a:t> (Push Buttons)</a:t>
            </a:r>
          </a:p>
          <a:p>
            <a:r>
              <a:rPr lang="vi-VN" b="1" dirty="0"/>
              <a:t>2 Điện trở</a:t>
            </a:r>
            <a:r>
              <a:rPr lang="vi-VN" dirty="0"/>
              <a:t> 10k ohm (Sử dụng cấu hình </a:t>
            </a:r>
            <a:r>
              <a:rPr lang="vi-VN" b="1" dirty="0"/>
              <a:t>Pull-down</a:t>
            </a:r>
            <a:r>
              <a:rPr lang="vi-VN" dirty="0"/>
              <a:t>)</a:t>
            </a:r>
          </a:p>
          <a:p>
            <a:r>
              <a:rPr lang="vi-VN" dirty="0"/>
              <a:t>Dây cắm (Jumper wires)</a:t>
            </a:r>
          </a:p>
          <a:p>
            <a:r>
              <a:rPr lang="vi-VN" dirty="0"/>
              <a:t>Breadboard</a:t>
            </a:r>
          </a:p>
        </p:txBody>
      </p:sp>
      <p:sp>
        <p:nvSpPr>
          <p:cNvPr id="4" name="Slide Number Placeholder 3">
            <a:extLst>
              <a:ext uri="{FF2B5EF4-FFF2-40B4-BE49-F238E27FC236}">
                <a16:creationId xmlns:a16="http://schemas.microsoft.com/office/drawing/2014/main" id="{CE64D8C2-395E-7748-B355-16D2CEB851AA}"/>
              </a:ext>
            </a:extLst>
          </p:cNvPr>
          <p:cNvSpPr>
            <a:spLocks noGrp="1"/>
          </p:cNvSpPr>
          <p:nvPr>
            <p:ph type="sldNum" sz="quarter" idx="5"/>
          </p:nvPr>
        </p:nvSpPr>
        <p:spPr/>
        <p:txBody>
          <a:bodyPr/>
          <a:lstStyle/>
          <a:p>
            <a:fld id="{37D01E2C-B751-4C38-A4F8-4A97733E0BA7}" type="slidenum">
              <a:rPr lang="en-US" smtClean="0"/>
              <a:t>40</a:t>
            </a:fld>
            <a:endParaRPr lang="en-US"/>
          </a:p>
        </p:txBody>
      </p:sp>
    </p:spTree>
    <p:extLst>
      <p:ext uri="{BB962C8B-B14F-4D97-AF65-F5344CB8AC3E}">
        <p14:creationId xmlns:p14="http://schemas.microsoft.com/office/powerpoint/2010/main" val="40155955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509F8-31A7-0739-D6F5-622C64B8D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27117-26B9-EA73-866D-C0AA4F67E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04CAB-8C48-25FF-F55A-604721E0C92D}"/>
              </a:ext>
            </a:extLst>
          </p:cNvPr>
          <p:cNvSpPr>
            <a:spLocks noGrp="1"/>
          </p:cNvSpPr>
          <p:nvPr>
            <p:ph type="body" idx="1"/>
          </p:nvPr>
        </p:nvSpPr>
        <p:spPr/>
        <p:txBody>
          <a:bodyPr/>
          <a:lstStyle/>
          <a:p>
            <a:r>
              <a:rPr lang="vi-VN" b="1" dirty="0"/>
              <a:t>⚙️ Bài Tập: Đọc Giá Trị Biến Trở</a:t>
            </a:r>
          </a:p>
          <a:p>
            <a:r>
              <a:rPr lang="vi-VN" b="1" dirty="0"/>
              <a:t>1. Mục Tiêu</a:t>
            </a:r>
          </a:p>
          <a:p>
            <a:r>
              <a:rPr lang="vi-VN" dirty="0"/>
              <a:t>Đọc giá trị điện áp </a:t>
            </a:r>
            <a:r>
              <a:rPr lang="vi-VN" b="1" dirty="0"/>
              <a:t>analog</a:t>
            </a:r>
            <a:r>
              <a:rPr lang="vi-VN" dirty="0"/>
              <a:t> từ biến trở.</a:t>
            </a:r>
          </a:p>
          <a:p>
            <a:r>
              <a:rPr lang="vi-VN" dirty="0"/>
              <a:t>Hiển thị giá trị thô (</a:t>
            </a:r>
            <a:r>
              <a:rPr lang="vi-VN" b="1" dirty="0"/>
              <a:t>0 đến 1023</a:t>
            </a:r>
            <a:r>
              <a:rPr lang="vi-VN" dirty="0"/>
              <a:t>) ra Serial Monitor.</a:t>
            </a:r>
          </a:p>
          <a:p>
            <a:r>
              <a:rPr lang="vi-VN" b="1" dirty="0"/>
              <a:t>2. Linh Kiện Cần Thiết</a:t>
            </a:r>
          </a:p>
          <a:p>
            <a:r>
              <a:rPr lang="vi-VN" b="1" dirty="0"/>
              <a:t>Arduino Uno</a:t>
            </a:r>
            <a:endParaRPr lang="vi-VN" dirty="0"/>
          </a:p>
          <a:p>
            <a:r>
              <a:rPr lang="vi-VN" b="1" dirty="0"/>
              <a:t>Biến trở</a:t>
            </a:r>
            <a:r>
              <a:rPr lang="vi-VN" dirty="0"/>
              <a:t> (Potentiometer) 10k ohm</a:t>
            </a:r>
          </a:p>
          <a:p>
            <a:r>
              <a:rPr lang="vi-VN" dirty="0"/>
              <a:t>Dây cắm (Jumper wires)</a:t>
            </a:r>
          </a:p>
          <a:p>
            <a:r>
              <a:rPr lang="vi-VN" dirty="0"/>
              <a:t>Breadboard</a:t>
            </a:r>
          </a:p>
        </p:txBody>
      </p:sp>
      <p:sp>
        <p:nvSpPr>
          <p:cNvPr id="4" name="Slide Number Placeholder 3">
            <a:extLst>
              <a:ext uri="{FF2B5EF4-FFF2-40B4-BE49-F238E27FC236}">
                <a16:creationId xmlns:a16="http://schemas.microsoft.com/office/drawing/2014/main" id="{53C4694C-C543-1BB3-5CEC-84BDB2021C28}"/>
              </a:ext>
            </a:extLst>
          </p:cNvPr>
          <p:cNvSpPr>
            <a:spLocks noGrp="1"/>
          </p:cNvSpPr>
          <p:nvPr>
            <p:ph type="sldNum" sz="quarter" idx="5"/>
          </p:nvPr>
        </p:nvSpPr>
        <p:spPr/>
        <p:txBody>
          <a:bodyPr/>
          <a:lstStyle/>
          <a:p>
            <a:fld id="{37D01E2C-B751-4C38-A4F8-4A97733E0BA7}" type="slidenum">
              <a:rPr lang="en-US" smtClean="0"/>
              <a:t>41</a:t>
            </a:fld>
            <a:endParaRPr lang="en-US"/>
          </a:p>
        </p:txBody>
      </p:sp>
    </p:spTree>
    <p:extLst>
      <p:ext uri="{BB962C8B-B14F-4D97-AF65-F5344CB8AC3E}">
        <p14:creationId xmlns:p14="http://schemas.microsoft.com/office/powerpoint/2010/main" val="39542727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D9319-2CF5-E39D-00F6-6DD529FD2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E54AF-1831-6E1C-BB90-31B2FD940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2C0F3-5A96-3443-6D3A-5EE529ACE6EE}"/>
              </a:ext>
            </a:extLst>
          </p:cNvPr>
          <p:cNvSpPr>
            <a:spLocks noGrp="1"/>
          </p:cNvSpPr>
          <p:nvPr>
            <p:ph type="body" idx="1"/>
          </p:nvPr>
        </p:nvSpPr>
        <p:spPr/>
        <p:txBody>
          <a:bodyPr/>
          <a:lstStyle/>
          <a:p>
            <a:r>
              <a:rPr lang="vi-VN" sz="1200" b="1" kern="1200" dirty="0">
                <a:solidFill>
                  <a:schemeClr val="tx1"/>
                </a:solidFill>
                <a:effectLst/>
                <a:latin typeface="+mn-lt"/>
                <a:ea typeface="+mn-ea"/>
                <a:cs typeface="+mn-cs"/>
              </a:rPr>
              <a:t>📝 Đề Bài: Điều Khiển Tốc Độ Servo Bằng Biến Trở (Speed Control)</a:t>
            </a:r>
          </a:p>
          <a:p>
            <a:r>
              <a:rPr lang="vi-VN" sz="1200" b="1" kern="1200" dirty="0">
                <a:solidFill>
                  <a:schemeClr val="tx1"/>
                </a:solidFill>
                <a:effectLst/>
                <a:latin typeface="+mn-lt"/>
                <a:ea typeface="+mn-ea"/>
                <a:cs typeface="+mn-cs"/>
              </a:rPr>
              <a:t>1. 🎯 Yêu Cầu Chung</a:t>
            </a:r>
          </a:p>
          <a:p>
            <a:r>
              <a:rPr lang="vi-VN" sz="1200" kern="1200" dirty="0">
                <a:solidFill>
                  <a:schemeClr val="tx1"/>
                </a:solidFill>
                <a:effectLst/>
                <a:latin typeface="+mn-lt"/>
                <a:ea typeface="+mn-ea"/>
                <a:cs typeface="+mn-cs"/>
              </a:rPr>
              <a:t>Sử dụng </a:t>
            </a:r>
            <a:r>
              <a:rPr lang="vi-VN" sz="1200" b="1" kern="1200" dirty="0">
                <a:solidFill>
                  <a:schemeClr val="tx1"/>
                </a:solidFill>
                <a:effectLst/>
                <a:latin typeface="+mn-lt"/>
                <a:ea typeface="+mn-ea"/>
                <a:cs typeface="+mn-cs"/>
              </a:rPr>
              <a:t>Arduino Uno</a:t>
            </a:r>
            <a:r>
              <a:rPr lang="vi-VN" sz="1200" kern="1200" dirty="0">
                <a:solidFill>
                  <a:schemeClr val="tx1"/>
                </a:solidFill>
                <a:effectLst/>
                <a:latin typeface="+mn-lt"/>
                <a:ea typeface="+mn-ea"/>
                <a:cs typeface="+mn-cs"/>
              </a:rPr>
              <a:t>, một </a:t>
            </a:r>
            <a:r>
              <a:rPr lang="vi-VN" sz="1200" b="1" kern="1200" dirty="0">
                <a:solidFill>
                  <a:schemeClr val="tx1"/>
                </a:solidFill>
                <a:effectLst/>
                <a:latin typeface="+mn-lt"/>
                <a:ea typeface="+mn-ea"/>
                <a:cs typeface="+mn-cs"/>
              </a:rPr>
              <a:t>Biến trở</a:t>
            </a:r>
            <a:r>
              <a:rPr lang="vi-VN" sz="1200" kern="1200" dirty="0">
                <a:solidFill>
                  <a:schemeClr val="tx1"/>
                </a:solidFill>
                <a:effectLst/>
                <a:latin typeface="+mn-lt"/>
                <a:ea typeface="+mn-ea"/>
                <a:cs typeface="+mn-cs"/>
              </a:rPr>
              <a:t> (Potentiometer), và một </a:t>
            </a:r>
            <a:r>
              <a:rPr lang="vi-VN" sz="1200" b="1" kern="1200" dirty="0">
                <a:solidFill>
                  <a:schemeClr val="tx1"/>
                </a:solidFill>
                <a:effectLst/>
                <a:latin typeface="+mn-lt"/>
                <a:ea typeface="+mn-ea"/>
                <a:cs typeface="+mn-cs"/>
              </a:rPr>
              <a:t>Động cơ Servo</a:t>
            </a:r>
            <a:r>
              <a:rPr lang="vi-VN" sz="1200" kern="1200" dirty="0">
                <a:solidFill>
                  <a:schemeClr val="tx1"/>
                </a:solidFill>
                <a:effectLst/>
                <a:latin typeface="+mn-lt"/>
                <a:ea typeface="+mn-ea"/>
                <a:cs typeface="+mn-cs"/>
              </a:rPr>
              <a:t> để xây dựng hệ thống điều khiển vị trí và tốc độ quay của Servo.</a:t>
            </a:r>
          </a:p>
          <a:p>
            <a:r>
              <a:rPr lang="vi-VN" sz="1200" b="1" kern="1200" dirty="0">
                <a:solidFill>
                  <a:schemeClr val="tx1"/>
                </a:solidFill>
                <a:effectLst/>
                <a:latin typeface="+mn-lt"/>
                <a:ea typeface="+mn-ea"/>
                <a:cs typeface="+mn-cs"/>
              </a:rPr>
              <a:t>2. ⚙️ Chức Năng Cụ Thể</a:t>
            </a:r>
          </a:p>
          <a:p>
            <a:r>
              <a:rPr lang="vi-VN" sz="1200" b="1" kern="1200" dirty="0">
                <a:solidFill>
                  <a:schemeClr val="tx1"/>
                </a:solidFill>
                <a:effectLst/>
                <a:latin typeface="+mn-lt"/>
                <a:ea typeface="+mn-ea"/>
                <a:cs typeface="+mn-cs"/>
              </a:rPr>
              <a:t>Điều khiển Vị trí (Góc quay):</a:t>
            </a:r>
            <a:r>
              <a:rPr lang="vi-VN" sz="1200" kern="1200" dirty="0">
                <a:solidFill>
                  <a:schemeClr val="tx1"/>
                </a:solidFill>
                <a:effectLst/>
                <a:latin typeface="+mn-lt"/>
                <a:ea typeface="+mn-ea"/>
                <a:cs typeface="+mn-cs"/>
              </a:rPr>
              <a:t> Vị trí xoay của biến trở sẽ xác định </a:t>
            </a:r>
            <a:r>
              <a:rPr lang="vi-VN" sz="1200" b="1" kern="1200" dirty="0">
                <a:solidFill>
                  <a:schemeClr val="tx1"/>
                </a:solidFill>
                <a:effectLst/>
                <a:latin typeface="+mn-lt"/>
                <a:ea typeface="+mn-ea"/>
                <a:cs typeface="+mn-cs"/>
              </a:rPr>
              <a:t>vị trí góc cuối cùng</a:t>
            </a:r>
            <a:r>
              <a:rPr lang="vi-VN" sz="1200" kern="1200" dirty="0">
                <a:solidFill>
                  <a:schemeClr val="tx1"/>
                </a:solidFill>
                <a:effectLst/>
                <a:latin typeface="+mn-lt"/>
                <a:ea typeface="+mn-ea"/>
                <a:cs typeface="+mn-cs"/>
              </a:rPr>
              <a:t> mà Servo cần di chuyển tới (Phạm vi từ $0^{\circ}$ đến $180^{\circ}$).</a:t>
            </a:r>
          </a:p>
          <a:p>
            <a:r>
              <a:rPr lang="vi-VN" sz="1200" b="1" kern="1200" dirty="0">
                <a:solidFill>
                  <a:schemeClr val="tx1"/>
                </a:solidFill>
                <a:effectLst/>
                <a:latin typeface="+mn-lt"/>
                <a:ea typeface="+mn-ea"/>
                <a:cs typeface="+mn-cs"/>
              </a:rPr>
              <a:t>Điều khiển Tốc độ:</a:t>
            </a:r>
            <a:r>
              <a:rPr lang="vi-VN" sz="1200" kern="1200" dirty="0">
                <a:solidFill>
                  <a:schemeClr val="tx1"/>
                </a:solidFill>
                <a:effectLst/>
                <a:latin typeface="+mn-lt"/>
                <a:ea typeface="+mn-ea"/>
                <a:cs typeface="+mn-cs"/>
              </a:rPr>
              <a:t> Giá trị đọc được từ biến trở cũng sẽ xác định </a:t>
            </a:r>
            <a:r>
              <a:rPr lang="vi-VN" sz="1200" b="1" kern="1200" dirty="0">
                <a:solidFill>
                  <a:schemeClr val="tx1"/>
                </a:solidFill>
                <a:effectLst/>
                <a:latin typeface="+mn-lt"/>
                <a:ea typeface="+mn-ea"/>
                <a:cs typeface="+mn-cs"/>
              </a:rPr>
              <a:t>tốc độ di chuyển</a:t>
            </a:r>
            <a:r>
              <a:rPr lang="vi-VN" sz="1200" kern="1200" dirty="0">
                <a:solidFill>
                  <a:schemeClr val="tx1"/>
                </a:solidFill>
                <a:effectLst/>
                <a:latin typeface="+mn-lt"/>
                <a:ea typeface="+mn-ea"/>
                <a:cs typeface="+mn-cs"/>
              </a:rPr>
              <a:t> của Servo từ vị trí hiện tại đến vị trí mục tiêu.</a:t>
            </a:r>
          </a:p>
          <a:p>
            <a:r>
              <a:rPr lang="vi-VN" sz="1200" b="1" kern="1200" dirty="0">
                <a:solidFill>
                  <a:schemeClr val="tx1"/>
                </a:solidFill>
                <a:effectLst/>
                <a:latin typeface="+mn-lt"/>
                <a:ea typeface="+mn-ea"/>
                <a:cs typeface="+mn-cs"/>
              </a:rPr>
              <a:t>3. 🔄 Mối Quan Hệ Giữa Biến Trở và Tốc độ</a:t>
            </a:r>
          </a:p>
          <a:p>
            <a:r>
              <a:rPr lang="vi-VN" sz="1200" kern="1200" dirty="0">
                <a:solidFill>
                  <a:schemeClr val="tx1"/>
                </a:solidFill>
                <a:effectLst/>
                <a:latin typeface="+mn-lt"/>
                <a:ea typeface="+mn-ea"/>
                <a:cs typeface="+mn-cs"/>
              </a:rPr>
              <a:t>Tốc độ di chuyển của Servo phải tỷ lệ </a:t>
            </a:r>
            <a:r>
              <a:rPr lang="vi-VN" sz="1200" b="1" kern="1200" dirty="0">
                <a:solidFill>
                  <a:schemeClr val="tx1"/>
                </a:solidFill>
                <a:effectLst/>
                <a:latin typeface="+mn-lt"/>
                <a:ea typeface="+mn-ea"/>
                <a:cs typeface="+mn-cs"/>
              </a:rPr>
              <a:t>nghịch</a:t>
            </a:r>
            <a:r>
              <a:rPr lang="vi-VN" sz="1200" kern="1200" dirty="0">
                <a:solidFill>
                  <a:schemeClr val="tx1"/>
                </a:solidFill>
                <a:effectLst/>
                <a:latin typeface="+mn-lt"/>
                <a:ea typeface="+mn-ea"/>
                <a:cs typeface="+mn-cs"/>
              </a:rPr>
              <a:t> với giá trị đọc được từ biến trở:</a:t>
            </a:r>
          </a:p>
          <a:p>
            <a:r>
              <a:rPr lang="vi-VN" sz="1200" b="1" kern="1200" dirty="0">
                <a:solidFill>
                  <a:schemeClr val="tx1"/>
                </a:solidFill>
                <a:effectLst/>
                <a:latin typeface="+mn-lt"/>
                <a:ea typeface="+mn-ea"/>
                <a:cs typeface="+mn-cs"/>
              </a:rPr>
              <a:t>Giá trị Biến trở NHỎ</a:t>
            </a:r>
            <a:r>
              <a:rPr lang="vi-VN" sz="1200" kern="1200" dirty="0">
                <a:solidFill>
                  <a:schemeClr val="tx1"/>
                </a:solidFill>
                <a:effectLst/>
                <a:latin typeface="+mn-lt"/>
                <a:ea typeface="+mn-ea"/>
                <a:cs typeface="+mn-cs"/>
              </a:rPr>
              <a:t> (gần 0) $\rightarrow$ Servo di chuyển </a:t>
            </a:r>
            <a:r>
              <a:rPr lang="vi-VN" sz="1200" b="1" kern="1200" dirty="0">
                <a:solidFill>
                  <a:schemeClr val="tx1"/>
                </a:solidFill>
                <a:effectLst/>
                <a:latin typeface="+mn-lt"/>
                <a:ea typeface="+mn-ea"/>
                <a:cs typeface="+mn-cs"/>
              </a:rPr>
              <a:t>CHẬM</a:t>
            </a:r>
            <a:r>
              <a:rPr lang="vi-VN" sz="1200" kern="1200" dirty="0">
                <a:solidFill>
                  <a:schemeClr val="tx1"/>
                </a:solidFill>
                <a:effectLst/>
                <a:latin typeface="+mn-lt"/>
                <a:ea typeface="+mn-ea"/>
                <a:cs typeface="+mn-cs"/>
              </a:rPr>
              <a:t>.</a:t>
            </a:r>
          </a:p>
          <a:p>
            <a:r>
              <a:rPr lang="vi-VN" sz="1200" b="1" kern="1200" dirty="0">
                <a:solidFill>
                  <a:schemeClr val="tx1"/>
                </a:solidFill>
                <a:effectLst/>
                <a:latin typeface="+mn-lt"/>
                <a:ea typeface="+mn-ea"/>
                <a:cs typeface="+mn-cs"/>
              </a:rPr>
              <a:t>Giá trị Biến trở LỚN</a:t>
            </a:r>
            <a:r>
              <a:rPr lang="vi-VN" sz="1200" kern="1200" dirty="0">
                <a:solidFill>
                  <a:schemeClr val="tx1"/>
                </a:solidFill>
                <a:effectLst/>
                <a:latin typeface="+mn-lt"/>
                <a:ea typeface="+mn-ea"/>
                <a:cs typeface="+mn-cs"/>
              </a:rPr>
              <a:t> (gần 1023) $\rightarrow$ Servo di chuyển </a:t>
            </a:r>
            <a:r>
              <a:rPr lang="vi-VN" sz="1200" b="1" kern="1200" dirty="0">
                <a:solidFill>
                  <a:schemeClr val="tx1"/>
                </a:solidFill>
                <a:effectLst/>
                <a:latin typeface="+mn-lt"/>
                <a:ea typeface="+mn-ea"/>
                <a:cs typeface="+mn-cs"/>
              </a:rPr>
              <a:t>NHANH</a:t>
            </a:r>
            <a:r>
              <a:rPr lang="vi-VN" sz="120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A5A823A7-E8A2-4DA1-B55C-2FAE91299EFE}"/>
              </a:ext>
            </a:extLst>
          </p:cNvPr>
          <p:cNvSpPr>
            <a:spLocks noGrp="1"/>
          </p:cNvSpPr>
          <p:nvPr>
            <p:ph type="sldNum" sz="quarter" idx="5"/>
          </p:nvPr>
        </p:nvSpPr>
        <p:spPr/>
        <p:txBody>
          <a:bodyPr/>
          <a:lstStyle/>
          <a:p>
            <a:fld id="{37D01E2C-B751-4C38-A4F8-4A97733E0BA7}" type="slidenum">
              <a:rPr lang="en-US" smtClean="0"/>
              <a:t>42</a:t>
            </a:fld>
            <a:endParaRPr lang="en-US"/>
          </a:p>
        </p:txBody>
      </p:sp>
    </p:spTree>
    <p:extLst>
      <p:ext uri="{BB962C8B-B14F-4D97-AF65-F5344CB8AC3E}">
        <p14:creationId xmlns:p14="http://schemas.microsoft.com/office/powerpoint/2010/main" val="2448707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8" name="TextBox 7">
            <a:extLst>
              <a:ext uri="{FF2B5EF4-FFF2-40B4-BE49-F238E27FC236}">
                <a16:creationId xmlns:a16="http://schemas.microsoft.com/office/drawing/2014/main" id="{18299D2F-5AD9-964E-01EE-68F1EB4D8342}"/>
              </a:ext>
            </a:extLst>
          </p:cNvPr>
          <p:cNvSpPr txBox="1"/>
          <p:nvPr/>
        </p:nvSpPr>
        <p:spPr>
          <a:xfrm>
            <a:off x="381000" y="2690257"/>
            <a:ext cx="16456925" cy="1569660"/>
          </a:xfrm>
          <a:prstGeom prst="rect">
            <a:avLst/>
          </a:prstGeom>
          <a:noFill/>
        </p:spPr>
        <p:txBody>
          <a:bodyPr wrap="square">
            <a:spAutoFit/>
          </a:bodyPr>
          <a:lstStyle/>
          <a:p>
            <a:r>
              <a:rPr lang="en-US" sz="2400" dirty="0">
                <a:latin typeface="Calibri (Body)"/>
              </a:rPr>
              <a:t>This is the protocol used when you send data from an Arduino to your computer, using the classic </a:t>
            </a:r>
            <a:r>
              <a:rPr lang="en-US" sz="2400" dirty="0" err="1">
                <a:latin typeface="Calibri (Body)"/>
              </a:rPr>
              <a:t>Serial.print</a:t>
            </a:r>
            <a:r>
              <a:rPr lang="en-US" sz="2400" dirty="0">
                <a:latin typeface="Calibri (Body)"/>
              </a:rPr>
              <a:t>() </a:t>
            </a:r>
            <a:r>
              <a:rPr lang="en-US" sz="2400" dirty="0" err="1">
                <a:latin typeface="Calibri (Body)"/>
              </a:rPr>
              <a:t>method.This</a:t>
            </a:r>
            <a:r>
              <a:rPr lang="en-US" sz="2400" dirty="0">
                <a:latin typeface="Calibri (Body)"/>
              </a:rPr>
              <a:t> is the protocol used when you send data from an Arduino to your computer, using the classic </a:t>
            </a:r>
            <a:r>
              <a:rPr lang="en-US" sz="2400" dirty="0" err="1">
                <a:latin typeface="Calibri (Body)"/>
              </a:rPr>
              <a:t>Serial.print</a:t>
            </a:r>
            <a:r>
              <a:rPr lang="en-US" sz="2400" dirty="0">
                <a:latin typeface="Calibri (Body)"/>
              </a:rPr>
              <a:t>() method.</a:t>
            </a:r>
          </a:p>
          <a:p>
            <a:endParaRPr lang="en-US" sz="2400" dirty="0">
              <a:latin typeface="Calibri (Body)"/>
            </a:endParaRPr>
          </a:p>
          <a:p>
            <a:r>
              <a:rPr lang="en-US" sz="2400" dirty="0">
                <a:latin typeface="Calibri (Body)"/>
              </a:rPr>
              <a:t>Communication via UART is enabled by the Serial class, which has a number of methods available, including reading &amp; writing data</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DFF5F05D-4012-6D9A-8738-9F479557F519}"/>
              </a:ext>
            </a:extLst>
          </p:cNvPr>
          <p:cNvPicPr>
            <a:picLocks noChangeAspect="1"/>
          </p:cNvPicPr>
          <p:nvPr/>
        </p:nvPicPr>
        <p:blipFill>
          <a:blip r:embed="rId3"/>
          <a:stretch>
            <a:fillRect/>
          </a:stretch>
        </p:blipFill>
        <p:spPr>
          <a:xfrm>
            <a:off x="457200" y="4594545"/>
            <a:ext cx="11896436" cy="3657600"/>
          </a:xfrm>
          <a:prstGeom prst="rect">
            <a:avLst/>
          </a:prstGeom>
        </p:spPr>
      </p:pic>
    </p:spTree>
    <p:extLst>
      <p:ext uri="{BB962C8B-B14F-4D97-AF65-F5344CB8AC3E}">
        <p14:creationId xmlns:p14="http://schemas.microsoft.com/office/powerpoint/2010/main" val="18755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A429-4F8B-C0DA-01D6-668A0736E7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77784E1-B55F-CA9C-020D-A22F2ED28D9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A243189F-AD9F-99A4-2ECC-E6100FC5AF5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B946BD7-B538-C33F-EA36-FFC06620C41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1BDE7B3-DBDB-8494-7DAE-0E9D0EC509C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3A38A1F-2BE5-B575-BBE4-C809914EE35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6A03527-FA5C-9C72-44E8-EE5E0303955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E6D07F66-B78F-DCE5-F47F-E4DE8DCE99E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B711ADD3-16E8-5C6B-1424-346D33FE8FAB}"/>
              </a:ext>
            </a:extLst>
          </p:cNvPr>
          <p:cNvPicPr>
            <a:picLocks noChangeAspect="1"/>
          </p:cNvPicPr>
          <p:nvPr/>
        </p:nvPicPr>
        <p:blipFill>
          <a:blip r:embed="rId3"/>
          <a:stretch>
            <a:fillRect/>
          </a:stretch>
        </p:blipFill>
        <p:spPr>
          <a:xfrm>
            <a:off x="2250281" y="1943099"/>
            <a:ext cx="13482637" cy="8217470"/>
          </a:xfrm>
          <a:prstGeom prst="rect">
            <a:avLst/>
          </a:prstGeom>
        </p:spPr>
      </p:pic>
    </p:spTree>
    <p:extLst>
      <p:ext uri="{BB962C8B-B14F-4D97-AF65-F5344CB8AC3E}">
        <p14:creationId xmlns:p14="http://schemas.microsoft.com/office/powerpoint/2010/main" val="4002541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578D-6095-9A0E-9F15-4EC5093AC42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2735574-6274-3F5A-3B16-E8F70855BAF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649268F5-31FA-60ED-6F3B-D49D4FE8A35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3FAB389-8B51-506F-5371-12A7A363ADA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89D86BE-6215-3F77-475C-F17074C1E57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A1895F1-C33C-D0C8-DC47-69C6514984C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857335D3-3D91-9CFA-F677-D1B0DFF2A5A5}"/>
              </a:ext>
            </a:extLst>
          </p:cNvPr>
          <p:cNvSpPr txBox="1"/>
          <p:nvPr/>
        </p:nvSpPr>
        <p:spPr>
          <a:xfrm>
            <a:off x="346364" y="2300798"/>
            <a:ext cx="14969836" cy="5170646"/>
          </a:xfrm>
          <a:prstGeom prst="rect">
            <a:avLst/>
          </a:prstGeom>
          <a:noFill/>
        </p:spPr>
        <p:txBody>
          <a:bodyPr wrap="square">
            <a:spAutoFit/>
          </a:bodyPr>
          <a:lstStyle/>
          <a:p>
            <a:r>
              <a:rPr lang="en-US" sz="3000" dirty="0"/>
              <a:t>🧩 1️⃣ </a:t>
            </a:r>
            <a:r>
              <a:rPr lang="en-US" sz="3000" b="1" dirty="0"/>
              <a:t>Why there is a dot ( . )</a:t>
            </a:r>
            <a:endParaRPr lang="en-US" sz="3000" dirty="0"/>
          </a:p>
          <a:p>
            <a:r>
              <a:rPr lang="en-US" sz="3000" dirty="0"/>
              <a:t>In Arduino, </a:t>
            </a:r>
            <a:r>
              <a:rPr lang="en-US" sz="3000" b="1" dirty="0"/>
              <a:t>Serial</a:t>
            </a:r>
            <a:r>
              <a:rPr lang="en-US" sz="3000" dirty="0"/>
              <a:t> is not a function, but an </a:t>
            </a:r>
            <a:r>
              <a:rPr lang="en-US" sz="3000" b="1" dirty="0"/>
              <a:t>object</a:t>
            </a:r>
            <a:r>
              <a:rPr lang="en-US" sz="3000" dirty="0"/>
              <a:t> belonging to the </a:t>
            </a:r>
            <a:r>
              <a:rPr lang="en-US" sz="3000" b="1" dirty="0" err="1"/>
              <a:t>HardwareSerial</a:t>
            </a:r>
            <a:r>
              <a:rPr lang="en-US" sz="3000" dirty="0"/>
              <a:t> class.</a:t>
            </a:r>
          </a:p>
          <a:p>
            <a:r>
              <a:rPr lang="en-US" sz="3000" dirty="0"/>
              <a:t>When you write:</a:t>
            </a:r>
          </a:p>
          <a:p>
            <a:endParaRPr lang="en-US" sz="3000" dirty="0"/>
          </a:p>
          <a:p>
            <a:pPr lvl="8"/>
            <a:r>
              <a:rPr lang="en-US" sz="3000" b="1" dirty="0" err="1"/>
              <a:t>Serial.begin</a:t>
            </a:r>
            <a:r>
              <a:rPr lang="en-US" sz="3000" b="1" dirty="0"/>
              <a:t>(9600);</a:t>
            </a:r>
          </a:p>
          <a:p>
            <a:endParaRPr lang="en-US" sz="3000" b="1" dirty="0"/>
          </a:p>
          <a:p>
            <a:r>
              <a:rPr lang="en-US" sz="3000" dirty="0"/>
              <a:t>then:</a:t>
            </a:r>
          </a:p>
          <a:p>
            <a:r>
              <a:rPr lang="en-US" sz="3000" b="1" dirty="0"/>
              <a:t>Serial</a:t>
            </a:r>
            <a:r>
              <a:rPr lang="en-US" sz="3000" dirty="0"/>
              <a:t> → is the name of the object (created by Arduino to use UART0 of the microcontroller).</a:t>
            </a:r>
          </a:p>
          <a:p>
            <a:r>
              <a:rPr lang="en-US" sz="3000" b="1" dirty="0"/>
              <a:t>begin()</a:t>
            </a:r>
            <a:r>
              <a:rPr lang="en-US" sz="3000" dirty="0"/>
              <a:t> → is a </a:t>
            </a:r>
            <a:r>
              <a:rPr lang="en-US" sz="3000" b="1" dirty="0"/>
              <a:t>member function</a:t>
            </a:r>
            <a:r>
              <a:rPr lang="en-US" sz="3000" dirty="0"/>
              <a:t> of the Serial object.</a:t>
            </a:r>
          </a:p>
          <a:p>
            <a:r>
              <a:rPr lang="en-US" sz="3000" dirty="0"/>
              <a:t>The dot ( . ) means: calling a function that belongs to that object.</a:t>
            </a:r>
          </a:p>
          <a:p>
            <a:r>
              <a:rPr lang="en-US" sz="3000" dirty="0"/>
              <a:t>👉 That is: </a:t>
            </a:r>
            <a:r>
              <a:rPr lang="en-US" sz="3000" b="1" dirty="0"/>
              <a:t>“Call the begin() function of the Serial object.”</a:t>
            </a:r>
            <a:endParaRPr lang="en-US" sz="3000" dirty="0"/>
          </a:p>
        </p:txBody>
      </p:sp>
      <p:sp>
        <p:nvSpPr>
          <p:cNvPr id="4" name="AutoShape 4" descr="Figure 3. UART packet.">
            <a:extLst>
              <a:ext uri="{FF2B5EF4-FFF2-40B4-BE49-F238E27FC236}">
                <a16:creationId xmlns:a16="http://schemas.microsoft.com/office/drawing/2014/main" id="{3ACDD59F-7648-0B38-876D-20DC52003FD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201761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C1F80-B7B5-BEF1-DC13-E655192B428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4511CE-8D83-12EF-A1AA-8A4D9F65EC2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3234DFC9-49D7-B716-7DF5-0E7CA02A554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F7EBCBC-3626-8D04-0261-C603C55150A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709599C-18F9-D2DE-C081-018C9185A4A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B02F6E90-4DF0-CCF3-8ED3-84A558F7BBF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4" name="AutoShape 4" descr="Figure 3. UART packet.">
            <a:extLst>
              <a:ext uri="{FF2B5EF4-FFF2-40B4-BE49-F238E27FC236}">
                <a16:creationId xmlns:a16="http://schemas.microsoft.com/office/drawing/2014/main" id="{563CF7EA-BF84-EE94-191C-70847EC3FC4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527DFC1E-6520-4B13-FD78-C7C081083C25}"/>
              </a:ext>
            </a:extLst>
          </p:cNvPr>
          <p:cNvPicPr>
            <a:picLocks noChangeAspect="1"/>
          </p:cNvPicPr>
          <p:nvPr/>
        </p:nvPicPr>
        <p:blipFill>
          <a:blip r:embed="rId3"/>
          <a:stretch>
            <a:fillRect/>
          </a:stretch>
        </p:blipFill>
        <p:spPr>
          <a:xfrm>
            <a:off x="228600" y="2113071"/>
            <a:ext cx="16492537" cy="7909686"/>
          </a:xfrm>
          <a:prstGeom prst="rect">
            <a:avLst/>
          </a:prstGeom>
        </p:spPr>
      </p:pic>
    </p:spTree>
    <p:extLst>
      <p:ext uri="{BB962C8B-B14F-4D97-AF65-F5344CB8AC3E}">
        <p14:creationId xmlns:p14="http://schemas.microsoft.com/office/powerpoint/2010/main" val="129697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0811-7C20-FE6A-DA69-2544B24A189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8F95B6-4121-0646-0A12-57DCF7E9A32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9BC946F6-25BB-54F0-CE52-2B01A678F9F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51887E7-B9EE-797B-90C8-137E44D4740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3F61808-EFCE-75A9-2531-953466477D2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51BAB65-AE7E-AF8F-0742-EEC60AE3E07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4" name="AutoShape 4" descr="Figure 3. UART packet.">
            <a:extLst>
              <a:ext uri="{FF2B5EF4-FFF2-40B4-BE49-F238E27FC236}">
                <a16:creationId xmlns:a16="http://schemas.microsoft.com/office/drawing/2014/main" id="{22D73A3C-9636-2B4F-746D-06A72F5F81B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3F0C0CD3-A9E2-F24C-F239-E7D6BC60249E}"/>
              </a:ext>
            </a:extLst>
          </p:cNvPr>
          <p:cNvSpPr txBox="1"/>
          <p:nvPr/>
        </p:nvSpPr>
        <p:spPr>
          <a:xfrm>
            <a:off x="381000" y="2324100"/>
            <a:ext cx="17526000" cy="6247864"/>
          </a:xfrm>
          <a:prstGeom prst="rect">
            <a:avLst/>
          </a:prstGeom>
          <a:noFill/>
        </p:spPr>
        <p:txBody>
          <a:bodyPr wrap="square">
            <a:spAutoFit/>
          </a:bodyPr>
          <a:lstStyle/>
          <a:p>
            <a:pPr>
              <a:buNone/>
            </a:pPr>
            <a:r>
              <a:rPr lang="en-US" sz="4000" dirty="0"/>
              <a:t>🧩 3️⃣ </a:t>
            </a:r>
            <a:r>
              <a:rPr lang="en-US" sz="4000" b="1" dirty="0"/>
              <a:t>Why not just write </a:t>
            </a:r>
            <a:r>
              <a:rPr lang="en-US" sz="4000" b="1" dirty="0">
                <a:latin typeface="Courier New" panose="02070309020205020404" pitchFamily="49" charset="0"/>
              </a:rPr>
              <a:t>begin(9600);</a:t>
            </a:r>
            <a:r>
              <a:rPr lang="en-US" sz="4000" b="1" dirty="0"/>
              <a:t> but must use </a:t>
            </a:r>
            <a:r>
              <a:rPr lang="en-US" sz="4000" b="1" dirty="0" err="1">
                <a:latin typeface="Courier New" panose="02070309020205020404" pitchFamily="49" charset="0"/>
              </a:rPr>
              <a:t>Serial.begin</a:t>
            </a:r>
            <a:r>
              <a:rPr lang="en-US" sz="4000" b="1" dirty="0">
                <a:latin typeface="Courier New" panose="02070309020205020404" pitchFamily="49" charset="0"/>
              </a:rPr>
              <a:t>(9600);</a:t>
            </a:r>
            <a:endParaRPr lang="en-US" sz="4000" dirty="0"/>
          </a:p>
          <a:p>
            <a:pPr>
              <a:buNone/>
            </a:pPr>
            <a:r>
              <a:rPr lang="en-US" sz="4000" dirty="0"/>
              <a:t>Because </a:t>
            </a:r>
            <a:r>
              <a:rPr lang="en-US" sz="4000" dirty="0">
                <a:latin typeface="Courier New" panose="02070309020205020404" pitchFamily="49" charset="0"/>
              </a:rPr>
              <a:t>begin()</a:t>
            </a:r>
            <a:r>
              <a:rPr lang="en-US" sz="4000" dirty="0"/>
              <a:t> is </a:t>
            </a:r>
            <a:r>
              <a:rPr lang="en-US" sz="4000" b="1" dirty="0"/>
              <a:t>not a global function</a:t>
            </a:r>
            <a:r>
              <a:rPr lang="en-US" sz="4000" dirty="0"/>
              <a:t>, but a </a:t>
            </a:r>
            <a:r>
              <a:rPr lang="en-US" sz="4000" b="1" dirty="0"/>
              <a:t>function specific to the Serial object</a:t>
            </a:r>
            <a:r>
              <a:rPr lang="en-US" sz="4000" dirty="0"/>
              <a:t>.</a:t>
            </a:r>
            <a:br>
              <a:rPr lang="en-US" sz="4000" dirty="0"/>
            </a:br>
            <a:r>
              <a:rPr lang="en-US" sz="4000" dirty="0"/>
              <a:t>If you only write </a:t>
            </a:r>
            <a:r>
              <a:rPr lang="en-US" sz="4000" dirty="0">
                <a:latin typeface="Courier New" panose="02070309020205020404" pitchFamily="49" charset="0"/>
              </a:rPr>
              <a:t>begin(9600);</a:t>
            </a:r>
            <a:r>
              <a:rPr lang="en-US" sz="4000" dirty="0"/>
              <a:t>, the compiler doesn’t know which object’s </a:t>
            </a:r>
            <a:r>
              <a:rPr lang="en-US" sz="4000" dirty="0">
                <a:latin typeface="Courier New" panose="02070309020205020404" pitchFamily="49" charset="0"/>
              </a:rPr>
              <a:t>begin()</a:t>
            </a:r>
            <a:r>
              <a:rPr lang="en-US" sz="4000" dirty="0"/>
              <a:t> you want to call → it will cause an error immediately.</a:t>
            </a:r>
          </a:p>
          <a:p>
            <a:pPr>
              <a:buNone/>
            </a:pPr>
            <a:r>
              <a:rPr lang="en-US" sz="4000" dirty="0"/>
              <a:t>Similar to a real-life example:</a:t>
            </a:r>
          </a:p>
          <a:p>
            <a:pPr rtl="0">
              <a:buNone/>
            </a:pPr>
            <a:r>
              <a:rPr lang="en-US" sz="4000" dirty="0" err="1">
                <a:latin typeface="Courier New" panose="02070309020205020404" pitchFamily="49" charset="0"/>
              </a:rPr>
              <a:t>TV.turnOn</a:t>
            </a:r>
            <a:r>
              <a:rPr lang="en-US" sz="4000" dirty="0">
                <a:latin typeface="Courier New" panose="02070309020205020404" pitchFamily="49" charset="0"/>
              </a:rPr>
              <a:t>();    // Turn on the TV</a:t>
            </a:r>
          </a:p>
          <a:p>
            <a:pPr rtl="0">
              <a:buNone/>
            </a:pPr>
            <a:r>
              <a:rPr lang="en-US" sz="4000" dirty="0" err="1">
                <a:latin typeface="Courier New" panose="02070309020205020404" pitchFamily="49" charset="0"/>
              </a:rPr>
              <a:t>Fan.turnOn</a:t>
            </a:r>
            <a:r>
              <a:rPr lang="en-US" sz="4000" dirty="0">
                <a:latin typeface="Courier New" panose="02070309020205020404" pitchFamily="49" charset="0"/>
              </a:rPr>
              <a:t>();   // Turn on the fan</a:t>
            </a:r>
          </a:p>
          <a:p>
            <a:pPr>
              <a:buNone/>
            </a:pPr>
            <a:r>
              <a:rPr lang="en-US" sz="4000" dirty="0"/>
              <a:t>You cannot just write </a:t>
            </a:r>
            <a:r>
              <a:rPr lang="en-US" sz="4000" dirty="0" err="1">
                <a:latin typeface="Courier New" panose="02070309020205020404" pitchFamily="49" charset="0"/>
              </a:rPr>
              <a:t>turnOn</a:t>
            </a:r>
            <a:r>
              <a:rPr lang="en-US" sz="4000" dirty="0">
                <a:latin typeface="Courier New" panose="02070309020205020404" pitchFamily="49" charset="0"/>
              </a:rPr>
              <a:t>();</a:t>
            </a:r>
            <a:r>
              <a:rPr lang="en-US" sz="4000" dirty="0"/>
              <a:t> because it’s unclear </a:t>
            </a:r>
            <a:r>
              <a:rPr lang="en-US" sz="4000" b="1" dirty="0"/>
              <a:t>“turn on what.”</a:t>
            </a:r>
            <a:endParaRPr lang="en-US" sz="4000" dirty="0"/>
          </a:p>
        </p:txBody>
      </p:sp>
    </p:spTree>
    <p:extLst>
      <p:ext uri="{BB962C8B-B14F-4D97-AF65-F5344CB8AC3E}">
        <p14:creationId xmlns:p14="http://schemas.microsoft.com/office/powerpoint/2010/main" val="3556257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BE78-A4CE-5A0A-2AA4-BB4B3E72958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3A7F9F-24A6-6297-7AD4-7CB1AC3D1A7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059F26D3-7017-B45F-7418-33B7EDBC2E1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81086D2-D6CB-410E-6C0A-7FBC3E2B6F5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847A6E6-A1C6-EF5E-47E5-571F9D9EB0C8}"/>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67B811A-CFD2-E065-926B-FBFF97897CF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D50FE0DE-CD4B-9073-242C-460CC6144A3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0096534D-7BA4-F321-75F6-9C75C030FF2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DCC67042-8F29-0138-7769-72C23A764BBF}"/>
              </a:ext>
            </a:extLst>
          </p:cNvPr>
          <p:cNvSpPr txBox="1"/>
          <p:nvPr/>
        </p:nvSpPr>
        <p:spPr>
          <a:xfrm>
            <a:off x="377588" y="2258790"/>
            <a:ext cx="17148412" cy="1200329"/>
          </a:xfrm>
          <a:prstGeom prst="rect">
            <a:avLst/>
          </a:prstGeom>
          <a:noFill/>
        </p:spPr>
        <p:txBody>
          <a:bodyPr wrap="square">
            <a:spAutoFit/>
          </a:bodyPr>
          <a:lstStyle/>
          <a:p>
            <a:pPr>
              <a:buNone/>
            </a:pPr>
            <a:r>
              <a:rPr lang="en-US" sz="2400" dirty="0"/>
              <a:t>🧩 </a:t>
            </a:r>
            <a:r>
              <a:rPr lang="en-US" sz="2400" b="1" dirty="0"/>
              <a:t>1️⃣ </a:t>
            </a:r>
            <a:r>
              <a:rPr lang="en-US" sz="2400" b="1" dirty="0" err="1"/>
              <a:t>Serial.begin</a:t>
            </a:r>
            <a:r>
              <a:rPr lang="en-US" sz="2400" b="1" dirty="0"/>
              <a:t>(</a:t>
            </a:r>
            <a:r>
              <a:rPr lang="en-US" sz="2400" b="1" dirty="0" err="1"/>
              <a:t>baudrate</a:t>
            </a:r>
            <a:r>
              <a:rPr lang="en-US" sz="2400" b="1" dirty="0"/>
              <a:t>)</a:t>
            </a:r>
            <a:endParaRPr lang="en-US" sz="2400" dirty="0"/>
          </a:p>
          <a:p>
            <a:pPr>
              <a:buNone/>
            </a:pPr>
            <a:r>
              <a:rPr lang="en-US" sz="2400" dirty="0"/>
              <a:t>👉 </a:t>
            </a:r>
            <a:r>
              <a:rPr lang="en-US" sz="2400" b="1" dirty="0"/>
              <a:t>Purpose:</a:t>
            </a:r>
            <a:br>
              <a:rPr lang="en-US" sz="2400" dirty="0"/>
            </a:br>
            <a:r>
              <a:rPr lang="en-US" sz="2400" dirty="0"/>
              <a:t>Initializes UART communication between the Arduino and a computer (or another device) at a specified transmission speed (</a:t>
            </a:r>
            <a:r>
              <a:rPr lang="en-US" sz="2400" b="1" dirty="0" err="1"/>
              <a:t>baudrate</a:t>
            </a:r>
            <a:r>
              <a:rPr lang="en-US" sz="2400" dirty="0"/>
              <a:t>).</a:t>
            </a:r>
          </a:p>
        </p:txBody>
      </p:sp>
      <p:pic>
        <p:nvPicPr>
          <p:cNvPr id="13" name="Picture 12">
            <a:extLst>
              <a:ext uri="{FF2B5EF4-FFF2-40B4-BE49-F238E27FC236}">
                <a16:creationId xmlns:a16="http://schemas.microsoft.com/office/drawing/2014/main" id="{C22E2F2D-B35B-CEBE-383D-F64134955F61}"/>
              </a:ext>
            </a:extLst>
          </p:cNvPr>
          <p:cNvPicPr>
            <a:picLocks noChangeAspect="1"/>
          </p:cNvPicPr>
          <p:nvPr/>
        </p:nvPicPr>
        <p:blipFill>
          <a:blip r:embed="rId3"/>
          <a:stretch>
            <a:fillRect/>
          </a:stretch>
        </p:blipFill>
        <p:spPr>
          <a:xfrm>
            <a:off x="4800600" y="4176935"/>
            <a:ext cx="7390076" cy="1933129"/>
          </a:xfrm>
          <a:prstGeom prst="rect">
            <a:avLst/>
          </a:prstGeom>
        </p:spPr>
      </p:pic>
      <p:sp>
        <p:nvSpPr>
          <p:cNvPr id="15" name="TextBox 14">
            <a:extLst>
              <a:ext uri="{FF2B5EF4-FFF2-40B4-BE49-F238E27FC236}">
                <a16:creationId xmlns:a16="http://schemas.microsoft.com/office/drawing/2014/main" id="{95208E2D-1203-26F7-B5CB-B0F960049B10}"/>
              </a:ext>
            </a:extLst>
          </p:cNvPr>
          <p:cNvSpPr txBox="1"/>
          <p:nvPr/>
        </p:nvSpPr>
        <p:spPr>
          <a:xfrm>
            <a:off x="636815" y="6755926"/>
            <a:ext cx="16992600" cy="2677656"/>
          </a:xfrm>
          <a:prstGeom prst="rect">
            <a:avLst/>
          </a:prstGeom>
          <a:noFill/>
        </p:spPr>
        <p:txBody>
          <a:bodyPr wrap="square">
            <a:spAutoFit/>
          </a:bodyPr>
          <a:lstStyle/>
          <a:p>
            <a:pPr>
              <a:buNone/>
            </a:pPr>
            <a:r>
              <a:rPr lang="en-US" sz="2400" b="1" dirty="0"/>
              <a:t>Explanation:</a:t>
            </a:r>
            <a:br>
              <a:rPr lang="en-US" sz="2400" dirty="0"/>
            </a:br>
            <a:r>
              <a:rPr lang="en-US" sz="2400" dirty="0" err="1"/>
              <a:t>Serial.begin</a:t>
            </a:r>
            <a:r>
              <a:rPr lang="en-US" sz="2400" dirty="0"/>
              <a:t>() activates the hardware UART port, sets the transmission speed, the number of data bits, parity, and stop bits.</a:t>
            </a:r>
          </a:p>
          <a:p>
            <a:pPr>
              <a:buNone/>
            </a:pPr>
            <a:r>
              <a:rPr lang="en-US" sz="2400" dirty="0"/>
              <a:t>The computer must be configured with the </a:t>
            </a:r>
            <a:r>
              <a:rPr lang="en-US" sz="2400" b="1" dirty="0"/>
              <a:t>same </a:t>
            </a:r>
            <a:r>
              <a:rPr lang="en-US" sz="2400" b="1" dirty="0" err="1"/>
              <a:t>baudrate</a:t>
            </a:r>
            <a:r>
              <a:rPr lang="en-US" sz="2400" dirty="0"/>
              <a:t> (e.g., select “9600 baud” in the Serial Monitor).</a:t>
            </a:r>
          </a:p>
          <a:p>
            <a:pPr>
              <a:buNone/>
            </a:pPr>
            <a:r>
              <a:rPr lang="en-US" sz="2400" dirty="0"/>
              <a:t>If the </a:t>
            </a:r>
            <a:r>
              <a:rPr lang="en-US" sz="2400" dirty="0" err="1"/>
              <a:t>baudrates</a:t>
            </a:r>
            <a:r>
              <a:rPr lang="en-US" sz="2400" dirty="0"/>
              <a:t> don’t match → the data will appear </a:t>
            </a:r>
            <a:r>
              <a:rPr lang="en-US" sz="2400" b="1" dirty="0"/>
              <a:t>corrupted or unreadable (garbled characters).</a:t>
            </a:r>
          </a:p>
          <a:p>
            <a:pPr>
              <a:buNone/>
            </a:pPr>
            <a:r>
              <a:rPr lang="en-US" sz="2400" b="1" dirty="0"/>
              <a:t>Note:</a:t>
            </a:r>
            <a:br>
              <a:rPr lang="en-US" sz="2400" dirty="0"/>
            </a:br>
            <a:r>
              <a:rPr lang="en-US" sz="2400" dirty="0"/>
              <a:t>You only need to call </a:t>
            </a:r>
            <a:r>
              <a:rPr lang="en-US" sz="2400" dirty="0" err="1"/>
              <a:t>Serial.begin</a:t>
            </a:r>
            <a:r>
              <a:rPr lang="en-US" sz="2400" dirty="0"/>
              <a:t>() </a:t>
            </a:r>
            <a:r>
              <a:rPr lang="en-US" sz="2400" b="1" dirty="0"/>
              <a:t>once</a:t>
            </a:r>
            <a:r>
              <a:rPr lang="en-US" sz="2400" dirty="0"/>
              <a:t> inside setup().</a:t>
            </a:r>
            <a:br>
              <a:rPr lang="en-US" sz="2400" dirty="0"/>
            </a:br>
            <a:r>
              <a:rPr lang="en-US" sz="2400" dirty="0"/>
              <a:t>Calling it multiple times will </a:t>
            </a:r>
            <a:r>
              <a:rPr lang="en-US" sz="2400" b="1" dirty="0"/>
              <a:t>reset</a:t>
            </a:r>
            <a:r>
              <a:rPr lang="en-US" sz="2400" dirty="0"/>
              <a:t> the UART configuration.</a:t>
            </a:r>
          </a:p>
        </p:txBody>
      </p:sp>
    </p:spTree>
    <p:extLst>
      <p:ext uri="{BB962C8B-B14F-4D97-AF65-F5344CB8AC3E}">
        <p14:creationId xmlns:p14="http://schemas.microsoft.com/office/powerpoint/2010/main" val="1822686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349B-4FCF-18AC-70FE-81799FEF3BD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42ABFF3-4081-457B-7F36-F7F9710DFC8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89588169-8859-2F60-1E78-E7F617437EB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B2A4C7B-FFAF-1F1F-E935-41DBD1CB8EE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2C66C05-8A93-6F81-FD9A-D38908A5240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484A032-9591-FD01-15EC-D1052340FC1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4741DB96-C00B-82F6-F2B7-CF8BF3C7E1E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7481C4AB-29D9-5E07-B104-9D2A5819677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D0E8CD45-EADB-2511-D845-AEFB780456AA}"/>
              </a:ext>
            </a:extLst>
          </p:cNvPr>
          <p:cNvSpPr txBox="1"/>
          <p:nvPr/>
        </p:nvSpPr>
        <p:spPr>
          <a:xfrm>
            <a:off x="377588" y="2258790"/>
            <a:ext cx="17148412" cy="1200329"/>
          </a:xfrm>
          <a:prstGeom prst="rect">
            <a:avLst/>
          </a:prstGeom>
          <a:noFill/>
        </p:spPr>
        <p:txBody>
          <a:bodyPr wrap="square">
            <a:spAutoFit/>
          </a:bodyPr>
          <a:lstStyle/>
          <a:p>
            <a:pPr>
              <a:buNone/>
            </a:pPr>
            <a:r>
              <a:rPr lang="en-US" sz="2400" dirty="0"/>
              <a:t>🧩 </a:t>
            </a:r>
            <a:r>
              <a:rPr lang="en-US" sz="2400" b="1" dirty="0"/>
              <a:t>1️⃣ </a:t>
            </a:r>
            <a:r>
              <a:rPr lang="en-US" sz="2400" b="1" dirty="0" err="1"/>
              <a:t>Serial.begin</a:t>
            </a:r>
            <a:r>
              <a:rPr lang="en-US" sz="2400" b="1" dirty="0"/>
              <a:t>(</a:t>
            </a:r>
            <a:r>
              <a:rPr lang="en-US" sz="2400" b="1" dirty="0" err="1"/>
              <a:t>baudrate</a:t>
            </a:r>
            <a:r>
              <a:rPr lang="en-US" sz="2400" b="1" dirty="0"/>
              <a:t>)</a:t>
            </a:r>
            <a:endParaRPr lang="en-US" sz="2400" dirty="0"/>
          </a:p>
          <a:p>
            <a:pPr>
              <a:buNone/>
            </a:pPr>
            <a:r>
              <a:rPr lang="en-US" sz="2400" dirty="0"/>
              <a:t>👉 </a:t>
            </a:r>
            <a:r>
              <a:rPr lang="en-US" sz="2400" b="1" dirty="0"/>
              <a:t>Purpose:</a:t>
            </a:r>
            <a:br>
              <a:rPr lang="en-US" sz="2400" dirty="0"/>
            </a:br>
            <a:r>
              <a:rPr lang="en-US" sz="2400" dirty="0"/>
              <a:t>Initializes UART communication between the Arduino and a computer (or another device) at a specified transmission speed (</a:t>
            </a:r>
            <a:r>
              <a:rPr lang="en-US" sz="2400" b="1" dirty="0" err="1"/>
              <a:t>baudrate</a:t>
            </a:r>
            <a:r>
              <a:rPr lang="en-US" sz="2400" dirty="0"/>
              <a:t>).</a:t>
            </a:r>
          </a:p>
        </p:txBody>
      </p:sp>
      <p:pic>
        <p:nvPicPr>
          <p:cNvPr id="17" name="Picture 16">
            <a:extLst>
              <a:ext uri="{FF2B5EF4-FFF2-40B4-BE49-F238E27FC236}">
                <a16:creationId xmlns:a16="http://schemas.microsoft.com/office/drawing/2014/main" id="{C2F14EB0-3A49-A3DD-27CF-349064FDD65C}"/>
              </a:ext>
            </a:extLst>
          </p:cNvPr>
          <p:cNvPicPr>
            <a:picLocks noChangeAspect="1"/>
          </p:cNvPicPr>
          <p:nvPr/>
        </p:nvPicPr>
        <p:blipFill>
          <a:blip r:embed="rId3"/>
          <a:stretch>
            <a:fillRect/>
          </a:stretch>
        </p:blipFill>
        <p:spPr>
          <a:xfrm>
            <a:off x="1467978" y="3545384"/>
            <a:ext cx="15047244" cy="1308456"/>
          </a:xfrm>
          <a:prstGeom prst="rect">
            <a:avLst/>
          </a:prstGeom>
        </p:spPr>
      </p:pic>
      <p:pic>
        <p:nvPicPr>
          <p:cNvPr id="19" name="Picture 18">
            <a:extLst>
              <a:ext uri="{FF2B5EF4-FFF2-40B4-BE49-F238E27FC236}">
                <a16:creationId xmlns:a16="http://schemas.microsoft.com/office/drawing/2014/main" id="{13434A2D-9236-C354-DEF1-69FF9DFB9EEF}"/>
              </a:ext>
            </a:extLst>
          </p:cNvPr>
          <p:cNvPicPr>
            <a:picLocks noChangeAspect="1"/>
          </p:cNvPicPr>
          <p:nvPr/>
        </p:nvPicPr>
        <p:blipFill>
          <a:blip r:embed="rId4"/>
          <a:stretch>
            <a:fillRect/>
          </a:stretch>
        </p:blipFill>
        <p:spPr>
          <a:xfrm>
            <a:off x="3200400" y="4849235"/>
            <a:ext cx="11363325" cy="5094430"/>
          </a:xfrm>
          <a:prstGeom prst="rect">
            <a:avLst/>
          </a:prstGeom>
        </p:spPr>
      </p:pic>
    </p:spTree>
    <p:extLst>
      <p:ext uri="{BB962C8B-B14F-4D97-AF65-F5344CB8AC3E}">
        <p14:creationId xmlns:p14="http://schemas.microsoft.com/office/powerpoint/2010/main" val="2478095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BE81F-5C9F-EE13-DAE4-BBE8045D2F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E0E9D45-442C-9AAD-5AE7-7333FE2EDCD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1BE3D988-337C-2289-7AB4-651218589AE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C89C615-77C9-1EB0-E4A0-681C5657FAB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37A0B71-2EF6-301A-5500-B3FAFAF0780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18E5727-2516-E8B0-7931-70116C0DCB63}"/>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EFA2294C-9530-F112-5AFC-A2932DCAA5F6}"/>
              </a:ext>
            </a:extLst>
          </p:cNvPr>
          <p:cNvSpPr txBox="1"/>
          <p:nvPr/>
        </p:nvSpPr>
        <p:spPr>
          <a:xfrm>
            <a:off x="4568253" y="4723726"/>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684A2F57-AB64-7F52-7059-A539628D9D0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F0E77F20-F843-20FF-DBB6-3335BE6A362E}"/>
              </a:ext>
            </a:extLst>
          </p:cNvPr>
          <p:cNvSpPr txBox="1"/>
          <p:nvPr/>
        </p:nvSpPr>
        <p:spPr>
          <a:xfrm>
            <a:off x="377588" y="2258790"/>
            <a:ext cx="17148412" cy="1938992"/>
          </a:xfrm>
          <a:prstGeom prst="rect">
            <a:avLst/>
          </a:prstGeom>
          <a:noFill/>
        </p:spPr>
        <p:txBody>
          <a:bodyPr wrap="square">
            <a:spAutoFit/>
          </a:bodyPr>
          <a:lstStyle/>
          <a:p>
            <a:r>
              <a:rPr lang="en-US" sz="3000" dirty="0"/>
              <a:t>🧩  </a:t>
            </a:r>
            <a:r>
              <a:rPr lang="en-US" sz="3000" b="1" dirty="0"/>
              <a:t>When only the baud rate is passed (for example </a:t>
            </a:r>
            <a:r>
              <a:rPr lang="en-US" sz="3000" b="1" dirty="0" err="1"/>
              <a:t>Serial.begin</a:t>
            </a:r>
            <a:r>
              <a:rPr lang="en-US" sz="3000" b="1" dirty="0"/>
              <a:t>(9600);)</a:t>
            </a:r>
            <a:endParaRPr lang="en-US" sz="3000" dirty="0"/>
          </a:p>
          <a:p>
            <a:r>
              <a:rPr lang="en-US" sz="3000" dirty="0"/>
              <a:t>→ Arduino will use the </a:t>
            </a:r>
            <a:r>
              <a:rPr lang="en-US" sz="3000" b="1" dirty="0"/>
              <a:t>default UART configuration</a:t>
            </a:r>
            <a:r>
              <a:rPr lang="en-US" sz="3000" dirty="0"/>
              <a:t>.</a:t>
            </a:r>
          </a:p>
          <a:p>
            <a:r>
              <a:rPr lang="en-US" sz="3000" dirty="0"/>
              <a:t>✅ </a:t>
            </a:r>
            <a:r>
              <a:rPr lang="en-US" sz="3000" b="1" dirty="0"/>
              <a:t>Default configuration:</a:t>
            </a:r>
          </a:p>
          <a:p>
            <a:endParaRPr lang="en-US" sz="3000" dirty="0"/>
          </a:p>
        </p:txBody>
      </p:sp>
      <p:pic>
        <p:nvPicPr>
          <p:cNvPr id="10" name="Picture 9">
            <a:extLst>
              <a:ext uri="{FF2B5EF4-FFF2-40B4-BE49-F238E27FC236}">
                <a16:creationId xmlns:a16="http://schemas.microsoft.com/office/drawing/2014/main" id="{D767DDED-C161-F23B-9D7F-863595B7D2BA}"/>
              </a:ext>
            </a:extLst>
          </p:cNvPr>
          <p:cNvPicPr>
            <a:picLocks noChangeAspect="1"/>
          </p:cNvPicPr>
          <p:nvPr/>
        </p:nvPicPr>
        <p:blipFill>
          <a:blip r:embed="rId3"/>
          <a:stretch>
            <a:fillRect/>
          </a:stretch>
        </p:blipFill>
        <p:spPr>
          <a:xfrm>
            <a:off x="3352800" y="3892017"/>
            <a:ext cx="13030200" cy="4109816"/>
          </a:xfrm>
          <a:prstGeom prst="rect">
            <a:avLst/>
          </a:prstGeom>
        </p:spPr>
      </p:pic>
      <p:sp>
        <p:nvSpPr>
          <p:cNvPr id="13" name="TextBox 12">
            <a:extLst>
              <a:ext uri="{FF2B5EF4-FFF2-40B4-BE49-F238E27FC236}">
                <a16:creationId xmlns:a16="http://schemas.microsoft.com/office/drawing/2014/main" id="{CD44EF9B-7E32-B82F-E420-E5CAE7A70450}"/>
              </a:ext>
            </a:extLst>
          </p:cNvPr>
          <p:cNvSpPr txBox="1"/>
          <p:nvPr/>
        </p:nvSpPr>
        <p:spPr>
          <a:xfrm>
            <a:off x="769748" y="8527777"/>
            <a:ext cx="16002000" cy="1015663"/>
          </a:xfrm>
          <a:prstGeom prst="rect">
            <a:avLst/>
          </a:prstGeom>
          <a:noFill/>
        </p:spPr>
        <p:txBody>
          <a:bodyPr wrap="square">
            <a:spAutoFit/>
          </a:bodyPr>
          <a:lstStyle/>
          <a:p>
            <a:pPr>
              <a:buNone/>
            </a:pPr>
            <a:r>
              <a:rPr lang="en-US" sz="3000" dirty="0"/>
              <a:t>➡️ That means:</a:t>
            </a:r>
            <a:br>
              <a:rPr lang="en-US" sz="3000" dirty="0"/>
            </a:br>
            <a:r>
              <a:rPr lang="en-US" sz="3000" dirty="0" err="1">
                <a:latin typeface="Courier New" panose="02070309020205020404" pitchFamily="49" charset="0"/>
              </a:rPr>
              <a:t>Serial.begin</a:t>
            </a:r>
            <a:r>
              <a:rPr lang="en-US" sz="3000" dirty="0">
                <a:latin typeface="Courier New" panose="02070309020205020404" pitchFamily="49" charset="0"/>
              </a:rPr>
              <a:t>(9600);</a:t>
            </a:r>
            <a:r>
              <a:rPr lang="en-US" sz="3000" dirty="0"/>
              <a:t> = </a:t>
            </a:r>
            <a:r>
              <a:rPr lang="en-US" sz="3000" dirty="0" err="1">
                <a:latin typeface="Courier New" panose="02070309020205020404" pitchFamily="49" charset="0"/>
              </a:rPr>
              <a:t>Serial.begin</a:t>
            </a:r>
            <a:r>
              <a:rPr lang="en-US" sz="3000" dirty="0">
                <a:latin typeface="Courier New" panose="02070309020205020404" pitchFamily="49" charset="0"/>
              </a:rPr>
              <a:t>(9600, SERIAL_8N1);</a:t>
            </a:r>
            <a:endParaRPr lang="en-US" sz="3000" dirty="0"/>
          </a:p>
        </p:txBody>
      </p:sp>
    </p:spTree>
    <p:extLst>
      <p:ext uri="{BB962C8B-B14F-4D97-AF65-F5344CB8AC3E}">
        <p14:creationId xmlns:p14="http://schemas.microsoft.com/office/powerpoint/2010/main" val="1037486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1305-2FD5-B0CF-3A70-35144A9B1FA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3210F3A-7AEB-20FC-9CB9-932143BD2C30}"/>
              </a:ext>
            </a:extLst>
          </p:cNvPr>
          <p:cNvPicPr>
            <a:picLocks noChangeAspect="1"/>
          </p:cNvPicPr>
          <p:nvPr/>
        </p:nvPicPr>
        <p:blipFill>
          <a:blip r:embed="rId3"/>
          <a:stretch>
            <a:fillRect/>
          </a:stretch>
        </p:blipFill>
        <p:spPr>
          <a:xfrm>
            <a:off x="384515" y="3305505"/>
            <a:ext cx="8385412" cy="6976217"/>
          </a:xfrm>
          <a:prstGeom prst="rect">
            <a:avLst/>
          </a:prstGeom>
        </p:spPr>
      </p:pic>
      <p:sp>
        <p:nvSpPr>
          <p:cNvPr id="5" name="Title 1">
            <a:extLst>
              <a:ext uri="{FF2B5EF4-FFF2-40B4-BE49-F238E27FC236}">
                <a16:creationId xmlns:a16="http://schemas.microsoft.com/office/drawing/2014/main" id="{50324DFF-55EB-E7DA-08AB-528EB819C67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386C16DF-2E94-23F7-10F3-612E708A8A2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87A2BE1-9350-F828-C07A-B1E3FFE1BCD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A5094B3-7865-B12B-3018-B14F7F43E75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CF1622C-AB75-F071-F3B8-2FD110C9B4A6}"/>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36BD65C2-F141-AD84-8633-C9C49C78CCC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C784D65B-9BFA-E8B2-1E17-91155754E3F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90E24B29-EFE8-1B34-4798-9E67002C0E60}"/>
              </a:ext>
            </a:extLst>
          </p:cNvPr>
          <p:cNvSpPr txBox="1"/>
          <p:nvPr/>
        </p:nvSpPr>
        <p:spPr>
          <a:xfrm>
            <a:off x="377588" y="2258790"/>
            <a:ext cx="17148412" cy="1200329"/>
          </a:xfrm>
          <a:prstGeom prst="rect">
            <a:avLst/>
          </a:prstGeom>
          <a:noFill/>
        </p:spPr>
        <p:txBody>
          <a:bodyPr wrap="square">
            <a:spAutoFit/>
          </a:bodyPr>
          <a:lstStyle/>
          <a:p>
            <a:r>
              <a:rPr lang="en-US" sz="2400" dirty="0"/>
              <a:t>🧩 </a:t>
            </a:r>
            <a:r>
              <a:rPr lang="en-US" sz="2400" b="1" dirty="0"/>
              <a:t>2️⃣ </a:t>
            </a:r>
            <a:r>
              <a:rPr lang="en-US" sz="2400" b="1" dirty="0" err="1"/>
              <a:t>Serial.print</a:t>
            </a:r>
            <a:r>
              <a:rPr lang="en-US" sz="2400" b="1" dirty="0"/>
              <a:t>()</a:t>
            </a:r>
            <a:endParaRPr lang="en-US" sz="2400" dirty="0"/>
          </a:p>
          <a:p>
            <a:r>
              <a:rPr lang="en-US" sz="2400" dirty="0"/>
              <a:t>👉 </a:t>
            </a:r>
            <a:r>
              <a:rPr lang="en-US" sz="2400" b="1" dirty="0"/>
              <a:t>Purpose:</a:t>
            </a:r>
            <a:br>
              <a:rPr lang="en-US" sz="2400" dirty="0"/>
            </a:br>
            <a:r>
              <a:rPr lang="en-US" sz="2400" dirty="0"/>
              <a:t>Sends text data (ASCII) to the Serial Monitor — </a:t>
            </a:r>
            <a:r>
              <a:rPr lang="en-US" sz="2400" b="1" dirty="0"/>
              <a:t>without adding a new line</a:t>
            </a:r>
            <a:r>
              <a:rPr lang="en-US" sz="2400" dirty="0"/>
              <a:t> at the end</a:t>
            </a:r>
          </a:p>
        </p:txBody>
      </p:sp>
      <p:pic>
        <p:nvPicPr>
          <p:cNvPr id="13" name="Picture 12">
            <a:extLst>
              <a:ext uri="{FF2B5EF4-FFF2-40B4-BE49-F238E27FC236}">
                <a16:creationId xmlns:a16="http://schemas.microsoft.com/office/drawing/2014/main" id="{BC99E821-9D4A-1D58-F421-FC59AA58B587}"/>
              </a:ext>
            </a:extLst>
          </p:cNvPr>
          <p:cNvPicPr>
            <a:picLocks noChangeAspect="1"/>
          </p:cNvPicPr>
          <p:nvPr/>
        </p:nvPicPr>
        <p:blipFill>
          <a:blip r:embed="rId4"/>
          <a:stretch>
            <a:fillRect/>
          </a:stretch>
        </p:blipFill>
        <p:spPr>
          <a:xfrm>
            <a:off x="9601200" y="3774810"/>
            <a:ext cx="6836840" cy="3418420"/>
          </a:xfrm>
          <a:prstGeom prst="rect">
            <a:avLst/>
          </a:prstGeom>
        </p:spPr>
      </p:pic>
      <p:pic>
        <p:nvPicPr>
          <p:cNvPr id="15" name="Picture 14">
            <a:extLst>
              <a:ext uri="{FF2B5EF4-FFF2-40B4-BE49-F238E27FC236}">
                <a16:creationId xmlns:a16="http://schemas.microsoft.com/office/drawing/2014/main" id="{251A63B1-AC7D-9940-A0C2-A59B45F03239}"/>
              </a:ext>
            </a:extLst>
          </p:cNvPr>
          <p:cNvPicPr>
            <a:picLocks noChangeAspect="1"/>
          </p:cNvPicPr>
          <p:nvPr/>
        </p:nvPicPr>
        <p:blipFill>
          <a:blip r:embed="rId5"/>
          <a:stretch>
            <a:fillRect/>
          </a:stretch>
        </p:blipFill>
        <p:spPr>
          <a:xfrm>
            <a:off x="9126188" y="8126114"/>
            <a:ext cx="8740199" cy="1902531"/>
          </a:xfrm>
          <a:prstGeom prst="rect">
            <a:avLst/>
          </a:prstGeom>
        </p:spPr>
      </p:pic>
    </p:spTree>
    <p:extLst>
      <p:ext uri="{BB962C8B-B14F-4D97-AF65-F5344CB8AC3E}">
        <p14:creationId xmlns:p14="http://schemas.microsoft.com/office/powerpoint/2010/main" val="2512329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87A5-0DFF-E9DD-F14F-FBC5434B89E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2F5797A-76BA-9A6A-9ED6-EBEF263D631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0B713435-5023-4B9A-CD23-4264BB01C65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E7536FA-F2AD-7A7B-78FE-49688B14234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A04F3DD-45BE-A0A5-00A1-7DA904ECC92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0AFCA7F-84AE-BD6C-B254-8F9B6441342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DA1AE84-C853-B987-6550-B0A09F99239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8B528860-D5F0-AC4A-8E30-FDB9F610CF0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826D7F22-2240-5DBE-7528-AE3984E723D5}"/>
              </a:ext>
            </a:extLst>
          </p:cNvPr>
          <p:cNvSpPr txBox="1"/>
          <p:nvPr/>
        </p:nvSpPr>
        <p:spPr>
          <a:xfrm>
            <a:off x="377588" y="2258790"/>
            <a:ext cx="17148412" cy="1477328"/>
          </a:xfrm>
          <a:prstGeom prst="rect">
            <a:avLst/>
          </a:prstGeom>
          <a:noFill/>
        </p:spPr>
        <p:txBody>
          <a:bodyPr wrap="square">
            <a:spAutoFit/>
          </a:bodyPr>
          <a:lstStyle/>
          <a:p>
            <a:r>
              <a:rPr lang="en-US" sz="3000" dirty="0"/>
              <a:t>🧩 </a:t>
            </a:r>
            <a:r>
              <a:rPr lang="en-US" sz="3000" b="1" dirty="0"/>
              <a:t>3️⃣ </a:t>
            </a:r>
            <a:r>
              <a:rPr lang="en-US" sz="3000" b="1" dirty="0" err="1"/>
              <a:t>Serial.println</a:t>
            </a:r>
            <a:r>
              <a:rPr lang="en-US" sz="3000" b="1" dirty="0"/>
              <a:t>()</a:t>
            </a:r>
            <a:endParaRPr lang="en-US" sz="3000" dirty="0"/>
          </a:p>
          <a:p>
            <a:r>
              <a:rPr lang="en-US" sz="3000" dirty="0"/>
              <a:t>👉 </a:t>
            </a:r>
            <a:r>
              <a:rPr lang="en-US" sz="3000" b="1" dirty="0"/>
              <a:t>Purpose:</a:t>
            </a:r>
            <a:br>
              <a:rPr lang="en-US" sz="3000" dirty="0"/>
            </a:br>
            <a:r>
              <a:rPr lang="en-US" sz="3000" dirty="0"/>
              <a:t>Works like </a:t>
            </a:r>
            <a:r>
              <a:rPr lang="en-US" sz="3000" dirty="0" err="1"/>
              <a:t>Serial.print</a:t>
            </a:r>
            <a:r>
              <a:rPr lang="en-US" sz="3000" dirty="0"/>
              <a:t>(), but </a:t>
            </a:r>
            <a:r>
              <a:rPr lang="en-US" sz="3000" b="1" dirty="0"/>
              <a:t>automatically adds a newline character (\r\n)</a:t>
            </a:r>
            <a:r>
              <a:rPr lang="en-US" sz="3000" dirty="0"/>
              <a:t> after printing.</a:t>
            </a:r>
          </a:p>
        </p:txBody>
      </p:sp>
      <p:pic>
        <p:nvPicPr>
          <p:cNvPr id="11" name="Picture 10">
            <a:extLst>
              <a:ext uri="{FF2B5EF4-FFF2-40B4-BE49-F238E27FC236}">
                <a16:creationId xmlns:a16="http://schemas.microsoft.com/office/drawing/2014/main" id="{E4FA2485-FAD7-44DE-52B9-D5C8E7608982}"/>
              </a:ext>
            </a:extLst>
          </p:cNvPr>
          <p:cNvPicPr>
            <a:picLocks noChangeAspect="1"/>
          </p:cNvPicPr>
          <p:nvPr/>
        </p:nvPicPr>
        <p:blipFill>
          <a:blip r:embed="rId3"/>
          <a:stretch>
            <a:fillRect/>
          </a:stretch>
        </p:blipFill>
        <p:spPr>
          <a:xfrm>
            <a:off x="533400" y="3736118"/>
            <a:ext cx="9742653" cy="6374620"/>
          </a:xfrm>
          <a:prstGeom prst="rect">
            <a:avLst/>
          </a:prstGeom>
        </p:spPr>
      </p:pic>
    </p:spTree>
    <p:extLst>
      <p:ext uri="{BB962C8B-B14F-4D97-AF65-F5344CB8AC3E}">
        <p14:creationId xmlns:p14="http://schemas.microsoft.com/office/powerpoint/2010/main" val="352486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C504-9AAA-79C3-BB5B-7060D4E76C4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FA8D0D2-5A35-77C3-017B-3221A40A3BF5}"/>
              </a:ext>
            </a:extLst>
          </p:cNvPr>
          <p:cNvPicPr>
            <a:picLocks noChangeAspect="1"/>
          </p:cNvPicPr>
          <p:nvPr/>
        </p:nvPicPr>
        <p:blipFill>
          <a:blip r:embed="rId3"/>
          <a:stretch>
            <a:fillRect/>
          </a:stretch>
        </p:blipFill>
        <p:spPr>
          <a:xfrm>
            <a:off x="377588" y="3633915"/>
            <a:ext cx="9996487" cy="5443465"/>
          </a:xfrm>
          <a:prstGeom prst="rect">
            <a:avLst/>
          </a:prstGeom>
        </p:spPr>
      </p:pic>
      <p:sp>
        <p:nvSpPr>
          <p:cNvPr id="5" name="Title 1">
            <a:extLst>
              <a:ext uri="{FF2B5EF4-FFF2-40B4-BE49-F238E27FC236}">
                <a16:creationId xmlns:a16="http://schemas.microsoft.com/office/drawing/2014/main" id="{DAFFFA73-CBC8-FB91-0A2B-EBEFCBFAD9A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A13A9422-FFC8-7E43-5510-1CB2F2FE323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E48DC406-2F58-B83D-90AF-AD21FD9B03E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CBD7872-3799-25FB-70C9-09EAF75985C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40FC7C1-99BD-8871-8BD0-5866B1CA464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F4FB38D-FD9C-3E78-2F02-7D244C0420F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D8232ADF-939F-1D63-426B-6C0342BBCEB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7AF60F96-D9B3-467E-76C1-7EA5FE45A835}"/>
              </a:ext>
            </a:extLst>
          </p:cNvPr>
          <p:cNvSpPr txBox="1"/>
          <p:nvPr/>
        </p:nvSpPr>
        <p:spPr>
          <a:xfrm>
            <a:off x="377588" y="2258790"/>
            <a:ext cx="17148412" cy="1200329"/>
          </a:xfrm>
          <a:prstGeom prst="rect">
            <a:avLst/>
          </a:prstGeom>
          <a:noFill/>
        </p:spPr>
        <p:txBody>
          <a:bodyPr wrap="square">
            <a:spAutoFit/>
          </a:bodyPr>
          <a:lstStyle/>
          <a:p>
            <a:r>
              <a:rPr lang="en-US" sz="2400" dirty="0"/>
              <a:t>🧩 </a:t>
            </a:r>
            <a:r>
              <a:rPr lang="en-US" sz="2400" b="1" dirty="0"/>
              <a:t>4️⃣ </a:t>
            </a:r>
            <a:r>
              <a:rPr lang="en-US" sz="2400" b="1" dirty="0" err="1"/>
              <a:t>Serial.available</a:t>
            </a:r>
            <a:r>
              <a:rPr lang="en-US" sz="2400" b="1" dirty="0"/>
              <a:t>()</a:t>
            </a:r>
            <a:endParaRPr lang="en-US" sz="2400" dirty="0"/>
          </a:p>
          <a:p>
            <a:r>
              <a:rPr lang="en-US" sz="2400" dirty="0"/>
              <a:t>👉 </a:t>
            </a:r>
            <a:r>
              <a:rPr lang="en-US" sz="2400" b="1" dirty="0"/>
              <a:t>Purpose:</a:t>
            </a:r>
            <a:br>
              <a:rPr lang="en-US" sz="2400" dirty="0"/>
            </a:br>
            <a:r>
              <a:rPr lang="en-US" sz="2400" dirty="0"/>
              <a:t>Checks if there is incoming data from UART (i.e., whether the RX buffer contains any data).</a:t>
            </a:r>
          </a:p>
        </p:txBody>
      </p:sp>
      <p:pic>
        <p:nvPicPr>
          <p:cNvPr id="16" name="Picture 15">
            <a:extLst>
              <a:ext uri="{FF2B5EF4-FFF2-40B4-BE49-F238E27FC236}">
                <a16:creationId xmlns:a16="http://schemas.microsoft.com/office/drawing/2014/main" id="{4E3A8A8E-8327-2A4F-4261-B79A63D6F045}"/>
              </a:ext>
            </a:extLst>
          </p:cNvPr>
          <p:cNvPicPr>
            <a:picLocks noChangeAspect="1"/>
          </p:cNvPicPr>
          <p:nvPr/>
        </p:nvPicPr>
        <p:blipFill>
          <a:blip r:embed="rId4"/>
          <a:stretch>
            <a:fillRect/>
          </a:stretch>
        </p:blipFill>
        <p:spPr>
          <a:xfrm>
            <a:off x="10522065" y="3861958"/>
            <a:ext cx="7765935" cy="3758184"/>
          </a:xfrm>
          <a:prstGeom prst="rect">
            <a:avLst/>
          </a:prstGeom>
        </p:spPr>
      </p:pic>
    </p:spTree>
    <p:extLst>
      <p:ext uri="{BB962C8B-B14F-4D97-AF65-F5344CB8AC3E}">
        <p14:creationId xmlns:p14="http://schemas.microsoft.com/office/powerpoint/2010/main" val="2828629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F248-9345-ECF0-8F6F-BB8F0E90F97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36229BE-3211-6E80-06A9-9AE6C89A6C2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B898A666-121D-8591-7A9F-8C0EBF7515A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67476A6-87BB-0F48-6953-FFEFE3944F8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51575FC-0173-A07B-9008-D0FABF92156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D87D7D1-C328-D9A6-6EA6-E203DD82DD8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67BE3F8F-08AB-AD94-937B-2221B4CCF9F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83323ACB-C382-65F3-C72B-C6271BE0FAA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7AD6E44C-F5ED-1E03-A47F-7751BD7A22DE}"/>
              </a:ext>
            </a:extLst>
          </p:cNvPr>
          <p:cNvSpPr txBox="1"/>
          <p:nvPr/>
        </p:nvSpPr>
        <p:spPr>
          <a:xfrm>
            <a:off x="351692" y="2092556"/>
            <a:ext cx="17148412" cy="7294305"/>
          </a:xfrm>
          <a:prstGeom prst="rect">
            <a:avLst/>
          </a:prstGeom>
          <a:noFill/>
        </p:spPr>
        <p:txBody>
          <a:bodyPr wrap="square">
            <a:spAutoFit/>
          </a:bodyPr>
          <a:lstStyle/>
          <a:p>
            <a:r>
              <a:rPr lang="en-US" sz="2600" dirty="0"/>
              <a:t>🧩 2️⃣ </a:t>
            </a:r>
            <a:r>
              <a:rPr lang="en-US" sz="2600" b="1" dirty="0" err="1"/>
              <a:t>Serial.available</a:t>
            </a:r>
            <a:r>
              <a:rPr lang="en-US" sz="2600" b="1" dirty="0"/>
              <a:t>()</a:t>
            </a:r>
            <a:endParaRPr lang="en-US" sz="2600" dirty="0"/>
          </a:p>
          <a:p>
            <a:r>
              <a:rPr lang="en-US" sz="2600" dirty="0"/>
              <a:t>🧠 </a:t>
            </a:r>
            <a:r>
              <a:rPr lang="en-US" sz="2600" b="1" dirty="0"/>
              <a:t>Function:</a:t>
            </a:r>
            <a:br>
              <a:rPr lang="en-US" sz="2600" dirty="0"/>
            </a:br>
            <a:r>
              <a:rPr lang="en-US" sz="2600" dirty="0"/>
              <a:t>Checks how many bytes of data are waiting in the receive buffer (RX buffer).</a:t>
            </a:r>
          </a:p>
          <a:p>
            <a:r>
              <a:rPr lang="en-US" sz="2600" dirty="0"/>
              <a:t>🧱 </a:t>
            </a:r>
            <a:r>
              <a:rPr lang="en-US" sz="2600" b="1" dirty="0"/>
              <a:t>Syntax:</a:t>
            </a:r>
            <a:endParaRPr lang="en-US" sz="2600" dirty="0"/>
          </a:p>
          <a:p>
            <a:pPr lvl="6"/>
            <a:r>
              <a:rPr lang="en-US" sz="2600" b="1" dirty="0" err="1"/>
              <a:t>Serial.available</a:t>
            </a:r>
            <a:r>
              <a:rPr lang="en-US" sz="2600" b="1" dirty="0"/>
              <a:t>()</a:t>
            </a:r>
          </a:p>
          <a:p>
            <a:r>
              <a:rPr lang="en-US" sz="2600" dirty="0"/>
              <a:t>💡 </a:t>
            </a:r>
            <a:r>
              <a:rPr lang="en-US" sz="2600" b="1" dirty="0"/>
              <a:t>Returns:</a:t>
            </a:r>
            <a:br>
              <a:rPr lang="en-US" sz="2600" dirty="0"/>
            </a:br>
            <a:r>
              <a:rPr lang="en-US" sz="2600" dirty="0"/>
              <a:t>The number of bytes available in the RX buffer (type: int).</a:t>
            </a:r>
            <a:br>
              <a:rPr lang="en-US" sz="2600" dirty="0"/>
            </a:br>
            <a:r>
              <a:rPr lang="en-US" sz="2600" dirty="0"/>
              <a:t>If no data is available, it returns 0.</a:t>
            </a:r>
          </a:p>
          <a:p>
            <a:r>
              <a:rPr lang="en-US" sz="2600" dirty="0"/>
              <a:t>📤 </a:t>
            </a:r>
            <a:r>
              <a:rPr lang="en-US" sz="2600" b="1" dirty="0"/>
              <a:t>Example:</a:t>
            </a:r>
            <a:endParaRPr lang="en-US" sz="2600" dirty="0"/>
          </a:p>
          <a:p>
            <a:pPr lvl="6"/>
            <a:r>
              <a:rPr lang="en-US" sz="2600" b="1" dirty="0"/>
              <a:t>void loop() {</a:t>
            </a:r>
          </a:p>
          <a:p>
            <a:pPr lvl="6"/>
            <a:r>
              <a:rPr lang="en-US" sz="2600" b="1" dirty="0"/>
              <a:t>  if (</a:t>
            </a:r>
            <a:r>
              <a:rPr lang="en-US" sz="2600" b="1" dirty="0" err="1"/>
              <a:t>Serial.available</a:t>
            </a:r>
            <a:r>
              <a:rPr lang="en-US" sz="2600" b="1" dirty="0"/>
              <a:t>() &gt; 0) {</a:t>
            </a:r>
          </a:p>
          <a:p>
            <a:pPr lvl="6"/>
            <a:r>
              <a:rPr lang="en-US" sz="2600" b="1" dirty="0"/>
              <a:t>    </a:t>
            </a:r>
            <a:r>
              <a:rPr lang="en-US" sz="2600" b="1" dirty="0" err="1"/>
              <a:t>Serial.println</a:t>
            </a:r>
            <a:r>
              <a:rPr lang="en-US" sz="2600" b="1" dirty="0"/>
              <a:t>("New data available in UART!");</a:t>
            </a:r>
          </a:p>
          <a:p>
            <a:pPr lvl="6"/>
            <a:r>
              <a:rPr lang="en-US" sz="2600" b="1" dirty="0"/>
              <a:t>  }</a:t>
            </a:r>
          </a:p>
          <a:p>
            <a:pPr lvl="6"/>
            <a:r>
              <a:rPr lang="en-US" sz="2600" b="1" dirty="0"/>
              <a:t>}</a:t>
            </a:r>
          </a:p>
          <a:p>
            <a:r>
              <a:rPr lang="en-US" sz="2600" dirty="0"/>
              <a:t>🔍 </a:t>
            </a:r>
            <a:r>
              <a:rPr lang="en-US" sz="2600" b="1" dirty="0"/>
              <a:t>How it works:</a:t>
            </a:r>
            <a:br>
              <a:rPr lang="en-US" sz="2600" dirty="0"/>
            </a:br>
            <a:r>
              <a:rPr lang="en-US" sz="2600" dirty="0"/>
              <a:t>When a device sends data through UART → Arduino automatically stores that byte into the RX buffer (a temporary 64-byte memory area).</a:t>
            </a:r>
            <a:br>
              <a:rPr lang="en-US" sz="2600" dirty="0"/>
            </a:br>
            <a:r>
              <a:rPr lang="en-US" sz="2600" dirty="0"/>
              <a:t>The function </a:t>
            </a:r>
            <a:r>
              <a:rPr lang="en-US" sz="2600" dirty="0" err="1"/>
              <a:t>Serial.available</a:t>
            </a:r>
            <a:r>
              <a:rPr lang="en-US" sz="2600" dirty="0"/>
              <a:t>() simply counts how many bytes are currently waiting to be read in that buffer.</a:t>
            </a:r>
          </a:p>
        </p:txBody>
      </p:sp>
    </p:spTree>
    <p:extLst>
      <p:ext uri="{BB962C8B-B14F-4D97-AF65-F5344CB8AC3E}">
        <p14:creationId xmlns:p14="http://schemas.microsoft.com/office/powerpoint/2010/main" val="1257169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06216-147C-8A29-1301-059C619010D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7BC4758-C980-0DD3-76D8-C7DF928C812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983BD9D4-3A5A-BABC-FEF4-58C6B3B11B5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389167F-CEFD-86BD-8580-531C0243FB1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CB6853E-1562-B166-1CF4-59D79CAF850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1A55999-05EB-AAA9-9FBA-4F3D00D4981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B83DE5F7-60D8-24B8-803A-76ED114F5E7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7F1AAD6C-E00B-46F0-76F1-A566CE37685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4125AC9A-5D0B-4612-69CF-676E5E16CFF9}"/>
              </a:ext>
            </a:extLst>
          </p:cNvPr>
          <p:cNvPicPr>
            <a:picLocks noChangeAspect="1"/>
          </p:cNvPicPr>
          <p:nvPr/>
        </p:nvPicPr>
        <p:blipFill>
          <a:blip r:embed="rId3"/>
          <a:stretch>
            <a:fillRect/>
          </a:stretch>
        </p:blipFill>
        <p:spPr>
          <a:xfrm>
            <a:off x="3496648" y="1951891"/>
            <a:ext cx="10858500" cy="7886157"/>
          </a:xfrm>
          <a:prstGeom prst="rect">
            <a:avLst/>
          </a:prstGeom>
        </p:spPr>
      </p:pic>
    </p:spTree>
    <p:extLst>
      <p:ext uri="{BB962C8B-B14F-4D97-AF65-F5344CB8AC3E}">
        <p14:creationId xmlns:p14="http://schemas.microsoft.com/office/powerpoint/2010/main" val="1882394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067A-10A2-C182-6C16-06D6815520C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394E32D-0FB9-8588-8285-35D9992D442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EB47D43E-B4C0-F485-1A9D-050B4F019FB7}"/>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B980A17-BBBC-0E01-3FE0-9EF5F81B226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0C75672-F1E2-CBA2-C777-028FFA0FE90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F21F240-BECA-D237-BA4E-6D4C68579C8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8A487915-EDDB-10D6-4839-DC56334D760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181066B9-29A4-C932-4257-36D0A17ACDD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9BAA6940-2511-0362-3509-8CEF7A80CCC7}"/>
              </a:ext>
            </a:extLst>
          </p:cNvPr>
          <p:cNvSpPr txBox="1"/>
          <p:nvPr/>
        </p:nvSpPr>
        <p:spPr>
          <a:xfrm>
            <a:off x="351692" y="2092556"/>
            <a:ext cx="17148412" cy="7402026"/>
          </a:xfrm>
          <a:prstGeom prst="rect">
            <a:avLst/>
          </a:prstGeom>
          <a:noFill/>
        </p:spPr>
        <p:txBody>
          <a:bodyPr wrap="square">
            <a:spAutoFit/>
          </a:bodyPr>
          <a:lstStyle/>
          <a:p>
            <a:r>
              <a:rPr lang="en-US" sz="2500" dirty="0"/>
              <a:t>🧩 3️⃣ </a:t>
            </a:r>
            <a:r>
              <a:rPr lang="en-US" sz="2500" dirty="0" err="1"/>
              <a:t>Serial.read</a:t>
            </a:r>
            <a:r>
              <a:rPr lang="en-US" sz="2500" dirty="0"/>
              <a:t>()</a:t>
            </a:r>
            <a:br>
              <a:rPr lang="en-US" sz="2500" dirty="0"/>
            </a:br>
            <a:r>
              <a:rPr lang="en-US" sz="2500" dirty="0"/>
              <a:t>🧠 Function:</a:t>
            </a:r>
          </a:p>
          <a:p>
            <a:r>
              <a:rPr lang="en-US" sz="2500" dirty="0"/>
              <a:t>Reads </a:t>
            </a:r>
            <a:r>
              <a:rPr lang="en-US" sz="2500" b="1" dirty="0"/>
              <a:t>one byte</a:t>
            </a:r>
            <a:r>
              <a:rPr lang="en-US" sz="2500" dirty="0"/>
              <a:t> of data from the receive buffer (RX buffer).</a:t>
            </a:r>
          </a:p>
          <a:p>
            <a:r>
              <a:rPr lang="en-US" sz="2500" dirty="0"/>
              <a:t>🧱 Syntax:</a:t>
            </a:r>
            <a:br>
              <a:rPr lang="en-US" sz="2500" dirty="0"/>
            </a:br>
            <a:r>
              <a:rPr lang="en-US" sz="2500" dirty="0"/>
              <a:t>			 </a:t>
            </a:r>
            <a:r>
              <a:rPr lang="en-US" sz="2500" b="1" dirty="0" err="1"/>
              <a:t>Serial.read</a:t>
            </a:r>
            <a:r>
              <a:rPr lang="en-US" sz="2500" b="1" dirty="0"/>
              <a:t>();</a:t>
            </a:r>
          </a:p>
          <a:p>
            <a:r>
              <a:rPr lang="en-US" sz="2500" dirty="0"/>
              <a:t>💡 Returns:</a:t>
            </a:r>
          </a:p>
          <a:p>
            <a:r>
              <a:rPr lang="en-US" sz="2500" dirty="0"/>
              <a:t>An </a:t>
            </a:r>
            <a:r>
              <a:rPr lang="en-US" sz="2500" b="1" dirty="0"/>
              <a:t>int</a:t>
            </a:r>
            <a:r>
              <a:rPr lang="en-US" sz="2500" dirty="0"/>
              <a:t> value (0–255) corresponding to the byte read.</a:t>
            </a:r>
          </a:p>
          <a:p>
            <a:r>
              <a:rPr lang="en-US" sz="2500" dirty="0"/>
              <a:t>If no data is available, it returns </a:t>
            </a:r>
            <a:r>
              <a:rPr lang="en-US" sz="2500" b="1" dirty="0"/>
              <a:t>-1</a:t>
            </a:r>
            <a:r>
              <a:rPr lang="en-US" sz="2500" dirty="0"/>
              <a:t>.</a:t>
            </a:r>
          </a:p>
          <a:p>
            <a:r>
              <a:rPr lang="en-US" sz="2500" dirty="0"/>
              <a:t>📤 Example:</a:t>
            </a:r>
          </a:p>
          <a:p>
            <a:pPr lvl="7"/>
            <a:r>
              <a:rPr lang="en-US" sz="2500" b="1" dirty="0"/>
              <a:t>void loop() {</a:t>
            </a:r>
          </a:p>
          <a:p>
            <a:pPr lvl="7"/>
            <a:r>
              <a:rPr lang="en-US" sz="2500" b="1" dirty="0"/>
              <a:t>  if (</a:t>
            </a:r>
            <a:r>
              <a:rPr lang="en-US" sz="2500" b="1" dirty="0" err="1"/>
              <a:t>Serial.available</a:t>
            </a:r>
            <a:r>
              <a:rPr lang="en-US" sz="2500" b="1" dirty="0"/>
              <a:t>() &gt; 0) {</a:t>
            </a:r>
          </a:p>
          <a:p>
            <a:pPr lvl="7"/>
            <a:r>
              <a:rPr lang="en-US" sz="2500" b="1" dirty="0"/>
              <a:t>    int data = </a:t>
            </a:r>
            <a:r>
              <a:rPr lang="en-US" sz="2500" b="1" dirty="0" err="1"/>
              <a:t>Serial.read</a:t>
            </a:r>
            <a:r>
              <a:rPr lang="en-US" sz="2500" b="1" dirty="0"/>
              <a:t>();       // read 1 byte</a:t>
            </a:r>
          </a:p>
          <a:p>
            <a:pPr lvl="7"/>
            <a:r>
              <a:rPr lang="en-US" sz="2500" b="1" dirty="0"/>
              <a:t>    </a:t>
            </a:r>
            <a:r>
              <a:rPr lang="en-US" sz="2500" b="1" dirty="0" err="1"/>
              <a:t>Serial.print</a:t>
            </a:r>
            <a:r>
              <a:rPr lang="en-US" sz="2500" b="1" dirty="0"/>
              <a:t>("Received: ");</a:t>
            </a:r>
          </a:p>
          <a:p>
            <a:pPr lvl="7"/>
            <a:r>
              <a:rPr lang="en-US" sz="2500" b="1" dirty="0"/>
              <a:t>    </a:t>
            </a:r>
            <a:r>
              <a:rPr lang="en-US" sz="2500" b="1" dirty="0" err="1"/>
              <a:t>Serial.println</a:t>
            </a:r>
            <a:r>
              <a:rPr lang="en-US" sz="2500" b="1" dirty="0"/>
              <a:t>((char)data);     // cast to char for display</a:t>
            </a:r>
          </a:p>
          <a:p>
            <a:pPr lvl="7"/>
            <a:r>
              <a:rPr lang="en-US" sz="2500" b="1" dirty="0"/>
              <a:t>  }</a:t>
            </a:r>
          </a:p>
          <a:p>
            <a:pPr lvl="7"/>
            <a:r>
              <a:rPr lang="en-US" sz="2500" b="1" dirty="0"/>
              <a:t>}</a:t>
            </a:r>
          </a:p>
          <a:p>
            <a:r>
              <a:rPr lang="en-US" sz="2500" dirty="0"/>
              <a:t>⚙️ Explanation:</a:t>
            </a:r>
          </a:p>
          <a:p>
            <a:r>
              <a:rPr lang="en-US" sz="2500" dirty="0"/>
              <a:t>Each time </a:t>
            </a:r>
            <a:r>
              <a:rPr lang="en-US" sz="2500" dirty="0" err="1"/>
              <a:t>Serial.read</a:t>
            </a:r>
            <a:r>
              <a:rPr lang="en-US" sz="2500" dirty="0"/>
              <a:t>() is called, </a:t>
            </a:r>
            <a:r>
              <a:rPr lang="en-US" sz="2500" b="1" dirty="0"/>
              <a:t>one byte</a:t>
            </a:r>
            <a:r>
              <a:rPr lang="en-US" sz="2500" dirty="0"/>
              <a:t> is removed from the RX buffer.</a:t>
            </a:r>
            <a:br>
              <a:rPr lang="en-US" sz="2500" dirty="0"/>
            </a:br>
            <a:r>
              <a:rPr lang="en-US" sz="2500" dirty="0"/>
              <a:t>If you keep reading when no new data is available → it returns </a:t>
            </a:r>
            <a:r>
              <a:rPr lang="en-US" sz="2500" b="1" dirty="0"/>
              <a:t>-1</a:t>
            </a:r>
            <a:r>
              <a:rPr lang="en-US" sz="2500" dirty="0"/>
              <a:t>.</a:t>
            </a:r>
          </a:p>
        </p:txBody>
      </p:sp>
    </p:spTree>
    <p:extLst>
      <p:ext uri="{BB962C8B-B14F-4D97-AF65-F5344CB8AC3E}">
        <p14:creationId xmlns:p14="http://schemas.microsoft.com/office/powerpoint/2010/main" val="2220163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2BA14-2607-6566-2471-4D154449CBA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C1071B5-FF01-5C3C-BDC4-D5BDE6AA9DB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18E9CC33-5B2B-26E3-F3DA-66BDB77D511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0B63AC5-FE1A-4E44-9F07-340C8C53D77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B45C10F-CFC7-6C54-B431-5B76D98348B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07AD0E4-FC38-EE27-458C-2D6C2666C15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355CF9D-33DC-F767-47EE-D5F2B125FFE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865D910-29C2-1C97-FE7F-88FEFA5AED8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94BFB624-3097-D8AE-E1E4-F3AB9F4F5666}"/>
              </a:ext>
            </a:extLst>
          </p:cNvPr>
          <p:cNvPicPr>
            <a:picLocks noChangeAspect="1"/>
          </p:cNvPicPr>
          <p:nvPr/>
        </p:nvPicPr>
        <p:blipFill>
          <a:blip r:embed="rId3"/>
          <a:stretch>
            <a:fillRect/>
          </a:stretch>
        </p:blipFill>
        <p:spPr>
          <a:xfrm>
            <a:off x="1544693" y="2499587"/>
            <a:ext cx="15955411" cy="7199393"/>
          </a:xfrm>
          <a:prstGeom prst="rect">
            <a:avLst/>
          </a:prstGeom>
        </p:spPr>
      </p:pic>
    </p:spTree>
    <p:extLst>
      <p:ext uri="{BB962C8B-B14F-4D97-AF65-F5344CB8AC3E}">
        <p14:creationId xmlns:p14="http://schemas.microsoft.com/office/powerpoint/2010/main" val="978694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1D58-26E2-810F-37EA-7CA329F65B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207E3AD-75FE-0F08-B446-101226D4D5E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28B1D2B6-52AE-AB47-B1D3-6827279F1D6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F5B5923-34EE-B989-982A-79BD92B1342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462235F-6C5B-75B4-8191-A141ABD6395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606277C-89F7-B2D9-08B9-786A4D44174E}"/>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E3CA10BF-1A4F-25CC-FCC4-9328AE3B354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0D650C9A-BD30-963A-0C5E-19EB6E8D158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4B4AF100-AB25-34A7-C31D-B548574E7D52}"/>
              </a:ext>
            </a:extLst>
          </p:cNvPr>
          <p:cNvSpPr txBox="1"/>
          <p:nvPr/>
        </p:nvSpPr>
        <p:spPr>
          <a:xfrm>
            <a:off x="351692" y="2092556"/>
            <a:ext cx="17148412" cy="7478970"/>
          </a:xfrm>
          <a:prstGeom prst="rect">
            <a:avLst/>
          </a:prstGeom>
          <a:noFill/>
        </p:spPr>
        <p:txBody>
          <a:bodyPr wrap="square">
            <a:spAutoFit/>
          </a:bodyPr>
          <a:lstStyle/>
          <a:p>
            <a:r>
              <a:rPr lang="vi-VN" sz="3000" dirty="0"/>
              <a:t>🧩 4️⃣ Serial.readBytes()</a:t>
            </a:r>
            <a:br>
              <a:rPr lang="vi-VN" sz="3000" dirty="0"/>
            </a:br>
            <a:r>
              <a:rPr lang="vi-VN" sz="3000" dirty="0"/>
              <a:t>🧠 Function:</a:t>
            </a:r>
          </a:p>
          <a:p>
            <a:r>
              <a:rPr lang="vi-VN" sz="3000" dirty="0"/>
              <a:t>Reads </a:t>
            </a:r>
            <a:r>
              <a:rPr lang="vi-VN" sz="3000" b="1" dirty="0"/>
              <a:t>multiple consecutive bytes</a:t>
            </a:r>
            <a:r>
              <a:rPr lang="vi-VN" sz="3000" dirty="0"/>
              <a:t> from the RX buffer into an array.</a:t>
            </a:r>
          </a:p>
          <a:p>
            <a:r>
              <a:rPr lang="vi-VN" sz="3000" dirty="0"/>
              <a:t>🧱 Syntax:</a:t>
            </a:r>
            <a:br>
              <a:rPr lang="vi-VN" sz="3000" dirty="0"/>
            </a:br>
            <a:r>
              <a:rPr lang="vi-VN" sz="3000" b="1" dirty="0"/>
              <a:t>Serial.readBytes(buffer, length)</a:t>
            </a:r>
          </a:p>
          <a:p>
            <a:r>
              <a:rPr lang="vi-VN" sz="3000" dirty="0"/>
              <a:t>⚙️ Parameters:</a:t>
            </a:r>
          </a:p>
          <a:p>
            <a:r>
              <a:rPr lang="vi-VN" sz="3000" b="1" dirty="0"/>
              <a:t>buffer</a:t>
            </a:r>
            <a:r>
              <a:rPr lang="vi-VN" sz="3000" dirty="0"/>
              <a:t>: the array (or pointer) where the received data will be stored.</a:t>
            </a:r>
          </a:p>
          <a:p>
            <a:r>
              <a:rPr lang="vi-VN" sz="3000" b="1" dirty="0"/>
              <a:t>length</a:t>
            </a:r>
            <a:r>
              <a:rPr lang="vi-VN" sz="3000" dirty="0"/>
              <a:t>: the number of bytes to read.</a:t>
            </a:r>
          </a:p>
          <a:p>
            <a:r>
              <a:rPr lang="vi-VN" sz="3000" dirty="0"/>
              <a:t>💡 Returns:</a:t>
            </a:r>
          </a:p>
          <a:p>
            <a:r>
              <a:rPr lang="vi-VN" sz="3000" dirty="0"/>
              <a:t>The </a:t>
            </a:r>
            <a:r>
              <a:rPr lang="vi-VN" sz="3000" b="1" dirty="0"/>
              <a:t>number of bytes actually read</a:t>
            </a:r>
            <a:r>
              <a:rPr lang="vi-VN" sz="3000" dirty="0"/>
              <a:t> (type: size_t).</a:t>
            </a:r>
          </a:p>
          <a:p>
            <a:r>
              <a:rPr lang="vi-VN" sz="3000" dirty="0"/>
              <a:t>📤 Example:</a:t>
            </a:r>
          </a:p>
          <a:p>
            <a:pPr lvl="5"/>
            <a:r>
              <a:rPr lang="vi-VN" sz="3000" dirty="0"/>
              <a:t>byte data[5];</a:t>
            </a:r>
          </a:p>
          <a:p>
            <a:pPr lvl="5"/>
            <a:r>
              <a:rPr lang="vi-VN" sz="3000" dirty="0"/>
              <a:t>int num = Serial.readBytes(data, 5);</a:t>
            </a:r>
          </a:p>
          <a:p>
            <a:pPr lvl="5"/>
            <a:r>
              <a:rPr lang="vi-VN" sz="3000" dirty="0"/>
              <a:t>Serial.print("Read ");</a:t>
            </a:r>
          </a:p>
          <a:p>
            <a:pPr lvl="5"/>
            <a:r>
              <a:rPr lang="vi-VN" sz="3000" dirty="0"/>
              <a:t>Serial.print(num);</a:t>
            </a:r>
          </a:p>
          <a:p>
            <a:pPr lvl="5"/>
            <a:r>
              <a:rPr lang="vi-VN" sz="3000" dirty="0"/>
              <a:t>Serial.println(" bytes.");</a:t>
            </a:r>
          </a:p>
        </p:txBody>
      </p:sp>
    </p:spTree>
    <p:extLst>
      <p:ext uri="{BB962C8B-B14F-4D97-AF65-F5344CB8AC3E}">
        <p14:creationId xmlns:p14="http://schemas.microsoft.com/office/powerpoint/2010/main" val="97080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79F2-C417-54CE-4764-8C38FB91FDE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D4CB8F9-DC7F-F33C-5F99-3F5ECF2EB4A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A9DDDFCA-99A7-E011-4A51-D871C27DA86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8C32659-5C19-93CC-D8FF-C11033450EA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DDF3999-BF74-5BF1-3FB1-C92B46E129D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6397EAC-C8A5-CD3C-ED22-6492135116D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CBC87841-FFCA-41D1-D64A-786D89703BB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144B4CA8-82BF-4D07-7ECC-C0B603FBC0C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94FC512E-5670-DEF9-BE27-E9E3DD3AFB04}"/>
              </a:ext>
            </a:extLst>
          </p:cNvPr>
          <p:cNvSpPr txBox="1"/>
          <p:nvPr/>
        </p:nvSpPr>
        <p:spPr>
          <a:xfrm>
            <a:off x="351692" y="2092556"/>
            <a:ext cx="17148412" cy="5632311"/>
          </a:xfrm>
          <a:prstGeom prst="rect">
            <a:avLst/>
          </a:prstGeom>
          <a:noFill/>
        </p:spPr>
        <p:txBody>
          <a:bodyPr wrap="square">
            <a:spAutoFit/>
          </a:bodyPr>
          <a:lstStyle/>
          <a:p>
            <a:r>
              <a:rPr lang="vi-VN" sz="3000" dirty="0"/>
              <a:t>🧩 4️⃣ Serial.readBytes()</a:t>
            </a:r>
            <a:endParaRPr lang="en-US" sz="3000" dirty="0"/>
          </a:p>
          <a:p>
            <a:pPr algn="ctr"/>
            <a:br>
              <a:rPr lang="vi-VN" sz="3000" dirty="0"/>
            </a:br>
            <a:r>
              <a:rPr lang="en-US" sz="3000" b="1" dirty="0" err="1"/>
              <a:t>size_t</a:t>
            </a:r>
            <a:r>
              <a:rPr lang="en-US" sz="3000" b="1" dirty="0"/>
              <a:t> </a:t>
            </a:r>
            <a:r>
              <a:rPr lang="en-US" sz="3000" b="1" dirty="0" err="1"/>
              <a:t>Serial.readBytes</a:t>
            </a:r>
            <a:r>
              <a:rPr lang="en-US" sz="3000" b="1" dirty="0"/>
              <a:t>(char *buffer, </a:t>
            </a:r>
            <a:r>
              <a:rPr lang="en-US" sz="3000" b="1" dirty="0" err="1"/>
              <a:t>size_t</a:t>
            </a:r>
            <a:r>
              <a:rPr lang="en-US" sz="3000" b="1" dirty="0"/>
              <a:t> length);</a:t>
            </a:r>
          </a:p>
          <a:p>
            <a:endParaRPr lang="en-US" sz="3000" b="1" dirty="0"/>
          </a:p>
          <a:p>
            <a:r>
              <a:rPr lang="en-US" sz="3000" b="1" dirty="0"/>
              <a:t>buffer</a:t>
            </a:r>
            <a:r>
              <a:rPr lang="en-US" sz="3000" dirty="0"/>
              <a:t> → char array to store the received data.</a:t>
            </a:r>
          </a:p>
          <a:p>
            <a:r>
              <a:rPr lang="en-US" sz="3000" b="1" dirty="0"/>
              <a:t>length</a:t>
            </a:r>
            <a:r>
              <a:rPr lang="en-US" sz="3000" dirty="0"/>
              <a:t> → maximum number of bytes to read.</a:t>
            </a:r>
          </a:p>
          <a:p>
            <a:r>
              <a:rPr lang="en-US" sz="3000" dirty="0"/>
              <a:t>Returns the </a:t>
            </a:r>
            <a:r>
              <a:rPr lang="en-US" sz="3000" b="1" dirty="0"/>
              <a:t>number of bytes actually read</a:t>
            </a:r>
            <a:r>
              <a:rPr lang="en-US" sz="3000" dirty="0"/>
              <a:t> (may be less than length).</a:t>
            </a:r>
          </a:p>
          <a:p>
            <a:r>
              <a:rPr lang="en-US" sz="3000" b="1" dirty="0"/>
              <a:t>Note:</a:t>
            </a:r>
            <a:br>
              <a:rPr lang="en-US" sz="3000" dirty="0"/>
            </a:br>
            <a:r>
              <a:rPr lang="en-US" sz="3000" dirty="0" err="1"/>
              <a:t>readBytes</a:t>
            </a:r>
            <a:r>
              <a:rPr lang="en-US" sz="3000" dirty="0"/>
              <a:t>() blocks the program until either:</a:t>
            </a:r>
          </a:p>
          <a:p>
            <a:r>
              <a:rPr lang="en-US" sz="3000" dirty="0"/>
              <a:t>All length bytes are read, </a:t>
            </a:r>
            <a:r>
              <a:rPr lang="en-US" sz="3000" b="1" dirty="0"/>
              <a:t>or</a:t>
            </a:r>
            <a:endParaRPr lang="en-US" sz="3000" dirty="0"/>
          </a:p>
          <a:p>
            <a:r>
              <a:rPr lang="en-US" sz="3000" dirty="0"/>
              <a:t>The </a:t>
            </a:r>
            <a:r>
              <a:rPr lang="en-US" sz="3000" b="1" dirty="0"/>
              <a:t>timeout</a:t>
            </a:r>
            <a:r>
              <a:rPr lang="en-US" sz="3000" dirty="0"/>
              <a:t> (default 1000 </a:t>
            </a:r>
            <a:r>
              <a:rPr lang="en-US" sz="3000" dirty="0" err="1"/>
              <a:t>ms</a:t>
            </a:r>
            <a:r>
              <a:rPr lang="en-US" sz="3000" dirty="0"/>
              <a:t>) expires.</a:t>
            </a:r>
          </a:p>
          <a:p>
            <a:pPr lvl="5"/>
            <a:endParaRPr lang="vi-VN" sz="3000" dirty="0"/>
          </a:p>
        </p:txBody>
      </p:sp>
    </p:spTree>
    <p:extLst>
      <p:ext uri="{BB962C8B-B14F-4D97-AF65-F5344CB8AC3E}">
        <p14:creationId xmlns:p14="http://schemas.microsoft.com/office/powerpoint/2010/main" val="1790821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BC7E5-0E4E-A7FC-562D-545973685B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9AF60ED-40D7-FA9C-6E72-227B30BE3AE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07B04616-9583-BEDC-8C74-28166E29F1C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099A889-418B-538D-9236-0E72B7330DA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CF845DA-8015-7B3C-8E04-6713B145833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F004CC3-01D8-6902-C8C3-78DCDDF1CB8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A60F8B3-8A80-F442-81CD-785729B224E2}"/>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780E492A-F1D9-F3EA-2092-0AFA0B6C9FE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AF96B6C5-E190-9A23-C5C4-AA7D1146B13F}"/>
              </a:ext>
            </a:extLst>
          </p:cNvPr>
          <p:cNvSpPr txBox="1"/>
          <p:nvPr/>
        </p:nvSpPr>
        <p:spPr>
          <a:xfrm>
            <a:off x="351692" y="2092556"/>
            <a:ext cx="17148412" cy="7940635"/>
          </a:xfrm>
          <a:prstGeom prst="rect">
            <a:avLst/>
          </a:prstGeom>
          <a:noFill/>
        </p:spPr>
        <p:txBody>
          <a:bodyPr wrap="square">
            <a:spAutoFit/>
          </a:bodyPr>
          <a:lstStyle/>
          <a:p>
            <a:r>
              <a:rPr lang="vi-VN" sz="3000" dirty="0"/>
              <a:t>🧩 4️⃣ Serial.readBytes()</a:t>
            </a:r>
            <a:endParaRPr lang="en-US" sz="3000" dirty="0"/>
          </a:p>
          <a:p>
            <a:r>
              <a:rPr lang="en-US" sz="3000" dirty="0"/>
              <a:t>When data is received correctly</a:t>
            </a:r>
          </a:p>
          <a:p>
            <a:r>
              <a:rPr lang="en-US" sz="3000" dirty="0"/>
              <a:t>Example: Arduino wants to read 5 bytes</a:t>
            </a:r>
          </a:p>
          <a:p>
            <a:r>
              <a:rPr lang="en-US" sz="3000" b="1" dirty="0"/>
              <a:t>char </a:t>
            </a:r>
            <a:r>
              <a:rPr lang="en-US" sz="3000" b="1" dirty="0" err="1"/>
              <a:t>buf</a:t>
            </a:r>
            <a:r>
              <a:rPr lang="en-US" sz="3000" b="1" dirty="0"/>
              <a:t>[5];</a:t>
            </a:r>
          </a:p>
          <a:p>
            <a:r>
              <a:rPr lang="en-US" sz="3000" b="1" dirty="0" err="1"/>
              <a:t>size_t</a:t>
            </a:r>
            <a:r>
              <a:rPr lang="en-US" sz="3000" b="1" dirty="0"/>
              <a:t> n = </a:t>
            </a:r>
            <a:r>
              <a:rPr lang="en-US" sz="3000" b="1" dirty="0" err="1"/>
              <a:t>Serial.readBytes</a:t>
            </a:r>
            <a:r>
              <a:rPr lang="en-US" sz="3000" b="1" dirty="0"/>
              <a:t>(</a:t>
            </a:r>
            <a:r>
              <a:rPr lang="en-US" sz="3000" b="1" dirty="0" err="1"/>
              <a:t>buf</a:t>
            </a:r>
            <a:r>
              <a:rPr lang="en-US" sz="3000" b="1" dirty="0"/>
              <a:t>, 5);  // Wait up to 1000 </a:t>
            </a:r>
            <a:r>
              <a:rPr lang="en-US" sz="3000" b="1" dirty="0" err="1"/>
              <a:t>ms</a:t>
            </a:r>
            <a:endParaRPr lang="en-US" sz="3000" b="1" dirty="0"/>
          </a:p>
          <a:p>
            <a:r>
              <a:rPr lang="en-US" sz="3000" b="1" dirty="0" err="1"/>
              <a:t>Serial.print</a:t>
            </a:r>
            <a:r>
              <a:rPr lang="en-US" sz="3000" b="1" dirty="0"/>
              <a:t>("Read: "); </a:t>
            </a:r>
          </a:p>
          <a:p>
            <a:r>
              <a:rPr lang="en-US" sz="3000" b="1" dirty="0" err="1"/>
              <a:t>Serial.println</a:t>
            </a:r>
            <a:r>
              <a:rPr lang="en-US" sz="3000" b="1" dirty="0"/>
              <a:t>(n);</a:t>
            </a:r>
          </a:p>
          <a:p>
            <a:r>
              <a:rPr lang="en-US" sz="3000" dirty="0"/>
              <a:t>If the computer sends all 5 bytes within 1 second, </a:t>
            </a:r>
            <a:r>
              <a:rPr lang="en-US" sz="3000" dirty="0" err="1"/>
              <a:t>readBytes</a:t>
            </a:r>
            <a:r>
              <a:rPr lang="en-US" sz="3000" dirty="0"/>
              <a:t>() will:</a:t>
            </a:r>
          </a:p>
          <a:p>
            <a:r>
              <a:rPr lang="en-US" sz="3000" dirty="0"/>
              <a:t>Store 5 bytes in </a:t>
            </a:r>
            <a:r>
              <a:rPr lang="en-US" sz="3000" dirty="0" err="1"/>
              <a:t>buf</a:t>
            </a:r>
            <a:endParaRPr lang="en-US" sz="3000" dirty="0"/>
          </a:p>
          <a:p>
            <a:r>
              <a:rPr lang="en-US" sz="3000" dirty="0"/>
              <a:t>Return n = 5</a:t>
            </a:r>
          </a:p>
          <a:p>
            <a:r>
              <a:rPr lang="en-US" sz="3000" dirty="0"/>
              <a:t>🧩 When not enough data is received</a:t>
            </a:r>
          </a:p>
          <a:p>
            <a:r>
              <a:rPr lang="en-US" sz="3000" dirty="0"/>
              <a:t>Possible situations:</a:t>
            </a:r>
          </a:p>
          <a:p>
            <a:r>
              <a:rPr lang="en-US" sz="3000" dirty="0"/>
              <a:t>RX buffer doesn’t have enough data</a:t>
            </a:r>
          </a:p>
          <a:p>
            <a:r>
              <a:rPr lang="en-US" sz="3000" dirty="0"/>
              <a:t>The computer sends fewer than 5 bytes within the timeout</a:t>
            </a:r>
          </a:p>
          <a:p>
            <a:r>
              <a:rPr lang="en-US" sz="3000" dirty="0"/>
              <a:t>Arduino reads all available bytes → returns the actual number read (&lt; 5)</a:t>
            </a:r>
          </a:p>
          <a:p>
            <a:r>
              <a:rPr lang="en-US" sz="3000" b="1" dirty="0"/>
              <a:t>No data at all</a:t>
            </a:r>
            <a:r>
              <a:rPr lang="en-US" sz="3000" dirty="0"/>
              <a:t> → waits until timeout, then returns </a:t>
            </a:r>
            <a:r>
              <a:rPr lang="en-US" sz="3000" b="1" dirty="0"/>
              <a:t>0</a:t>
            </a:r>
            <a:endParaRPr lang="en-US" sz="3000" dirty="0"/>
          </a:p>
          <a:p>
            <a:pPr lvl="5"/>
            <a:endParaRPr lang="vi-VN" sz="3000" dirty="0"/>
          </a:p>
        </p:txBody>
      </p:sp>
    </p:spTree>
    <p:extLst>
      <p:ext uri="{BB962C8B-B14F-4D97-AF65-F5344CB8AC3E}">
        <p14:creationId xmlns:p14="http://schemas.microsoft.com/office/powerpoint/2010/main" val="1660604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CE680-49D3-9848-B1FB-8DB06A20298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613A5B-5CC4-2ACC-E345-2B677C42890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4AAD4AFD-28A0-9FD0-6A09-27949AA87F2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30A1717-66B4-B225-355C-B3A8511FDDC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B74D67E-AC4A-7AF6-116B-B34C952F9CB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46562C9-2E7C-A65D-FD33-A167F504464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5BA3BEE-2BFF-89FC-0DF0-A63CAA984C7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C39C9E7F-BA1A-ABC5-95D5-871F62CC927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51A960FE-B99B-677F-EE8B-0C707EA28001}"/>
              </a:ext>
            </a:extLst>
          </p:cNvPr>
          <p:cNvSpPr txBox="1"/>
          <p:nvPr/>
        </p:nvSpPr>
        <p:spPr>
          <a:xfrm>
            <a:off x="351692" y="2092556"/>
            <a:ext cx="17148412" cy="3785652"/>
          </a:xfrm>
          <a:prstGeom prst="rect">
            <a:avLst/>
          </a:prstGeom>
          <a:noFill/>
        </p:spPr>
        <p:txBody>
          <a:bodyPr wrap="square">
            <a:spAutoFit/>
          </a:bodyPr>
          <a:lstStyle/>
          <a:p>
            <a:r>
              <a:rPr lang="vi-VN" sz="3000" dirty="0"/>
              <a:t>🧩 4️⃣ Serial.readBytes()</a:t>
            </a:r>
            <a:endParaRPr lang="en-US" sz="3000" dirty="0"/>
          </a:p>
          <a:p>
            <a:endParaRPr lang="en-US" sz="3000" dirty="0"/>
          </a:p>
          <a:p>
            <a:r>
              <a:rPr lang="en-US" sz="3000" dirty="0"/>
              <a:t>Timeout</a:t>
            </a:r>
          </a:p>
          <a:p>
            <a:r>
              <a:rPr lang="en-US" sz="3000" dirty="0"/>
              <a:t>Default: </a:t>
            </a:r>
            <a:r>
              <a:rPr lang="en-US" sz="3000" b="1" dirty="0"/>
              <a:t>1000 </a:t>
            </a:r>
            <a:r>
              <a:rPr lang="en-US" sz="3000" b="1" dirty="0" err="1"/>
              <a:t>ms</a:t>
            </a:r>
            <a:endParaRPr lang="en-US" sz="3000" dirty="0"/>
          </a:p>
          <a:p>
            <a:r>
              <a:rPr lang="en-US" sz="3000" dirty="0"/>
              <a:t>You can change it using:</a:t>
            </a:r>
          </a:p>
          <a:p>
            <a:r>
              <a:rPr lang="en-US" sz="3000" dirty="0" err="1"/>
              <a:t>Serial.setTimeout</a:t>
            </a:r>
            <a:r>
              <a:rPr lang="en-US" sz="3000" dirty="0"/>
              <a:t>(500); // 0.5 seconds</a:t>
            </a:r>
          </a:p>
          <a:p>
            <a:r>
              <a:rPr lang="en-US" sz="3000" dirty="0"/>
              <a:t>If the timeout expires before reading all length bytes → returns the number of bytes read (possibly </a:t>
            </a:r>
            <a:r>
              <a:rPr lang="en-US" sz="3000" b="1" dirty="0"/>
              <a:t>0</a:t>
            </a:r>
            <a:r>
              <a:rPr lang="en-US" sz="3000" dirty="0"/>
              <a:t>).</a:t>
            </a:r>
          </a:p>
          <a:p>
            <a:pPr lvl="5"/>
            <a:endParaRPr lang="vi-VN" sz="3000" dirty="0"/>
          </a:p>
        </p:txBody>
      </p:sp>
    </p:spTree>
    <p:extLst>
      <p:ext uri="{BB962C8B-B14F-4D97-AF65-F5344CB8AC3E}">
        <p14:creationId xmlns:p14="http://schemas.microsoft.com/office/powerpoint/2010/main" val="3774018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EA53C-468A-DF47-1CEE-49AE5AD099B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ADA56D6-9C33-56BB-86FE-FCE1E4C8CBC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5DF8FA4E-6C33-B42F-0B3A-CA04C964219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83E277C-46E0-9DC3-DDD8-04B36EA0B5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43ADE8D-2304-B137-679E-7CA27B3D1179}"/>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2D5CAD5-80EA-1D88-3073-28D6322F6A4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579A25E-04E0-850D-8E91-92EC940C169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8C8F635B-B299-8121-3A25-6C4764137E1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364F1C37-3EA6-966F-5832-FFA429EC1843}"/>
              </a:ext>
            </a:extLst>
          </p:cNvPr>
          <p:cNvSpPr txBox="1"/>
          <p:nvPr/>
        </p:nvSpPr>
        <p:spPr>
          <a:xfrm>
            <a:off x="351692" y="2092556"/>
            <a:ext cx="17148412" cy="1477328"/>
          </a:xfrm>
          <a:prstGeom prst="rect">
            <a:avLst/>
          </a:prstGeom>
          <a:noFill/>
        </p:spPr>
        <p:txBody>
          <a:bodyPr wrap="square">
            <a:spAutoFit/>
          </a:bodyPr>
          <a:lstStyle/>
          <a:p>
            <a:r>
              <a:rPr lang="vi-VN" sz="3000" dirty="0"/>
              <a:t>🧩 4️⃣ Serial.readBytes()</a:t>
            </a:r>
            <a:endParaRPr lang="en-US" sz="3000" dirty="0"/>
          </a:p>
          <a:p>
            <a:endParaRPr lang="en-US" sz="3000" dirty="0"/>
          </a:p>
          <a:p>
            <a:pPr lvl="5"/>
            <a:endParaRPr lang="vi-VN" sz="3000" dirty="0"/>
          </a:p>
        </p:txBody>
      </p:sp>
      <p:pic>
        <p:nvPicPr>
          <p:cNvPr id="10" name="Picture 9">
            <a:extLst>
              <a:ext uri="{FF2B5EF4-FFF2-40B4-BE49-F238E27FC236}">
                <a16:creationId xmlns:a16="http://schemas.microsoft.com/office/drawing/2014/main" id="{DDCA6D73-17D4-8E15-A12F-C9D086E513A5}"/>
              </a:ext>
            </a:extLst>
          </p:cNvPr>
          <p:cNvPicPr>
            <a:picLocks noChangeAspect="1"/>
          </p:cNvPicPr>
          <p:nvPr/>
        </p:nvPicPr>
        <p:blipFill>
          <a:blip r:embed="rId3"/>
          <a:stretch>
            <a:fillRect/>
          </a:stretch>
        </p:blipFill>
        <p:spPr>
          <a:xfrm>
            <a:off x="5638800" y="2113071"/>
            <a:ext cx="10591800" cy="8070614"/>
          </a:xfrm>
          <a:prstGeom prst="rect">
            <a:avLst/>
          </a:prstGeom>
        </p:spPr>
      </p:pic>
    </p:spTree>
    <p:extLst>
      <p:ext uri="{BB962C8B-B14F-4D97-AF65-F5344CB8AC3E}">
        <p14:creationId xmlns:p14="http://schemas.microsoft.com/office/powerpoint/2010/main" val="1985002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9680-6DDB-7FBD-B8D3-8E033979234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DB9EB3A-83E0-5208-B6A2-20213E14297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68923E14-F265-9511-7EB7-AC84F72DC8A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3EE772D-0654-995B-882E-8BF2D8AEC24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D2B07E1-D335-87A1-158D-6FE8E4B5C37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4B2A33D-282F-371E-431A-33568FF958B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B33C4EB-A0A5-AEFD-3343-0EA88876F52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A0205FA0-22D3-E8E7-A283-FBC3C5EDB88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C25D596B-9C06-7A7A-7C1D-803C0F07C789}"/>
              </a:ext>
            </a:extLst>
          </p:cNvPr>
          <p:cNvSpPr txBox="1"/>
          <p:nvPr/>
        </p:nvSpPr>
        <p:spPr>
          <a:xfrm>
            <a:off x="351692" y="2092556"/>
            <a:ext cx="17148412" cy="7017306"/>
          </a:xfrm>
          <a:prstGeom prst="rect">
            <a:avLst/>
          </a:prstGeom>
          <a:noFill/>
        </p:spPr>
        <p:txBody>
          <a:bodyPr wrap="square">
            <a:spAutoFit/>
          </a:bodyPr>
          <a:lstStyle/>
          <a:p>
            <a:r>
              <a:rPr lang="vi-VN" sz="3000" dirty="0"/>
              <a:t>🧩 5️⃣ </a:t>
            </a:r>
            <a:r>
              <a:rPr lang="vi-VN" sz="3000" b="1" dirty="0"/>
              <a:t>Serial.readString()</a:t>
            </a:r>
            <a:endParaRPr lang="vi-VN" sz="3000" dirty="0"/>
          </a:p>
          <a:p>
            <a:r>
              <a:rPr lang="vi-VN" sz="3000" dirty="0"/>
              <a:t>🧠 </a:t>
            </a:r>
            <a:r>
              <a:rPr lang="vi-VN" sz="3000" b="1" dirty="0"/>
              <a:t>Function:</a:t>
            </a:r>
            <a:br>
              <a:rPr lang="vi-VN" sz="3000" dirty="0"/>
            </a:br>
            <a:r>
              <a:rPr lang="vi-VN" sz="3000" dirty="0"/>
              <a:t>Reads </a:t>
            </a:r>
            <a:r>
              <a:rPr lang="vi-VN" sz="3000" b="1" dirty="0"/>
              <a:t>all data received from UART</a:t>
            </a:r>
            <a:r>
              <a:rPr lang="vi-VN" sz="3000" dirty="0"/>
              <a:t> until a timeout occurs, returns a </a:t>
            </a:r>
            <a:r>
              <a:rPr lang="vi-VN" sz="3000" b="1" dirty="0"/>
              <a:t>String</a:t>
            </a:r>
            <a:r>
              <a:rPr lang="vi-VN" sz="3000" dirty="0"/>
              <a:t>.</a:t>
            </a:r>
          </a:p>
          <a:p>
            <a:r>
              <a:rPr lang="vi-VN" sz="3000" dirty="0"/>
              <a:t>🧱 </a:t>
            </a:r>
            <a:r>
              <a:rPr lang="vi-VN" sz="3000" b="1" dirty="0"/>
              <a:t>Syntax:</a:t>
            </a:r>
            <a:endParaRPr lang="vi-VN" sz="3000" dirty="0"/>
          </a:p>
          <a:p>
            <a:pPr lvl="5"/>
            <a:r>
              <a:rPr lang="vi-VN" sz="3000" b="1" dirty="0"/>
              <a:t>Serial.readString()</a:t>
            </a:r>
          </a:p>
          <a:p>
            <a:r>
              <a:rPr lang="vi-VN" sz="3000" dirty="0"/>
              <a:t>💡 </a:t>
            </a:r>
            <a:r>
              <a:rPr lang="vi-VN" sz="3000" b="1" dirty="0"/>
              <a:t>Returns:</a:t>
            </a:r>
            <a:br>
              <a:rPr lang="vi-VN" sz="3000" dirty="0"/>
            </a:br>
            <a:r>
              <a:rPr lang="vi-VN" sz="3000" dirty="0"/>
              <a:t>A </a:t>
            </a:r>
            <a:r>
              <a:rPr lang="vi-VN" sz="3000" b="1" dirty="0"/>
              <a:t>String</a:t>
            </a:r>
            <a:r>
              <a:rPr lang="vi-VN" sz="3000" dirty="0"/>
              <a:t> containing the received data.</a:t>
            </a:r>
          </a:p>
          <a:p>
            <a:r>
              <a:rPr lang="vi-VN" sz="3000" dirty="0"/>
              <a:t>📤 </a:t>
            </a:r>
            <a:r>
              <a:rPr lang="vi-VN" sz="3000" b="1" dirty="0"/>
              <a:t>Example:</a:t>
            </a:r>
            <a:endParaRPr lang="vi-VN" sz="3000" dirty="0"/>
          </a:p>
          <a:p>
            <a:pPr lvl="5"/>
            <a:r>
              <a:rPr lang="vi-VN" sz="3000" b="1" dirty="0"/>
              <a:t>String input = Serial.readString();</a:t>
            </a:r>
          </a:p>
          <a:p>
            <a:pPr lvl="5"/>
            <a:r>
              <a:rPr lang="vi-VN" sz="3000" b="1" dirty="0"/>
              <a:t>Serial.print("Received string: ");</a:t>
            </a:r>
          </a:p>
          <a:p>
            <a:pPr lvl="5"/>
            <a:r>
              <a:rPr lang="vi-VN" sz="3000" b="1" dirty="0"/>
              <a:t>Serial.println(input);</a:t>
            </a:r>
          </a:p>
          <a:p>
            <a:r>
              <a:rPr lang="vi-VN" sz="3000" dirty="0"/>
              <a:t>⏱️ </a:t>
            </a:r>
            <a:r>
              <a:rPr lang="vi-VN" sz="3000" b="1" dirty="0"/>
              <a:t>Note:</a:t>
            </a:r>
            <a:br>
              <a:rPr lang="vi-VN" sz="3000" dirty="0"/>
            </a:br>
            <a:r>
              <a:rPr lang="vi-VN" sz="3000" dirty="0"/>
              <a:t>The default timeout is </a:t>
            </a:r>
            <a:r>
              <a:rPr lang="vi-VN" sz="3000" b="1" dirty="0"/>
              <a:t>1000 ms</a:t>
            </a:r>
            <a:r>
              <a:rPr lang="vi-VN" sz="3000" dirty="0"/>
              <a:t>.</a:t>
            </a:r>
            <a:br>
              <a:rPr lang="vi-VN" sz="3000" dirty="0"/>
            </a:br>
            <a:r>
              <a:rPr lang="vi-VN" sz="3000" dirty="0"/>
              <a:t>You can change it with:</a:t>
            </a:r>
          </a:p>
          <a:p>
            <a:r>
              <a:rPr lang="vi-VN" sz="3000" dirty="0"/>
              <a:t>Serial.setTimeout(ms);</a:t>
            </a:r>
          </a:p>
        </p:txBody>
      </p:sp>
    </p:spTree>
    <p:extLst>
      <p:ext uri="{BB962C8B-B14F-4D97-AF65-F5344CB8AC3E}">
        <p14:creationId xmlns:p14="http://schemas.microsoft.com/office/powerpoint/2010/main" val="2050085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2236-9DA6-C55C-89B1-54C7771128E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F324C52-E82D-82E6-2D58-DF3A1798D8C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BC07087C-AF17-7ED8-F28A-BF75A2A6210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DF60568-E60D-5A78-F0DE-C81EF7290E4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60953BD-B0B5-09C0-1AAE-78AB865A1B1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578498B-1A8C-A615-9B24-4A2C43CCA4A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1F7040AF-AB35-7578-43EA-8BEFEA2BB9DD}"/>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B17AAB3-26EC-4C19-5EF3-ED76789C53A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C31B35D7-BEF4-DA5C-DBB2-3A292685F95E}"/>
              </a:ext>
            </a:extLst>
          </p:cNvPr>
          <p:cNvSpPr txBox="1"/>
          <p:nvPr/>
        </p:nvSpPr>
        <p:spPr>
          <a:xfrm>
            <a:off x="351692" y="2092556"/>
            <a:ext cx="17148412" cy="4708981"/>
          </a:xfrm>
          <a:prstGeom prst="rect">
            <a:avLst/>
          </a:prstGeom>
          <a:noFill/>
        </p:spPr>
        <p:txBody>
          <a:bodyPr wrap="square">
            <a:spAutoFit/>
          </a:bodyPr>
          <a:lstStyle/>
          <a:p>
            <a:r>
              <a:rPr lang="en-US" sz="3000" dirty="0"/>
              <a:t>🧩  </a:t>
            </a:r>
            <a:r>
              <a:rPr lang="en-US" sz="3000" b="1" dirty="0"/>
              <a:t>Function of </a:t>
            </a:r>
            <a:r>
              <a:rPr lang="en-US" sz="3000" b="1" dirty="0" err="1"/>
              <a:t>Serial.readString</a:t>
            </a:r>
            <a:r>
              <a:rPr lang="en-US" sz="3000" b="1" dirty="0"/>
              <a:t>()</a:t>
            </a:r>
            <a:endParaRPr lang="en-US" sz="3000" dirty="0"/>
          </a:p>
          <a:p>
            <a:r>
              <a:rPr lang="en-US" sz="3000" dirty="0" err="1"/>
              <a:t>Serial.readString</a:t>
            </a:r>
            <a:r>
              <a:rPr lang="en-US" sz="3000" dirty="0"/>
              <a:t>() is used to </a:t>
            </a:r>
            <a:r>
              <a:rPr lang="en-US" sz="3000" b="1" dirty="0"/>
              <a:t>read all received UART data</a:t>
            </a:r>
            <a:r>
              <a:rPr lang="en-US" sz="3000" dirty="0"/>
              <a:t>, returning a </a:t>
            </a:r>
            <a:r>
              <a:rPr lang="en-US" sz="3000" b="1" dirty="0"/>
              <a:t>String</a:t>
            </a:r>
            <a:r>
              <a:rPr lang="en-US" sz="3000" dirty="0"/>
              <a:t>.</a:t>
            </a:r>
          </a:p>
          <a:p>
            <a:r>
              <a:rPr lang="en-US" sz="3000" dirty="0"/>
              <a:t>It will </a:t>
            </a:r>
            <a:r>
              <a:rPr lang="en-US" sz="3000" b="1" dirty="0"/>
              <a:t>block the program</a:t>
            </a:r>
            <a:r>
              <a:rPr lang="en-US" sz="3000" dirty="0"/>
              <a:t> until:</a:t>
            </a:r>
          </a:p>
          <a:p>
            <a:r>
              <a:rPr lang="en-US" sz="3000" dirty="0"/>
              <a:t>The buffer is empty</a:t>
            </a:r>
            <a:br>
              <a:rPr lang="en-US" sz="3000" dirty="0"/>
            </a:br>
            <a:r>
              <a:rPr lang="en-US" sz="3000" b="1" dirty="0"/>
              <a:t>or</a:t>
            </a:r>
            <a:endParaRPr lang="en-US" sz="3000" dirty="0"/>
          </a:p>
          <a:p>
            <a:r>
              <a:rPr lang="en-US" sz="3000" dirty="0"/>
              <a:t>A timeout occurs (default 1000 </a:t>
            </a:r>
            <a:r>
              <a:rPr lang="en-US" sz="3000" dirty="0" err="1"/>
              <a:t>ms</a:t>
            </a:r>
            <a:r>
              <a:rPr lang="en-US" sz="3000" dirty="0"/>
              <a:t>)</a:t>
            </a:r>
          </a:p>
          <a:p>
            <a:r>
              <a:rPr lang="en-US" sz="3000" dirty="0"/>
              <a:t>✅ </a:t>
            </a:r>
            <a:r>
              <a:rPr lang="en-US" sz="3000" b="1" dirty="0"/>
              <a:t>Difference from </a:t>
            </a:r>
            <a:r>
              <a:rPr lang="en-US" sz="3000" b="1" dirty="0" err="1"/>
              <a:t>Serial.read</a:t>
            </a:r>
            <a:r>
              <a:rPr lang="en-US" sz="3000" b="1" dirty="0"/>
              <a:t>():</a:t>
            </a:r>
            <a:endParaRPr lang="en-US" sz="3000" dirty="0"/>
          </a:p>
          <a:p>
            <a:r>
              <a:rPr lang="en-US" sz="3000" dirty="0"/>
              <a:t>read() reads only </a:t>
            </a:r>
            <a:r>
              <a:rPr lang="en-US" sz="3000" b="1" dirty="0"/>
              <a:t>1 byte</a:t>
            </a:r>
            <a:endParaRPr lang="en-US" sz="3000" dirty="0"/>
          </a:p>
          <a:p>
            <a:r>
              <a:rPr lang="en-US" sz="3000" dirty="0" err="1"/>
              <a:t>readBytes</a:t>
            </a:r>
            <a:r>
              <a:rPr lang="en-US" sz="3000" dirty="0"/>
              <a:t>() reads </a:t>
            </a:r>
            <a:r>
              <a:rPr lang="en-US" sz="3000" b="1" dirty="0"/>
              <a:t>n fixed bytes</a:t>
            </a:r>
            <a:endParaRPr lang="en-US" sz="3000" dirty="0"/>
          </a:p>
          <a:p>
            <a:r>
              <a:rPr lang="en-US" sz="3000" dirty="0" err="1"/>
              <a:t>readString</a:t>
            </a:r>
            <a:r>
              <a:rPr lang="en-US" sz="3000" dirty="0"/>
              <a:t>() reads </a:t>
            </a:r>
            <a:r>
              <a:rPr lang="en-US" sz="3000" b="1" dirty="0"/>
              <a:t>all available data</a:t>
            </a:r>
            <a:r>
              <a:rPr lang="en-US" sz="3000" dirty="0"/>
              <a:t> and returns a </a:t>
            </a:r>
            <a:r>
              <a:rPr lang="en-US" sz="3000" b="1" dirty="0"/>
              <a:t>string</a:t>
            </a:r>
            <a:r>
              <a:rPr lang="en-US" sz="3000" dirty="0"/>
              <a:t>, until the buffer is empty or a timeout occurs</a:t>
            </a:r>
          </a:p>
        </p:txBody>
      </p:sp>
    </p:spTree>
    <p:extLst>
      <p:ext uri="{BB962C8B-B14F-4D97-AF65-F5344CB8AC3E}">
        <p14:creationId xmlns:p14="http://schemas.microsoft.com/office/powerpoint/2010/main" val="984720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D0A01-0E78-7EFB-51CE-790D7D083BA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A8657D1-7BB7-CFDC-31D4-3BDDB5B83BD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4C151C98-B808-B888-4F5F-2D29AF81D50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E4C27B0-CF70-02F6-8556-925B3B2FB2E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103D11B-7BA7-E95F-2201-CCD5BE51DA8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CB801D6-6953-64E7-D51B-CFE77304052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FBAC1C62-87EC-6061-25F7-AC3B5304E91D}"/>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AE2DBBF6-0456-2D50-76EE-68B91BC9E48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E57664C5-7FF4-99CC-66B3-54C1141F1D38}"/>
              </a:ext>
            </a:extLst>
          </p:cNvPr>
          <p:cNvSpPr txBox="1"/>
          <p:nvPr/>
        </p:nvSpPr>
        <p:spPr>
          <a:xfrm>
            <a:off x="351692" y="2092556"/>
            <a:ext cx="17148412" cy="7094250"/>
          </a:xfrm>
          <a:prstGeom prst="rect">
            <a:avLst/>
          </a:prstGeom>
          <a:noFill/>
        </p:spPr>
        <p:txBody>
          <a:bodyPr wrap="square">
            <a:spAutoFit/>
          </a:bodyPr>
          <a:lstStyle/>
          <a:p>
            <a:r>
              <a:rPr lang="en-US" sz="3500" dirty="0"/>
              <a:t>🧩 2️⃣ </a:t>
            </a:r>
            <a:r>
              <a:rPr lang="en-US" sz="3500" b="1" dirty="0"/>
              <a:t>Syntax</a:t>
            </a:r>
            <a:endParaRPr lang="en-US" sz="3500" dirty="0"/>
          </a:p>
          <a:p>
            <a:r>
              <a:rPr lang="en-US" sz="3500" dirty="0"/>
              <a:t>String </a:t>
            </a:r>
            <a:r>
              <a:rPr lang="en-US" sz="3500" dirty="0" err="1"/>
              <a:t>myString</a:t>
            </a:r>
            <a:r>
              <a:rPr lang="en-US" sz="3500" dirty="0"/>
              <a:t> = </a:t>
            </a:r>
            <a:r>
              <a:rPr lang="en-US" sz="3500" dirty="0" err="1"/>
              <a:t>Serial.readString</a:t>
            </a:r>
            <a:r>
              <a:rPr lang="en-US" sz="3500" dirty="0"/>
              <a:t>();</a:t>
            </a:r>
          </a:p>
          <a:p>
            <a:r>
              <a:rPr lang="en-US" sz="3500" dirty="0"/>
              <a:t>No parameters needed</a:t>
            </a:r>
          </a:p>
          <a:p>
            <a:r>
              <a:rPr lang="en-US" sz="3500" dirty="0"/>
              <a:t>Returns a </a:t>
            </a:r>
            <a:r>
              <a:rPr lang="en-US" sz="3500" b="1" dirty="0"/>
              <a:t>String</a:t>
            </a:r>
            <a:r>
              <a:rPr lang="en-US" sz="3500" dirty="0"/>
              <a:t> containing all data currently in the UART buffer</a:t>
            </a:r>
          </a:p>
          <a:p>
            <a:br>
              <a:rPr lang="en-US" sz="3500" dirty="0"/>
            </a:br>
            <a:endParaRPr lang="en-US" sz="3500" dirty="0"/>
          </a:p>
          <a:p>
            <a:r>
              <a:rPr lang="en-US" sz="3500" dirty="0"/>
              <a:t>🧩 3️⃣ </a:t>
            </a:r>
            <a:r>
              <a:rPr lang="en-US" sz="3500" b="1" dirty="0"/>
              <a:t>Timeout</a:t>
            </a:r>
            <a:endParaRPr lang="en-US" sz="3500" dirty="0"/>
          </a:p>
          <a:p>
            <a:r>
              <a:rPr lang="en-US" sz="3500" dirty="0"/>
              <a:t>Default: </a:t>
            </a:r>
            <a:r>
              <a:rPr lang="en-US" sz="3500" b="1" dirty="0"/>
              <a:t>1000 </a:t>
            </a:r>
            <a:r>
              <a:rPr lang="en-US" sz="3500" b="1" dirty="0" err="1"/>
              <a:t>ms</a:t>
            </a:r>
            <a:r>
              <a:rPr lang="en-US" sz="3500" b="1" dirty="0"/>
              <a:t> (1 second)</a:t>
            </a:r>
            <a:endParaRPr lang="en-US" sz="3500" dirty="0"/>
          </a:p>
          <a:p>
            <a:r>
              <a:rPr lang="en-US" sz="3500" dirty="0"/>
              <a:t>If no new byte is received during this period → the function ends</a:t>
            </a:r>
          </a:p>
          <a:p>
            <a:r>
              <a:rPr lang="en-US" sz="3500" dirty="0"/>
              <a:t>You can change the timeout with:</a:t>
            </a:r>
          </a:p>
          <a:p>
            <a:r>
              <a:rPr lang="en-US" sz="3500" dirty="0" err="1"/>
              <a:t>Serial.setTimeout</a:t>
            </a:r>
            <a:r>
              <a:rPr lang="en-US" sz="3500" dirty="0"/>
              <a:t>(3000);  // 3-second timeout</a:t>
            </a:r>
          </a:p>
          <a:p>
            <a:r>
              <a:rPr lang="en-US" sz="3500" dirty="0"/>
              <a:t>⚠️ </a:t>
            </a:r>
            <a:r>
              <a:rPr lang="en-US" sz="3500" b="1" dirty="0"/>
              <a:t>Note:</a:t>
            </a:r>
            <a:r>
              <a:rPr lang="en-US" sz="3500" dirty="0"/>
              <a:t> </a:t>
            </a:r>
            <a:r>
              <a:rPr lang="en-US" sz="3500" dirty="0" err="1"/>
              <a:t>readString</a:t>
            </a:r>
            <a:r>
              <a:rPr lang="en-US" sz="3500" dirty="0"/>
              <a:t>() waits for the string to pause until the timeout, it does </a:t>
            </a:r>
            <a:r>
              <a:rPr lang="en-US" sz="3500" b="1" dirty="0"/>
              <a:t>not</a:t>
            </a:r>
            <a:r>
              <a:rPr lang="en-US" sz="3500" dirty="0"/>
              <a:t> require a specific number of bytes.</a:t>
            </a:r>
          </a:p>
        </p:txBody>
      </p:sp>
    </p:spTree>
    <p:extLst>
      <p:ext uri="{BB962C8B-B14F-4D97-AF65-F5344CB8AC3E}">
        <p14:creationId xmlns:p14="http://schemas.microsoft.com/office/powerpoint/2010/main" val="2241451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046B7-AD66-51B9-1D91-1C5213CC6C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902897-40D2-94E4-6A85-564063C7CE9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4A9E8AF0-DD16-B35C-457C-77431A61534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5A69940-8C18-C36A-A985-98D40A40FC3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C34B221-BC7A-36B2-530F-A57C9E93160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503F597-C1EB-BDB4-56BB-02F6B7FEFBF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54CD11AD-81BE-8B06-0CE6-30BD9463896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EB3C736C-3D7A-61E4-CD61-7081CE19D42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37FA1379-1E08-E9E2-8322-D28EB27831C4}"/>
              </a:ext>
            </a:extLst>
          </p:cNvPr>
          <p:cNvPicPr>
            <a:picLocks noChangeAspect="1"/>
          </p:cNvPicPr>
          <p:nvPr/>
        </p:nvPicPr>
        <p:blipFill>
          <a:blip r:embed="rId3"/>
          <a:stretch>
            <a:fillRect/>
          </a:stretch>
        </p:blipFill>
        <p:spPr>
          <a:xfrm>
            <a:off x="1752600" y="2843855"/>
            <a:ext cx="12692062" cy="6626182"/>
          </a:xfrm>
          <a:prstGeom prst="rect">
            <a:avLst/>
          </a:prstGeom>
        </p:spPr>
      </p:pic>
    </p:spTree>
    <p:extLst>
      <p:ext uri="{BB962C8B-B14F-4D97-AF65-F5344CB8AC3E}">
        <p14:creationId xmlns:p14="http://schemas.microsoft.com/office/powerpoint/2010/main" val="3420155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75359-BF5F-AAB2-FF7E-D98949AEE95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BCA0011-C068-A7F4-D624-D5A6ABFE842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085DC078-4456-44E5-B2D9-0ADE85C45E9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C884F7C-B0F9-98E6-4A7D-7A60F1414CC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81E09ED-314D-BED1-9ECD-036C9A01A1B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441BAFE-453C-3BAD-077C-968A9DD6CD2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C6E62A4-DBE6-3FE4-0149-A3386A1C946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311AAF92-9FFA-1C6D-CFDF-BB03D37458D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04A08C3F-DBCB-FBAA-BB3C-FF378AA15C31}"/>
              </a:ext>
            </a:extLst>
          </p:cNvPr>
          <p:cNvSpPr txBox="1"/>
          <p:nvPr/>
        </p:nvSpPr>
        <p:spPr>
          <a:xfrm>
            <a:off x="345831" y="2247900"/>
            <a:ext cx="16799169" cy="6555641"/>
          </a:xfrm>
          <a:prstGeom prst="rect">
            <a:avLst/>
          </a:prstGeom>
          <a:noFill/>
        </p:spPr>
        <p:txBody>
          <a:bodyPr wrap="square">
            <a:spAutoFit/>
          </a:bodyPr>
          <a:lstStyle/>
          <a:p>
            <a:pPr>
              <a:buNone/>
            </a:pPr>
            <a:r>
              <a:rPr lang="vi-VN" sz="3000" dirty="0"/>
              <a:t>🧩 6️⃣ </a:t>
            </a:r>
            <a:r>
              <a:rPr lang="vi-VN" sz="3000" b="1" dirty="0"/>
              <a:t>Serial.peek()</a:t>
            </a:r>
            <a:endParaRPr lang="vi-VN" sz="3000" dirty="0"/>
          </a:p>
          <a:p>
            <a:pPr>
              <a:buNone/>
            </a:pPr>
            <a:r>
              <a:rPr lang="vi-VN" sz="3000" dirty="0"/>
              <a:t>🧠 </a:t>
            </a:r>
            <a:r>
              <a:rPr lang="vi-VN" sz="3000" b="1" dirty="0"/>
              <a:t>Function:</a:t>
            </a:r>
            <a:br>
              <a:rPr lang="vi-VN" sz="3000" dirty="0"/>
            </a:br>
            <a:r>
              <a:rPr lang="vi-VN" sz="3000" dirty="0"/>
              <a:t>Looks at the </a:t>
            </a:r>
            <a:r>
              <a:rPr lang="vi-VN" sz="3000" b="1" dirty="0"/>
              <a:t>next byte in the RX buffer</a:t>
            </a:r>
            <a:r>
              <a:rPr lang="vi-VN" sz="3000" dirty="0"/>
              <a:t> without removing it.</a:t>
            </a:r>
          </a:p>
          <a:p>
            <a:pPr>
              <a:buNone/>
            </a:pPr>
            <a:r>
              <a:rPr lang="vi-VN" sz="3000" dirty="0"/>
              <a:t>🧱 </a:t>
            </a:r>
            <a:r>
              <a:rPr lang="vi-VN" sz="3000" b="1" dirty="0"/>
              <a:t>Syntax:</a:t>
            </a:r>
            <a:endParaRPr lang="vi-VN" sz="3000" dirty="0"/>
          </a:p>
          <a:p>
            <a:pPr rtl="0">
              <a:buNone/>
            </a:pPr>
            <a:r>
              <a:rPr lang="vi-VN" sz="3000" dirty="0">
                <a:latin typeface="Courier New" panose="02070309020205020404" pitchFamily="49" charset="0"/>
              </a:rPr>
              <a:t>Serial.peek()</a:t>
            </a:r>
          </a:p>
          <a:p>
            <a:pPr>
              <a:buNone/>
            </a:pPr>
            <a:r>
              <a:rPr lang="vi-VN" sz="3000" dirty="0"/>
              <a:t>💡 </a:t>
            </a:r>
            <a:r>
              <a:rPr lang="vi-VN" sz="3000" b="1" dirty="0"/>
              <a:t>Returns:</a:t>
            </a:r>
            <a:br>
              <a:rPr lang="vi-VN" sz="3000" dirty="0"/>
            </a:br>
            <a:r>
              <a:rPr lang="vi-VN" sz="3000" dirty="0"/>
              <a:t>The next byte in the buffer (0–255).</a:t>
            </a:r>
            <a:br>
              <a:rPr lang="vi-VN" sz="3000" dirty="0"/>
            </a:br>
            <a:r>
              <a:rPr lang="vi-VN" sz="3000" dirty="0"/>
              <a:t>If no data is available → returns </a:t>
            </a:r>
            <a:r>
              <a:rPr lang="vi-VN" sz="3000" dirty="0">
                <a:latin typeface="Courier New" panose="02070309020205020404" pitchFamily="49" charset="0"/>
              </a:rPr>
              <a:t>-1</a:t>
            </a:r>
            <a:r>
              <a:rPr lang="vi-VN" sz="3000" dirty="0"/>
              <a:t>.</a:t>
            </a:r>
          </a:p>
          <a:p>
            <a:pPr>
              <a:buNone/>
            </a:pPr>
            <a:r>
              <a:rPr lang="vi-VN" sz="3000" dirty="0"/>
              <a:t>📤 </a:t>
            </a:r>
            <a:r>
              <a:rPr lang="vi-VN" sz="3000" b="1" dirty="0"/>
              <a:t>Example:</a:t>
            </a:r>
            <a:endParaRPr lang="vi-VN" sz="3000" dirty="0"/>
          </a:p>
          <a:p>
            <a:pPr rtl="0">
              <a:buNone/>
            </a:pPr>
            <a:r>
              <a:rPr lang="vi-VN" sz="3000" dirty="0">
                <a:latin typeface="Courier New" panose="02070309020205020404" pitchFamily="49" charset="0"/>
              </a:rPr>
              <a:t>if (Serial.available() &gt; 0) {</a:t>
            </a:r>
          </a:p>
          <a:p>
            <a:pPr rtl="0">
              <a:buNone/>
            </a:pPr>
            <a:r>
              <a:rPr lang="vi-VN" sz="3000" dirty="0">
                <a:latin typeface="Courier New" panose="02070309020205020404" pitchFamily="49" charset="0"/>
              </a:rPr>
              <a:t>  char nextChar = Serial.peek();</a:t>
            </a:r>
          </a:p>
          <a:p>
            <a:pPr rtl="0">
              <a:buNone/>
            </a:pPr>
            <a:r>
              <a:rPr lang="vi-VN" sz="3000" dirty="0">
                <a:latin typeface="Courier New" panose="02070309020205020404" pitchFamily="49" charset="0"/>
              </a:rPr>
              <a:t>  Serial.print("The next byte is: ");</a:t>
            </a:r>
          </a:p>
          <a:p>
            <a:pPr rtl="0">
              <a:buNone/>
            </a:pPr>
            <a:r>
              <a:rPr lang="vi-VN" sz="3000" dirty="0">
                <a:latin typeface="Courier New" panose="02070309020205020404" pitchFamily="49" charset="0"/>
              </a:rPr>
              <a:t>  Serial.println(nextChar);</a:t>
            </a:r>
          </a:p>
          <a:p>
            <a:pPr rtl="0">
              <a:buNone/>
            </a:pPr>
            <a:r>
              <a:rPr lang="vi-VN" sz="3000" dirty="0">
                <a:latin typeface="Courier New" panose="02070309020205020404" pitchFamily="49" charset="0"/>
              </a:rPr>
              <a:t>}</a:t>
            </a:r>
          </a:p>
        </p:txBody>
      </p:sp>
    </p:spTree>
    <p:extLst>
      <p:ext uri="{BB962C8B-B14F-4D97-AF65-F5344CB8AC3E}">
        <p14:creationId xmlns:p14="http://schemas.microsoft.com/office/powerpoint/2010/main" val="4270872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14C5-E67C-2E42-BD96-0F133912EA8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06F17BE-8596-203B-8D58-8ADDBAE4D26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67292519-4851-5F7F-40FE-867A12E57C7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A5F7B5F-FFA1-FE1C-2CC8-74086A643AB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574A419-0441-2DB3-41CA-F649364F1BC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AC20920-12F9-8285-7501-973D421F426D}"/>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2E69811-4624-8D51-EAF8-AF3D7C7A5DF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4FC60B21-C169-E7B3-792D-EF01E548387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DC6F3A1E-2899-69F8-F09E-2487B69FEF8E}"/>
              </a:ext>
            </a:extLst>
          </p:cNvPr>
          <p:cNvPicPr>
            <a:picLocks noChangeAspect="1"/>
          </p:cNvPicPr>
          <p:nvPr/>
        </p:nvPicPr>
        <p:blipFill>
          <a:blip r:embed="rId3"/>
          <a:stretch>
            <a:fillRect/>
          </a:stretch>
        </p:blipFill>
        <p:spPr>
          <a:xfrm>
            <a:off x="4266054" y="1844464"/>
            <a:ext cx="10060692" cy="8079563"/>
          </a:xfrm>
          <a:prstGeom prst="rect">
            <a:avLst/>
          </a:prstGeom>
        </p:spPr>
      </p:pic>
    </p:spTree>
    <p:extLst>
      <p:ext uri="{BB962C8B-B14F-4D97-AF65-F5344CB8AC3E}">
        <p14:creationId xmlns:p14="http://schemas.microsoft.com/office/powerpoint/2010/main" val="2978466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B0736-CDE0-1A2D-FB28-8F2994EE42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BD9110-0AD3-3BC6-9919-93F5AE1615B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AA872157-FB1F-975E-9695-DAF042D1F3D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BFBE09C-3259-F81A-5633-028597ACD3F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8E26E6-35E2-3648-18A3-6AC4C74C2CD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60CACCD-80E7-D947-BEE6-23AEE45A923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6C3A22F9-41FF-58FC-3C41-E57E2958DF6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47F66D7-9B93-1A20-12A9-7A3CD940A90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A9C7269F-9566-5C91-F14E-B66CB0950CB6}"/>
              </a:ext>
            </a:extLst>
          </p:cNvPr>
          <p:cNvSpPr txBox="1"/>
          <p:nvPr/>
        </p:nvSpPr>
        <p:spPr>
          <a:xfrm>
            <a:off x="990600" y="2499587"/>
            <a:ext cx="12954000" cy="5632311"/>
          </a:xfrm>
          <a:prstGeom prst="rect">
            <a:avLst/>
          </a:prstGeom>
          <a:noFill/>
        </p:spPr>
        <p:txBody>
          <a:bodyPr wrap="square">
            <a:spAutoFit/>
          </a:bodyPr>
          <a:lstStyle/>
          <a:p>
            <a:pPr>
              <a:buNone/>
            </a:pPr>
            <a:r>
              <a:rPr lang="vi-VN" sz="3000" dirty="0"/>
              <a:t>🧩 </a:t>
            </a:r>
            <a:r>
              <a:rPr lang="vi-VN" sz="3200" dirty="0"/>
              <a:t>7️⃣</a:t>
            </a:r>
            <a:r>
              <a:rPr lang="vi-VN" sz="3000" b="1" dirty="0"/>
              <a:t>Serial.write()</a:t>
            </a:r>
            <a:endParaRPr lang="vi-VN" sz="3000" dirty="0"/>
          </a:p>
          <a:p>
            <a:pPr>
              <a:buNone/>
            </a:pPr>
            <a:r>
              <a:rPr lang="vi-VN" sz="3000" dirty="0"/>
              <a:t>🧠 </a:t>
            </a:r>
            <a:r>
              <a:rPr lang="vi-VN" sz="3000" b="1" dirty="0"/>
              <a:t>Function:</a:t>
            </a:r>
            <a:br>
              <a:rPr lang="vi-VN" sz="3000" dirty="0"/>
            </a:br>
            <a:r>
              <a:rPr lang="vi-VN" sz="3000" dirty="0"/>
              <a:t>Sends </a:t>
            </a:r>
            <a:r>
              <a:rPr lang="vi-VN" sz="3000" b="1" dirty="0"/>
              <a:t>raw (binary) data</a:t>
            </a:r>
            <a:r>
              <a:rPr lang="vi-VN" sz="3000" dirty="0"/>
              <a:t> over UART.</a:t>
            </a:r>
            <a:br>
              <a:rPr lang="vi-VN" sz="3000" dirty="0"/>
            </a:br>
            <a:r>
              <a:rPr lang="vi-VN" sz="3000" dirty="0"/>
              <a:t>Used when sending a </a:t>
            </a:r>
            <a:r>
              <a:rPr lang="vi-VN" sz="3000" b="1" dirty="0"/>
              <a:t>byte, array, or non-ASCII character</a:t>
            </a:r>
            <a:r>
              <a:rPr lang="vi-VN" sz="3000" dirty="0"/>
              <a:t>.</a:t>
            </a:r>
          </a:p>
          <a:p>
            <a:pPr>
              <a:buNone/>
            </a:pPr>
            <a:r>
              <a:rPr lang="vi-VN" sz="3000" dirty="0"/>
              <a:t>🧱 </a:t>
            </a:r>
            <a:r>
              <a:rPr lang="vi-VN" sz="3000" b="1" dirty="0"/>
              <a:t>Syntax:</a:t>
            </a:r>
            <a:endParaRPr lang="vi-VN" sz="3000" dirty="0"/>
          </a:p>
          <a:p>
            <a:pPr rtl="0">
              <a:buNone/>
            </a:pPr>
            <a:r>
              <a:rPr lang="vi-VN" sz="3000" dirty="0">
                <a:latin typeface="Courier New" panose="02070309020205020404" pitchFamily="49" charset="0"/>
              </a:rPr>
              <a:t>Serial.write(value);</a:t>
            </a:r>
          </a:p>
          <a:p>
            <a:pPr rtl="0">
              <a:buNone/>
            </a:pPr>
            <a:r>
              <a:rPr lang="vi-VN" sz="3000" dirty="0">
                <a:latin typeface="Courier New" panose="02070309020205020404" pitchFamily="49" charset="0"/>
              </a:rPr>
              <a:t>Serial.write(buffer, length);</a:t>
            </a:r>
          </a:p>
          <a:p>
            <a:pPr>
              <a:buNone/>
            </a:pPr>
            <a:r>
              <a:rPr lang="vi-VN" sz="3000" dirty="0"/>
              <a:t>💡 </a:t>
            </a:r>
            <a:r>
              <a:rPr lang="vi-VN" sz="3000" b="1" dirty="0"/>
              <a:t>Returns:</a:t>
            </a:r>
            <a:br>
              <a:rPr lang="vi-VN" sz="3000" dirty="0"/>
            </a:br>
            <a:r>
              <a:rPr lang="vi-VN" sz="3000" dirty="0"/>
              <a:t>The number of bytes sent.</a:t>
            </a:r>
          </a:p>
          <a:p>
            <a:pPr>
              <a:buNone/>
            </a:pPr>
            <a:r>
              <a:rPr lang="vi-VN" sz="3000" dirty="0"/>
              <a:t>📤 </a:t>
            </a:r>
            <a:r>
              <a:rPr lang="vi-VN" sz="3000" b="1" dirty="0"/>
              <a:t>Example:</a:t>
            </a:r>
            <a:endParaRPr lang="vi-VN" sz="3000" dirty="0"/>
          </a:p>
          <a:p>
            <a:pPr rtl="0">
              <a:buNone/>
            </a:pPr>
            <a:r>
              <a:rPr lang="vi-VN" sz="3000" dirty="0">
                <a:latin typeface="Courier New" panose="02070309020205020404" pitchFamily="49" charset="0"/>
              </a:rPr>
              <a:t>byte packet[] = {0xAA, 0x55, 0x10, 0x20};</a:t>
            </a:r>
          </a:p>
          <a:p>
            <a:pPr rtl="0">
              <a:buNone/>
            </a:pPr>
            <a:r>
              <a:rPr lang="vi-VN" sz="3000" dirty="0">
                <a:latin typeface="Courier New" panose="02070309020205020404" pitchFamily="49" charset="0"/>
              </a:rPr>
              <a:t>Serial.write(packet, 4); // send 4 binary bytes</a:t>
            </a:r>
          </a:p>
        </p:txBody>
      </p:sp>
    </p:spTree>
    <p:extLst>
      <p:ext uri="{BB962C8B-B14F-4D97-AF65-F5344CB8AC3E}">
        <p14:creationId xmlns:p14="http://schemas.microsoft.com/office/powerpoint/2010/main" val="1529339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835CC-5806-0005-4100-EE8998BA179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A0D081A-5578-2319-07F2-3EFED94E926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93FA57B2-166A-FA3E-4DF5-CCEB4BC2625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F6B4C1AB-934B-5705-34C1-0992BC895CB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7313AAB-851C-AE8D-FD1C-450509D0F39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831798E-2EC7-42E0-CAC8-C6A8C37D371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3FA0190-818A-08C9-7719-3DFACF58864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DD20224D-BE7C-A2CD-1C8A-EE74098ACE1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8FC2968A-64CA-AF3B-224E-F8B9B5CFD764}"/>
              </a:ext>
            </a:extLst>
          </p:cNvPr>
          <p:cNvPicPr>
            <a:picLocks noChangeAspect="1"/>
          </p:cNvPicPr>
          <p:nvPr/>
        </p:nvPicPr>
        <p:blipFill>
          <a:blip r:embed="rId3"/>
          <a:stretch>
            <a:fillRect/>
          </a:stretch>
        </p:blipFill>
        <p:spPr>
          <a:xfrm>
            <a:off x="4800600" y="2104279"/>
            <a:ext cx="7715250" cy="7776972"/>
          </a:xfrm>
          <a:prstGeom prst="rect">
            <a:avLst/>
          </a:prstGeom>
        </p:spPr>
      </p:pic>
    </p:spTree>
    <p:extLst>
      <p:ext uri="{BB962C8B-B14F-4D97-AF65-F5344CB8AC3E}">
        <p14:creationId xmlns:p14="http://schemas.microsoft.com/office/powerpoint/2010/main" val="650111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75BF8-EFEC-4CFE-3440-AAF00FEF623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DB81044-6105-E4F9-59D5-D9B58EA5D0C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1DC685AD-4067-0A94-8441-57A7C69DCE2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B6C9ECE-F9F7-DEB1-BD0C-65EBA1CAE83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257FB66-FFCD-031B-3BF8-67DF5CCDE55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0196C67-1D72-CDEB-AE40-D26017C7D2B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E1C2B975-8AB6-4FCA-4501-0A15A9EE1F5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CD351C9A-3598-44DC-4779-8685984AF34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5AF7A9CA-E6FE-B8D8-11FA-1E12F1FA3ED6}"/>
              </a:ext>
            </a:extLst>
          </p:cNvPr>
          <p:cNvSpPr txBox="1"/>
          <p:nvPr/>
        </p:nvSpPr>
        <p:spPr>
          <a:xfrm>
            <a:off x="533400" y="2664834"/>
            <a:ext cx="9917722" cy="4939814"/>
          </a:xfrm>
          <a:prstGeom prst="rect">
            <a:avLst/>
          </a:prstGeom>
          <a:noFill/>
        </p:spPr>
        <p:txBody>
          <a:bodyPr wrap="square">
            <a:spAutoFit/>
          </a:bodyPr>
          <a:lstStyle/>
          <a:p>
            <a:pPr>
              <a:buNone/>
            </a:pPr>
            <a:r>
              <a:rPr lang="vi-VN" sz="3500" dirty="0"/>
              <a:t>🧩 </a:t>
            </a:r>
            <a:r>
              <a:rPr lang="vi-VN" sz="3600" dirty="0"/>
              <a:t>8️⃣</a:t>
            </a:r>
            <a:r>
              <a:rPr lang="vi-VN" sz="3500" dirty="0"/>
              <a:t> </a:t>
            </a:r>
            <a:r>
              <a:rPr lang="vi-VN" sz="3500" b="1" dirty="0"/>
              <a:t>Serial.end()</a:t>
            </a:r>
            <a:endParaRPr lang="vi-VN" sz="3500" dirty="0"/>
          </a:p>
          <a:p>
            <a:pPr>
              <a:buNone/>
            </a:pPr>
            <a:r>
              <a:rPr lang="vi-VN" sz="3500" dirty="0"/>
              <a:t>🧠 </a:t>
            </a:r>
            <a:r>
              <a:rPr lang="vi-VN" sz="3500" b="1" dirty="0"/>
              <a:t>Function:</a:t>
            </a:r>
            <a:br>
              <a:rPr lang="vi-VN" sz="3500" dirty="0"/>
            </a:br>
            <a:r>
              <a:rPr lang="vi-VN" sz="3500" dirty="0"/>
              <a:t>Stops the UART and </a:t>
            </a:r>
            <a:r>
              <a:rPr lang="vi-VN" sz="3500" b="1" dirty="0"/>
              <a:t>releases the TX/RX pins</a:t>
            </a:r>
            <a:r>
              <a:rPr lang="vi-VN" sz="3500" dirty="0"/>
              <a:t> for other purposes.</a:t>
            </a:r>
          </a:p>
          <a:p>
            <a:pPr>
              <a:buNone/>
            </a:pPr>
            <a:r>
              <a:rPr lang="vi-VN" sz="3500" dirty="0"/>
              <a:t>🧱 </a:t>
            </a:r>
            <a:r>
              <a:rPr lang="vi-VN" sz="3500" b="1" dirty="0"/>
              <a:t>Syntax:</a:t>
            </a:r>
            <a:endParaRPr lang="vi-VN" sz="3500" dirty="0"/>
          </a:p>
          <a:p>
            <a:pPr rtl="0">
              <a:buNone/>
            </a:pPr>
            <a:r>
              <a:rPr lang="vi-VN" sz="3500" dirty="0">
                <a:latin typeface="Courier New" panose="02070309020205020404" pitchFamily="49" charset="0"/>
              </a:rPr>
              <a:t>Serial.end()</a:t>
            </a:r>
          </a:p>
          <a:p>
            <a:pPr>
              <a:buNone/>
            </a:pPr>
            <a:r>
              <a:rPr lang="vi-VN" sz="3500" dirty="0"/>
              <a:t>📤 </a:t>
            </a:r>
            <a:r>
              <a:rPr lang="vi-VN" sz="3500" b="1" dirty="0"/>
              <a:t>Example:</a:t>
            </a:r>
            <a:endParaRPr lang="vi-VN" sz="3500" dirty="0"/>
          </a:p>
          <a:p>
            <a:pPr rtl="0">
              <a:buNone/>
            </a:pPr>
            <a:r>
              <a:rPr lang="vi-VN" sz="3500" dirty="0">
                <a:latin typeface="Courier New" panose="02070309020205020404" pitchFamily="49" charset="0"/>
              </a:rPr>
              <a:t>Serial.end();  // stop UART communication</a:t>
            </a:r>
          </a:p>
        </p:txBody>
      </p:sp>
    </p:spTree>
    <p:extLst>
      <p:ext uri="{BB962C8B-B14F-4D97-AF65-F5344CB8AC3E}">
        <p14:creationId xmlns:p14="http://schemas.microsoft.com/office/powerpoint/2010/main" val="1759370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14F30-E19B-07B2-9FD6-F19622DB15E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FA781-C993-F5CC-D318-3A9CCA032F9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75921095-4BF7-A8FB-6658-F4E4595FE2B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22A3DC2-FE27-B43B-78E1-3BB895709F7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7890261-3A37-76E3-E6FF-A1B4AF94C0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A8E3A77-84CF-D81A-1EF7-9D55F6A3312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49BE72A7-CFBC-F78F-6DB4-85E2EC87FA57}"/>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3A75F48E-D6DD-BE6E-D86E-039BB31666C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0927C14E-0B75-D91C-5CBB-49BD60FF2A32}"/>
              </a:ext>
            </a:extLst>
          </p:cNvPr>
          <p:cNvSpPr txBox="1"/>
          <p:nvPr/>
        </p:nvSpPr>
        <p:spPr>
          <a:xfrm>
            <a:off x="533400" y="2664834"/>
            <a:ext cx="9917722" cy="3785652"/>
          </a:xfrm>
          <a:prstGeom prst="rect">
            <a:avLst/>
          </a:prstGeom>
          <a:noFill/>
        </p:spPr>
        <p:txBody>
          <a:bodyPr wrap="square">
            <a:spAutoFit/>
          </a:bodyPr>
          <a:lstStyle/>
          <a:p>
            <a:r>
              <a:rPr lang="vi-VN" sz="3000" dirty="0"/>
              <a:t>🧩 </a:t>
            </a:r>
            <a:r>
              <a:rPr lang="vi-VN" sz="3000" b="1" dirty="0"/>
              <a:t>Serial.setTimeout()</a:t>
            </a:r>
            <a:endParaRPr lang="vi-VN" sz="3000" dirty="0"/>
          </a:p>
          <a:p>
            <a:r>
              <a:rPr lang="vi-VN" sz="3000" dirty="0"/>
              <a:t>🧠 </a:t>
            </a:r>
            <a:r>
              <a:rPr lang="vi-VN" sz="3000" b="1" dirty="0"/>
              <a:t>Function:</a:t>
            </a:r>
            <a:br>
              <a:rPr lang="vi-VN" sz="3000" dirty="0"/>
            </a:br>
            <a:r>
              <a:rPr lang="vi-VN" sz="3000" dirty="0"/>
              <a:t>Sets the </a:t>
            </a:r>
            <a:r>
              <a:rPr lang="vi-VN" sz="3000" b="1" dirty="0"/>
              <a:t>timeout duration</a:t>
            </a:r>
            <a:r>
              <a:rPr lang="vi-VN" sz="3000" dirty="0"/>
              <a:t> for data reading functions (such as readBytes(), readString()).</a:t>
            </a:r>
          </a:p>
          <a:p>
            <a:r>
              <a:rPr lang="vi-VN" sz="3000" dirty="0"/>
              <a:t>🧱 </a:t>
            </a:r>
            <a:r>
              <a:rPr lang="vi-VN" sz="3000" b="1" dirty="0"/>
              <a:t>Syntax:</a:t>
            </a:r>
            <a:endParaRPr lang="vi-VN" sz="3000" dirty="0"/>
          </a:p>
          <a:p>
            <a:r>
              <a:rPr lang="vi-VN" sz="3000" dirty="0"/>
              <a:t>Serial.setTimeout(ms)</a:t>
            </a:r>
          </a:p>
          <a:p>
            <a:r>
              <a:rPr lang="vi-VN" sz="3000" dirty="0"/>
              <a:t>📤 </a:t>
            </a:r>
            <a:r>
              <a:rPr lang="vi-VN" sz="3000" b="1" dirty="0"/>
              <a:t>Example:</a:t>
            </a:r>
            <a:endParaRPr lang="vi-VN" sz="3000" dirty="0"/>
          </a:p>
          <a:p>
            <a:r>
              <a:rPr lang="vi-VN" sz="3000" dirty="0"/>
              <a:t>Serial.setTimeout(2000); // 2-second timeout</a:t>
            </a:r>
          </a:p>
        </p:txBody>
      </p:sp>
    </p:spTree>
    <p:extLst>
      <p:ext uri="{BB962C8B-B14F-4D97-AF65-F5344CB8AC3E}">
        <p14:creationId xmlns:p14="http://schemas.microsoft.com/office/powerpoint/2010/main" val="1138673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4349-7F5D-E25D-80EC-68B132D214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8AED931-0384-2BBF-D79E-D564A66CFED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4EE28C83-8F18-5934-94BC-FBAA2222319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847B942-948F-EC90-6298-04F82AE26E9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6D94D0A-7525-6709-DC2D-4F8D4369F0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3B3B04E-FAFD-07E7-D547-7A3C336ADEB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C587B5B-2D40-1756-D1FC-BB5BFCFB99D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49F813B3-3A9B-F721-2345-D4162204BA2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4736E14A-519C-8A21-1644-5C439BF22092}"/>
              </a:ext>
            </a:extLst>
          </p:cNvPr>
          <p:cNvSpPr txBox="1"/>
          <p:nvPr/>
        </p:nvSpPr>
        <p:spPr>
          <a:xfrm>
            <a:off x="533400" y="2664834"/>
            <a:ext cx="9917722" cy="5632311"/>
          </a:xfrm>
          <a:prstGeom prst="rect">
            <a:avLst/>
          </a:prstGeom>
          <a:noFill/>
        </p:spPr>
        <p:txBody>
          <a:bodyPr wrap="square">
            <a:spAutoFit/>
          </a:bodyPr>
          <a:lstStyle/>
          <a:p>
            <a:r>
              <a:rPr lang="vi-VN" sz="3000" dirty="0"/>
              <a:t>🧩  </a:t>
            </a:r>
            <a:r>
              <a:rPr lang="vi-VN" sz="3000" b="1" dirty="0"/>
              <a:t>Serial.availableForWrite()</a:t>
            </a:r>
            <a:endParaRPr lang="vi-VN" sz="3000" dirty="0"/>
          </a:p>
          <a:p>
            <a:r>
              <a:rPr lang="vi-VN" sz="3000" dirty="0"/>
              <a:t>🧠 </a:t>
            </a:r>
            <a:r>
              <a:rPr lang="vi-VN" sz="3000" b="1" dirty="0"/>
              <a:t>Function:</a:t>
            </a:r>
            <a:br>
              <a:rPr lang="vi-VN" sz="3000" dirty="0"/>
            </a:br>
            <a:r>
              <a:rPr lang="vi-VN" sz="3000" dirty="0"/>
              <a:t>Checks how many bytes of free space are left in the transmit buffer (TX buffer).</a:t>
            </a:r>
          </a:p>
          <a:p>
            <a:r>
              <a:rPr lang="vi-VN" sz="3000" dirty="0"/>
              <a:t>🧱 </a:t>
            </a:r>
            <a:r>
              <a:rPr lang="vi-VN" sz="3000" b="1" dirty="0"/>
              <a:t>Syntax:</a:t>
            </a:r>
            <a:endParaRPr lang="vi-VN" sz="3000" dirty="0"/>
          </a:p>
          <a:p>
            <a:r>
              <a:rPr lang="vi-VN" sz="3000" dirty="0"/>
              <a:t>Serial.availableForWrite()</a:t>
            </a:r>
          </a:p>
          <a:p>
            <a:r>
              <a:rPr lang="vi-VN" sz="3000" dirty="0"/>
              <a:t>💡 </a:t>
            </a:r>
            <a:r>
              <a:rPr lang="vi-VN" sz="3000" b="1" dirty="0"/>
              <a:t>Returns:</a:t>
            </a:r>
            <a:br>
              <a:rPr lang="vi-VN" sz="3000" dirty="0"/>
            </a:br>
            <a:r>
              <a:rPr lang="vi-VN" sz="3000" dirty="0"/>
              <a:t>The number of bytes available in the TX buffer.</a:t>
            </a:r>
          </a:p>
          <a:p>
            <a:r>
              <a:rPr lang="vi-VN" sz="3000" dirty="0"/>
              <a:t>📤 </a:t>
            </a:r>
            <a:r>
              <a:rPr lang="vi-VN" sz="3000" b="1" dirty="0"/>
              <a:t>Example:</a:t>
            </a:r>
            <a:endParaRPr lang="vi-VN" sz="3000" dirty="0"/>
          </a:p>
          <a:p>
            <a:r>
              <a:rPr lang="vi-VN" sz="3000" dirty="0"/>
              <a:t>if (Serial.availableForWrite() &gt; 0) {</a:t>
            </a:r>
          </a:p>
          <a:p>
            <a:r>
              <a:rPr lang="vi-VN" sz="3000" dirty="0"/>
              <a:t>  Serial.write('A');</a:t>
            </a:r>
          </a:p>
          <a:p>
            <a:r>
              <a:rPr lang="vi-VN" sz="3000" dirty="0"/>
              <a:t>}</a:t>
            </a:r>
          </a:p>
        </p:txBody>
      </p:sp>
    </p:spTree>
    <p:extLst>
      <p:ext uri="{BB962C8B-B14F-4D97-AF65-F5344CB8AC3E}">
        <p14:creationId xmlns:p14="http://schemas.microsoft.com/office/powerpoint/2010/main" val="3346058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E052-9B2C-14C4-FB31-404EB820413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6F8AA29-4FA6-152F-4188-7DAD617E34D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53745D52-494B-EC06-F9E9-288916F4F9D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025E940-077B-F666-78F1-13DE146DD90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0A16F74-58C1-90DB-7261-9C4A43E9A58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7520749-3BB9-2213-DF7B-92992919700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5E53D28-8005-A80C-BE0C-1C075D7BB5B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E140995-C8E0-B0EB-50E5-A0888ABC4D6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1387B63E-22C9-B2DC-A99A-C884886151AA}"/>
              </a:ext>
            </a:extLst>
          </p:cNvPr>
          <p:cNvPicPr>
            <a:picLocks noChangeAspect="1"/>
          </p:cNvPicPr>
          <p:nvPr/>
        </p:nvPicPr>
        <p:blipFill>
          <a:blip r:embed="rId3"/>
          <a:stretch>
            <a:fillRect/>
          </a:stretch>
        </p:blipFill>
        <p:spPr>
          <a:xfrm>
            <a:off x="4876800" y="2324100"/>
            <a:ext cx="7069234" cy="7365638"/>
          </a:xfrm>
          <a:prstGeom prst="rect">
            <a:avLst/>
          </a:prstGeom>
        </p:spPr>
      </p:pic>
    </p:spTree>
    <p:extLst>
      <p:ext uri="{BB962C8B-B14F-4D97-AF65-F5344CB8AC3E}">
        <p14:creationId xmlns:p14="http://schemas.microsoft.com/office/powerpoint/2010/main" val="4225140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1528-0BA0-035B-C51A-6AB493BCF3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09156BC-E908-D98A-DD05-C5B5B6DC7D5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395635FD-913D-B7E5-07E7-DD6A0E8AFB9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177878D-E22A-10C2-5D07-BEDB1E361FE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A2F8CD3-BB4E-C048-D60C-50BBBEA44A8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A6C481E-290C-1331-C875-C48FF34FBB0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4E526376-FC92-73B4-120C-6FF8D625C52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248DD054-A234-99CE-BFFF-19E60EF546C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AE8C400B-39FC-490B-DC27-2FC1DE548A61}"/>
              </a:ext>
            </a:extLst>
          </p:cNvPr>
          <p:cNvPicPr>
            <a:picLocks noChangeAspect="1"/>
          </p:cNvPicPr>
          <p:nvPr/>
        </p:nvPicPr>
        <p:blipFill>
          <a:blip r:embed="rId3"/>
          <a:stretch>
            <a:fillRect/>
          </a:stretch>
        </p:blipFill>
        <p:spPr>
          <a:xfrm>
            <a:off x="3200400" y="1946030"/>
            <a:ext cx="10233268" cy="7957489"/>
          </a:xfrm>
          <a:prstGeom prst="rect">
            <a:avLst/>
          </a:prstGeom>
        </p:spPr>
      </p:pic>
    </p:spTree>
    <p:extLst>
      <p:ext uri="{BB962C8B-B14F-4D97-AF65-F5344CB8AC3E}">
        <p14:creationId xmlns:p14="http://schemas.microsoft.com/office/powerpoint/2010/main" val="873636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E0430-9E47-6E0E-B8D1-4F68E5B1F09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EB2450B-587E-412D-B7C4-EE307308E15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39472F7D-CF6E-3661-A7A6-FA9CC138DD0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D5C359D-A91A-1EB6-2A62-16587747889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148A4F6-496C-D2AE-3E45-FE94B94EF4A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B3AE31C7-5225-7E02-D068-8AA30837B6A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1</a:t>
            </a:r>
          </a:p>
        </p:txBody>
      </p:sp>
      <p:sp>
        <p:nvSpPr>
          <p:cNvPr id="6" name="TextBox 5">
            <a:extLst>
              <a:ext uri="{FF2B5EF4-FFF2-40B4-BE49-F238E27FC236}">
                <a16:creationId xmlns:a16="http://schemas.microsoft.com/office/drawing/2014/main" id="{FC86C3C7-98E4-F9F7-E5DD-40C74B5B599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1670A450-52D0-CB57-2313-643A4CD447C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A147D3DD-B65D-D89D-3984-04523D7E3203}"/>
              </a:ext>
            </a:extLst>
          </p:cNvPr>
          <p:cNvPicPr>
            <a:picLocks noChangeAspect="1"/>
          </p:cNvPicPr>
          <p:nvPr/>
        </p:nvPicPr>
        <p:blipFill>
          <a:blip r:embed="rId3"/>
          <a:stretch>
            <a:fillRect/>
          </a:stretch>
        </p:blipFill>
        <p:spPr>
          <a:xfrm>
            <a:off x="609600" y="3390900"/>
            <a:ext cx="7553325" cy="5495925"/>
          </a:xfrm>
          <a:prstGeom prst="rect">
            <a:avLst/>
          </a:prstGeom>
        </p:spPr>
      </p:pic>
      <p:sp>
        <p:nvSpPr>
          <p:cNvPr id="13" name="TextBox 12">
            <a:extLst>
              <a:ext uri="{FF2B5EF4-FFF2-40B4-BE49-F238E27FC236}">
                <a16:creationId xmlns:a16="http://schemas.microsoft.com/office/drawing/2014/main" id="{F3C89DA7-2315-591B-C3E9-72BE6D4C0DE7}"/>
              </a:ext>
            </a:extLst>
          </p:cNvPr>
          <p:cNvSpPr txBox="1"/>
          <p:nvPr/>
        </p:nvSpPr>
        <p:spPr>
          <a:xfrm>
            <a:off x="8788559" y="4186427"/>
            <a:ext cx="9917722" cy="4247317"/>
          </a:xfrm>
          <a:prstGeom prst="rect">
            <a:avLst/>
          </a:prstGeom>
          <a:noFill/>
        </p:spPr>
        <p:txBody>
          <a:bodyPr wrap="square">
            <a:spAutoFit/>
          </a:bodyPr>
          <a:lstStyle/>
          <a:p>
            <a:pPr>
              <a:buNone/>
            </a:pPr>
            <a:r>
              <a:rPr lang="en-US" sz="3000" b="1" dirty="0"/>
              <a:t>Exercise 1: Basic LED Blinking</a:t>
            </a:r>
          </a:p>
          <a:p>
            <a:pPr>
              <a:buNone/>
            </a:pPr>
            <a:r>
              <a:rPr lang="en-US" sz="3000" b="1" dirty="0"/>
              <a:t>Components Needed</a:t>
            </a:r>
          </a:p>
          <a:p>
            <a:pPr>
              <a:buFont typeface="Arial" panose="020B0604020202020204" pitchFamily="34" charset="0"/>
              <a:buChar char="•"/>
            </a:pPr>
            <a:r>
              <a:rPr lang="en-US" sz="3000" dirty="0"/>
              <a:t>Arduino Uno</a:t>
            </a:r>
          </a:p>
          <a:p>
            <a:pPr>
              <a:buFont typeface="Arial" panose="020B0604020202020204" pitchFamily="34" charset="0"/>
              <a:buChar char="•"/>
            </a:pPr>
            <a:r>
              <a:rPr lang="en-US" sz="3000" dirty="0"/>
              <a:t>1 LED</a:t>
            </a:r>
          </a:p>
          <a:p>
            <a:pPr>
              <a:buFont typeface="Arial" panose="020B0604020202020204" pitchFamily="34" charset="0"/>
              <a:buChar char="•"/>
            </a:pPr>
            <a:r>
              <a:rPr lang="en-US" sz="3000" dirty="0"/>
              <a:t>1 × 220Ω resistor</a:t>
            </a:r>
          </a:p>
          <a:p>
            <a:pPr>
              <a:buFont typeface="Arial" panose="020B0604020202020204" pitchFamily="34" charset="0"/>
              <a:buChar char="•"/>
            </a:pPr>
            <a:r>
              <a:rPr lang="en-US" sz="3000" dirty="0"/>
              <a:t>Jumper wires</a:t>
            </a:r>
          </a:p>
          <a:p>
            <a:pPr>
              <a:buNone/>
            </a:pPr>
            <a:r>
              <a:rPr lang="en-US" sz="3000" b="1" dirty="0"/>
              <a:t>Requirements</a:t>
            </a:r>
          </a:p>
          <a:p>
            <a:pPr>
              <a:buFont typeface="Arial" panose="020B0604020202020204" pitchFamily="34" charset="0"/>
              <a:buChar char="•"/>
            </a:pPr>
            <a:r>
              <a:rPr lang="en-US" sz="3000" dirty="0"/>
              <a:t>Make the LED turn </a:t>
            </a:r>
            <a:r>
              <a:rPr lang="en-US" sz="3000" b="1" dirty="0"/>
              <a:t>ON for 1 second</a:t>
            </a:r>
            <a:r>
              <a:rPr lang="en-US" sz="3000" dirty="0"/>
              <a:t> and </a:t>
            </a:r>
            <a:r>
              <a:rPr lang="en-US" sz="3000" b="1" dirty="0"/>
              <a:t>OFF for 1 second</a:t>
            </a:r>
            <a:r>
              <a:rPr lang="en-US" sz="3000" dirty="0"/>
              <a:t>.</a:t>
            </a:r>
          </a:p>
          <a:p>
            <a:pPr>
              <a:buFont typeface="Arial" panose="020B0604020202020204" pitchFamily="34" charset="0"/>
              <a:buChar char="•"/>
            </a:pPr>
            <a:r>
              <a:rPr lang="en-US" sz="3000" dirty="0"/>
              <a:t>Use </a:t>
            </a:r>
            <a:r>
              <a:rPr lang="en-US" sz="3000" dirty="0" err="1">
                <a:latin typeface="Courier New" panose="02070309020205020404" pitchFamily="49" charset="0"/>
              </a:rPr>
              <a:t>digitalWrite</a:t>
            </a:r>
            <a:r>
              <a:rPr lang="en-US" sz="3000" dirty="0">
                <a:latin typeface="Courier New" panose="02070309020205020404" pitchFamily="49" charset="0"/>
              </a:rPr>
              <a:t>()</a:t>
            </a:r>
            <a:r>
              <a:rPr lang="en-US" sz="3000" dirty="0"/>
              <a:t> and </a:t>
            </a:r>
            <a:r>
              <a:rPr lang="en-US" sz="3000" dirty="0">
                <a:latin typeface="Courier New" panose="02070309020205020404" pitchFamily="49" charset="0"/>
              </a:rPr>
              <a:t>delay()</a:t>
            </a:r>
            <a:r>
              <a:rPr lang="en-US" sz="3000" dirty="0"/>
              <a:t> functions.</a:t>
            </a:r>
          </a:p>
        </p:txBody>
      </p:sp>
    </p:spTree>
    <p:extLst>
      <p:ext uri="{BB962C8B-B14F-4D97-AF65-F5344CB8AC3E}">
        <p14:creationId xmlns:p14="http://schemas.microsoft.com/office/powerpoint/2010/main" val="3339958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0BF1-F367-7D83-2F64-7F6439E3BBE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45F560B-48F6-AACA-DA00-9AE090C39ED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CAC3FC72-798F-9B0B-6BFC-D1A59DC87B7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1E694F1-C7B7-5224-3BEC-DB54B0FC36F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F2B59A1-FDCF-C019-100F-FDB4493D552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481762B-7EBF-870B-921E-E9BF57CBBA1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2</a:t>
            </a:r>
          </a:p>
        </p:txBody>
      </p:sp>
      <p:sp>
        <p:nvSpPr>
          <p:cNvPr id="6" name="TextBox 5">
            <a:extLst>
              <a:ext uri="{FF2B5EF4-FFF2-40B4-BE49-F238E27FC236}">
                <a16:creationId xmlns:a16="http://schemas.microsoft.com/office/drawing/2014/main" id="{A34AC5AF-B348-34B5-72D9-2E30C7D4722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B6E59D70-2F06-18FA-AF9B-DCECB860D1D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63AAA4EC-C367-E9F4-2200-1E54CBCC3DB6}"/>
              </a:ext>
            </a:extLst>
          </p:cNvPr>
          <p:cNvSpPr txBox="1"/>
          <p:nvPr/>
        </p:nvSpPr>
        <p:spPr>
          <a:xfrm>
            <a:off x="6839359" y="3295303"/>
            <a:ext cx="11772081" cy="6370975"/>
          </a:xfrm>
          <a:prstGeom prst="rect">
            <a:avLst/>
          </a:prstGeom>
          <a:noFill/>
        </p:spPr>
        <p:txBody>
          <a:bodyPr wrap="square">
            <a:spAutoFit/>
          </a:bodyPr>
          <a:lstStyle/>
          <a:p>
            <a:r>
              <a:rPr lang="en-US" sz="2400" b="1" dirty="0"/>
              <a:t>Exercise 2: Control N LEDs Running Left to Right and Fading Back Right to Left</a:t>
            </a:r>
          </a:p>
          <a:p>
            <a:r>
              <a:rPr lang="en-US" sz="2400" b="1" dirty="0"/>
              <a:t>Description</a:t>
            </a:r>
          </a:p>
          <a:p>
            <a:r>
              <a:rPr lang="en-US" sz="2400" dirty="0"/>
              <a:t>You have a sequence of </a:t>
            </a:r>
            <a:r>
              <a:rPr lang="en-US" sz="2400" b="1" dirty="0"/>
              <a:t>N LEDs</a:t>
            </a:r>
            <a:r>
              <a:rPr lang="en-US" sz="2400" dirty="0"/>
              <a:t> connected to the Arduino.</a:t>
            </a:r>
            <a:br>
              <a:rPr lang="en-US" sz="2400" dirty="0"/>
            </a:br>
            <a:r>
              <a:rPr lang="en-US" sz="2400" dirty="0"/>
              <a:t>Write a program that creates the following effect:</a:t>
            </a:r>
          </a:p>
          <a:p>
            <a:r>
              <a:rPr lang="en-US" sz="2400" b="1" dirty="0"/>
              <a:t>1. LEDs turn ON from left → right</a:t>
            </a:r>
          </a:p>
          <a:p>
            <a:r>
              <a:rPr lang="en-US" sz="2400" dirty="0"/>
              <a:t>LED 1 turns ON</a:t>
            </a:r>
          </a:p>
          <a:p>
            <a:r>
              <a:rPr lang="en-US" sz="2400" dirty="0"/>
              <a:t>LED 2 turns ON</a:t>
            </a:r>
          </a:p>
          <a:p>
            <a:r>
              <a:rPr lang="en-US" sz="2400" dirty="0"/>
              <a:t>LED 3 turns ON</a:t>
            </a:r>
          </a:p>
          <a:p>
            <a:r>
              <a:rPr lang="en-US" sz="2400" dirty="0"/>
              <a:t>…</a:t>
            </a:r>
          </a:p>
          <a:p>
            <a:r>
              <a:rPr lang="en-US" sz="2400" dirty="0"/>
              <a:t>LED N turns ON</a:t>
            </a:r>
          </a:p>
          <a:p>
            <a:r>
              <a:rPr lang="en-US" sz="2400" b="1" dirty="0"/>
              <a:t>2. LEDs turn OFF from right → left</a:t>
            </a:r>
          </a:p>
          <a:p>
            <a:r>
              <a:rPr lang="en-US" sz="2400" dirty="0"/>
              <a:t>LED N turns OFF</a:t>
            </a:r>
          </a:p>
          <a:p>
            <a:r>
              <a:rPr lang="en-US" sz="2400" dirty="0"/>
              <a:t>LED N−1 turns OFF</a:t>
            </a:r>
          </a:p>
          <a:p>
            <a:r>
              <a:rPr lang="en-US" sz="2400" dirty="0"/>
              <a:t>LED N−2 turns OFF</a:t>
            </a:r>
          </a:p>
          <a:p>
            <a:r>
              <a:rPr lang="en-US" sz="2400" dirty="0"/>
              <a:t>…</a:t>
            </a:r>
          </a:p>
          <a:p>
            <a:r>
              <a:rPr lang="en-US" sz="2400" dirty="0"/>
              <a:t>LED 1 turns OFF</a:t>
            </a:r>
          </a:p>
          <a:p>
            <a:r>
              <a:rPr lang="en-US" sz="2400" b="1" dirty="0"/>
              <a:t>3. Repeat this cycle forever</a:t>
            </a:r>
          </a:p>
        </p:txBody>
      </p:sp>
      <p:pic>
        <p:nvPicPr>
          <p:cNvPr id="1026" name="Picture 2" descr="Arduino 6 LED Patterns - Hackster.io">
            <a:extLst>
              <a:ext uri="{FF2B5EF4-FFF2-40B4-BE49-F238E27FC236}">
                <a16:creationId xmlns:a16="http://schemas.microsoft.com/office/drawing/2014/main" id="{FC71D63F-3C43-0486-14CE-FC625E40D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861473"/>
            <a:ext cx="5021263" cy="6931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423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42BE6-C837-AE2C-87E7-B501978BE5C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9A0BBC8-807B-7713-11CA-4B3C25A8DEC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9978D5AB-9D21-2B8A-4ABF-65FCB199F28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89FDDEA-0482-AE9A-BDD6-56708B2BBD0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CFA8E5B-4232-5F4A-BA07-B59377F0271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682E306-D578-49D0-6255-2634C4C1391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2</a:t>
            </a:r>
          </a:p>
        </p:txBody>
      </p:sp>
      <p:sp>
        <p:nvSpPr>
          <p:cNvPr id="6" name="TextBox 5">
            <a:extLst>
              <a:ext uri="{FF2B5EF4-FFF2-40B4-BE49-F238E27FC236}">
                <a16:creationId xmlns:a16="http://schemas.microsoft.com/office/drawing/2014/main" id="{8CE7BB87-85FF-08F5-EB55-5362F83ED17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BE5EB911-DACF-0616-5C89-1CE8FB52F8E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6F6736EB-BEEA-34FF-F10E-B0E91DF5FFBA}"/>
              </a:ext>
            </a:extLst>
          </p:cNvPr>
          <p:cNvSpPr txBox="1"/>
          <p:nvPr/>
        </p:nvSpPr>
        <p:spPr>
          <a:xfrm>
            <a:off x="6430108" y="2499587"/>
            <a:ext cx="11772081" cy="7478970"/>
          </a:xfrm>
          <a:prstGeom prst="rect">
            <a:avLst/>
          </a:prstGeom>
          <a:noFill/>
        </p:spPr>
        <p:txBody>
          <a:bodyPr wrap="square">
            <a:spAutoFit/>
          </a:bodyPr>
          <a:lstStyle/>
          <a:p>
            <a:r>
              <a:rPr lang="en-US" sz="3000" b="1" dirty="0"/>
              <a:t>Exercise: 8-LED Lighting Effects</a:t>
            </a:r>
          </a:p>
          <a:p>
            <a:r>
              <a:rPr lang="en-US" sz="3000" b="1" dirty="0"/>
              <a:t>Initial State</a:t>
            </a:r>
          </a:p>
          <a:p>
            <a:r>
              <a:rPr lang="en-US" sz="3000" dirty="0"/>
              <a:t>All </a:t>
            </a:r>
            <a:r>
              <a:rPr lang="en-US" sz="3000" b="1" dirty="0"/>
              <a:t>8 LEDs</a:t>
            </a:r>
            <a:r>
              <a:rPr lang="en-US" sz="3000" dirty="0"/>
              <a:t> are </a:t>
            </a:r>
            <a:r>
              <a:rPr lang="en-US" sz="3000" b="1" dirty="0"/>
              <a:t>OFF</a:t>
            </a:r>
            <a:r>
              <a:rPr lang="en-US" sz="3000" dirty="0"/>
              <a:t> at the start.</a:t>
            </a:r>
          </a:p>
          <a:p>
            <a:r>
              <a:rPr lang="en-US" sz="3000" b="1" dirty="0"/>
              <a:t>Effect 1</a:t>
            </a:r>
          </a:p>
          <a:p>
            <a:r>
              <a:rPr lang="en-US" sz="3000" dirty="0"/>
              <a:t>Turn ON LEDs in this order: </a:t>
            </a:r>
            <a:r>
              <a:rPr lang="en-US" sz="3000" b="1" dirty="0"/>
              <a:t>1 → 3 → 5 → 7</a:t>
            </a:r>
            <a:r>
              <a:rPr lang="en-US" sz="3000" dirty="0"/>
              <a:t>, with </a:t>
            </a:r>
            <a:r>
              <a:rPr lang="en-US" sz="3000" b="1" dirty="0"/>
              <a:t>0.5 second delay</a:t>
            </a:r>
            <a:r>
              <a:rPr lang="en-US" sz="3000" dirty="0"/>
              <a:t> between each.</a:t>
            </a:r>
          </a:p>
          <a:p>
            <a:r>
              <a:rPr lang="en-US" sz="3000" b="1" dirty="0"/>
              <a:t>Effect 2</a:t>
            </a:r>
          </a:p>
          <a:p>
            <a:r>
              <a:rPr lang="en-US" sz="3000" dirty="0"/>
              <a:t>Turn ON LEDs in this order: </a:t>
            </a:r>
            <a:r>
              <a:rPr lang="en-US" sz="3000" b="1" dirty="0"/>
              <a:t>2 → 4 → 6 → 8</a:t>
            </a:r>
            <a:r>
              <a:rPr lang="en-US" sz="3000" dirty="0"/>
              <a:t>, with </a:t>
            </a:r>
            <a:r>
              <a:rPr lang="en-US" sz="3000" b="1" dirty="0"/>
              <a:t>0.5 second delay</a:t>
            </a:r>
            <a:r>
              <a:rPr lang="en-US" sz="3000" dirty="0"/>
              <a:t> between each.</a:t>
            </a:r>
          </a:p>
          <a:p>
            <a:r>
              <a:rPr lang="en-US" sz="3000" dirty="0"/>
              <a:t>After Effect 2 → </a:t>
            </a:r>
            <a:r>
              <a:rPr lang="en-US" sz="3000" b="1" dirty="0"/>
              <a:t>turn OFF all LEDs</a:t>
            </a:r>
            <a:r>
              <a:rPr lang="en-US" sz="3000" dirty="0"/>
              <a:t>.</a:t>
            </a:r>
          </a:p>
          <a:p>
            <a:r>
              <a:rPr lang="en-US" sz="3000" b="1" dirty="0"/>
              <a:t>Effect 3</a:t>
            </a:r>
          </a:p>
          <a:p>
            <a:r>
              <a:rPr lang="en-US" sz="3000" dirty="0"/>
              <a:t>Turn ON LEDs in this order: </a:t>
            </a:r>
            <a:r>
              <a:rPr lang="en-US" sz="3000" b="1" dirty="0"/>
              <a:t>8 → 6 → 4 → 2</a:t>
            </a:r>
            <a:r>
              <a:rPr lang="en-US" sz="3000" dirty="0"/>
              <a:t>, with </a:t>
            </a:r>
            <a:r>
              <a:rPr lang="en-US" sz="3000" b="1" dirty="0"/>
              <a:t>0.5 second delay</a:t>
            </a:r>
            <a:r>
              <a:rPr lang="en-US" sz="3000" dirty="0"/>
              <a:t> between each.</a:t>
            </a:r>
          </a:p>
          <a:p>
            <a:r>
              <a:rPr lang="en-US" sz="3000" b="1" dirty="0"/>
              <a:t>Effect 4</a:t>
            </a:r>
          </a:p>
          <a:p>
            <a:r>
              <a:rPr lang="en-US" sz="3000" dirty="0"/>
              <a:t>Turn ON LEDs in this order: </a:t>
            </a:r>
            <a:r>
              <a:rPr lang="en-US" sz="3000" b="1" dirty="0"/>
              <a:t>7 → 5 → 3 → 1</a:t>
            </a:r>
            <a:r>
              <a:rPr lang="en-US" sz="3000" dirty="0"/>
              <a:t>, with </a:t>
            </a:r>
            <a:r>
              <a:rPr lang="en-US" sz="3000" b="1" dirty="0"/>
              <a:t>0.5 second delay</a:t>
            </a:r>
            <a:r>
              <a:rPr lang="en-US" sz="3000" dirty="0"/>
              <a:t> between each.</a:t>
            </a:r>
          </a:p>
        </p:txBody>
      </p:sp>
      <p:pic>
        <p:nvPicPr>
          <p:cNvPr id="1026" name="Picture 2" descr="Arduino 6 LED Patterns - Hackster.io">
            <a:extLst>
              <a:ext uri="{FF2B5EF4-FFF2-40B4-BE49-F238E27FC236}">
                <a16:creationId xmlns:a16="http://schemas.microsoft.com/office/drawing/2014/main" id="{E07145CD-1EA2-DF48-E6C2-4D74E743C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861473"/>
            <a:ext cx="5021263" cy="6931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745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A8429-1239-913D-E66C-B69F3BBCD64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0AE5CCE-E335-EC12-B194-A7CD33C7CA0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5DB836A7-F72B-3238-8EA4-4F526919C72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C73C660-1B30-0A75-FF3B-61687479ED4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31AA15E-D16A-84EB-654C-164C3490AC1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EC9A8C47-7188-D42A-4B56-2199CE4E4C8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3</a:t>
            </a:r>
          </a:p>
        </p:txBody>
      </p:sp>
      <p:sp>
        <p:nvSpPr>
          <p:cNvPr id="6" name="TextBox 5">
            <a:extLst>
              <a:ext uri="{FF2B5EF4-FFF2-40B4-BE49-F238E27FC236}">
                <a16:creationId xmlns:a16="http://schemas.microsoft.com/office/drawing/2014/main" id="{22798276-AABD-E6A8-CDFE-121DF26539E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028D7F15-A261-D443-C4EB-948C4BB8BA2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F0536A3C-1E32-F7A6-3C3D-947FB809377A}"/>
              </a:ext>
            </a:extLst>
          </p:cNvPr>
          <p:cNvSpPr txBox="1"/>
          <p:nvPr/>
        </p:nvSpPr>
        <p:spPr>
          <a:xfrm>
            <a:off x="7010401" y="2139448"/>
            <a:ext cx="11049000" cy="7525137"/>
          </a:xfrm>
          <a:prstGeom prst="rect">
            <a:avLst/>
          </a:prstGeom>
          <a:noFill/>
        </p:spPr>
        <p:txBody>
          <a:bodyPr wrap="square">
            <a:spAutoFit/>
          </a:bodyPr>
          <a:lstStyle/>
          <a:p>
            <a:r>
              <a:rPr lang="en-US" sz="2100" b="1" dirty="0"/>
              <a:t>Exercise 3: LED Control Using a Push Button (with Debounce)</a:t>
            </a:r>
          </a:p>
          <a:p>
            <a:r>
              <a:rPr lang="en-US" sz="2100" b="1" dirty="0"/>
              <a:t>Description</a:t>
            </a:r>
          </a:p>
          <a:p>
            <a:r>
              <a:rPr lang="en-US" sz="2100" dirty="0"/>
              <a:t>You have </a:t>
            </a:r>
            <a:r>
              <a:rPr lang="en-US" sz="2100" b="1" dirty="0"/>
              <a:t>one push button</a:t>
            </a:r>
            <a:r>
              <a:rPr lang="en-US" sz="2100" dirty="0"/>
              <a:t> and </a:t>
            </a:r>
            <a:r>
              <a:rPr lang="en-US" sz="2100" b="1" dirty="0"/>
              <a:t>one LED</a:t>
            </a:r>
            <a:r>
              <a:rPr lang="en-US" sz="2100" dirty="0"/>
              <a:t> connected to an Arduino.</a:t>
            </a:r>
            <a:br>
              <a:rPr lang="en-US" sz="2100" dirty="0"/>
            </a:br>
            <a:r>
              <a:rPr lang="en-US" sz="2100" dirty="0"/>
              <a:t>Write a program that behaves as follows:</a:t>
            </a:r>
          </a:p>
          <a:p>
            <a:r>
              <a:rPr lang="en-US" sz="2100" dirty="0"/>
              <a:t>Press the button once → the LED turns </a:t>
            </a:r>
            <a:r>
              <a:rPr lang="en-US" sz="2100" b="1" dirty="0"/>
              <a:t>ON</a:t>
            </a:r>
            <a:endParaRPr lang="en-US" sz="2100" dirty="0"/>
          </a:p>
          <a:p>
            <a:r>
              <a:rPr lang="en-US" sz="2100" dirty="0"/>
              <a:t>Press the button again → the LED turns </a:t>
            </a:r>
            <a:r>
              <a:rPr lang="en-US" sz="2100" b="1" dirty="0"/>
              <a:t>OFF</a:t>
            </a:r>
            <a:endParaRPr lang="en-US" sz="2100" dirty="0"/>
          </a:p>
          <a:p>
            <a:r>
              <a:rPr lang="en-US" sz="2100" dirty="0"/>
              <a:t>The program must include </a:t>
            </a:r>
            <a:r>
              <a:rPr lang="en-US" sz="2100" b="1" dirty="0"/>
              <a:t>debounce</a:t>
            </a:r>
            <a:r>
              <a:rPr lang="en-US" sz="2100" dirty="0"/>
              <a:t> so the LED does not toggle multiple times due to switch noise.</a:t>
            </a:r>
          </a:p>
          <a:p>
            <a:endParaRPr lang="en-US" sz="2100" dirty="0"/>
          </a:p>
          <a:p>
            <a:r>
              <a:rPr lang="en-US" sz="2100" b="1" dirty="0"/>
              <a:t>Detailed Requirements</a:t>
            </a:r>
          </a:p>
          <a:p>
            <a:r>
              <a:rPr lang="en-US" sz="2100" dirty="0"/>
              <a:t>The LED must be controlled using </a:t>
            </a:r>
            <a:r>
              <a:rPr lang="en-US" sz="2100" dirty="0" err="1"/>
              <a:t>digitalWrite</a:t>
            </a:r>
            <a:r>
              <a:rPr lang="en-US" sz="2100" dirty="0"/>
              <a:t>().</a:t>
            </a:r>
          </a:p>
          <a:p>
            <a:r>
              <a:rPr lang="en-US" sz="2100" dirty="0"/>
              <a:t>The push button can be wired using </a:t>
            </a:r>
            <a:r>
              <a:rPr lang="en-US" sz="2100" b="1" dirty="0"/>
              <a:t>pull-down</a:t>
            </a:r>
            <a:r>
              <a:rPr lang="en-US" sz="2100" dirty="0"/>
              <a:t> or </a:t>
            </a:r>
            <a:r>
              <a:rPr lang="en-US" sz="2100" b="1" dirty="0"/>
              <a:t>pull-up</a:t>
            </a:r>
            <a:r>
              <a:rPr lang="en-US" sz="2100" dirty="0"/>
              <a:t> configuration (the wiring method must be clearly stated in the code).</a:t>
            </a:r>
          </a:p>
          <a:p>
            <a:r>
              <a:rPr lang="en-US" sz="2100" dirty="0"/>
              <a:t>The LED state must be stored in a variable (e.g., </a:t>
            </a:r>
            <a:r>
              <a:rPr lang="en-US" sz="2100" dirty="0" err="1"/>
              <a:t>ledState</a:t>
            </a:r>
            <a:r>
              <a:rPr lang="en-US" sz="2100" dirty="0"/>
              <a:t>).</a:t>
            </a:r>
          </a:p>
          <a:p>
            <a:r>
              <a:rPr lang="en-US" sz="2100" dirty="0"/>
              <a:t>For extra points: </a:t>
            </a:r>
            <a:r>
              <a:rPr lang="en-US" sz="2100" b="1" dirty="0"/>
              <a:t>Do not use delay()</a:t>
            </a:r>
            <a:r>
              <a:rPr lang="en-US" sz="2100" dirty="0"/>
              <a:t> — use </a:t>
            </a:r>
            <a:r>
              <a:rPr lang="en-US" sz="2100" dirty="0" err="1"/>
              <a:t>millis</a:t>
            </a:r>
            <a:r>
              <a:rPr lang="en-US" sz="2100" dirty="0"/>
              <a:t>() for debounce timing.</a:t>
            </a:r>
          </a:p>
          <a:p>
            <a:r>
              <a:rPr lang="en-US" sz="2100" dirty="0"/>
              <a:t>The system must work reliably even if the user presses the button quickly multiple times.</a:t>
            </a:r>
          </a:p>
          <a:p>
            <a:endParaRPr lang="en-US" sz="2100" dirty="0"/>
          </a:p>
          <a:p>
            <a:r>
              <a:rPr lang="en-US" sz="2100" b="1" dirty="0"/>
              <a:t>Components</a:t>
            </a:r>
          </a:p>
          <a:p>
            <a:r>
              <a:rPr lang="en-US" sz="2100" dirty="0"/>
              <a:t>Arduino Uno</a:t>
            </a:r>
          </a:p>
          <a:p>
            <a:r>
              <a:rPr lang="en-US" sz="2100" dirty="0"/>
              <a:t>1 push button</a:t>
            </a:r>
          </a:p>
          <a:p>
            <a:r>
              <a:rPr lang="en-US" sz="2100" dirty="0"/>
              <a:t>1 × 10kΩ resistor (if using a pull-down circuit)</a:t>
            </a:r>
          </a:p>
          <a:p>
            <a:r>
              <a:rPr lang="en-US" sz="2100" dirty="0"/>
              <a:t>1 LED + 220Ω resistor</a:t>
            </a:r>
          </a:p>
          <a:p>
            <a:r>
              <a:rPr lang="en-US" sz="2100" dirty="0"/>
              <a:t>Jumper wires</a:t>
            </a:r>
          </a:p>
          <a:p>
            <a:r>
              <a:rPr lang="en-US" sz="2100" dirty="0"/>
              <a:t>Breadboard</a:t>
            </a:r>
          </a:p>
        </p:txBody>
      </p:sp>
      <p:pic>
        <p:nvPicPr>
          <p:cNvPr id="9" name="Picture 8">
            <a:extLst>
              <a:ext uri="{FF2B5EF4-FFF2-40B4-BE49-F238E27FC236}">
                <a16:creationId xmlns:a16="http://schemas.microsoft.com/office/drawing/2014/main" id="{05341E08-46BD-41B0-282D-8600EF4B2480}"/>
              </a:ext>
            </a:extLst>
          </p:cNvPr>
          <p:cNvPicPr>
            <a:picLocks noChangeAspect="1"/>
          </p:cNvPicPr>
          <p:nvPr/>
        </p:nvPicPr>
        <p:blipFill>
          <a:blip r:embed="rId3"/>
          <a:stretch>
            <a:fillRect/>
          </a:stretch>
        </p:blipFill>
        <p:spPr>
          <a:xfrm>
            <a:off x="552487" y="3268926"/>
            <a:ext cx="6213603" cy="5272951"/>
          </a:xfrm>
          <a:prstGeom prst="rect">
            <a:avLst/>
          </a:prstGeom>
        </p:spPr>
      </p:pic>
    </p:spTree>
    <p:extLst>
      <p:ext uri="{BB962C8B-B14F-4D97-AF65-F5344CB8AC3E}">
        <p14:creationId xmlns:p14="http://schemas.microsoft.com/office/powerpoint/2010/main" val="2931231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72BB1-C23A-F53E-4E80-8506BD601BD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C4E2608-7939-8CA3-F05E-B99722D19FE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2D5247CD-AB18-C7F9-0E5F-030390E7875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1B68983-E1E9-C4A3-0DCF-401912A2693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DC21CFD-4AA8-0A66-66BB-E12B62F3C5A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97F99CD-5761-A810-A5B8-E3F96A89009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4</a:t>
            </a:r>
          </a:p>
        </p:txBody>
      </p:sp>
      <p:sp>
        <p:nvSpPr>
          <p:cNvPr id="6" name="TextBox 5">
            <a:extLst>
              <a:ext uri="{FF2B5EF4-FFF2-40B4-BE49-F238E27FC236}">
                <a16:creationId xmlns:a16="http://schemas.microsoft.com/office/drawing/2014/main" id="{CB3C26B5-56E7-DD66-22EC-433B941E3B7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4115FFAD-A234-3BEB-9201-602DDD3D31A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885AFA08-9399-D163-03E6-5BCD7D5D23D2}"/>
              </a:ext>
            </a:extLst>
          </p:cNvPr>
          <p:cNvSpPr txBox="1"/>
          <p:nvPr/>
        </p:nvSpPr>
        <p:spPr>
          <a:xfrm>
            <a:off x="7010401" y="2139448"/>
            <a:ext cx="11049000" cy="7986802"/>
          </a:xfrm>
          <a:prstGeom prst="rect">
            <a:avLst/>
          </a:prstGeom>
          <a:noFill/>
        </p:spPr>
        <p:txBody>
          <a:bodyPr wrap="square">
            <a:spAutoFit/>
          </a:bodyPr>
          <a:lstStyle/>
          <a:p>
            <a:r>
              <a:rPr lang="en-US" sz="2700" b="1" dirty="0"/>
              <a:t>Exercise 4: Control 3 LEDs Using 3 Push Buttons</a:t>
            </a:r>
          </a:p>
          <a:p>
            <a:r>
              <a:rPr lang="en-US" sz="2700" b="1" dirty="0"/>
              <a:t>Description</a:t>
            </a:r>
          </a:p>
          <a:p>
            <a:r>
              <a:rPr lang="en-US" sz="2700" dirty="0"/>
              <a:t>You have </a:t>
            </a:r>
            <a:r>
              <a:rPr lang="en-US" sz="2700" b="1" dirty="0"/>
              <a:t>3 push buttons</a:t>
            </a:r>
            <a:r>
              <a:rPr lang="en-US" sz="2700" dirty="0"/>
              <a:t> and </a:t>
            </a:r>
            <a:r>
              <a:rPr lang="en-US" sz="2700" b="1" dirty="0"/>
              <a:t>3 LEDs</a:t>
            </a:r>
            <a:r>
              <a:rPr lang="en-US" sz="2700" dirty="0"/>
              <a:t> connected to an Arduino.</a:t>
            </a:r>
            <a:br>
              <a:rPr lang="en-US" sz="2700" dirty="0"/>
            </a:br>
            <a:r>
              <a:rPr lang="en-US" sz="2700" dirty="0"/>
              <a:t>Write a program that satisfies the following requirements:</a:t>
            </a:r>
          </a:p>
          <a:p>
            <a:r>
              <a:rPr lang="en-US" sz="2700" b="1" dirty="0"/>
              <a:t>Initial State</a:t>
            </a:r>
          </a:p>
          <a:p>
            <a:r>
              <a:rPr lang="en-US" sz="2700" dirty="0"/>
              <a:t>When the Arduino is powered on or reset → </a:t>
            </a:r>
            <a:r>
              <a:rPr lang="en-US" sz="2700" b="1" dirty="0"/>
              <a:t>all 3 LEDs must be OFF</a:t>
            </a:r>
            <a:r>
              <a:rPr lang="en-US" sz="2700" dirty="0"/>
              <a:t>.</a:t>
            </a:r>
          </a:p>
          <a:p>
            <a:r>
              <a:rPr lang="en-US" sz="2700" b="1" dirty="0"/>
              <a:t>Button Functions</a:t>
            </a:r>
          </a:p>
          <a:p>
            <a:r>
              <a:rPr lang="en-US" sz="2700" b="1" dirty="0"/>
              <a:t>Press Button 1</a:t>
            </a:r>
            <a:r>
              <a:rPr lang="en-US" sz="2700" dirty="0"/>
              <a:t> → Only </a:t>
            </a:r>
            <a:r>
              <a:rPr lang="en-US" sz="2700" b="1" dirty="0"/>
              <a:t>LED 1</a:t>
            </a:r>
            <a:r>
              <a:rPr lang="en-US" sz="2700" dirty="0"/>
              <a:t> turns ON (LED 2 and LED 3 must be OFF).</a:t>
            </a:r>
          </a:p>
          <a:p>
            <a:r>
              <a:rPr lang="en-US" sz="2700" b="1" dirty="0"/>
              <a:t>Press Button 2</a:t>
            </a:r>
            <a:r>
              <a:rPr lang="en-US" sz="2700" dirty="0"/>
              <a:t> → </a:t>
            </a:r>
            <a:r>
              <a:rPr lang="en-US" sz="2700" b="1" dirty="0"/>
              <a:t>LED 1 and LED 2</a:t>
            </a:r>
            <a:r>
              <a:rPr lang="en-US" sz="2700" dirty="0"/>
              <a:t> turn ON (LED 3 must be OFF).</a:t>
            </a:r>
          </a:p>
          <a:p>
            <a:r>
              <a:rPr lang="en-US" sz="2700" b="1" dirty="0"/>
              <a:t>Press Button 3</a:t>
            </a:r>
            <a:r>
              <a:rPr lang="en-US" sz="2700" dirty="0"/>
              <a:t> → </a:t>
            </a:r>
            <a:r>
              <a:rPr lang="en-US" sz="2700" b="1" dirty="0"/>
              <a:t>LED 1, LED 2, and LED 3</a:t>
            </a:r>
            <a:r>
              <a:rPr lang="en-US" sz="2700" dirty="0"/>
              <a:t> all turn ON.</a:t>
            </a:r>
          </a:p>
          <a:p>
            <a:r>
              <a:rPr lang="en-US" sz="2700" dirty="0"/>
              <a:t>Each button requires </a:t>
            </a:r>
            <a:r>
              <a:rPr lang="en-US" sz="2700" b="1" dirty="0"/>
              <a:t>only one press</a:t>
            </a:r>
            <a:r>
              <a:rPr lang="en-US" sz="2700" dirty="0"/>
              <a:t> to activate its corresponding mode.</a:t>
            </a:r>
          </a:p>
          <a:p>
            <a:br>
              <a:rPr lang="en-US" sz="2700" dirty="0"/>
            </a:br>
            <a:endParaRPr lang="en-US" sz="2700" dirty="0"/>
          </a:p>
          <a:p>
            <a:r>
              <a:rPr lang="en-US" sz="2700" b="1" dirty="0"/>
              <a:t>Additional Requirements</a:t>
            </a:r>
          </a:p>
          <a:p>
            <a:r>
              <a:rPr lang="en-US" sz="2700" dirty="0"/>
              <a:t>Use </a:t>
            </a:r>
            <a:r>
              <a:rPr lang="en-US" sz="2700" dirty="0" err="1"/>
              <a:t>digitalRead</a:t>
            </a:r>
            <a:r>
              <a:rPr lang="en-US" sz="2700" dirty="0"/>
              <a:t>() to read the state of each button.</a:t>
            </a:r>
          </a:p>
          <a:p>
            <a:r>
              <a:rPr lang="en-US" sz="2700" dirty="0"/>
              <a:t>Use </a:t>
            </a:r>
            <a:r>
              <a:rPr lang="en-US" sz="2700" dirty="0" err="1"/>
              <a:t>digitalWrite</a:t>
            </a:r>
            <a:r>
              <a:rPr lang="en-US" sz="2700" dirty="0"/>
              <a:t>() to control each LED.</a:t>
            </a:r>
          </a:p>
          <a:p>
            <a:r>
              <a:rPr lang="en-US" sz="2700" dirty="0"/>
              <a:t>You may use </a:t>
            </a:r>
            <a:r>
              <a:rPr lang="en-US" sz="2700" b="1" dirty="0"/>
              <a:t>INPUT_PULLUP</a:t>
            </a:r>
            <a:r>
              <a:rPr lang="en-US" sz="2700" dirty="0"/>
              <a:t> or external resistors (pull-down/pull-up) — your choice.</a:t>
            </a:r>
          </a:p>
          <a:p>
            <a:r>
              <a:rPr lang="en-US" sz="2700" dirty="0"/>
              <a:t>Only </a:t>
            </a:r>
            <a:r>
              <a:rPr lang="en-US" sz="2700" b="1" dirty="0"/>
              <a:t>one mode</a:t>
            </a:r>
            <a:r>
              <a:rPr lang="en-US" sz="2700" dirty="0"/>
              <a:t> should be active at any time.</a:t>
            </a:r>
          </a:p>
        </p:txBody>
      </p:sp>
      <p:pic>
        <p:nvPicPr>
          <p:cNvPr id="3074" name="Picture 2" descr="Arduino Push Button with Multiple LEDs [Tutorial] - The Robotics Back-End">
            <a:extLst>
              <a:ext uri="{FF2B5EF4-FFF2-40B4-BE49-F238E27FC236}">
                <a16:creationId xmlns:a16="http://schemas.microsoft.com/office/drawing/2014/main" id="{922DE5D3-6988-877B-A144-EF6AE4C60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867" y="2159963"/>
            <a:ext cx="5734050" cy="772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506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CCEDE-C045-F1BE-D3DF-1FA13E53D15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2094B03-E343-B2C8-CCD9-35FF09BC9B1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17EB6354-8F16-FBE7-5EDC-01B827B5573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A60A249-F588-2837-504E-BB7A06ECB29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09FB2E2-A77F-7688-EF20-F822BA5FE49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19393CA-B500-F97E-A16E-93DD1D8EAD3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4</a:t>
            </a:r>
          </a:p>
        </p:txBody>
      </p:sp>
      <p:sp>
        <p:nvSpPr>
          <p:cNvPr id="6" name="TextBox 5">
            <a:extLst>
              <a:ext uri="{FF2B5EF4-FFF2-40B4-BE49-F238E27FC236}">
                <a16:creationId xmlns:a16="http://schemas.microsoft.com/office/drawing/2014/main" id="{3FAFA6DB-4DCF-4252-F2C0-6F85F6CCC91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B2B37559-DB18-180B-720E-CA843BF2C46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01AB65D4-E742-6AE2-3D81-437C236B018E}"/>
              </a:ext>
            </a:extLst>
          </p:cNvPr>
          <p:cNvSpPr txBox="1"/>
          <p:nvPr/>
        </p:nvSpPr>
        <p:spPr>
          <a:xfrm>
            <a:off x="7010401" y="2139448"/>
            <a:ext cx="11049000" cy="7986802"/>
          </a:xfrm>
          <a:prstGeom prst="rect">
            <a:avLst/>
          </a:prstGeom>
          <a:noFill/>
        </p:spPr>
        <p:txBody>
          <a:bodyPr wrap="square">
            <a:spAutoFit/>
          </a:bodyPr>
          <a:lstStyle/>
          <a:p>
            <a:r>
              <a:rPr lang="en-US" sz="2700" b="1" dirty="0"/>
              <a:t>Exercise 4: Control 3 LEDs Using 3 Push Buttons</a:t>
            </a:r>
          </a:p>
          <a:p>
            <a:r>
              <a:rPr lang="en-US" sz="2700" b="1" dirty="0"/>
              <a:t>Description</a:t>
            </a:r>
          </a:p>
          <a:p>
            <a:r>
              <a:rPr lang="en-US" sz="2700" dirty="0"/>
              <a:t>You have </a:t>
            </a:r>
            <a:r>
              <a:rPr lang="en-US" sz="2700" b="1" dirty="0"/>
              <a:t>3 push buttons</a:t>
            </a:r>
            <a:r>
              <a:rPr lang="en-US" sz="2700" dirty="0"/>
              <a:t> and </a:t>
            </a:r>
            <a:r>
              <a:rPr lang="en-US" sz="2700" b="1" dirty="0"/>
              <a:t>3 LEDs</a:t>
            </a:r>
            <a:r>
              <a:rPr lang="en-US" sz="2700" dirty="0"/>
              <a:t> connected to an Arduino.</a:t>
            </a:r>
            <a:br>
              <a:rPr lang="en-US" sz="2700" dirty="0"/>
            </a:br>
            <a:r>
              <a:rPr lang="en-US" sz="2700" dirty="0"/>
              <a:t>Write a program that satisfies the following requirements:</a:t>
            </a:r>
          </a:p>
          <a:p>
            <a:r>
              <a:rPr lang="en-US" sz="2700" b="1" dirty="0"/>
              <a:t>Initial State</a:t>
            </a:r>
          </a:p>
          <a:p>
            <a:r>
              <a:rPr lang="en-US" sz="2700" dirty="0"/>
              <a:t>When the Arduino is powered on or reset → </a:t>
            </a:r>
            <a:r>
              <a:rPr lang="en-US" sz="2700" b="1" dirty="0"/>
              <a:t>all 3 LEDs must be OFF</a:t>
            </a:r>
            <a:r>
              <a:rPr lang="en-US" sz="2700" dirty="0"/>
              <a:t>.</a:t>
            </a:r>
          </a:p>
          <a:p>
            <a:r>
              <a:rPr lang="en-US" sz="2700" b="1" dirty="0"/>
              <a:t>Button Functions</a:t>
            </a:r>
          </a:p>
          <a:p>
            <a:r>
              <a:rPr lang="en-US" sz="2700" b="1" dirty="0"/>
              <a:t>Press Button 1</a:t>
            </a:r>
            <a:r>
              <a:rPr lang="en-US" sz="2700" dirty="0"/>
              <a:t> → Only </a:t>
            </a:r>
            <a:r>
              <a:rPr lang="en-US" sz="2700" b="1" dirty="0"/>
              <a:t>LED 1</a:t>
            </a:r>
            <a:r>
              <a:rPr lang="en-US" sz="2700" dirty="0"/>
              <a:t> turns ON (LED 2 and LED 3 must be OFF).</a:t>
            </a:r>
          </a:p>
          <a:p>
            <a:r>
              <a:rPr lang="en-US" sz="2700" b="1" dirty="0"/>
              <a:t>Press Button 2</a:t>
            </a:r>
            <a:r>
              <a:rPr lang="en-US" sz="2700" dirty="0"/>
              <a:t> → </a:t>
            </a:r>
            <a:r>
              <a:rPr lang="en-US" sz="2700" b="1" dirty="0"/>
              <a:t>LED 1 and LED 2</a:t>
            </a:r>
            <a:r>
              <a:rPr lang="en-US" sz="2700" dirty="0"/>
              <a:t> turn ON (LED 3 must be OFF).</a:t>
            </a:r>
          </a:p>
          <a:p>
            <a:r>
              <a:rPr lang="en-US" sz="2700" b="1" dirty="0"/>
              <a:t>Press Button 3</a:t>
            </a:r>
            <a:r>
              <a:rPr lang="en-US" sz="2700" dirty="0"/>
              <a:t> → </a:t>
            </a:r>
            <a:r>
              <a:rPr lang="en-US" sz="2700" b="1" dirty="0"/>
              <a:t>LED 1, LED 2, and LED 3</a:t>
            </a:r>
            <a:r>
              <a:rPr lang="en-US" sz="2700" dirty="0"/>
              <a:t> all turn ON.</a:t>
            </a:r>
          </a:p>
          <a:p>
            <a:r>
              <a:rPr lang="en-US" sz="2700" dirty="0"/>
              <a:t>Each button requires </a:t>
            </a:r>
            <a:r>
              <a:rPr lang="en-US" sz="2700" b="1" dirty="0"/>
              <a:t>only one press</a:t>
            </a:r>
            <a:r>
              <a:rPr lang="en-US" sz="2700" dirty="0"/>
              <a:t> to activate its corresponding mode.</a:t>
            </a:r>
          </a:p>
          <a:p>
            <a:br>
              <a:rPr lang="en-US" sz="2700" dirty="0"/>
            </a:br>
            <a:endParaRPr lang="en-US" sz="2700" dirty="0"/>
          </a:p>
          <a:p>
            <a:r>
              <a:rPr lang="en-US" sz="2700" b="1" dirty="0"/>
              <a:t>Additional Requirements</a:t>
            </a:r>
          </a:p>
          <a:p>
            <a:r>
              <a:rPr lang="en-US" sz="2700" dirty="0"/>
              <a:t>Use </a:t>
            </a:r>
            <a:r>
              <a:rPr lang="en-US" sz="2700" dirty="0" err="1"/>
              <a:t>digitalRead</a:t>
            </a:r>
            <a:r>
              <a:rPr lang="en-US" sz="2700" dirty="0"/>
              <a:t>() to read the state of each button.</a:t>
            </a:r>
          </a:p>
          <a:p>
            <a:r>
              <a:rPr lang="en-US" sz="2700" dirty="0"/>
              <a:t>Use </a:t>
            </a:r>
            <a:r>
              <a:rPr lang="en-US" sz="2700" dirty="0" err="1"/>
              <a:t>digitalWrite</a:t>
            </a:r>
            <a:r>
              <a:rPr lang="en-US" sz="2700" dirty="0"/>
              <a:t>() to control each LED.</a:t>
            </a:r>
          </a:p>
          <a:p>
            <a:r>
              <a:rPr lang="en-US" sz="2700" dirty="0"/>
              <a:t>You may use </a:t>
            </a:r>
            <a:r>
              <a:rPr lang="en-US" sz="2700" b="1" dirty="0"/>
              <a:t>INPUT_PULLUP</a:t>
            </a:r>
            <a:r>
              <a:rPr lang="en-US" sz="2700" dirty="0"/>
              <a:t> or external resistors (pull-down/pull-up) — your choice.</a:t>
            </a:r>
          </a:p>
          <a:p>
            <a:r>
              <a:rPr lang="en-US" sz="2700" dirty="0"/>
              <a:t>Only </a:t>
            </a:r>
            <a:r>
              <a:rPr lang="en-US" sz="2700" b="1" dirty="0"/>
              <a:t>one mode</a:t>
            </a:r>
            <a:r>
              <a:rPr lang="en-US" sz="2700" dirty="0"/>
              <a:t> should be active at any time.</a:t>
            </a:r>
          </a:p>
        </p:txBody>
      </p:sp>
      <p:pic>
        <p:nvPicPr>
          <p:cNvPr id="3074" name="Picture 2" descr="Arduino Push Button with Multiple LEDs [Tutorial] - The Robotics Back-End">
            <a:extLst>
              <a:ext uri="{FF2B5EF4-FFF2-40B4-BE49-F238E27FC236}">
                <a16:creationId xmlns:a16="http://schemas.microsoft.com/office/drawing/2014/main" id="{1B6C9652-3140-431D-552F-1865B1E927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867" y="2159963"/>
            <a:ext cx="5734050" cy="772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99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5C4B2-084E-4935-F045-95F9425E930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029519C-2D76-2616-4DA8-5CEEBB70D22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F30C5206-3997-A53E-E1B6-AA58F824FC2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7C9664A-6676-7130-E9E0-28FB9C28041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13BBA46-EF03-C015-40DD-5D8D53C97E2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D39578D-0A1C-E8D3-E4BA-798639E2113E}"/>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4</a:t>
            </a:r>
          </a:p>
        </p:txBody>
      </p:sp>
      <p:sp>
        <p:nvSpPr>
          <p:cNvPr id="6" name="TextBox 5">
            <a:extLst>
              <a:ext uri="{FF2B5EF4-FFF2-40B4-BE49-F238E27FC236}">
                <a16:creationId xmlns:a16="http://schemas.microsoft.com/office/drawing/2014/main" id="{84D57D27-CB6A-1B6D-1E07-8B1AEE26025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3FF7610D-7F77-2AFF-75B8-0E9C5462E2B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359BA570-C2AE-C1E9-DE65-310C58C6A329}"/>
              </a:ext>
            </a:extLst>
          </p:cNvPr>
          <p:cNvSpPr txBox="1"/>
          <p:nvPr/>
        </p:nvSpPr>
        <p:spPr>
          <a:xfrm>
            <a:off x="9296400" y="2248183"/>
            <a:ext cx="7862918" cy="7478970"/>
          </a:xfrm>
          <a:prstGeom prst="rect">
            <a:avLst/>
          </a:prstGeom>
          <a:noFill/>
        </p:spPr>
        <p:txBody>
          <a:bodyPr wrap="square">
            <a:spAutoFit/>
          </a:bodyPr>
          <a:lstStyle/>
          <a:p>
            <a:r>
              <a:rPr lang="en-US" sz="3000" b="1" dirty="0"/>
              <a:t>Exercise: Control a Servo with 2 Push Buttons</a:t>
            </a:r>
          </a:p>
          <a:p>
            <a:r>
              <a:rPr lang="en-US" sz="3000" b="1" dirty="0"/>
              <a:t>1. Objective</a:t>
            </a:r>
          </a:p>
          <a:p>
            <a:r>
              <a:rPr lang="en-US" sz="3000" dirty="0"/>
              <a:t>Use the </a:t>
            </a:r>
            <a:r>
              <a:rPr lang="en-US" sz="3000" b="1" dirty="0"/>
              <a:t>Arduino Servo library</a:t>
            </a:r>
            <a:r>
              <a:rPr lang="en-US" sz="3000" dirty="0"/>
              <a:t>.</a:t>
            </a:r>
          </a:p>
          <a:p>
            <a:r>
              <a:rPr lang="en-US" sz="3000" dirty="0"/>
              <a:t>Control the </a:t>
            </a:r>
            <a:r>
              <a:rPr lang="en-US" sz="3000" b="1" dirty="0"/>
              <a:t>rotation angle</a:t>
            </a:r>
            <a:r>
              <a:rPr lang="en-US" sz="3000" dirty="0"/>
              <a:t> of a servo motor using </a:t>
            </a:r>
            <a:r>
              <a:rPr lang="en-US" sz="3000" b="1" dirty="0"/>
              <a:t>two push buttons</a:t>
            </a:r>
            <a:r>
              <a:rPr lang="en-US" sz="3000" dirty="0"/>
              <a:t>:</a:t>
            </a:r>
          </a:p>
          <a:p>
            <a:pPr lvl="1"/>
            <a:r>
              <a:rPr lang="en-US" sz="3000" b="1" dirty="0"/>
              <a:t>Button 1:</a:t>
            </a:r>
            <a:r>
              <a:rPr lang="en-US" sz="3000" dirty="0"/>
              <a:t> Increase the angle (rotate right).</a:t>
            </a:r>
          </a:p>
          <a:p>
            <a:pPr lvl="1"/>
            <a:r>
              <a:rPr lang="en-US" sz="3000" b="1" dirty="0"/>
              <a:t>Button 2:</a:t>
            </a:r>
            <a:r>
              <a:rPr lang="en-US" sz="3000" dirty="0"/>
              <a:t> Decrease the angle (rotate left).</a:t>
            </a:r>
          </a:p>
          <a:p>
            <a:br>
              <a:rPr lang="en-US" sz="3000" dirty="0"/>
            </a:br>
            <a:endParaRPr lang="en-US" sz="3000" dirty="0"/>
          </a:p>
          <a:p>
            <a:r>
              <a:rPr lang="en-US" sz="3000" b="1" dirty="0"/>
              <a:t>2. Components Needed</a:t>
            </a:r>
          </a:p>
          <a:p>
            <a:r>
              <a:rPr lang="en-US" sz="3000" dirty="0"/>
              <a:t>Arduino Uno</a:t>
            </a:r>
          </a:p>
          <a:p>
            <a:r>
              <a:rPr lang="en-US" sz="3000" dirty="0"/>
              <a:t>Servo motor (e.g., SG90 or MG995)</a:t>
            </a:r>
          </a:p>
          <a:p>
            <a:r>
              <a:rPr lang="en-US" sz="3000" dirty="0"/>
              <a:t>2 push buttons</a:t>
            </a:r>
          </a:p>
          <a:p>
            <a:r>
              <a:rPr lang="en-US" sz="3000" dirty="0"/>
              <a:t>2 × 10kΩ resistors (for pull-down configuration)</a:t>
            </a:r>
          </a:p>
          <a:p>
            <a:r>
              <a:rPr lang="en-US" sz="3000" dirty="0"/>
              <a:t>Jumper wires</a:t>
            </a:r>
          </a:p>
          <a:p>
            <a:r>
              <a:rPr lang="en-US" sz="3000" dirty="0"/>
              <a:t>Breadboard</a:t>
            </a:r>
          </a:p>
        </p:txBody>
      </p:sp>
      <p:pic>
        <p:nvPicPr>
          <p:cNvPr id="7170" name="Picture 2" descr="Controling servo motors with buttons and arduino | Arduino Project Hub">
            <a:extLst>
              <a:ext uri="{FF2B5EF4-FFF2-40B4-BE49-F238E27FC236}">
                <a16:creationId xmlns:a16="http://schemas.microsoft.com/office/drawing/2014/main" id="{210E61DC-0EF0-6E02-429B-E39091C91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589666"/>
            <a:ext cx="7105650" cy="711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9912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ADEF-8CF3-043C-8A61-EA2058511E6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8521D0-7FCF-E022-7E73-3FBDFECB52A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34A465C0-7222-6307-9A99-D0317BD9334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66E83A8-C9FC-FA44-B462-6794BC90778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0D76DAD-8C2C-15D2-B902-9F33CCA9068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AA6D900-4CF5-6D1A-E42A-D8C222AB4D2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4</a:t>
            </a:r>
          </a:p>
        </p:txBody>
      </p:sp>
      <p:sp>
        <p:nvSpPr>
          <p:cNvPr id="6" name="TextBox 5">
            <a:extLst>
              <a:ext uri="{FF2B5EF4-FFF2-40B4-BE49-F238E27FC236}">
                <a16:creationId xmlns:a16="http://schemas.microsoft.com/office/drawing/2014/main" id="{9FB43CF0-320F-47F1-CA2B-7BA3223AD14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91DB47D3-85A4-E426-3082-CB9B9598FC6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559F8B23-433A-92BA-F74D-E737C6B5F532}"/>
              </a:ext>
            </a:extLst>
          </p:cNvPr>
          <p:cNvSpPr txBox="1"/>
          <p:nvPr/>
        </p:nvSpPr>
        <p:spPr>
          <a:xfrm>
            <a:off x="10987117" y="2613112"/>
            <a:ext cx="6934201" cy="6124754"/>
          </a:xfrm>
          <a:prstGeom prst="rect">
            <a:avLst/>
          </a:prstGeom>
          <a:noFill/>
        </p:spPr>
        <p:txBody>
          <a:bodyPr wrap="square">
            <a:spAutoFit/>
          </a:bodyPr>
          <a:lstStyle/>
          <a:p>
            <a:r>
              <a:rPr lang="vi-VN" sz="2800" b="1" dirty="0"/>
              <a:t>Exercise: Reading Potentiometer Values</a:t>
            </a:r>
          </a:p>
          <a:p>
            <a:r>
              <a:rPr lang="vi-VN" sz="2800" b="1" dirty="0"/>
              <a:t>1. Objective</a:t>
            </a:r>
          </a:p>
          <a:p>
            <a:r>
              <a:rPr lang="vi-VN" sz="2800" dirty="0"/>
              <a:t>Read the analog voltage from a </a:t>
            </a:r>
            <a:r>
              <a:rPr lang="vi-VN" sz="2800" b="1" dirty="0"/>
              <a:t>potentiometer</a:t>
            </a:r>
            <a:r>
              <a:rPr lang="vi-VN" sz="2800" dirty="0"/>
              <a:t>.</a:t>
            </a:r>
          </a:p>
          <a:p>
            <a:r>
              <a:rPr lang="vi-VN" sz="2800" dirty="0"/>
              <a:t>Display the </a:t>
            </a:r>
            <a:r>
              <a:rPr lang="vi-VN" sz="2800" b="1" dirty="0"/>
              <a:t>raw value</a:t>
            </a:r>
            <a:r>
              <a:rPr lang="vi-VN" sz="2800" dirty="0"/>
              <a:t> (0 to 1023) on the Serial Monitor.</a:t>
            </a:r>
          </a:p>
          <a:p>
            <a:br>
              <a:rPr lang="vi-VN" sz="2800" dirty="0"/>
            </a:br>
            <a:endParaRPr lang="vi-VN" sz="2800" dirty="0"/>
          </a:p>
          <a:p>
            <a:r>
              <a:rPr lang="vi-VN" sz="2800" b="1" dirty="0"/>
              <a:t>2. Components Needed</a:t>
            </a:r>
          </a:p>
          <a:p>
            <a:r>
              <a:rPr lang="vi-VN" sz="2800" dirty="0"/>
              <a:t>Arduino Uno</a:t>
            </a:r>
          </a:p>
          <a:p>
            <a:r>
              <a:rPr lang="vi-VN" sz="2800" dirty="0"/>
              <a:t>10k</a:t>
            </a:r>
            <a:r>
              <a:rPr lang="el-GR" sz="2800" dirty="0"/>
              <a:t>Ω </a:t>
            </a:r>
            <a:r>
              <a:rPr lang="vi-VN" sz="2800" dirty="0"/>
              <a:t>potentiometer</a:t>
            </a:r>
          </a:p>
          <a:p>
            <a:r>
              <a:rPr lang="vi-VN" sz="2800" dirty="0"/>
              <a:t>Jumper wires</a:t>
            </a:r>
          </a:p>
          <a:p>
            <a:r>
              <a:rPr lang="vi-VN" sz="2800" dirty="0"/>
              <a:t>Breadboard</a:t>
            </a:r>
          </a:p>
        </p:txBody>
      </p:sp>
      <p:pic>
        <p:nvPicPr>
          <p:cNvPr id="4100" name="Picture 4" descr="Arduino Potentiometer - Circuit and Code Example">
            <a:extLst>
              <a:ext uri="{FF2B5EF4-FFF2-40B4-BE49-F238E27FC236}">
                <a16:creationId xmlns:a16="http://schemas.microsoft.com/office/drawing/2014/main" id="{0AE615BD-ED59-1697-C5C0-2CD1FF3010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54" y="2923673"/>
            <a:ext cx="9753600" cy="484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9637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44762-D852-F2D3-FB5B-A2F8FF595A2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EB6FF0B-72E4-0DD2-9344-9BF58C75CED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Practice with Arduino</a:t>
            </a:r>
          </a:p>
        </p:txBody>
      </p:sp>
      <p:sp>
        <p:nvSpPr>
          <p:cNvPr id="7" name="TextBox 6">
            <a:extLst>
              <a:ext uri="{FF2B5EF4-FFF2-40B4-BE49-F238E27FC236}">
                <a16:creationId xmlns:a16="http://schemas.microsoft.com/office/drawing/2014/main" id="{01C12F4A-A179-3456-9592-1041103B09B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65F3214-16B3-B446-A0A5-A77FFCA699E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D827827-59B4-A0B1-5E4D-AA1A1E3D9C5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E5D5531-7EB8-DF63-7234-9FFDABBC3816}"/>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Assignment 4</a:t>
            </a:r>
          </a:p>
        </p:txBody>
      </p:sp>
      <p:sp>
        <p:nvSpPr>
          <p:cNvPr id="6" name="TextBox 5">
            <a:extLst>
              <a:ext uri="{FF2B5EF4-FFF2-40B4-BE49-F238E27FC236}">
                <a16:creationId xmlns:a16="http://schemas.microsoft.com/office/drawing/2014/main" id="{5B86F403-A2BE-864C-0503-5B635DF2342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AFC36675-CD9A-A22E-272B-7963D428E87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3" name="TextBox 12">
            <a:extLst>
              <a:ext uri="{FF2B5EF4-FFF2-40B4-BE49-F238E27FC236}">
                <a16:creationId xmlns:a16="http://schemas.microsoft.com/office/drawing/2014/main" id="{5D0F8735-5910-C197-7B31-E75E5E7121D5}"/>
              </a:ext>
            </a:extLst>
          </p:cNvPr>
          <p:cNvSpPr txBox="1"/>
          <p:nvPr/>
        </p:nvSpPr>
        <p:spPr>
          <a:xfrm>
            <a:off x="10702352" y="2116002"/>
            <a:ext cx="6934201" cy="7879080"/>
          </a:xfrm>
          <a:prstGeom prst="rect">
            <a:avLst/>
          </a:prstGeom>
          <a:noFill/>
        </p:spPr>
        <p:txBody>
          <a:bodyPr wrap="square">
            <a:spAutoFit/>
          </a:bodyPr>
          <a:lstStyle/>
          <a:p>
            <a:r>
              <a:rPr lang="en-US" sz="2200" b="1" dirty="0"/>
              <a:t>Exercise: Control Servo Speed Using a Potentiometer</a:t>
            </a:r>
          </a:p>
          <a:p>
            <a:r>
              <a:rPr lang="en-US" sz="2200" b="1" dirty="0"/>
              <a:t>1. Objective</a:t>
            </a:r>
          </a:p>
          <a:p>
            <a:r>
              <a:rPr lang="en-US" sz="2200" dirty="0"/>
              <a:t>Use </a:t>
            </a:r>
            <a:r>
              <a:rPr lang="en-US" sz="2200" b="1" dirty="0"/>
              <a:t>Arduino Uno</a:t>
            </a:r>
            <a:r>
              <a:rPr lang="en-US" sz="2200" dirty="0"/>
              <a:t>, a </a:t>
            </a:r>
            <a:r>
              <a:rPr lang="en-US" sz="2200" b="1" dirty="0"/>
              <a:t>potentiometer</a:t>
            </a:r>
            <a:r>
              <a:rPr lang="en-US" sz="2200" dirty="0"/>
              <a:t>, and a </a:t>
            </a:r>
            <a:r>
              <a:rPr lang="en-US" sz="2200" b="1" dirty="0"/>
              <a:t>servo motor</a:t>
            </a:r>
            <a:r>
              <a:rPr lang="en-US" sz="2200" dirty="0"/>
              <a:t> to build a system that controls both the </a:t>
            </a:r>
            <a:r>
              <a:rPr lang="en-US" sz="2200" b="1" dirty="0"/>
              <a:t>position</a:t>
            </a:r>
            <a:r>
              <a:rPr lang="en-US" sz="2200" dirty="0"/>
              <a:t> and </a:t>
            </a:r>
            <a:r>
              <a:rPr lang="en-US" sz="2200" b="1" dirty="0"/>
              <a:t>speed</a:t>
            </a:r>
            <a:r>
              <a:rPr lang="en-US" sz="2200" dirty="0"/>
              <a:t> of the servo.</a:t>
            </a:r>
          </a:p>
          <a:p>
            <a:endParaRPr lang="en-US" sz="2200" dirty="0"/>
          </a:p>
          <a:p>
            <a:r>
              <a:rPr lang="en-US" sz="2200" b="1" dirty="0"/>
              <a:t>2. Specific Functions</a:t>
            </a:r>
          </a:p>
          <a:p>
            <a:r>
              <a:rPr lang="en-US" sz="2200" b="1" dirty="0"/>
              <a:t>Position Control (Angle):</a:t>
            </a:r>
            <a:endParaRPr lang="en-US" sz="2200" dirty="0"/>
          </a:p>
          <a:p>
            <a:pPr lvl="1"/>
            <a:r>
              <a:rPr lang="en-US" sz="2200" dirty="0"/>
              <a:t>The rotation position of the potentiometer determines the </a:t>
            </a:r>
            <a:r>
              <a:rPr lang="en-US" sz="2200" b="1" dirty="0"/>
              <a:t>target angle</a:t>
            </a:r>
            <a:r>
              <a:rPr lang="en-US" sz="2200" dirty="0"/>
              <a:t> of the servo.</a:t>
            </a:r>
          </a:p>
          <a:p>
            <a:pPr lvl="1"/>
            <a:r>
              <a:rPr lang="en-US" sz="2200" dirty="0"/>
              <a:t>Angle range: </a:t>
            </a:r>
            <a:r>
              <a:rPr lang="en-US" sz="2200" b="1" dirty="0"/>
              <a:t>0° to 180°</a:t>
            </a:r>
            <a:r>
              <a:rPr lang="en-US" sz="2200" dirty="0"/>
              <a:t>.</a:t>
            </a:r>
          </a:p>
          <a:p>
            <a:r>
              <a:rPr lang="en-US" sz="2200" b="1" dirty="0"/>
              <a:t>Speed Control:</a:t>
            </a:r>
            <a:endParaRPr lang="en-US" sz="2200" dirty="0"/>
          </a:p>
          <a:p>
            <a:pPr lvl="1"/>
            <a:r>
              <a:rPr lang="en-US" sz="2200" dirty="0"/>
              <a:t>The potentiometer value also determines the </a:t>
            </a:r>
            <a:r>
              <a:rPr lang="en-US" sz="2200" b="1" dirty="0"/>
              <a:t>movement speed</a:t>
            </a:r>
            <a:r>
              <a:rPr lang="en-US" sz="2200" dirty="0"/>
              <a:t> of the servo from the </a:t>
            </a:r>
            <a:r>
              <a:rPr lang="en-US" sz="2200" b="1" dirty="0"/>
              <a:t>current position</a:t>
            </a:r>
            <a:r>
              <a:rPr lang="en-US" sz="2200" dirty="0"/>
              <a:t> to the </a:t>
            </a:r>
            <a:r>
              <a:rPr lang="en-US" sz="2200" b="1" dirty="0"/>
              <a:t>target position</a:t>
            </a:r>
            <a:r>
              <a:rPr lang="en-US" sz="2200" dirty="0"/>
              <a:t>.</a:t>
            </a:r>
            <a:br>
              <a:rPr lang="en-US" sz="2200" dirty="0"/>
            </a:br>
            <a:endParaRPr lang="en-US" sz="2200" dirty="0"/>
          </a:p>
          <a:p>
            <a:r>
              <a:rPr lang="en-US" sz="2200" b="1" dirty="0"/>
              <a:t>3. Relationship Between Potentiometer and Speed</a:t>
            </a:r>
          </a:p>
          <a:p>
            <a:r>
              <a:rPr lang="en-US" sz="2200" dirty="0"/>
              <a:t>The servo speed must be </a:t>
            </a:r>
            <a:r>
              <a:rPr lang="en-US" sz="2200" b="1" dirty="0"/>
              <a:t>inversely proportional</a:t>
            </a:r>
            <a:r>
              <a:rPr lang="en-US" sz="2200" dirty="0"/>
              <a:t> to the potentiometer reading:</a:t>
            </a:r>
          </a:p>
          <a:p>
            <a:pPr lvl="1"/>
            <a:r>
              <a:rPr lang="en-US" sz="2200" b="1" dirty="0"/>
              <a:t>Low potentiometer value (near 0)</a:t>
            </a:r>
            <a:r>
              <a:rPr lang="en-US" sz="2200" dirty="0"/>
              <a:t> → Servo moves </a:t>
            </a:r>
            <a:r>
              <a:rPr lang="en-US" sz="2200" b="1" dirty="0"/>
              <a:t>slowly</a:t>
            </a:r>
            <a:r>
              <a:rPr lang="en-US" sz="2200" dirty="0"/>
              <a:t>.</a:t>
            </a:r>
          </a:p>
          <a:p>
            <a:pPr lvl="1"/>
            <a:r>
              <a:rPr lang="en-US" sz="2200" b="1" dirty="0"/>
              <a:t>High potentiometer value (near 1023)</a:t>
            </a:r>
            <a:r>
              <a:rPr lang="en-US" sz="2200" dirty="0"/>
              <a:t> → Servo moves </a:t>
            </a:r>
            <a:r>
              <a:rPr lang="en-US" sz="2200" b="1" dirty="0"/>
              <a:t>fast</a:t>
            </a:r>
            <a:r>
              <a:rPr lang="en-US" sz="2200" dirty="0"/>
              <a:t>.</a:t>
            </a:r>
          </a:p>
        </p:txBody>
      </p:sp>
      <p:pic>
        <p:nvPicPr>
          <p:cNvPr id="9" name="Picture 8">
            <a:extLst>
              <a:ext uri="{FF2B5EF4-FFF2-40B4-BE49-F238E27FC236}">
                <a16:creationId xmlns:a16="http://schemas.microsoft.com/office/drawing/2014/main" id="{ED295F13-B27F-B218-675A-94F0A91E1BCD}"/>
              </a:ext>
            </a:extLst>
          </p:cNvPr>
          <p:cNvPicPr>
            <a:picLocks noChangeAspect="1"/>
          </p:cNvPicPr>
          <p:nvPr/>
        </p:nvPicPr>
        <p:blipFill>
          <a:blip r:embed="rId3"/>
          <a:stretch>
            <a:fillRect/>
          </a:stretch>
        </p:blipFill>
        <p:spPr>
          <a:xfrm>
            <a:off x="228600" y="3002805"/>
            <a:ext cx="9982200" cy="5718024"/>
          </a:xfrm>
          <a:prstGeom prst="rect">
            <a:avLst/>
          </a:prstGeom>
        </p:spPr>
      </p:pic>
    </p:spTree>
    <p:extLst>
      <p:ext uri="{BB962C8B-B14F-4D97-AF65-F5344CB8AC3E}">
        <p14:creationId xmlns:p14="http://schemas.microsoft.com/office/powerpoint/2010/main" val="3796536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17067</TotalTime>
  <Words>8060</Words>
  <Application>Microsoft Office PowerPoint</Application>
  <PresentationFormat>Custom</PresentationFormat>
  <Paragraphs>916</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Calibri</vt:lpstr>
      <vt:lpstr>Arial</vt:lpstr>
      <vt:lpstr>Calibri (Body)</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và Trắng Bản đồ tư duy Bài thuyết trình</dc:title>
  <dc:creator>Minh Hoang Tran</dc:creator>
  <cp:lastModifiedBy>Minh Hoang Tran</cp:lastModifiedBy>
  <cp:revision>1157</cp:revision>
  <dcterms:created xsi:type="dcterms:W3CDTF">2006-08-16T00:00:00Z</dcterms:created>
  <dcterms:modified xsi:type="dcterms:W3CDTF">2025-11-23T13:44:02Z</dcterms:modified>
  <dc:identifier>DAFizwE0log</dc:identifier>
</cp:coreProperties>
</file>