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6">
  <p:sldMasterIdLst>
    <p:sldMasterId id="2147483648" r:id="rId1"/>
  </p:sldMasterIdLst>
  <p:notesMasterIdLst>
    <p:notesMasterId r:id="rId27"/>
  </p:notesMasterIdLst>
  <p:sldIdLst>
    <p:sldId id="508" r:id="rId2"/>
    <p:sldId id="517" r:id="rId3"/>
    <p:sldId id="551" r:id="rId4"/>
    <p:sldId id="552" r:id="rId5"/>
    <p:sldId id="510" r:id="rId6"/>
    <p:sldId id="509" r:id="rId7"/>
    <p:sldId id="511" r:id="rId8"/>
    <p:sldId id="553" r:id="rId9"/>
    <p:sldId id="513" r:id="rId10"/>
    <p:sldId id="514" r:id="rId11"/>
    <p:sldId id="557" r:id="rId12"/>
    <p:sldId id="518" r:id="rId13"/>
    <p:sldId id="554" r:id="rId14"/>
    <p:sldId id="555" r:id="rId15"/>
    <p:sldId id="564" r:id="rId16"/>
    <p:sldId id="515" r:id="rId17"/>
    <p:sldId id="556" r:id="rId18"/>
    <p:sldId id="558" r:id="rId19"/>
    <p:sldId id="559" r:id="rId20"/>
    <p:sldId id="560" r:id="rId21"/>
    <p:sldId id="561" r:id="rId22"/>
    <p:sldId id="562" r:id="rId23"/>
    <p:sldId id="563" r:id="rId24"/>
    <p:sldId id="519" r:id="rId25"/>
    <p:sldId id="516" r:id="rId26"/>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93" autoAdjust="0"/>
    <p:restoredTop sz="88983" autoAdjust="0"/>
  </p:normalViewPr>
  <p:slideViewPr>
    <p:cSldViewPr>
      <p:cViewPr>
        <p:scale>
          <a:sx n="75" d="100"/>
          <a:sy n="75" d="100"/>
        </p:scale>
        <p:origin x="780" y="-504"/>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4FDD0A-8E9A-403A-8A26-3515633FB2A5}"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01E2C-B751-4C38-A4F8-4A97733E0BA7}" type="slidenum">
              <a:rPr lang="en-US" smtClean="0"/>
              <a:t>‹#›</a:t>
            </a:fld>
            <a:endParaRPr lang="en-US"/>
          </a:p>
        </p:txBody>
      </p:sp>
    </p:spTree>
    <p:extLst>
      <p:ext uri="{BB962C8B-B14F-4D97-AF65-F5344CB8AC3E}">
        <p14:creationId xmlns:p14="http://schemas.microsoft.com/office/powerpoint/2010/main" val="362049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a:t>
            </a:fld>
            <a:endParaRPr lang="en-US"/>
          </a:p>
        </p:txBody>
      </p:sp>
    </p:spTree>
    <p:extLst>
      <p:ext uri="{BB962C8B-B14F-4D97-AF65-F5344CB8AC3E}">
        <p14:creationId xmlns:p14="http://schemas.microsoft.com/office/powerpoint/2010/main" val="217469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2</a:t>
            </a:fld>
            <a:endParaRPr lang="en-US"/>
          </a:p>
        </p:txBody>
      </p:sp>
    </p:spTree>
    <p:extLst>
      <p:ext uri="{BB962C8B-B14F-4D97-AF65-F5344CB8AC3E}">
        <p14:creationId xmlns:p14="http://schemas.microsoft.com/office/powerpoint/2010/main" val="2060066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3</a:t>
            </a:fld>
            <a:endParaRPr lang="en-US"/>
          </a:p>
        </p:txBody>
      </p:sp>
    </p:spTree>
    <p:extLst>
      <p:ext uri="{BB962C8B-B14F-4D97-AF65-F5344CB8AC3E}">
        <p14:creationId xmlns:p14="http://schemas.microsoft.com/office/powerpoint/2010/main" val="1202513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4</a:t>
            </a:fld>
            <a:endParaRPr lang="en-US"/>
          </a:p>
        </p:txBody>
      </p:sp>
    </p:spTree>
    <p:extLst>
      <p:ext uri="{BB962C8B-B14F-4D97-AF65-F5344CB8AC3E}">
        <p14:creationId xmlns:p14="http://schemas.microsoft.com/office/powerpoint/2010/main" val="1358408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r>
              <a:rPr lang="vi-VN">
                <a:highlight>
                  <a:srgbClr val="FFFFFF"/>
                </a:highlight>
              </a:rPr>
              <a:t>#define LED_PIN   13</a:t>
            </a:r>
          </a:p>
          <a:p>
            <a:r>
              <a:rPr lang="vi-VN">
                <a:highlight>
                  <a:srgbClr val="FFFFFF"/>
                </a:highlight>
              </a:rPr>
              <a:t>#define ESTOP_PIN 2</a:t>
            </a:r>
          </a:p>
          <a:p>
            <a:endParaRPr lang="vi-VN">
              <a:highlight>
                <a:srgbClr val="FFFFFF"/>
              </a:highlight>
            </a:endParaRPr>
          </a:p>
          <a:p>
            <a:r>
              <a:rPr lang="vi-VN">
                <a:highlight>
                  <a:srgbClr val="FFFFFF"/>
                </a:highlight>
              </a:rPr>
              <a:t>bool emergencyStop = false;</a:t>
            </a:r>
          </a:p>
          <a:p>
            <a:endParaRPr lang="vi-VN">
              <a:highlight>
                <a:srgbClr val="FFFFFF"/>
              </a:highlight>
            </a:endParaRPr>
          </a:p>
          <a:p>
            <a:r>
              <a:rPr lang="vi-VN">
                <a:highlight>
                  <a:srgbClr val="FFFFFF"/>
                </a:highlight>
              </a:rPr>
              <a:t>void setup() {</a:t>
            </a:r>
          </a:p>
          <a:p>
            <a:r>
              <a:rPr lang="vi-VN">
                <a:highlight>
                  <a:srgbClr val="FFFFFF"/>
                </a:highlight>
              </a:rPr>
              <a:t>  pinMode(LED_PIN, OUTPUT);</a:t>
            </a:r>
          </a:p>
          <a:p>
            <a:r>
              <a:rPr lang="vi-VN">
                <a:highlight>
                  <a:srgbClr val="FFFFFF"/>
                </a:highlight>
              </a:rPr>
              <a:t>  pinMode(ESTOP_PIN, INPUT_PULLUP);</a:t>
            </a:r>
          </a:p>
          <a:p>
            <a:r>
              <a:rPr lang="vi-VN">
                <a:highlight>
                  <a:srgbClr val="FFFFFF"/>
                </a:highlight>
              </a:rPr>
              <a:t>  </a:t>
            </a:r>
          </a:p>
          <a:p>
            <a:r>
              <a:rPr lang="vi-VN">
                <a:highlight>
                  <a:srgbClr val="FFFFFF"/>
                </a:highlight>
              </a:rPr>
              <a:t>  digitalWrite(LED_PIN, LOW);</a:t>
            </a:r>
          </a:p>
          <a:p>
            <a:r>
              <a:rPr lang="vi-VN">
                <a:highlight>
                  <a:srgbClr val="FFFFFF"/>
                </a:highlight>
              </a:rPr>
              <a:t>  Serial.begin(115200);</a:t>
            </a:r>
          </a:p>
          <a:p>
            <a:r>
              <a:rPr lang="vi-VN">
                <a:highlight>
                  <a:srgbClr val="FFFFFF"/>
                </a:highlight>
              </a:rPr>
              <a:t>  Serial.println("He thong san sang (KHONG INTERRUPT). Nhan nut de kiem tra.");</a:t>
            </a:r>
          </a:p>
          <a:p>
            <a:r>
              <a:rPr lang="vi-VN">
                <a:highlight>
                  <a:srgbClr val="FFFFFF"/>
                </a:highlight>
              </a:rPr>
              <a:t>}</a:t>
            </a:r>
          </a:p>
          <a:p>
            <a:endParaRPr lang="vi-VN">
              <a:highlight>
                <a:srgbClr val="FFFFFF"/>
              </a:highlight>
            </a:endParaRPr>
          </a:p>
          <a:p>
            <a:r>
              <a:rPr lang="vi-VN">
                <a:highlight>
                  <a:srgbClr val="FFFFFF"/>
                </a:highlight>
              </a:rPr>
              <a:t>void loop() {</a:t>
            </a:r>
          </a:p>
          <a:p>
            <a:r>
              <a:rPr lang="vi-VN">
                <a:highlight>
                  <a:srgbClr val="FFFFFF"/>
                </a:highlight>
              </a:rPr>
              <a:t>  // Kiểm tra nút nhấn (polling)</a:t>
            </a:r>
          </a:p>
          <a:p>
            <a:r>
              <a:rPr lang="vi-VN">
                <a:highlight>
                  <a:srgbClr val="FFFFFF"/>
                </a:highlight>
              </a:rPr>
              <a:t>  if (digitalRead(ESTOP_PIN) == LOW) {</a:t>
            </a:r>
          </a:p>
          <a:p>
            <a:r>
              <a:rPr lang="vi-VN">
                <a:highlight>
                  <a:srgbClr val="FFFFFF"/>
                </a:highlight>
              </a:rPr>
              <a:t>    emergencyStop = true;</a:t>
            </a:r>
          </a:p>
          <a:p>
            <a:r>
              <a:rPr lang="vi-VN">
                <a:highlight>
                  <a:srgbClr val="FFFFFF"/>
                </a:highlight>
              </a:rPr>
              <a:t>    Serial.println("DA NHAN NUT KHAN CAP!");</a:t>
            </a:r>
          </a:p>
          <a:p>
            <a:r>
              <a:rPr lang="vi-VN">
                <a:highlight>
                  <a:srgbClr val="FFFFFF"/>
                </a:highlight>
              </a:rPr>
              <a:t>  }</a:t>
            </a:r>
          </a:p>
          <a:p>
            <a:endParaRPr lang="vi-VN">
              <a:highlight>
                <a:srgbClr val="FFFFFF"/>
              </a:highlight>
            </a:endParaRPr>
          </a:p>
          <a:p>
            <a:r>
              <a:rPr lang="vi-VN">
                <a:highlight>
                  <a:srgbClr val="FFFFFF"/>
                </a:highlight>
              </a:rPr>
              <a:t>  if (emergencyStop) {</a:t>
            </a:r>
          </a:p>
          <a:p>
            <a:r>
              <a:rPr lang="vi-VN">
                <a:highlight>
                  <a:srgbClr val="FFFFFF"/>
                </a:highlight>
              </a:rPr>
              <a:t>    digitalWrite(LED_PIN, LOW);</a:t>
            </a:r>
          </a:p>
          <a:p>
            <a:r>
              <a:rPr lang="vi-VN">
                <a:highlight>
                  <a:srgbClr val="FFFFFF"/>
                </a:highlight>
              </a:rPr>
              <a:t>    return;  // Dừng loop</a:t>
            </a:r>
          </a:p>
          <a:p>
            <a:r>
              <a:rPr lang="vi-VN">
                <a:highlight>
                  <a:srgbClr val="FFFFFF"/>
                </a:highlight>
              </a:rPr>
              <a:t>  }</a:t>
            </a:r>
          </a:p>
          <a:p>
            <a:endParaRPr lang="vi-VN">
              <a:highlight>
                <a:srgbClr val="FFFFFF"/>
              </a:highlight>
            </a:endParaRPr>
          </a:p>
          <a:p>
            <a:r>
              <a:rPr lang="vi-VN">
                <a:highlight>
                  <a:srgbClr val="FFFFFF"/>
                </a:highlight>
              </a:rPr>
              <a:t>  // Nhấp nháy LED bằng delay blocking</a:t>
            </a:r>
          </a:p>
          <a:p>
            <a:r>
              <a:rPr lang="vi-VN">
                <a:highlight>
                  <a:srgbClr val="FFFFFF"/>
                </a:highlight>
              </a:rPr>
              <a:t>  digitalWrite(LED_PIN, HIGH);</a:t>
            </a:r>
          </a:p>
          <a:p>
            <a:r>
              <a:rPr lang="vi-VN">
                <a:highlight>
                  <a:srgbClr val="FFFFFF"/>
                </a:highlight>
              </a:rPr>
              <a:t>  delay(1000);                // Chờ 1 giây → CPU bị chặn hoàn toàn</a:t>
            </a:r>
          </a:p>
          <a:p>
            <a:r>
              <a:rPr lang="vi-VN">
                <a:highlight>
                  <a:srgbClr val="FFFFFF"/>
                </a:highlight>
              </a:rPr>
              <a:t>  digitalWrite(LED_PIN, LOW);</a:t>
            </a:r>
          </a:p>
          <a:p>
            <a:r>
              <a:rPr lang="vi-VN">
                <a:highlight>
                  <a:srgbClr val="FFFFFF"/>
                </a:highlight>
              </a:rPr>
              <a:t>  delay(1000);                // Lại chờ 1 giây nữa</a:t>
            </a:r>
          </a:p>
          <a:p>
            <a:endParaRPr lang="vi-VN">
              <a:highlight>
                <a:srgbClr val="FFFFFF"/>
              </a:highlight>
            </a:endParaRPr>
          </a:p>
          <a:p>
            <a:r>
              <a:rPr lang="vi-VN">
                <a:highlight>
                  <a:srgbClr val="FFFFFF"/>
                </a:highlight>
              </a:rPr>
              <a:t>  Serial.println("LED toggled (delay version)");</a:t>
            </a:r>
          </a:p>
          <a:p>
            <a:r>
              <a:rPr lang="vi-VN">
                <a:highlight>
                  <a:srgbClr val="FFFFFF"/>
                </a:highlight>
              </a:rPr>
              <a:t>}</a:t>
            </a:r>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5</a:t>
            </a:fld>
            <a:endParaRPr lang="en-US"/>
          </a:p>
        </p:txBody>
      </p:sp>
    </p:spTree>
    <p:extLst>
      <p:ext uri="{BB962C8B-B14F-4D97-AF65-F5344CB8AC3E}">
        <p14:creationId xmlns:p14="http://schemas.microsoft.com/office/powerpoint/2010/main" val="2167423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6</a:t>
            </a:fld>
            <a:endParaRPr lang="en-US"/>
          </a:p>
        </p:txBody>
      </p:sp>
    </p:spTree>
    <p:extLst>
      <p:ext uri="{BB962C8B-B14F-4D97-AF65-F5344CB8AC3E}">
        <p14:creationId xmlns:p14="http://schemas.microsoft.com/office/powerpoint/2010/main" val="1562993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7</a:t>
            </a:fld>
            <a:endParaRPr lang="en-US"/>
          </a:p>
        </p:txBody>
      </p:sp>
    </p:spTree>
    <p:extLst>
      <p:ext uri="{BB962C8B-B14F-4D97-AF65-F5344CB8AC3E}">
        <p14:creationId xmlns:p14="http://schemas.microsoft.com/office/powerpoint/2010/main" val="2909330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8</a:t>
            </a:fld>
            <a:endParaRPr lang="en-US"/>
          </a:p>
        </p:txBody>
      </p:sp>
    </p:spTree>
    <p:extLst>
      <p:ext uri="{BB962C8B-B14F-4D97-AF65-F5344CB8AC3E}">
        <p14:creationId xmlns:p14="http://schemas.microsoft.com/office/powerpoint/2010/main" val="1100658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9</a:t>
            </a:fld>
            <a:endParaRPr lang="en-US"/>
          </a:p>
        </p:txBody>
      </p:sp>
    </p:spTree>
    <p:extLst>
      <p:ext uri="{BB962C8B-B14F-4D97-AF65-F5344CB8AC3E}">
        <p14:creationId xmlns:p14="http://schemas.microsoft.com/office/powerpoint/2010/main" val="657780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10</a:t>
            </a:fld>
            <a:endParaRPr lang="en-US"/>
          </a:p>
        </p:txBody>
      </p:sp>
    </p:spTree>
    <p:extLst>
      <p:ext uri="{BB962C8B-B14F-4D97-AF65-F5344CB8AC3E}">
        <p14:creationId xmlns:p14="http://schemas.microsoft.com/office/powerpoint/2010/main" val="3035589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11</a:t>
            </a:fld>
            <a:endParaRPr lang="en-US"/>
          </a:p>
        </p:txBody>
      </p:sp>
    </p:spTree>
    <p:extLst>
      <p:ext uri="{BB962C8B-B14F-4D97-AF65-F5344CB8AC3E}">
        <p14:creationId xmlns:p14="http://schemas.microsoft.com/office/powerpoint/2010/main" val="1313620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12</a:t>
            </a:fld>
            <a:endParaRPr lang="en-US"/>
          </a:p>
        </p:txBody>
      </p:sp>
    </p:spTree>
    <p:extLst>
      <p:ext uri="{BB962C8B-B14F-4D97-AF65-F5344CB8AC3E}">
        <p14:creationId xmlns:p14="http://schemas.microsoft.com/office/powerpoint/2010/main" val="3513807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13</a:t>
            </a:fld>
            <a:endParaRPr lang="en-US"/>
          </a:p>
        </p:txBody>
      </p:sp>
    </p:spTree>
    <p:extLst>
      <p:ext uri="{BB962C8B-B14F-4D97-AF65-F5344CB8AC3E}">
        <p14:creationId xmlns:p14="http://schemas.microsoft.com/office/powerpoint/2010/main" val="1785194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14</a:t>
            </a:fld>
            <a:endParaRPr lang="en-US"/>
          </a:p>
        </p:txBody>
      </p:sp>
    </p:spTree>
    <p:extLst>
      <p:ext uri="{BB962C8B-B14F-4D97-AF65-F5344CB8AC3E}">
        <p14:creationId xmlns:p14="http://schemas.microsoft.com/office/powerpoint/2010/main" val="960999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15</a:t>
            </a:fld>
            <a:endParaRPr lang="en-US"/>
          </a:p>
        </p:txBody>
      </p:sp>
    </p:spTree>
    <p:extLst>
      <p:ext uri="{BB962C8B-B14F-4D97-AF65-F5344CB8AC3E}">
        <p14:creationId xmlns:p14="http://schemas.microsoft.com/office/powerpoint/2010/main" val="1294957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16</a:t>
            </a:fld>
            <a:endParaRPr lang="en-US"/>
          </a:p>
        </p:txBody>
      </p:sp>
    </p:spTree>
    <p:extLst>
      <p:ext uri="{BB962C8B-B14F-4D97-AF65-F5344CB8AC3E}">
        <p14:creationId xmlns:p14="http://schemas.microsoft.com/office/powerpoint/2010/main" val="39861748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17</a:t>
            </a:fld>
            <a:endParaRPr lang="en-US"/>
          </a:p>
        </p:txBody>
      </p:sp>
    </p:spTree>
    <p:extLst>
      <p:ext uri="{BB962C8B-B14F-4D97-AF65-F5344CB8AC3E}">
        <p14:creationId xmlns:p14="http://schemas.microsoft.com/office/powerpoint/2010/main" val="1191114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18</a:t>
            </a:fld>
            <a:endParaRPr lang="en-US"/>
          </a:p>
        </p:txBody>
      </p:sp>
    </p:spTree>
    <p:extLst>
      <p:ext uri="{BB962C8B-B14F-4D97-AF65-F5344CB8AC3E}">
        <p14:creationId xmlns:p14="http://schemas.microsoft.com/office/powerpoint/2010/main" val="3178000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19</a:t>
            </a:fld>
            <a:endParaRPr lang="en-US"/>
          </a:p>
        </p:txBody>
      </p:sp>
    </p:spTree>
    <p:extLst>
      <p:ext uri="{BB962C8B-B14F-4D97-AF65-F5344CB8AC3E}">
        <p14:creationId xmlns:p14="http://schemas.microsoft.com/office/powerpoint/2010/main" val="1020607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20</a:t>
            </a:fld>
            <a:endParaRPr lang="en-US"/>
          </a:p>
        </p:txBody>
      </p:sp>
    </p:spTree>
    <p:extLst>
      <p:ext uri="{BB962C8B-B14F-4D97-AF65-F5344CB8AC3E}">
        <p14:creationId xmlns:p14="http://schemas.microsoft.com/office/powerpoint/2010/main" val="1404890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21</a:t>
            </a:fld>
            <a:endParaRPr lang="en-US"/>
          </a:p>
        </p:txBody>
      </p:sp>
    </p:spTree>
    <p:extLst>
      <p:ext uri="{BB962C8B-B14F-4D97-AF65-F5344CB8AC3E}">
        <p14:creationId xmlns:p14="http://schemas.microsoft.com/office/powerpoint/2010/main" val="709609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22</a:t>
            </a:fld>
            <a:endParaRPr lang="en-US"/>
          </a:p>
        </p:txBody>
      </p:sp>
    </p:spTree>
    <p:extLst>
      <p:ext uri="{BB962C8B-B14F-4D97-AF65-F5344CB8AC3E}">
        <p14:creationId xmlns:p14="http://schemas.microsoft.com/office/powerpoint/2010/main" val="38616537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23</a:t>
            </a:fld>
            <a:endParaRPr lang="en-US"/>
          </a:p>
        </p:txBody>
      </p:sp>
    </p:spTree>
    <p:extLst>
      <p:ext uri="{BB962C8B-B14F-4D97-AF65-F5344CB8AC3E}">
        <p14:creationId xmlns:p14="http://schemas.microsoft.com/office/powerpoint/2010/main" val="828244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24</a:t>
            </a:fld>
            <a:endParaRPr lang="en-US"/>
          </a:p>
        </p:txBody>
      </p:sp>
    </p:spTree>
    <p:extLst>
      <p:ext uri="{BB962C8B-B14F-4D97-AF65-F5344CB8AC3E}">
        <p14:creationId xmlns:p14="http://schemas.microsoft.com/office/powerpoint/2010/main" val="33762559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r>
              <a:rPr lang="vi-VN">
                <a:highlight>
                  <a:srgbClr val="FFFFFF"/>
                </a:highlight>
              </a:rPr>
              <a:t>#define LED_PIN     13</a:t>
            </a:r>
          </a:p>
          <a:p>
            <a:r>
              <a:rPr lang="vi-VN">
                <a:highlight>
                  <a:srgbClr val="FFFFFF"/>
                </a:highlight>
              </a:rPr>
              <a:t>#define ESTOP_PIN   2</a:t>
            </a:r>
          </a:p>
          <a:p>
            <a:endParaRPr lang="vi-VN">
              <a:highlight>
                <a:srgbClr val="FFFFFF"/>
              </a:highlight>
            </a:endParaRPr>
          </a:p>
          <a:p>
            <a:r>
              <a:rPr lang="vi-VN">
                <a:highlight>
                  <a:srgbClr val="FFFFFF"/>
                </a:highlight>
              </a:rPr>
              <a:t>volatile bool emergencyStop = false;  // volatile rất quan trọng khi dùng interrupt</a:t>
            </a:r>
          </a:p>
          <a:p>
            <a:r>
              <a:rPr lang="vi-VN">
                <a:highlight>
                  <a:srgbClr val="FFFFFF"/>
                </a:highlight>
              </a:rPr>
              <a:t>unsigned long previousMillis = 0;</a:t>
            </a:r>
          </a:p>
          <a:p>
            <a:r>
              <a:rPr lang="vi-VN">
                <a:highlight>
                  <a:srgbClr val="FFFFFF"/>
                </a:highlight>
              </a:rPr>
              <a:t>const long interval = 1000;</a:t>
            </a:r>
          </a:p>
          <a:p>
            <a:endParaRPr lang="vi-VN">
              <a:highlight>
                <a:srgbClr val="FFFFFF"/>
              </a:highlight>
            </a:endParaRPr>
          </a:p>
          <a:p>
            <a:r>
              <a:rPr lang="vi-VN">
                <a:highlight>
                  <a:srgbClr val="FFFFFF"/>
                </a:highlight>
              </a:rPr>
              <a:t>void setup() {</a:t>
            </a:r>
          </a:p>
          <a:p>
            <a:r>
              <a:rPr lang="vi-VN">
                <a:highlight>
                  <a:srgbClr val="FFFFFF"/>
                </a:highlight>
              </a:rPr>
              <a:t>  pinMode(LED_PIN, OUTPUT);</a:t>
            </a:r>
          </a:p>
          <a:p>
            <a:r>
              <a:rPr lang="vi-VN">
                <a:highlight>
                  <a:srgbClr val="FFFFFF"/>
                </a:highlight>
              </a:rPr>
              <a:t>  pinMode(ESTOP_PIN, INPUT_PULLUP);</a:t>
            </a:r>
          </a:p>
          <a:p>
            <a:endParaRPr lang="vi-VN">
              <a:highlight>
                <a:srgbClr val="FFFFFF"/>
              </a:highlight>
            </a:endParaRPr>
          </a:p>
          <a:p>
            <a:r>
              <a:rPr lang="vi-VN">
                <a:highlight>
                  <a:srgbClr val="FFFFFF"/>
                </a:highlight>
              </a:rPr>
              <a:t>  // Gắn ngắt: FALLING = khi nhấn nút (HIGH → LOW)</a:t>
            </a:r>
          </a:p>
          <a:p>
            <a:r>
              <a:rPr lang="vi-VN">
                <a:highlight>
                  <a:srgbClr val="FFFFFF"/>
                </a:highlight>
              </a:rPr>
              <a:t>  attachInterrupt(digitalPinToInterrupt(ESTOP_PIN), emergencyISR, FALLING);</a:t>
            </a:r>
          </a:p>
          <a:p>
            <a:endParaRPr lang="vi-VN">
              <a:highlight>
                <a:srgbClr val="FFFFFF"/>
              </a:highlight>
            </a:endParaRPr>
          </a:p>
          <a:p>
            <a:r>
              <a:rPr lang="vi-VN">
                <a:highlight>
                  <a:srgbClr val="FFFFFF"/>
                </a:highlight>
              </a:rPr>
              <a:t>  digitalWrite(LED_PIN, LOW);</a:t>
            </a:r>
          </a:p>
          <a:p>
            <a:r>
              <a:rPr lang="vi-VN">
                <a:highlight>
                  <a:srgbClr val="FFFFFF"/>
                </a:highlight>
              </a:rPr>
              <a:t>  Serial.begin(115200);</a:t>
            </a:r>
          </a:p>
          <a:p>
            <a:r>
              <a:rPr lang="vi-VN">
                <a:highlight>
                  <a:srgbClr val="FFFFFF"/>
                </a:highlight>
              </a:rPr>
              <a:t>  Serial.println("He thong san sang (CO INTERRUPT). Nhan nut de dung NGAY!");</a:t>
            </a:r>
          </a:p>
          <a:p>
            <a:r>
              <a:rPr lang="vi-VN">
                <a:highlight>
                  <a:srgbClr val="FFFFFF"/>
                </a:highlight>
              </a:rPr>
              <a:t>}</a:t>
            </a:r>
          </a:p>
          <a:p>
            <a:endParaRPr lang="vi-VN">
              <a:highlight>
                <a:srgbClr val="FFFFFF"/>
              </a:highlight>
            </a:endParaRPr>
          </a:p>
          <a:p>
            <a:r>
              <a:rPr lang="vi-VN">
                <a:highlight>
                  <a:srgbClr val="FFFFFF"/>
                </a:highlight>
              </a:rPr>
              <a:t>void loop() {</a:t>
            </a:r>
          </a:p>
          <a:p>
            <a:r>
              <a:rPr lang="vi-VN">
                <a:highlight>
                  <a:srgbClr val="FFFFFF"/>
                </a:highlight>
              </a:rPr>
              <a:t>  if (emergencyStop) {</a:t>
            </a:r>
          </a:p>
          <a:p>
            <a:r>
              <a:rPr lang="vi-VN">
                <a:highlight>
                  <a:srgbClr val="FFFFFF"/>
                </a:highlight>
              </a:rPr>
              <a:t>    digitalWrite(LED_PIN, LOW);</a:t>
            </a:r>
          </a:p>
          <a:p>
            <a:r>
              <a:rPr lang="vi-VN">
                <a:highlight>
                  <a:srgbClr val="FFFFFF"/>
                </a:highlight>
              </a:rPr>
              <a:t>    // Có thể thêm buzzer, relay tắt, hiển thị lỗi...</a:t>
            </a:r>
          </a:p>
          <a:p>
            <a:r>
              <a:rPr lang="vi-VN">
                <a:highlight>
                  <a:srgbClr val="FFFFFF"/>
                </a:highlight>
              </a:rPr>
              <a:t>    // while(1);  // hoặc chờ reset bằng cách thả nút</a:t>
            </a:r>
          </a:p>
          <a:p>
            <a:r>
              <a:rPr lang="vi-VN">
                <a:highlight>
                  <a:srgbClr val="FFFFFF"/>
                </a:highlight>
              </a:rPr>
              <a:t>    return;</a:t>
            </a:r>
          </a:p>
          <a:p>
            <a:r>
              <a:rPr lang="vi-VN">
                <a:highlight>
                  <a:srgbClr val="FFFFFF"/>
                </a:highlight>
              </a:rPr>
              <a:t>  }</a:t>
            </a:r>
          </a:p>
          <a:p>
            <a:endParaRPr lang="vi-VN">
              <a:highlight>
                <a:srgbClr val="FFFFFF"/>
              </a:highlight>
            </a:endParaRPr>
          </a:p>
          <a:p>
            <a:r>
              <a:rPr lang="vi-VN">
                <a:highlight>
                  <a:srgbClr val="FFFFFF"/>
                </a:highlight>
              </a:rPr>
              <a:t>  // Nhấp nháy non-blocking</a:t>
            </a:r>
          </a:p>
          <a:p>
            <a:r>
              <a:rPr lang="vi-VN">
                <a:highlight>
                  <a:srgbClr val="FFFFFF"/>
                </a:highlight>
              </a:rPr>
              <a:t>  unsigned long currentMillis = millis();</a:t>
            </a:r>
          </a:p>
          <a:p>
            <a:r>
              <a:rPr lang="vi-VN">
                <a:highlight>
                  <a:srgbClr val="FFFFFF"/>
                </a:highlight>
              </a:rPr>
              <a:t>  if (currentMillis - previousMillis &gt;= interval) {</a:t>
            </a:r>
          </a:p>
          <a:p>
            <a:r>
              <a:rPr lang="vi-VN">
                <a:highlight>
                  <a:srgbClr val="FFFFFF"/>
                </a:highlight>
              </a:rPr>
              <a:t>    previousMillis = currentMillis;</a:t>
            </a:r>
          </a:p>
          <a:p>
            <a:r>
              <a:rPr lang="vi-VN">
                <a:highlight>
                  <a:srgbClr val="FFFFFF"/>
                </a:highlight>
              </a:rPr>
              <a:t>    digitalWrite(LED_PIN, !digitalRead(LED_PIN));</a:t>
            </a:r>
          </a:p>
          <a:p>
            <a:r>
              <a:rPr lang="vi-VN">
                <a:highlight>
                  <a:srgbClr val="FFFFFF"/>
                </a:highlight>
              </a:rPr>
              <a:t>    Serial.println("LED toggled (non-blocking)");</a:t>
            </a:r>
          </a:p>
          <a:p>
            <a:r>
              <a:rPr lang="vi-VN">
                <a:highlight>
                  <a:srgbClr val="FFFFFF"/>
                </a:highlight>
              </a:rPr>
              <a:t>  }</a:t>
            </a:r>
          </a:p>
          <a:p>
            <a:endParaRPr lang="vi-VN">
              <a:highlight>
                <a:srgbClr val="FFFFFF"/>
              </a:highlight>
            </a:endParaRPr>
          </a:p>
          <a:p>
            <a:r>
              <a:rPr lang="vi-VN">
                <a:highlight>
                  <a:srgbClr val="FFFFFF"/>
                </a:highlight>
              </a:rPr>
              <a:t>  // Bạn có thể thêm code khác vào đây mà không bị chặn</a:t>
            </a:r>
          </a:p>
          <a:p>
            <a:r>
              <a:rPr lang="vi-VN">
                <a:highlight>
                  <a:srgbClr val="FFFFFF"/>
                </a:highlight>
              </a:rPr>
              <a:t>}</a:t>
            </a:r>
          </a:p>
          <a:p>
            <a:endParaRPr lang="vi-VN">
              <a:highlight>
                <a:srgbClr val="FFFFFF"/>
              </a:highlight>
            </a:endParaRPr>
          </a:p>
          <a:p>
            <a:r>
              <a:rPr lang="vi-VN">
                <a:highlight>
                  <a:srgbClr val="FFFFFF"/>
                </a:highlight>
              </a:rPr>
              <a:t>// ISR phải ngắn gọn, nhanh</a:t>
            </a:r>
          </a:p>
          <a:p>
            <a:r>
              <a:rPr lang="vi-VN">
                <a:highlight>
                  <a:srgbClr val="FFFFFF"/>
                </a:highlight>
              </a:rPr>
              <a:t>void emergencyISR() {</a:t>
            </a:r>
          </a:p>
          <a:p>
            <a:r>
              <a:rPr lang="vi-VN">
                <a:highlight>
                  <a:srgbClr val="FFFFFF"/>
                </a:highlight>
              </a:rPr>
              <a:t>  emergencyStop = true;</a:t>
            </a:r>
          </a:p>
          <a:p>
            <a:r>
              <a:rPr lang="vi-VN">
                <a:highlight>
                  <a:srgbClr val="FFFFFF"/>
                </a:highlight>
              </a:rPr>
              <a:t>  // Có thể tắt ngay các thứ nguy hiểm ở đây</a:t>
            </a:r>
          </a:p>
          <a:p>
            <a:r>
              <a:rPr lang="vi-VN">
                <a:highlight>
                  <a:srgbClr val="FFFFFF"/>
                </a:highlight>
              </a:rPr>
              <a:t>  // digitalWrite(MOTOR_PIN, LOW);</a:t>
            </a:r>
          </a:p>
          <a:p>
            <a:r>
              <a:rPr lang="vi-VN">
                <a:highlight>
                  <a:srgbClr val="FFFFFF"/>
                </a:highlight>
              </a:rPr>
              <a:t>}</a:t>
            </a:r>
            <a:endParaRPr lang="vi-VN" dirty="0">
              <a:highlight>
                <a:srgbClr val="FFFFFF"/>
              </a:highlight>
            </a:endParaRP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25</a:t>
            </a:fld>
            <a:endParaRPr lang="en-US"/>
          </a:p>
        </p:txBody>
      </p:sp>
    </p:spTree>
    <p:extLst>
      <p:ext uri="{BB962C8B-B14F-4D97-AF65-F5344CB8AC3E}">
        <p14:creationId xmlns:p14="http://schemas.microsoft.com/office/powerpoint/2010/main" val="3923614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Tình huống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9" name="Picture 8">
            <a:extLst>
              <a:ext uri="{FF2B5EF4-FFF2-40B4-BE49-F238E27FC236}">
                <a16:creationId xmlns:a16="http://schemas.microsoft.com/office/drawing/2014/main" id="{F35B7518-5C63-A06A-CFB6-0F321B4CA0E0}"/>
              </a:ext>
            </a:extLst>
          </p:cNvPr>
          <p:cNvPicPr>
            <a:picLocks noChangeAspect="1"/>
          </p:cNvPicPr>
          <p:nvPr/>
        </p:nvPicPr>
        <p:blipFill>
          <a:blip r:embed="rId3"/>
          <a:stretch>
            <a:fillRect/>
          </a:stretch>
        </p:blipFill>
        <p:spPr>
          <a:xfrm>
            <a:off x="381000" y="2975463"/>
            <a:ext cx="9882187" cy="6729501"/>
          </a:xfrm>
          <a:prstGeom prst="rect">
            <a:avLst/>
          </a:prstGeom>
        </p:spPr>
      </p:pic>
      <p:sp>
        <p:nvSpPr>
          <p:cNvPr id="10" name="Rectangle 1">
            <a:extLst>
              <a:ext uri="{FF2B5EF4-FFF2-40B4-BE49-F238E27FC236}">
                <a16:creationId xmlns:a16="http://schemas.microsoft.com/office/drawing/2014/main" id="{6E12763B-4207-96BA-A0C9-1CB44D42D05A}"/>
              </a:ext>
            </a:extLst>
          </p:cNvPr>
          <p:cNvSpPr>
            <a:spLocks noChangeArrowheads="1"/>
          </p:cNvSpPr>
          <p:nvPr/>
        </p:nvSpPr>
        <p:spPr bwMode="auto">
          <a:xfrm>
            <a:off x="10675523" y="3543300"/>
            <a:ext cx="723147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3600" b="0" i="0" u="none" strike="noStrike" cap="none" normalizeH="0" baseline="0">
                <a:ln>
                  <a:noFill/>
                </a:ln>
                <a:solidFill>
                  <a:schemeClr val="tx1"/>
                </a:solidFill>
                <a:effectLst/>
                <a:latin typeface="Arial" panose="020B0604020202020204" pitchFamily="34" charset="0"/>
              </a:rPr>
              <a:t>Hệ thống:</a:t>
            </a:r>
            <a:endParaRPr kumimoji="0" lang="en-US" altLang="vi-VN" sz="3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3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3600" b="0" i="0" u="none" strike="noStrike" cap="none" normalizeH="0" baseline="0">
                <a:ln>
                  <a:noFill/>
                </a:ln>
                <a:solidFill>
                  <a:schemeClr val="tx1"/>
                </a:solidFill>
                <a:effectLst/>
                <a:latin typeface="Arial" panose="020B0604020202020204" pitchFamily="34" charset="0"/>
              </a:rPr>
              <a:t>LED nhấp nháy mỗi 1 giây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3600" b="0" i="0" u="none" strike="noStrike" cap="none" normalizeH="0" baseline="0">
                <a:ln>
                  <a:noFill/>
                </a:ln>
                <a:solidFill>
                  <a:schemeClr val="tx1"/>
                </a:solidFill>
                <a:effectLst/>
                <a:latin typeface="Arial" panose="020B0604020202020204" pitchFamily="34" charset="0"/>
              </a:rPr>
              <a:t>Nút nhấn dừng khẩn cấp</a:t>
            </a:r>
            <a:endParaRPr kumimoji="0" lang="en-US" altLang="vi-VN" sz="3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3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3600" b="0" i="0" u="none" strike="noStrike" cap="none" normalizeH="0" baseline="0">
                <a:ln>
                  <a:noFill/>
                </a:ln>
                <a:solidFill>
                  <a:schemeClr val="tx1"/>
                </a:solidFill>
                <a:effectLst/>
                <a:latin typeface="Arial" panose="020B0604020202020204" pitchFamily="34" charset="0"/>
              </a:rPr>
              <a:t>Câu hỏi: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vi-VN" sz="3600" b="0" i="0" u="none" strike="noStrike" cap="none" normalizeH="0" baseline="0">
                <a:ln>
                  <a:noFill/>
                </a:ln>
                <a:solidFill>
                  <a:schemeClr val="tx1"/>
                </a:solidFill>
                <a:effectLst/>
                <a:latin typeface="Arial" panose="020B0604020202020204" pitchFamily="34" charset="0"/>
              </a:rPr>
              <a:t>Vậy nếu nhấn nút dừng khẩn cấp thì đèn có tắt luôn không?</a:t>
            </a:r>
            <a:endParaRPr kumimoji="0" lang="vi-VN" altLang="vi-VN" sz="3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55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Tình huống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9E05AAC2-1A2B-0A8A-FEE5-DE6B02394D4C}"/>
              </a:ext>
            </a:extLst>
          </p:cNvPr>
          <p:cNvSpPr txBox="1"/>
          <p:nvPr/>
        </p:nvSpPr>
        <p:spPr>
          <a:xfrm>
            <a:off x="682171" y="2603064"/>
            <a:ext cx="6341772" cy="3170099"/>
          </a:xfrm>
          <a:prstGeom prst="rect">
            <a:avLst/>
          </a:prstGeom>
          <a:noFill/>
        </p:spPr>
        <p:txBody>
          <a:bodyPr wrap="square">
            <a:spAutoFit/>
          </a:bodyPr>
          <a:lstStyle/>
          <a:p>
            <a:r>
              <a:rPr lang="vi-VN" sz="4000" b="1"/>
              <a:t>while(1)</a:t>
            </a:r>
          </a:p>
          <a:p>
            <a:r>
              <a:rPr lang="vi-VN" sz="4000" b="1"/>
              <a:t>{</a:t>
            </a:r>
          </a:p>
          <a:p>
            <a:r>
              <a:rPr lang="en-US" sz="4000" b="1"/>
              <a:t>    blink_led();</a:t>
            </a:r>
            <a:r>
              <a:rPr lang="vi-VN" sz="4000" b="1"/>
              <a:t> </a:t>
            </a:r>
            <a:endParaRPr lang="en-US" sz="4000" b="1"/>
          </a:p>
          <a:p>
            <a:r>
              <a:rPr lang="en-US" sz="4000" b="1"/>
              <a:t>    </a:t>
            </a:r>
            <a:r>
              <a:rPr lang="vi-VN" sz="4000" b="1"/>
              <a:t>check_button();</a:t>
            </a:r>
          </a:p>
          <a:p>
            <a:r>
              <a:rPr lang="vi-VN" sz="4000" b="1"/>
              <a:t>}</a:t>
            </a:r>
          </a:p>
        </p:txBody>
      </p:sp>
      <p:sp>
        <p:nvSpPr>
          <p:cNvPr id="10" name="TextBox 9">
            <a:extLst>
              <a:ext uri="{FF2B5EF4-FFF2-40B4-BE49-F238E27FC236}">
                <a16:creationId xmlns:a16="http://schemas.microsoft.com/office/drawing/2014/main" id="{5AF42942-4C28-0762-63EB-E619189632D9}"/>
              </a:ext>
            </a:extLst>
          </p:cNvPr>
          <p:cNvSpPr txBox="1"/>
          <p:nvPr/>
        </p:nvSpPr>
        <p:spPr>
          <a:xfrm>
            <a:off x="682171" y="6960384"/>
            <a:ext cx="9920514" cy="2062103"/>
          </a:xfrm>
          <a:prstGeom prst="rect">
            <a:avLst/>
          </a:prstGeom>
          <a:noFill/>
        </p:spPr>
        <p:txBody>
          <a:bodyPr wrap="square">
            <a:spAutoFit/>
          </a:bodyPr>
          <a:lstStyle/>
          <a:p>
            <a:r>
              <a:rPr lang="vi-VN" sz="3200"/>
              <a:t>Nhược điểm:</a:t>
            </a:r>
          </a:p>
          <a:p>
            <a:pPr>
              <a:buFont typeface="Arial" panose="020B0604020202020204" pitchFamily="34" charset="0"/>
              <a:buChar char="•"/>
            </a:pPr>
            <a:r>
              <a:rPr lang="vi-VN" sz="3200"/>
              <a:t>CPU bị </a:t>
            </a:r>
            <a:r>
              <a:rPr lang="vi-VN" sz="3200" b="1"/>
              <a:t>waste time</a:t>
            </a:r>
            <a:endParaRPr lang="vi-VN" sz="3200"/>
          </a:p>
          <a:p>
            <a:pPr>
              <a:buFont typeface="Arial" panose="020B0604020202020204" pitchFamily="34" charset="0"/>
              <a:buChar char="•"/>
            </a:pPr>
            <a:r>
              <a:rPr lang="vi-VN" sz="3200"/>
              <a:t>Phản ứng </a:t>
            </a:r>
            <a:r>
              <a:rPr lang="vi-VN" sz="3200" b="1"/>
              <a:t>chậm</a:t>
            </a:r>
            <a:endParaRPr lang="vi-VN" sz="3200"/>
          </a:p>
          <a:p>
            <a:pPr>
              <a:buFont typeface="Arial" panose="020B0604020202020204" pitchFamily="34" charset="0"/>
              <a:buChar char="•"/>
            </a:pPr>
            <a:r>
              <a:rPr lang="vi-VN" sz="3200"/>
              <a:t>Không real-time</a:t>
            </a:r>
          </a:p>
        </p:txBody>
      </p:sp>
      <p:pic>
        <p:nvPicPr>
          <p:cNvPr id="1026" name="Picture 2" descr="Kỹ thuật polling là gì? Short polling và long polling | Duc Truong">
            <a:extLst>
              <a:ext uri="{FF2B5EF4-FFF2-40B4-BE49-F238E27FC236}">
                <a16:creationId xmlns:a16="http://schemas.microsoft.com/office/drawing/2014/main" id="{AA0EC74B-5F5A-49DC-48C2-02B033268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3113" y="2493357"/>
            <a:ext cx="8116341" cy="26237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10 Election-Themed Cat Memes to Get Us Through Today – Pacific Siamese  Rescue">
            <a:extLst>
              <a:ext uri="{FF2B5EF4-FFF2-40B4-BE49-F238E27FC236}">
                <a16:creationId xmlns:a16="http://schemas.microsoft.com/office/drawing/2014/main" id="{C5C26261-3641-AC03-15E2-EC4ADA5F97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620856"/>
            <a:ext cx="47625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096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Polling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9062725A-6933-EE93-8B9E-DEEC79777E02}"/>
              </a:ext>
            </a:extLst>
          </p:cNvPr>
          <p:cNvSpPr txBox="1"/>
          <p:nvPr/>
        </p:nvSpPr>
        <p:spPr>
          <a:xfrm>
            <a:off x="373742" y="2543831"/>
            <a:ext cx="17380857" cy="6555641"/>
          </a:xfrm>
          <a:prstGeom prst="rect">
            <a:avLst/>
          </a:prstGeom>
          <a:noFill/>
        </p:spPr>
        <p:txBody>
          <a:bodyPr wrap="square">
            <a:spAutoFit/>
          </a:bodyPr>
          <a:lstStyle/>
          <a:p>
            <a:r>
              <a:rPr lang="vi-VN" sz="2800">
                <a:effectLst/>
              </a:rPr>
              <a:t>Polling trong lập trình là kỹ thuật mà chương trình chủ động liên tục hỏi (kiểm tra) một cái gì đó xem nó đã sẵn sàng/chưa, có dữ liệu mới chưa, hay trạng thái đã thay đổi chưa.</a:t>
            </a:r>
            <a:endParaRPr lang="en-US" sz="2800">
              <a:effectLst/>
            </a:endParaRPr>
          </a:p>
          <a:p>
            <a:endParaRPr lang="en-US" sz="2800"/>
          </a:p>
          <a:p>
            <a:r>
              <a:rPr lang="vi-VN" sz="2800">
                <a:effectLst/>
              </a:rPr>
              <a:t>Nói đơn giản:</a:t>
            </a:r>
          </a:p>
          <a:p>
            <a:pPr>
              <a:buFont typeface="Arial" panose="020B0604020202020204" pitchFamily="34" charset="0"/>
              <a:buChar char="•"/>
            </a:pPr>
            <a:r>
              <a:rPr lang="vi-VN" sz="2800"/>
              <a:t>Chương trình cứ lặp đi lặp lại kiểu: "Có gì mới chưa? → Không → Lại hỏi tiếp → Có gì mới chưa? → Không → …"</a:t>
            </a:r>
          </a:p>
          <a:p>
            <a:endParaRPr lang="en-US" sz="2800">
              <a:effectLst/>
            </a:endParaRPr>
          </a:p>
          <a:p>
            <a:endParaRPr lang="en-US" sz="2800"/>
          </a:p>
          <a:p>
            <a:endParaRPr lang="vi-VN" sz="2800">
              <a:effectLst/>
            </a:endParaRPr>
          </a:p>
          <a:p>
            <a:r>
              <a:rPr lang="vi-VN" sz="2800" b="1"/>
              <a:t>Khi nào chương trình được coi là polling?</a:t>
            </a:r>
          </a:p>
          <a:p>
            <a:r>
              <a:rPr lang="vi-VN" sz="2800">
                <a:effectLst/>
              </a:rPr>
              <a:t>Chương trình được coi là dùng </a:t>
            </a:r>
            <a:r>
              <a:rPr lang="vi-VN" sz="2800" b="1">
                <a:effectLst/>
              </a:rPr>
              <a:t>polling</a:t>
            </a:r>
            <a:r>
              <a:rPr lang="vi-VN" sz="2800">
                <a:effectLst/>
              </a:rPr>
              <a:t> khi nó:</a:t>
            </a:r>
          </a:p>
          <a:p>
            <a:pPr>
              <a:buFont typeface="Arial" panose="020B0604020202020204" pitchFamily="34" charset="0"/>
              <a:buChar char="•"/>
            </a:pPr>
            <a:r>
              <a:rPr lang="vi-VN" sz="2800"/>
              <a:t>Chủ động </a:t>
            </a:r>
            <a:r>
              <a:rPr lang="vi-VN" sz="2800" b="1"/>
              <a:t>kiểm tra lặp lại</a:t>
            </a:r>
            <a:r>
              <a:rPr lang="vi-VN" sz="2800"/>
              <a:t> (thường trong một vòng lặp while/for)</a:t>
            </a:r>
          </a:p>
          <a:p>
            <a:pPr>
              <a:buFont typeface="Arial" panose="020B0604020202020204" pitchFamily="34" charset="0"/>
              <a:buChar char="•"/>
            </a:pPr>
            <a:r>
              <a:rPr lang="vi-VN" sz="2800"/>
              <a:t>Không có cơ chế </a:t>
            </a:r>
            <a:r>
              <a:rPr lang="vi-VN" sz="2800" b="1"/>
              <a:t>chờ thụ động</a:t>
            </a:r>
            <a:r>
              <a:rPr lang="vi-VN" sz="2800"/>
              <a:t> (bị thông báo khi có sự kiện)</a:t>
            </a:r>
          </a:p>
          <a:p>
            <a:pPr>
              <a:buFont typeface="Arial" panose="020B0604020202020204" pitchFamily="34" charset="0"/>
              <a:buChar char="•"/>
            </a:pPr>
            <a:r>
              <a:rPr lang="vi-VN" sz="2800"/>
              <a:t>CPU phải tốn công kiểm tra dù </a:t>
            </a:r>
            <a:r>
              <a:rPr lang="vi-VN" sz="2800" b="1"/>
              <a:t>chẳng có gì xảy ra</a:t>
            </a:r>
            <a:endParaRPr lang="vi-VN" sz="2800"/>
          </a:p>
          <a:p>
            <a:endParaRPr lang="vi-VN" sz="2800" b="1">
              <a:effectLst/>
            </a:endParaRPr>
          </a:p>
        </p:txBody>
      </p:sp>
    </p:spTree>
    <p:extLst>
      <p:ext uri="{BB962C8B-B14F-4D97-AF65-F5344CB8AC3E}">
        <p14:creationId xmlns:p14="http://schemas.microsoft.com/office/powerpoint/2010/main" val="1247870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Polling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9062725A-6933-EE93-8B9E-DEEC79777E02}"/>
              </a:ext>
            </a:extLst>
          </p:cNvPr>
          <p:cNvSpPr txBox="1"/>
          <p:nvPr/>
        </p:nvSpPr>
        <p:spPr>
          <a:xfrm>
            <a:off x="373742" y="2543831"/>
            <a:ext cx="17380857" cy="7417415"/>
          </a:xfrm>
          <a:prstGeom prst="rect">
            <a:avLst/>
          </a:prstGeom>
          <a:noFill/>
        </p:spPr>
        <p:txBody>
          <a:bodyPr wrap="square">
            <a:spAutoFit/>
          </a:bodyPr>
          <a:lstStyle/>
          <a:p>
            <a:r>
              <a:rPr lang="vi-VN" sz="2800">
                <a:effectLst/>
              </a:rPr>
              <a:t>Nói đơn giản:</a:t>
            </a:r>
          </a:p>
          <a:p>
            <a:pPr>
              <a:buFont typeface="Arial" panose="020B0604020202020204" pitchFamily="34" charset="0"/>
              <a:buChar char="•"/>
            </a:pPr>
            <a:r>
              <a:rPr lang="vi-VN" sz="2800"/>
              <a:t>Chương trình cứ lặp đi lặp lại kiểu: "Có gì mới chưa? → Không → Lại hỏi tiếp → Có gì mới chưa? → Không → …"</a:t>
            </a:r>
            <a:endParaRPr lang="en-US" sz="2800">
              <a:effectLst/>
            </a:endParaRPr>
          </a:p>
          <a:p>
            <a:endParaRPr lang="en-US" sz="2800"/>
          </a:p>
          <a:p>
            <a:r>
              <a:rPr lang="vi-VN" sz="2800" b="1">
                <a:effectLst/>
              </a:rPr>
              <a:t>while (1) {</a:t>
            </a:r>
          </a:p>
          <a:p>
            <a:r>
              <a:rPr lang="vi-VN" sz="2800" b="1">
                <a:effectLst/>
              </a:rPr>
              <a:t>    if (GPIO_ReadInputDataBit(GPIOA, GPIO_Pin_0) == 0) {  // Nút nhấn được nhấn (active low)</a:t>
            </a:r>
          </a:p>
          <a:p>
            <a:r>
              <a:rPr lang="vi-VN" sz="2800" b="1">
                <a:effectLst/>
              </a:rPr>
              <a:t>        // Xử lý nút nhấn</a:t>
            </a:r>
          </a:p>
          <a:p>
            <a:r>
              <a:rPr lang="vi-VN" sz="2800" b="1">
                <a:effectLst/>
              </a:rPr>
              <a:t>        LED_Toggle();</a:t>
            </a:r>
          </a:p>
          <a:p>
            <a:r>
              <a:rPr lang="vi-VN" sz="2800" b="1">
                <a:effectLst/>
              </a:rPr>
              <a:t>    }</a:t>
            </a:r>
          </a:p>
          <a:p>
            <a:r>
              <a:rPr lang="vi-VN" sz="2800" b="1">
                <a:effectLst/>
              </a:rPr>
              <a:t>    </a:t>
            </a:r>
          </a:p>
          <a:p>
            <a:r>
              <a:rPr lang="vi-VN" sz="2800" b="1">
                <a:effectLst/>
              </a:rPr>
              <a:t>    if (ADC_GetFlagStatus(ADC1, ADC_FLAG_EOC) == SET) {  // Chuyển đổi ADC xong</a:t>
            </a:r>
          </a:p>
          <a:p>
            <a:r>
              <a:rPr lang="vi-VN" sz="2800" b="1">
                <a:effectLst/>
              </a:rPr>
              <a:t>        value = ADC_GetConversionValue(ADC1);</a:t>
            </a:r>
          </a:p>
          <a:p>
            <a:r>
              <a:rPr lang="vi-VN" sz="2800" b="1">
                <a:effectLst/>
              </a:rPr>
              <a:t>        // Xử lý giá trị</a:t>
            </a:r>
          </a:p>
          <a:p>
            <a:r>
              <a:rPr lang="vi-VN" sz="2800" b="1">
                <a:effectLst/>
              </a:rPr>
              <a:t>    }</a:t>
            </a:r>
          </a:p>
          <a:p>
            <a:r>
              <a:rPr lang="vi-VN" sz="2800" b="1">
                <a:effectLst/>
              </a:rPr>
              <a:t>    </a:t>
            </a:r>
          </a:p>
          <a:p>
            <a:r>
              <a:rPr lang="vi-VN" sz="2800" b="1">
                <a:effectLst/>
              </a:rPr>
              <a:t>    // Các việc khác...</a:t>
            </a:r>
          </a:p>
          <a:p>
            <a:r>
              <a:rPr lang="vi-VN" sz="2800" b="1">
                <a:effectLst/>
              </a:rPr>
              <a:t>}</a:t>
            </a:r>
          </a:p>
        </p:txBody>
      </p:sp>
    </p:spTree>
    <p:extLst>
      <p:ext uri="{BB962C8B-B14F-4D97-AF65-F5344CB8AC3E}">
        <p14:creationId xmlns:p14="http://schemas.microsoft.com/office/powerpoint/2010/main" val="2003845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Tình huống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A21372B7-E536-270B-08DD-382B1A3CFD8B}"/>
              </a:ext>
            </a:extLst>
          </p:cNvPr>
          <p:cNvPicPr>
            <a:picLocks noChangeAspect="1"/>
          </p:cNvPicPr>
          <p:nvPr/>
        </p:nvPicPr>
        <p:blipFill>
          <a:blip r:embed="rId3"/>
          <a:stretch>
            <a:fillRect/>
          </a:stretch>
        </p:blipFill>
        <p:spPr>
          <a:xfrm>
            <a:off x="10744200" y="2113071"/>
            <a:ext cx="7772400" cy="8082342"/>
          </a:xfrm>
          <a:prstGeom prst="rect">
            <a:avLst/>
          </a:prstGeom>
        </p:spPr>
      </p:pic>
      <p:pic>
        <p:nvPicPr>
          <p:cNvPr id="11" name="Picture 10">
            <a:extLst>
              <a:ext uri="{FF2B5EF4-FFF2-40B4-BE49-F238E27FC236}">
                <a16:creationId xmlns:a16="http://schemas.microsoft.com/office/drawing/2014/main" id="{F1585537-B94E-ACDE-62AF-0C7946A9A18B}"/>
              </a:ext>
            </a:extLst>
          </p:cNvPr>
          <p:cNvPicPr>
            <a:picLocks noChangeAspect="1"/>
          </p:cNvPicPr>
          <p:nvPr/>
        </p:nvPicPr>
        <p:blipFill>
          <a:blip r:embed="rId4"/>
          <a:stretch>
            <a:fillRect/>
          </a:stretch>
        </p:blipFill>
        <p:spPr>
          <a:xfrm>
            <a:off x="381000" y="2975463"/>
            <a:ext cx="9882187" cy="6729501"/>
          </a:xfrm>
          <a:prstGeom prst="rect">
            <a:avLst/>
          </a:prstGeom>
        </p:spPr>
      </p:pic>
    </p:spTree>
    <p:extLst>
      <p:ext uri="{BB962C8B-B14F-4D97-AF65-F5344CB8AC3E}">
        <p14:creationId xmlns:p14="http://schemas.microsoft.com/office/powerpoint/2010/main" val="4008771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Tình huống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50" name="Picture 2" descr="Interrupt GIFs | Tenor">
            <a:extLst>
              <a:ext uri="{FF2B5EF4-FFF2-40B4-BE49-F238E27FC236}">
                <a16:creationId xmlns:a16="http://schemas.microsoft.com/office/drawing/2014/main" id="{D711ED07-96F6-E844-596F-AD9F50152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605" y="2096742"/>
            <a:ext cx="7981950" cy="79819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Oh Okay GIFs | Tenor">
            <a:extLst>
              <a:ext uri="{FF2B5EF4-FFF2-40B4-BE49-F238E27FC236}">
                <a16:creationId xmlns:a16="http://schemas.microsoft.com/office/drawing/2014/main" id="{1F867B22-C85A-C731-EBA5-36E56F09B1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89102" y="2519544"/>
            <a:ext cx="6849339" cy="6849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734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Khái niệm</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8CDBF961-77F0-88DD-EAF9-C69F03B9C77F}"/>
              </a:ext>
            </a:extLst>
          </p:cNvPr>
          <p:cNvSpPr txBox="1"/>
          <p:nvPr/>
        </p:nvSpPr>
        <p:spPr>
          <a:xfrm>
            <a:off x="304800" y="2324100"/>
            <a:ext cx="17373600" cy="4893647"/>
          </a:xfrm>
          <a:prstGeom prst="rect">
            <a:avLst/>
          </a:prstGeom>
          <a:noFill/>
        </p:spPr>
        <p:txBody>
          <a:bodyPr wrap="square">
            <a:spAutoFit/>
          </a:bodyPr>
          <a:lstStyle/>
          <a:p>
            <a:r>
              <a:rPr lang="vi-VN" sz="2400" b="1"/>
              <a:t>Ngắt (Interrupt)</a:t>
            </a:r>
            <a:r>
              <a:rPr lang="vi-VN" sz="2400"/>
              <a:t> là một cơ chế quan trọng trong các hệ thống nhúng và vi điều khiển, giúp chương trình có thể phản hồi một cách </a:t>
            </a:r>
            <a:r>
              <a:rPr lang="vi-VN" sz="2400" b="1"/>
              <a:t>nhanh chóng và hiệu quả</a:t>
            </a:r>
            <a:r>
              <a:rPr lang="vi-VN" sz="2400"/>
              <a:t> khi có sự kiện khẩn cấp hoặc cần xử lý ngay lập tức mà không phải liên tục kiểm tra (polling).</a:t>
            </a:r>
            <a:endParaRPr lang="en-US" sz="2400"/>
          </a:p>
          <a:p>
            <a:endParaRPr lang="en-US" sz="2400"/>
          </a:p>
          <a:p>
            <a:r>
              <a:rPr lang="vi-VN" sz="2400"/>
              <a:t>Khi có sự kiện ngắt, chương trình chính (main program) tạm dừng để chuyển sang xử lý sự kiện đó, sau khi xong lại quay lại chương trình chính.</a:t>
            </a:r>
            <a:endParaRPr lang="en-US" sz="2400"/>
          </a:p>
          <a:p>
            <a:endParaRPr lang="vi-VN" sz="2400"/>
          </a:p>
          <a:p>
            <a:r>
              <a:rPr lang="vi-VN" sz="2400" b="1"/>
              <a:t>1️⃣ Khái niệm Ngắt (Interrupt)</a:t>
            </a:r>
            <a:endParaRPr lang="en-US" sz="2400" b="1"/>
          </a:p>
          <a:p>
            <a:endParaRPr lang="vi-VN" sz="2400" b="1"/>
          </a:p>
          <a:p>
            <a:pPr>
              <a:buFont typeface="Arial" panose="020B0604020202020204" pitchFamily="34" charset="0"/>
              <a:buChar char="•"/>
            </a:pPr>
            <a:r>
              <a:rPr lang="vi-VN" sz="2400" b="1"/>
              <a:t>Interrupt (Ngắt)</a:t>
            </a:r>
            <a:r>
              <a:rPr lang="vi-VN" sz="2400"/>
              <a:t> là một tín hiệu phần cứng hoặc phần mềm yêu cầu vi điều khiển </a:t>
            </a:r>
            <a:r>
              <a:rPr lang="vi-VN" sz="2400" b="1"/>
              <a:t>dừng chương trình hiện tại</a:t>
            </a:r>
            <a:r>
              <a:rPr lang="vi-VN" sz="2400"/>
              <a:t> để chuyển sang xử lý một sự kiện quan trọng. Sau khi sự kiện này được xử lý, vi điều khiển </a:t>
            </a:r>
            <a:r>
              <a:rPr lang="vi-VN" sz="2400" b="1"/>
              <a:t>quay lại tiếp tục thực thi chương trình chính</a:t>
            </a:r>
            <a:r>
              <a:rPr lang="vi-VN" sz="2400"/>
              <a:t>.</a:t>
            </a:r>
            <a:endParaRPr lang="en-US" sz="2400"/>
          </a:p>
          <a:p>
            <a:pPr>
              <a:buFont typeface="Arial" panose="020B0604020202020204" pitchFamily="34" charset="0"/>
              <a:buChar char="•"/>
            </a:pPr>
            <a:endParaRPr lang="vi-VN" sz="2400"/>
          </a:p>
          <a:p>
            <a:pPr>
              <a:buFont typeface="Arial" panose="020B0604020202020204" pitchFamily="34" charset="0"/>
              <a:buChar char="•"/>
            </a:pPr>
            <a:r>
              <a:rPr lang="vi-VN" sz="2400"/>
              <a:t>Ngắt giúp hệ thống có thể </a:t>
            </a:r>
            <a:r>
              <a:rPr lang="vi-VN" sz="2400" b="1"/>
              <a:t>xử lý sự kiện khẩn cấp</a:t>
            </a:r>
            <a:r>
              <a:rPr lang="vi-VN" sz="2400"/>
              <a:t> mà không phải theo dõi, kiểm tra liên tục như phương pháp polling.</a:t>
            </a:r>
          </a:p>
        </p:txBody>
      </p:sp>
    </p:spTree>
    <p:extLst>
      <p:ext uri="{BB962C8B-B14F-4D97-AF65-F5344CB8AC3E}">
        <p14:creationId xmlns:p14="http://schemas.microsoft.com/office/powerpoint/2010/main" val="4095854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Khái niệm</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8CDBF961-77F0-88DD-EAF9-C69F03B9C77F}"/>
              </a:ext>
            </a:extLst>
          </p:cNvPr>
          <p:cNvSpPr txBox="1"/>
          <p:nvPr/>
        </p:nvSpPr>
        <p:spPr>
          <a:xfrm>
            <a:off x="304800" y="2324100"/>
            <a:ext cx="17373600" cy="1200329"/>
          </a:xfrm>
          <a:prstGeom prst="rect">
            <a:avLst/>
          </a:prstGeom>
          <a:noFill/>
        </p:spPr>
        <p:txBody>
          <a:bodyPr wrap="square">
            <a:spAutoFit/>
          </a:bodyPr>
          <a:lstStyle/>
          <a:p>
            <a:r>
              <a:rPr lang="vi-VN" sz="2400" b="1">
                <a:effectLst/>
              </a:rPr>
              <a:t>"Sự kiện trong ngắt"</a:t>
            </a:r>
            <a:r>
              <a:rPr lang="vi-VN" sz="2400">
                <a:effectLst/>
              </a:rPr>
              <a:t> (interrupt event) trong lập trình </a:t>
            </a:r>
            <a:r>
              <a:rPr lang="vi-VN" sz="2400" b="1">
                <a:effectLst/>
              </a:rPr>
              <a:t>nhúng</a:t>
            </a:r>
            <a:r>
              <a:rPr lang="vi-VN" sz="2400">
                <a:effectLst/>
              </a:rPr>
              <a:t> chính là </a:t>
            </a:r>
            <a:r>
              <a:rPr lang="vi-VN" sz="2400" b="1">
                <a:effectLst/>
              </a:rPr>
              <a:t>cái gì đó xảy ra</a:t>
            </a:r>
            <a:r>
              <a:rPr lang="vi-VN" sz="2400">
                <a:effectLst/>
              </a:rPr>
              <a:t> (một sự kiện phần cứng hoặc phần mềm) khiến </a:t>
            </a:r>
            <a:r>
              <a:rPr lang="vi-VN" sz="2400" b="1">
                <a:effectLst/>
              </a:rPr>
              <a:t>vi điều khiển (CPU)</a:t>
            </a:r>
            <a:r>
              <a:rPr lang="vi-VN" sz="2400">
                <a:effectLst/>
              </a:rPr>
              <a:t> phải </a:t>
            </a:r>
            <a:r>
              <a:rPr lang="vi-VN" sz="2400" b="1">
                <a:effectLst/>
              </a:rPr>
              <a:t>tạm dừng chương trình chính</a:t>
            </a:r>
            <a:r>
              <a:rPr lang="vi-VN" sz="2400">
                <a:effectLst/>
              </a:rPr>
              <a:t> để xử lý ngay lập tức.</a:t>
            </a:r>
          </a:p>
          <a:p>
            <a:r>
              <a:rPr lang="vi-VN" sz="2400">
                <a:effectLst/>
              </a:rPr>
              <a:t>Nói đơn giản hơn: </a:t>
            </a:r>
            <a:r>
              <a:rPr lang="vi-VN" sz="2400" b="1">
                <a:effectLst/>
              </a:rPr>
              <a:t>Sự kiện</a:t>
            </a:r>
            <a:r>
              <a:rPr lang="vi-VN" sz="2400">
                <a:effectLst/>
              </a:rPr>
              <a:t> = nguyên nhân gây ra ngắt. </a:t>
            </a:r>
            <a:r>
              <a:rPr lang="vi-VN" sz="2400" b="1">
                <a:effectLst/>
              </a:rPr>
              <a:t>Ngắt</a:t>
            </a:r>
            <a:r>
              <a:rPr lang="vi-VN" sz="2400">
                <a:effectLst/>
              </a:rPr>
              <a:t> = hành động CPU "bị giật mình" và nhảy sang xử lý sự kiện đó.</a:t>
            </a:r>
          </a:p>
        </p:txBody>
      </p:sp>
      <p:pic>
        <p:nvPicPr>
          <p:cNvPr id="2050" name="Picture 2" descr="Career memes of the week: event planner - Careers | siliconrepublic.com -  Ireland's Technology News Service">
            <a:extLst>
              <a:ext uri="{FF2B5EF4-FFF2-40B4-BE49-F238E27FC236}">
                <a16:creationId xmlns:a16="http://schemas.microsoft.com/office/drawing/2014/main" id="{37F921BA-BC83-5CFB-8A44-985465453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905072"/>
            <a:ext cx="7620000" cy="571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DE3D1B37-9798-A359-9E20-755C8E9985B4}"/>
              </a:ext>
            </a:extLst>
          </p:cNvPr>
          <p:cNvGraphicFramePr>
            <a:graphicFrameLocks noGrp="1"/>
          </p:cNvGraphicFramePr>
          <p:nvPr>
            <p:extLst>
              <p:ext uri="{D42A27DB-BD31-4B8C-83A1-F6EECF244321}">
                <p14:modId xmlns:p14="http://schemas.microsoft.com/office/powerpoint/2010/main" val="1764932641"/>
              </p:ext>
            </p:extLst>
          </p:nvPr>
        </p:nvGraphicFramePr>
        <p:xfrm>
          <a:off x="8839200" y="4229100"/>
          <a:ext cx="8153400" cy="5486402"/>
        </p:xfrm>
        <a:graphic>
          <a:graphicData uri="http://schemas.openxmlformats.org/drawingml/2006/table">
            <a:tbl>
              <a:tblPr/>
              <a:tblGrid>
                <a:gridCol w="2038350">
                  <a:extLst>
                    <a:ext uri="{9D8B030D-6E8A-4147-A177-3AD203B41FA5}">
                      <a16:colId xmlns:a16="http://schemas.microsoft.com/office/drawing/2014/main" val="2672002604"/>
                    </a:ext>
                  </a:extLst>
                </a:gridCol>
                <a:gridCol w="2038350">
                  <a:extLst>
                    <a:ext uri="{9D8B030D-6E8A-4147-A177-3AD203B41FA5}">
                      <a16:colId xmlns:a16="http://schemas.microsoft.com/office/drawing/2014/main" val="3887609247"/>
                    </a:ext>
                  </a:extLst>
                </a:gridCol>
                <a:gridCol w="2038350">
                  <a:extLst>
                    <a:ext uri="{9D8B030D-6E8A-4147-A177-3AD203B41FA5}">
                      <a16:colId xmlns:a16="http://schemas.microsoft.com/office/drawing/2014/main" val="967863456"/>
                    </a:ext>
                  </a:extLst>
                </a:gridCol>
                <a:gridCol w="2038350">
                  <a:extLst>
                    <a:ext uri="{9D8B030D-6E8A-4147-A177-3AD203B41FA5}">
                      <a16:colId xmlns:a16="http://schemas.microsoft.com/office/drawing/2014/main" val="904757918"/>
                    </a:ext>
                  </a:extLst>
                </a:gridCol>
              </a:tblGrid>
              <a:tr h="573206">
                <a:tc>
                  <a:txBody>
                    <a:bodyPr/>
                    <a:lstStyle/>
                    <a:p>
                      <a:r>
                        <a:rPr lang="vi-VN" sz="1300" b="1">
                          <a:solidFill>
                            <a:schemeClr val="tx1"/>
                          </a:solidFill>
                        </a:rPr>
                        <a:t>Loại sự kiện</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b="1">
                          <a:solidFill>
                            <a:schemeClr val="tx1"/>
                          </a:solidFill>
                        </a:rPr>
                        <a:t>Ví dụ cụ thể</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b="1">
                          <a:solidFill>
                            <a:schemeClr val="tx1"/>
                          </a:solidFill>
                        </a:rPr>
                        <a:t>Nguồn gây ngắt</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b="1">
                          <a:solidFill>
                            <a:schemeClr val="tx1"/>
                          </a:solidFill>
                        </a:rPr>
                        <a:t>Tại sao gọi là "sự kiện"?</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6970353"/>
                  </a:ext>
                </a:extLst>
              </a:tr>
              <a:tr h="818866">
                <a:tc>
                  <a:txBody>
                    <a:bodyPr/>
                    <a:lstStyle/>
                    <a:p>
                      <a:r>
                        <a:rPr lang="vi-VN" sz="1300" b="1">
                          <a:solidFill>
                            <a:schemeClr val="tx1"/>
                          </a:solidFill>
                        </a:rPr>
                        <a:t>Sự kiện từ bên ngoài</a:t>
                      </a:r>
                      <a:endParaRPr lang="vi-VN" sz="1300">
                        <a:solidFill>
                          <a:schemeClr val="tx1"/>
                        </a:solidFill>
                      </a:endParaRP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Nhấn nút bấm, cảm biến phát hiện vật cản</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External Interrupt (EXTI, INT0/INT1)</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Có thay đổi tín hiệu ngoài (edge/level)</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0362178"/>
                  </a:ext>
                </a:extLst>
              </a:tr>
              <a:tr h="818866">
                <a:tc>
                  <a:txBody>
                    <a:bodyPr/>
                    <a:lstStyle/>
                    <a:p>
                      <a:r>
                        <a:rPr lang="vi-VN" sz="1300" b="1">
                          <a:solidFill>
                            <a:schemeClr val="tx1"/>
                          </a:solidFill>
                        </a:rPr>
                        <a:t>Sự kiện từ Timer</a:t>
                      </a:r>
                      <a:endParaRPr lang="vi-VN" sz="1300">
                        <a:solidFill>
                          <a:schemeClr val="tx1"/>
                        </a:solidFill>
                      </a:endParaRP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Timer đếm hết (overflow), đạt giá trị so sánh</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Timer Interrupt (TIMx)</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Thời gian đã đến (periodic event)</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3110985"/>
                  </a:ext>
                </a:extLst>
              </a:tr>
              <a:tr h="818866">
                <a:tc>
                  <a:txBody>
                    <a:bodyPr/>
                    <a:lstStyle/>
                    <a:p>
                      <a:r>
                        <a:rPr lang="vi-VN" sz="1300" b="1">
                          <a:solidFill>
                            <a:schemeClr val="tx1"/>
                          </a:solidFill>
                        </a:rPr>
                        <a:t>Sự kiện truyền thông</a:t>
                      </a:r>
                      <a:endParaRPr lang="vi-VN" sz="1300">
                        <a:solidFill>
                          <a:schemeClr val="tx1"/>
                        </a:solidFill>
                      </a:endParaRP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Nhận được 1 byte UART, truyền xong, buffer đầy</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UART/USART Interrupt</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Dữ liệu đến/đi cần xử lý ngay</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6739165"/>
                  </a:ext>
                </a:extLst>
              </a:tr>
              <a:tr h="818866">
                <a:tc>
                  <a:txBody>
                    <a:bodyPr/>
                    <a:lstStyle/>
                    <a:p>
                      <a:r>
                        <a:rPr lang="vi-VN" sz="1300" b="1">
                          <a:solidFill>
                            <a:schemeClr val="tx1"/>
                          </a:solidFill>
                        </a:rPr>
                        <a:t>Sự kiện ADC</a:t>
                      </a:r>
                      <a:endParaRPr lang="vi-VN" sz="1300">
                        <a:solidFill>
                          <a:schemeClr val="tx1"/>
                        </a:solidFill>
                      </a:endParaRP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Chuyển đổi analog sang digital hoàn tất</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ADC Interrupt (EOC flag)</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Giá trị đo xong, sẵn sàng đọc</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4011366"/>
                  </a:ext>
                </a:extLst>
              </a:tr>
              <a:tr h="818866">
                <a:tc>
                  <a:txBody>
                    <a:bodyPr/>
                    <a:lstStyle/>
                    <a:p>
                      <a:r>
                        <a:rPr lang="vi-VN" sz="1300" b="1">
                          <a:solidFill>
                            <a:schemeClr val="tx1"/>
                          </a:solidFill>
                        </a:rPr>
                        <a:t>Sự kiện phần mềm</a:t>
                      </a:r>
                      <a:endParaRPr lang="vi-VN" sz="1300">
                        <a:solidFill>
                          <a:schemeClr val="tx1"/>
                        </a:solidFill>
                      </a:endParaRP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a:solidFill>
                            <a:schemeClr val="tx1"/>
                          </a:solidFill>
                        </a:rPr>
                        <a:t>Debug </a:t>
                      </a:r>
                      <a:r>
                        <a:rPr lang="vi-VN" sz="1300">
                          <a:solidFill>
                            <a:schemeClr val="tx1"/>
                          </a:solidFill>
                        </a:rPr>
                        <a:t>breakpoint</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Software Interrupt / Exception</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Chương trình tự tạo sự kiện</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8071055"/>
                  </a:ext>
                </a:extLst>
              </a:tr>
              <a:tr h="818866">
                <a:tc>
                  <a:txBody>
                    <a:bodyPr/>
                    <a:lstStyle/>
                    <a:p>
                      <a:r>
                        <a:rPr lang="vi-VN" sz="1300" b="1">
                          <a:solidFill>
                            <a:schemeClr val="tx1"/>
                          </a:solidFill>
                        </a:rPr>
                        <a:t>Sự kiện hệ thống</a:t>
                      </a:r>
                      <a:endParaRPr lang="vi-VN" sz="1300">
                        <a:solidFill>
                          <a:schemeClr val="tx1"/>
                        </a:solidFill>
                      </a:endParaRP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a:solidFill>
                            <a:schemeClr val="tx1"/>
                          </a:solidFill>
                        </a:rPr>
                        <a:t>Watchdog timeout, bus fault, memory fault</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System exceptions</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300">
                          <a:solidFill>
                            <a:schemeClr val="tx1"/>
                          </a:solidFill>
                        </a:rPr>
                        <a:t>Lỗi nghiêm trọng xảy ra</a:t>
                      </a:r>
                    </a:p>
                  </a:txBody>
                  <a:tcPr marL="67552" marR="67552" marT="33776" marB="33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3983029"/>
                  </a:ext>
                </a:extLst>
              </a:tr>
            </a:tbl>
          </a:graphicData>
        </a:graphic>
      </p:graphicFrame>
    </p:spTree>
    <p:extLst>
      <p:ext uri="{BB962C8B-B14F-4D97-AF65-F5344CB8AC3E}">
        <p14:creationId xmlns:p14="http://schemas.microsoft.com/office/powerpoint/2010/main" val="2857682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5544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Vậy liệu làm được như vậy Interrpt chạy song song với code chính?</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8E1B9510-5C45-084B-918D-615521F5F825}"/>
              </a:ext>
            </a:extLst>
          </p:cNvPr>
          <p:cNvSpPr txBox="1"/>
          <p:nvPr/>
        </p:nvSpPr>
        <p:spPr>
          <a:xfrm>
            <a:off x="5126553" y="2951574"/>
            <a:ext cx="12725400" cy="5262979"/>
          </a:xfrm>
          <a:prstGeom prst="rect">
            <a:avLst/>
          </a:prstGeom>
          <a:noFill/>
        </p:spPr>
        <p:txBody>
          <a:bodyPr wrap="square">
            <a:spAutoFit/>
          </a:bodyPr>
          <a:lstStyle/>
          <a:p>
            <a:r>
              <a:rPr lang="vi-VN" sz="2800" b="1"/>
              <a:t>Bản chất của Interrupt (Ngắt)</a:t>
            </a:r>
            <a:endParaRPr lang="en-US" sz="2800" b="1"/>
          </a:p>
          <a:p>
            <a:endParaRPr lang="vi-VN" sz="2800" b="1"/>
          </a:p>
          <a:p>
            <a:r>
              <a:rPr lang="vi-VN" sz="2800"/>
              <a:t>Ngắt là một cơ chế cho phép CPU tạm dừng chương trình đang chạy để thực hiện một tác vụ khẩn cấp hơn (Interrupt Service Routine - ISR).</a:t>
            </a:r>
            <a:endParaRPr lang="en-US" sz="2800"/>
          </a:p>
          <a:p>
            <a:endParaRPr lang="vi-VN" sz="2800"/>
          </a:p>
          <a:p>
            <a:pPr>
              <a:buFont typeface="Arial" panose="020B0604020202020204" pitchFamily="34" charset="0"/>
              <a:buChar char="•"/>
            </a:pPr>
            <a:r>
              <a:rPr lang="vi-VN" sz="2800" b="1"/>
              <a:t>Đơn nhân (Single-core):</a:t>
            </a:r>
            <a:r>
              <a:rPr lang="vi-VN" sz="2800"/>
              <a:t> Chỉ có một "tay" làm việc. Khi có ngắt, CPU chuyển đổi ngữ cảnh (context switch) cực nhanh giữa các tác vụ. Cảm giác như nhiều việc diễn ra cùng lúc, nhưng thực chất là "nhảy" qua lại.</a:t>
            </a:r>
            <a:endParaRPr lang="en-US" sz="2800"/>
          </a:p>
          <a:p>
            <a:pPr>
              <a:buFont typeface="Arial" panose="020B0604020202020204" pitchFamily="34" charset="0"/>
              <a:buChar char="•"/>
            </a:pPr>
            <a:endParaRPr lang="vi-VN" sz="2800"/>
          </a:p>
          <a:p>
            <a:pPr>
              <a:buFont typeface="Arial" panose="020B0604020202020204" pitchFamily="34" charset="0"/>
              <a:buChar char="•"/>
            </a:pPr>
            <a:r>
              <a:rPr lang="vi-VN" sz="2800" b="1"/>
              <a:t>Đa nhân (Multi-core):</a:t>
            </a:r>
            <a:r>
              <a:rPr lang="vi-VN" sz="2800"/>
              <a:t> Một nhân có thể đang xử lý ngắt trong khi nhân khác vẫn chạy chương trình bình thường. Tuy nhiên, bản thân cơ chế ngắt trên </a:t>
            </a:r>
            <a:r>
              <a:rPr lang="vi-VN" sz="2800" b="1"/>
              <a:t>một nhân cụ thể</a:t>
            </a:r>
            <a:r>
              <a:rPr lang="vi-VN" sz="2800"/>
              <a:t> vẫn là sự ngắt quãng, không phải song song trên chính nhân đó.</a:t>
            </a:r>
          </a:p>
        </p:txBody>
      </p:sp>
      <p:pic>
        <p:nvPicPr>
          <p:cNvPr id="6146" name="Picture 2" descr="No And No GIF – No And No Definitely – Khám phá và chia sẻ GIF">
            <a:extLst>
              <a:ext uri="{FF2B5EF4-FFF2-40B4-BE49-F238E27FC236}">
                <a16:creationId xmlns:a16="http://schemas.microsoft.com/office/drawing/2014/main" id="{D4F5D21A-1CF5-CD33-28D1-6C08045E1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274857"/>
            <a:ext cx="4616415" cy="4616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661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So sánh Ngắt và Chạy song song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F27E7660-4854-7934-A56A-3821380E7868}"/>
              </a:ext>
            </a:extLst>
          </p:cNvPr>
          <p:cNvPicPr>
            <a:picLocks noChangeAspect="1"/>
          </p:cNvPicPr>
          <p:nvPr/>
        </p:nvPicPr>
        <p:blipFill>
          <a:blip r:embed="rId3"/>
          <a:stretch>
            <a:fillRect/>
          </a:stretch>
        </p:blipFill>
        <p:spPr>
          <a:xfrm>
            <a:off x="486966" y="2843855"/>
            <a:ext cx="17009268" cy="6346148"/>
          </a:xfrm>
          <a:prstGeom prst="rect">
            <a:avLst/>
          </a:prstGeom>
        </p:spPr>
      </p:pic>
    </p:spTree>
    <p:extLst>
      <p:ext uri="{BB962C8B-B14F-4D97-AF65-F5344CB8AC3E}">
        <p14:creationId xmlns:p14="http://schemas.microsoft.com/office/powerpoint/2010/main" val="1364193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r>
              <a:rPr lang="vi-VN" sz="3600" b="1">
                <a:effectLst/>
              </a:rPr>
              <a:t>Polling vs Interrupt</a:t>
            </a: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graphicFrame>
        <p:nvGraphicFramePr>
          <p:cNvPr id="9" name="Table 8">
            <a:extLst>
              <a:ext uri="{FF2B5EF4-FFF2-40B4-BE49-F238E27FC236}">
                <a16:creationId xmlns:a16="http://schemas.microsoft.com/office/drawing/2014/main" id="{3C2AA4B8-A1D6-29DF-14E6-DE94F6F70429}"/>
              </a:ext>
            </a:extLst>
          </p:cNvPr>
          <p:cNvGraphicFramePr>
            <a:graphicFrameLocks noGrp="1"/>
          </p:cNvGraphicFramePr>
          <p:nvPr>
            <p:extLst>
              <p:ext uri="{D42A27DB-BD31-4B8C-83A1-F6EECF244321}">
                <p14:modId xmlns:p14="http://schemas.microsoft.com/office/powerpoint/2010/main" val="2161861910"/>
              </p:ext>
            </p:extLst>
          </p:nvPr>
        </p:nvGraphicFramePr>
        <p:xfrm>
          <a:off x="381000" y="2324101"/>
          <a:ext cx="17297400" cy="7238997"/>
        </p:xfrm>
        <a:graphic>
          <a:graphicData uri="http://schemas.openxmlformats.org/drawingml/2006/table">
            <a:tbl>
              <a:tblPr/>
              <a:tblGrid>
                <a:gridCol w="3429000">
                  <a:extLst>
                    <a:ext uri="{9D8B030D-6E8A-4147-A177-3AD203B41FA5}">
                      <a16:colId xmlns:a16="http://schemas.microsoft.com/office/drawing/2014/main" val="3081553271"/>
                    </a:ext>
                  </a:extLst>
                </a:gridCol>
                <a:gridCol w="7620000">
                  <a:extLst>
                    <a:ext uri="{9D8B030D-6E8A-4147-A177-3AD203B41FA5}">
                      <a16:colId xmlns:a16="http://schemas.microsoft.com/office/drawing/2014/main" val="2017033563"/>
                    </a:ext>
                  </a:extLst>
                </a:gridCol>
                <a:gridCol w="6248400">
                  <a:extLst>
                    <a:ext uri="{9D8B030D-6E8A-4147-A177-3AD203B41FA5}">
                      <a16:colId xmlns:a16="http://schemas.microsoft.com/office/drawing/2014/main" val="3039338157"/>
                    </a:ext>
                  </a:extLst>
                </a:gridCol>
              </a:tblGrid>
              <a:tr h="331787">
                <a:tc>
                  <a:txBody>
                    <a:bodyPr/>
                    <a:lstStyle/>
                    <a:p>
                      <a:r>
                        <a:rPr lang="vi-VN" sz="1800"/>
                        <a:t>Tiêu chí</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Polling (Thăm dò)</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Interrupt (Ngắt)</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1533337"/>
                  </a:ext>
                </a:extLst>
              </a:tr>
              <a:tr h="648982">
                <a:tc>
                  <a:txBody>
                    <a:bodyPr/>
                    <a:lstStyle/>
                    <a:p>
                      <a:r>
                        <a:rPr lang="vi-VN" sz="1800" b="1"/>
                        <a:t>Cách hoạt động</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CPU </a:t>
                      </a:r>
                      <a:r>
                        <a:rPr lang="vi-VN" sz="1800" b="1"/>
                        <a:t>chủ động liên tục kiểm tra</a:t>
                      </a:r>
                      <a:r>
                        <a:rPr lang="vi-VN" sz="1800"/>
                        <a:t> trạng thái (flag, bit, cổng I/O) trong vòng lặp</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Thiết bị ngoại vi </a:t>
                      </a:r>
                      <a:r>
                        <a:rPr lang="vi-VN" sz="1800" b="1"/>
                        <a:t>chủ động báo</a:t>
                      </a:r>
                      <a:r>
                        <a:rPr lang="vi-VN" sz="1800"/>
                        <a:t> (gửi tín hiệu IRQ) khi có sự kiện → CPU tạm dừng main để xử lý</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0903888"/>
                  </a:ext>
                </a:extLst>
              </a:tr>
              <a:tr h="331787">
                <a:tc>
                  <a:txBody>
                    <a:bodyPr/>
                    <a:lstStyle/>
                    <a:p>
                      <a:r>
                        <a:rPr lang="vi-VN" sz="1800" b="1"/>
                        <a:t>Ai quyết định</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CPU hỏi: "Có gì chưa? Có gì chưa?"</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Thiết bị "gõ cửa": "Tôi có việc rồi đây!"</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2812745"/>
                  </a:ext>
                </a:extLst>
              </a:tr>
              <a:tr h="629255">
                <a:tc>
                  <a:txBody>
                    <a:bodyPr/>
                    <a:lstStyle/>
                    <a:p>
                      <a:r>
                        <a:rPr lang="vi-VN" sz="1800" b="1"/>
                        <a:t>Độ phức tạp code</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t>Rất đơn giản (chỉ cần if trong while(1))</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t>Phức tạp hơn: ISR, enable/disable, priority, volatile, context switch, race condition</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8536552"/>
                  </a:ext>
                </a:extLst>
              </a:tr>
              <a:tr h="629255">
                <a:tc>
                  <a:txBody>
                    <a:bodyPr/>
                    <a:lstStyle/>
                    <a:p>
                      <a:r>
                        <a:rPr lang="vi-VN" sz="1800" b="1"/>
                        <a:t>Tốn CPU</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Cao (busy-waiting, lãng phí chu kỳ máy khi không có sự kiện)</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Thấp (CPU làm việc khác, chỉ "bị đánh thức" khi cần)</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218364"/>
                  </a:ext>
                </a:extLst>
              </a:tr>
              <a:tr h="629255">
                <a:tc>
                  <a:txBody>
                    <a:bodyPr/>
                    <a:lstStyle/>
                    <a:p>
                      <a:r>
                        <a:rPr lang="vi-VN" sz="1800" b="1"/>
                        <a:t>Độ trễ phản hồi (latency)</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Cao và không deterministic (tùy thuộc tần suất vòng lặp, có thể miss event nếu loop dài)</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Thấp, gần như tức thời (thường µs đến vài ms)</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7156575"/>
                  </a:ext>
                </a:extLst>
              </a:tr>
              <a:tr h="629255">
                <a:tc>
                  <a:txBody>
                    <a:bodyPr/>
                    <a:lstStyle/>
                    <a:p>
                      <a:r>
                        <a:rPr lang="vi-VN" sz="1800" b="1"/>
                        <a:t>Tiêu thụ điện năng</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Cao (khó vào sleep/deep sleep mode vì CPU luôn chạy)</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Thấp (dễ kết hợp low-power: CPU sleep, chỉ wake-up khi interrupt)</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947776"/>
                  </a:ext>
                </a:extLst>
              </a:tr>
              <a:tr h="629255">
                <a:tc>
                  <a:txBody>
                    <a:bodyPr/>
                    <a:lstStyle/>
                    <a:p>
                      <a:r>
                        <a:rPr lang="vi-VN" sz="1800" b="1"/>
                        <a:t>Xử lý nhiều sự kiện</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Khó (phải kiểm tra tuần tự, dễ miss nếu một sự kiện chiếm thời gian)</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Tốt (có priority, nesting nếu hỗ trợ)</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6065666"/>
                  </a:ext>
                </a:extLst>
              </a:tr>
              <a:tr h="629255">
                <a:tc>
                  <a:txBody>
                    <a:bodyPr/>
                    <a:lstStyle/>
                    <a:p>
                      <a:r>
                        <a:rPr lang="vi-VN" sz="1800" b="1"/>
                        <a:t>Debug &amp; dự đoán thời gian</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Dễ debug, timing deterministic hơn nếu loop ngắn</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Khó debug hơn (timing không deterministic do ISR latency, priority)</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0990698"/>
                  </a:ext>
                </a:extLst>
              </a:tr>
              <a:tr h="1224189">
                <a:tc>
                  <a:txBody>
                    <a:bodyPr/>
                    <a:lstStyle/>
                    <a:p>
                      <a:r>
                        <a:rPr lang="vi-VN" sz="1800" b="1"/>
                        <a:t>Khi nào dùng tốt nhất</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 Dự án nhỏ, học tập - Sự kiện xảy ra </a:t>
                      </a:r>
                      <a:r>
                        <a:rPr lang="vi-VN" sz="1800" b="1"/>
                        <a:t>rất thường xuyên</a:t>
                      </a:r>
                      <a:r>
                        <a:rPr lang="vi-VN" sz="1800"/>
                        <a:t> (gần như luôn có) - Cần timing cực kỳ chính xác, không muốn overhead ISR - Không quan tâm pin (plugged-in)</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 Thiết bị pin-powered (IoT, wearable) - Sự kiện hiếm/rất quan trọng - Cần phản hồi realtime nhanh - Nhiều ngoại vi (UART, Timer, ADC, nút khẩn cấp...) - Muốn CPU làm việc hữu ích thay vì chờ</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5248182"/>
                  </a:ext>
                </a:extLst>
              </a:tr>
              <a:tr h="926722">
                <a:tc>
                  <a:txBody>
                    <a:bodyPr/>
                    <a:lstStyle/>
                    <a:p>
                      <a:r>
                        <a:rPr lang="vi-VN" sz="1800" b="1"/>
                        <a:t>Ví dụ điển hình</a:t>
                      </a:r>
                      <a:endParaRPr lang="vi-VN" sz="1800"/>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 Đọc nút bấm chậm (debounce đơn giản) - Kiểm tra cờ UART khi baud thấp - ADC liên tục sample</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800"/>
                        <a:t>- UART nhận byte (không miss data) - Timer periodic - External interrupt từ nút nhấn khẩn - ADC EOC (end of conversion) - Watchdog reset</a:t>
                      </a:r>
                    </a:p>
                  </a:txBody>
                  <a:tcPr marL="31650" marR="31650" marT="15825" marB="15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33212"/>
                  </a:ext>
                </a:extLst>
              </a:tr>
            </a:tbl>
          </a:graphicData>
        </a:graphic>
      </p:graphicFrame>
    </p:spTree>
    <p:extLst>
      <p:ext uri="{BB962C8B-B14F-4D97-AF65-F5344CB8AC3E}">
        <p14:creationId xmlns:p14="http://schemas.microsoft.com/office/powerpoint/2010/main" val="3609508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r>
              <a:rPr lang="vi-VN" sz="3600" b="1">
                <a:effectLst/>
              </a:rPr>
              <a:t>Polling vs Interrupt</a:t>
            </a: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95FE50E0-11A1-EBDE-D52D-E1E5CF2458F6}"/>
              </a:ext>
            </a:extLst>
          </p:cNvPr>
          <p:cNvPicPr>
            <a:picLocks noChangeAspect="1"/>
          </p:cNvPicPr>
          <p:nvPr/>
        </p:nvPicPr>
        <p:blipFill>
          <a:blip r:embed="rId3"/>
          <a:stretch>
            <a:fillRect/>
          </a:stretch>
        </p:blipFill>
        <p:spPr>
          <a:xfrm>
            <a:off x="203200" y="2272095"/>
            <a:ext cx="7105650" cy="2609850"/>
          </a:xfrm>
          <a:prstGeom prst="rect">
            <a:avLst/>
          </a:prstGeom>
        </p:spPr>
      </p:pic>
      <p:pic>
        <p:nvPicPr>
          <p:cNvPr id="13" name="Picture 12">
            <a:extLst>
              <a:ext uri="{FF2B5EF4-FFF2-40B4-BE49-F238E27FC236}">
                <a16:creationId xmlns:a16="http://schemas.microsoft.com/office/drawing/2014/main" id="{7098696A-1C3E-DDFD-85BC-8B0B550138ED}"/>
              </a:ext>
            </a:extLst>
          </p:cNvPr>
          <p:cNvPicPr>
            <a:picLocks noChangeAspect="1"/>
          </p:cNvPicPr>
          <p:nvPr/>
        </p:nvPicPr>
        <p:blipFill>
          <a:blip r:embed="rId4"/>
          <a:stretch>
            <a:fillRect/>
          </a:stretch>
        </p:blipFill>
        <p:spPr>
          <a:xfrm>
            <a:off x="250825" y="5334000"/>
            <a:ext cx="7058025" cy="3381375"/>
          </a:xfrm>
          <a:prstGeom prst="rect">
            <a:avLst/>
          </a:prstGeom>
        </p:spPr>
      </p:pic>
      <p:pic>
        <p:nvPicPr>
          <p:cNvPr id="15" name="Picture 14">
            <a:extLst>
              <a:ext uri="{FF2B5EF4-FFF2-40B4-BE49-F238E27FC236}">
                <a16:creationId xmlns:a16="http://schemas.microsoft.com/office/drawing/2014/main" id="{F68CC1F2-FDE7-437D-3A57-FFDAE9CF864D}"/>
              </a:ext>
            </a:extLst>
          </p:cNvPr>
          <p:cNvPicPr>
            <a:picLocks noChangeAspect="1"/>
          </p:cNvPicPr>
          <p:nvPr/>
        </p:nvPicPr>
        <p:blipFill>
          <a:blip r:embed="rId5"/>
          <a:stretch>
            <a:fillRect/>
          </a:stretch>
        </p:blipFill>
        <p:spPr>
          <a:xfrm>
            <a:off x="7270750" y="3409516"/>
            <a:ext cx="10200966" cy="4630789"/>
          </a:xfrm>
          <a:prstGeom prst="rect">
            <a:avLst/>
          </a:prstGeom>
        </p:spPr>
      </p:pic>
    </p:spTree>
    <p:extLst>
      <p:ext uri="{BB962C8B-B14F-4D97-AF65-F5344CB8AC3E}">
        <p14:creationId xmlns:p14="http://schemas.microsoft.com/office/powerpoint/2010/main" val="4007074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Interrput</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7F835D5B-3600-DCFC-195F-FABB03FD7554}"/>
              </a:ext>
            </a:extLst>
          </p:cNvPr>
          <p:cNvSpPr txBox="1"/>
          <p:nvPr/>
        </p:nvSpPr>
        <p:spPr>
          <a:xfrm>
            <a:off x="1447800" y="4152900"/>
            <a:ext cx="4359275" cy="3139321"/>
          </a:xfrm>
          <a:prstGeom prst="rect">
            <a:avLst/>
          </a:prstGeom>
          <a:noFill/>
        </p:spPr>
        <p:txBody>
          <a:bodyPr wrap="square">
            <a:spAutoFit/>
          </a:bodyPr>
          <a:lstStyle/>
          <a:p>
            <a:r>
              <a:rPr lang="vi-VN" b="1"/>
              <a:t>Event xảy ra</a:t>
            </a:r>
          </a:p>
          <a:p>
            <a:r>
              <a:rPr lang="vi-VN" b="1"/>
              <a:t>↓</a:t>
            </a:r>
          </a:p>
          <a:p>
            <a:r>
              <a:rPr lang="vi-VN" b="1"/>
              <a:t>Interrupt Request</a:t>
            </a:r>
            <a:r>
              <a:rPr lang="en-US" b="1"/>
              <a:t> (</a:t>
            </a:r>
            <a:r>
              <a:rPr lang="vi-VN"/>
              <a:t>IRQ</a:t>
            </a:r>
            <a:r>
              <a:rPr lang="en-US"/>
              <a:t>)</a:t>
            </a:r>
            <a:endParaRPr lang="vi-VN" b="1"/>
          </a:p>
          <a:p>
            <a:r>
              <a:rPr lang="vi-VN" b="1"/>
              <a:t>↓</a:t>
            </a:r>
          </a:p>
          <a:p>
            <a:r>
              <a:rPr lang="vi-VN" b="1"/>
              <a:t>CPU pause current task</a:t>
            </a:r>
          </a:p>
          <a:p>
            <a:r>
              <a:rPr lang="vi-VN" b="1"/>
              <a:t>↓</a:t>
            </a:r>
          </a:p>
          <a:p>
            <a:r>
              <a:rPr lang="vi-VN" b="1"/>
              <a:t>Jump tới ISR</a:t>
            </a:r>
            <a:r>
              <a:rPr lang="en-US" b="1"/>
              <a:t> (</a:t>
            </a:r>
            <a:r>
              <a:rPr lang="vi-VN"/>
              <a:t>Interrupt Service Routine</a:t>
            </a:r>
            <a:r>
              <a:rPr lang="en-US"/>
              <a:t>)</a:t>
            </a:r>
            <a:endParaRPr lang="vi-VN" b="1"/>
          </a:p>
          <a:p>
            <a:r>
              <a:rPr lang="vi-VN" b="1"/>
              <a:t>↓</a:t>
            </a:r>
          </a:p>
          <a:p>
            <a:r>
              <a:rPr lang="vi-VN" b="1"/>
              <a:t>Execute ISR</a:t>
            </a:r>
          </a:p>
          <a:p>
            <a:r>
              <a:rPr lang="vi-VN" b="1"/>
              <a:t>↓</a:t>
            </a:r>
          </a:p>
          <a:p>
            <a:r>
              <a:rPr lang="vi-VN" b="1"/>
              <a:t>Return to main program</a:t>
            </a:r>
          </a:p>
        </p:txBody>
      </p:sp>
      <p:pic>
        <p:nvPicPr>
          <p:cNvPr id="5122" name="Picture 2" descr="Understanding Interrupts in Embedded Programming: Pause and Resume Tasks |  Anis HASSEN posted on the topic | LinkedIn">
            <a:extLst>
              <a:ext uri="{FF2B5EF4-FFF2-40B4-BE49-F238E27FC236}">
                <a16:creationId xmlns:a16="http://schemas.microsoft.com/office/drawing/2014/main" id="{2E9B76DF-18EE-A5D9-8EFD-D1010E0FE2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2586735"/>
            <a:ext cx="8863012" cy="5823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065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Tình huống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CA123AFA-4FF3-0E81-1689-011832718F3D}"/>
              </a:ext>
            </a:extLst>
          </p:cNvPr>
          <p:cNvSpPr txBox="1"/>
          <p:nvPr/>
        </p:nvSpPr>
        <p:spPr>
          <a:xfrm>
            <a:off x="609600" y="2818455"/>
            <a:ext cx="9925050" cy="5016758"/>
          </a:xfrm>
          <a:prstGeom prst="rect">
            <a:avLst/>
          </a:prstGeom>
          <a:noFill/>
        </p:spPr>
        <p:txBody>
          <a:bodyPr wrap="square">
            <a:spAutoFit/>
          </a:bodyPr>
          <a:lstStyle/>
          <a:p>
            <a:r>
              <a:rPr lang="vi-VN" sz="3200"/>
              <a:t>Ví dụ:</a:t>
            </a:r>
          </a:p>
          <a:p>
            <a:r>
              <a:rPr lang="vi-VN" sz="3200"/>
              <a:t>Bạn đang:</a:t>
            </a:r>
          </a:p>
          <a:p>
            <a:r>
              <a:rPr lang="vi-VN" sz="3200"/>
              <a:t>📖 đọc sách</a:t>
            </a:r>
          </a:p>
          <a:p>
            <a:r>
              <a:rPr lang="vi-VN" sz="3200"/>
              <a:t>Bỗng:</a:t>
            </a:r>
          </a:p>
          <a:p>
            <a:r>
              <a:rPr lang="vi-VN" sz="3200"/>
              <a:t>📞 điện thoại reo</a:t>
            </a:r>
          </a:p>
          <a:p>
            <a:r>
              <a:rPr lang="vi-VN" sz="3200"/>
              <a:t>Bạn:</a:t>
            </a:r>
          </a:p>
          <a:p>
            <a:pPr>
              <a:buFont typeface="+mj-lt"/>
              <a:buAutoNum type="arabicPeriod"/>
            </a:pPr>
            <a:r>
              <a:rPr lang="vi-VN" sz="3200"/>
              <a:t>dừng đọc sách</a:t>
            </a:r>
          </a:p>
          <a:p>
            <a:pPr>
              <a:buFont typeface="+mj-lt"/>
              <a:buAutoNum type="arabicPeriod"/>
            </a:pPr>
            <a:r>
              <a:rPr lang="vi-VN" sz="3200"/>
              <a:t>nghe điện thoại</a:t>
            </a:r>
          </a:p>
          <a:p>
            <a:pPr>
              <a:buFont typeface="+mj-lt"/>
              <a:buAutoNum type="arabicPeriod"/>
            </a:pPr>
            <a:r>
              <a:rPr lang="vi-VN" sz="3200"/>
              <a:t>quay lại đọc sách</a:t>
            </a:r>
          </a:p>
          <a:p>
            <a:r>
              <a:rPr lang="vi-VN" sz="3200"/>
              <a:t>📌 Đây chính là </a:t>
            </a:r>
            <a:r>
              <a:rPr lang="vi-VN" sz="3200" b="1"/>
              <a:t>interrupt concept</a:t>
            </a:r>
            <a:endParaRPr lang="vi-VN" sz="3200"/>
          </a:p>
        </p:txBody>
      </p:sp>
      <p:pic>
        <p:nvPicPr>
          <p:cNvPr id="6146" name="Picture 2" descr="10 Lợi ích của việc đọc sách: Cách tạo thói quen cho gia đình | Cleanipedia  VN">
            <a:extLst>
              <a:ext uri="{FF2B5EF4-FFF2-40B4-BE49-F238E27FC236}">
                <a16:creationId xmlns:a16="http://schemas.microsoft.com/office/drawing/2014/main" id="{0A9802FA-6332-5C62-4D9E-A775EE38B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2653613"/>
            <a:ext cx="9677400"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29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Tình huống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9" name="Picture 8">
            <a:extLst>
              <a:ext uri="{FF2B5EF4-FFF2-40B4-BE49-F238E27FC236}">
                <a16:creationId xmlns:a16="http://schemas.microsoft.com/office/drawing/2014/main" id="{9D555B3B-DB58-2C10-FFD9-2DDF1DAC3317}"/>
              </a:ext>
            </a:extLst>
          </p:cNvPr>
          <p:cNvPicPr>
            <a:picLocks noChangeAspect="1"/>
          </p:cNvPicPr>
          <p:nvPr/>
        </p:nvPicPr>
        <p:blipFill>
          <a:blip r:embed="rId3"/>
          <a:stretch>
            <a:fillRect/>
          </a:stretch>
        </p:blipFill>
        <p:spPr>
          <a:xfrm>
            <a:off x="762000" y="2087671"/>
            <a:ext cx="16287750" cy="6868646"/>
          </a:xfrm>
          <a:prstGeom prst="rect">
            <a:avLst/>
          </a:prstGeom>
        </p:spPr>
      </p:pic>
    </p:spTree>
    <p:extLst>
      <p:ext uri="{BB962C8B-B14F-4D97-AF65-F5344CB8AC3E}">
        <p14:creationId xmlns:p14="http://schemas.microsoft.com/office/powerpoint/2010/main" val="1391457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381000" y="1209620"/>
            <a:ext cx="123444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Phân loại</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7170" name="Picture 2" descr="What is Interrupt?">
            <a:extLst>
              <a:ext uri="{FF2B5EF4-FFF2-40B4-BE49-F238E27FC236}">
                <a16:creationId xmlns:a16="http://schemas.microsoft.com/office/drawing/2014/main" id="{61789CC6-7213-1C91-CAAD-F80F24B3FD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873055"/>
            <a:ext cx="12306300" cy="6214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000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r>
              <a:rPr lang="vi-VN" sz="3600" b="1">
                <a:effectLst/>
              </a:rPr>
              <a:t>Theo nguồn gây ra ngắt (nguồn gốc)</a:t>
            </a: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graphicFrame>
        <p:nvGraphicFramePr>
          <p:cNvPr id="6" name="Table 5">
            <a:extLst>
              <a:ext uri="{FF2B5EF4-FFF2-40B4-BE49-F238E27FC236}">
                <a16:creationId xmlns:a16="http://schemas.microsoft.com/office/drawing/2014/main" id="{8EBB4B81-95C4-567B-4E4D-D253C7400EF6}"/>
              </a:ext>
            </a:extLst>
          </p:cNvPr>
          <p:cNvGraphicFramePr>
            <a:graphicFrameLocks noGrp="1"/>
          </p:cNvGraphicFramePr>
          <p:nvPr>
            <p:extLst>
              <p:ext uri="{D42A27DB-BD31-4B8C-83A1-F6EECF244321}">
                <p14:modId xmlns:p14="http://schemas.microsoft.com/office/powerpoint/2010/main" val="4013371394"/>
              </p:ext>
            </p:extLst>
          </p:nvPr>
        </p:nvGraphicFramePr>
        <p:xfrm>
          <a:off x="685800" y="2586736"/>
          <a:ext cx="16611600" cy="6747763"/>
        </p:xfrm>
        <a:graphic>
          <a:graphicData uri="http://schemas.openxmlformats.org/drawingml/2006/table">
            <a:tbl>
              <a:tblPr/>
              <a:tblGrid>
                <a:gridCol w="4152900">
                  <a:extLst>
                    <a:ext uri="{9D8B030D-6E8A-4147-A177-3AD203B41FA5}">
                      <a16:colId xmlns:a16="http://schemas.microsoft.com/office/drawing/2014/main" val="1151216765"/>
                    </a:ext>
                  </a:extLst>
                </a:gridCol>
                <a:gridCol w="4152900">
                  <a:extLst>
                    <a:ext uri="{9D8B030D-6E8A-4147-A177-3AD203B41FA5}">
                      <a16:colId xmlns:a16="http://schemas.microsoft.com/office/drawing/2014/main" val="3437387259"/>
                    </a:ext>
                  </a:extLst>
                </a:gridCol>
                <a:gridCol w="4152900">
                  <a:extLst>
                    <a:ext uri="{9D8B030D-6E8A-4147-A177-3AD203B41FA5}">
                      <a16:colId xmlns:a16="http://schemas.microsoft.com/office/drawing/2014/main" val="4285504519"/>
                    </a:ext>
                  </a:extLst>
                </a:gridCol>
                <a:gridCol w="4152900">
                  <a:extLst>
                    <a:ext uri="{9D8B030D-6E8A-4147-A177-3AD203B41FA5}">
                      <a16:colId xmlns:a16="http://schemas.microsoft.com/office/drawing/2014/main" val="2493469224"/>
                    </a:ext>
                  </a:extLst>
                </a:gridCol>
              </a:tblGrid>
              <a:tr h="886891">
                <a:tc>
                  <a:txBody>
                    <a:bodyPr/>
                    <a:lstStyle/>
                    <a:p>
                      <a:r>
                        <a:rPr lang="vi-VN" sz="2000"/>
                        <a:t>Loại ngắt</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Mô tả</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Ví dụ phổ biến trong STM32 / AVR / 8051</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Đặc điểm</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719997"/>
                  </a:ext>
                </a:extLst>
              </a:tr>
              <a:tr h="2486990">
                <a:tc>
                  <a:txBody>
                    <a:bodyPr/>
                    <a:lstStyle/>
                    <a:p>
                      <a:r>
                        <a:rPr lang="vi-VN" sz="2000" b="1"/>
                        <a:t>Hardware Interrupt</a:t>
                      </a:r>
                      <a:r>
                        <a:rPr lang="vi-VN" sz="2000"/>
                        <a:t> (Ngắt phần cứng)</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Do ngoại vi phần cứng hoặc sự kiện bên ngoài gây ra.</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 External Interrupt (EXTI): nút nhấn, cảm biến - Timer overflow - UART RX/TX complete - ADC EOC (End of Conversion) - SPI/I2C event</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Phổ biến nhất, asynchronous (có thể xảy ra bất kỳ lúc nào).</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4765870"/>
                  </a:ext>
                </a:extLst>
              </a:tr>
              <a:tr h="1953624">
                <a:tc>
                  <a:txBody>
                    <a:bodyPr/>
                    <a:lstStyle/>
                    <a:p>
                      <a:r>
                        <a:rPr lang="vi-VN" sz="2000" b="1"/>
                        <a:t>Software Interrupt</a:t>
                      </a:r>
                      <a:r>
                        <a:rPr lang="vi-VN" sz="2000"/>
                        <a:t> (Ngắt phần mềm)</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Do phần mềm chủ động kích hoạt (câu lệnh đặc biệt) hoặc lỗi chương trình.</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t>- SVC (Supervisor Call) trong ARM Cortex-M - SWI instruction - Exception: chia cho 0, hard fault, bus fault</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Synchronous (xảy ra đúng lúc lệnh thực thi).</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756219"/>
                  </a:ext>
                </a:extLst>
              </a:tr>
              <a:tr h="1420258">
                <a:tc>
                  <a:txBody>
                    <a:bodyPr/>
                    <a:lstStyle/>
                    <a:p>
                      <a:r>
                        <a:rPr lang="vi-VN" sz="2000" b="1"/>
                        <a:t>Exception</a:t>
                      </a:r>
                      <a:r>
                        <a:rPr lang="vi-VN" sz="2000"/>
                        <a:t> (Ngoại lệ)</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Một dạng đặc biệt của software interrupt, thường là lỗi nghiêm trọng.</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t>- Hard Fault, Memory Fault, Usage Fault (ARM) - Divide by zero</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000"/>
                        <a:t>Thường critical, có thể reset chip nếu không xử lý.</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6827171"/>
                  </a:ext>
                </a:extLst>
              </a:tr>
            </a:tbl>
          </a:graphicData>
        </a:graphic>
      </p:graphicFrame>
    </p:spTree>
    <p:extLst>
      <p:ext uri="{BB962C8B-B14F-4D97-AF65-F5344CB8AC3E}">
        <p14:creationId xmlns:p14="http://schemas.microsoft.com/office/powerpoint/2010/main" val="2762283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r>
              <a:rPr lang="vi-VN" sz="3600" b="1">
                <a:effectLst/>
              </a:rPr>
              <a:t>Theo khả năng mask (che/maskable)</a:t>
            </a: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graphicFrame>
        <p:nvGraphicFramePr>
          <p:cNvPr id="6" name="Table 5">
            <a:extLst>
              <a:ext uri="{FF2B5EF4-FFF2-40B4-BE49-F238E27FC236}">
                <a16:creationId xmlns:a16="http://schemas.microsoft.com/office/drawing/2014/main" id="{EA946DB7-FBCF-3965-EB0B-72F592765152}"/>
              </a:ext>
            </a:extLst>
          </p:cNvPr>
          <p:cNvGraphicFramePr>
            <a:graphicFrameLocks noGrp="1"/>
          </p:cNvGraphicFramePr>
          <p:nvPr>
            <p:extLst>
              <p:ext uri="{D42A27DB-BD31-4B8C-83A1-F6EECF244321}">
                <p14:modId xmlns:p14="http://schemas.microsoft.com/office/powerpoint/2010/main" val="436503603"/>
              </p:ext>
            </p:extLst>
          </p:nvPr>
        </p:nvGraphicFramePr>
        <p:xfrm>
          <a:off x="533400" y="2795751"/>
          <a:ext cx="16052800" cy="6053836"/>
        </p:xfrm>
        <a:graphic>
          <a:graphicData uri="http://schemas.openxmlformats.org/drawingml/2006/table">
            <a:tbl>
              <a:tblPr/>
              <a:tblGrid>
                <a:gridCol w="4013200">
                  <a:extLst>
                    <a:ext uri="{9D8B030D-6E8A-4147-A177-3AD203B41FA5}">
                      <a16:colId xmlns:a16="http://schemas.microsoft.com/office/drawing/2014/main" val="2894346830"/>
                    </a:ext>
                  </a:extLst>
                </a:gridCol>
                <a:gridCol w="4013200">
                  <a:extLst>
                    <a:ext uri="{9D8B030D-6E8A-4147-A177-3AD203B41FA5}">
                      <a16:colId xmlns:a16="http://schemas.microsoft.com/office/drawing/2014/main" val="1224400850"/>
                    </a:ext>
                  </a:extLst>
                </a:gridCol>
                <a:gridCol w="4013200">
                  <a:extLst>
                    <a:ext uri="{9D8B030D-6E8A-4147-A177-3AD203B41FA5}">
                      <a16:colId xmlns:a16="http://schemas.microsoft.com/office/drawing/2014/main" val="2907838225"/>
                    </a:ext>
                  </a:extLst>
                </a:gridCol>
                <a:gridCol w="4013200">
                  <a:extLst>
                    <a:ext uri="{9D8B030D-6E8A-4147-A177-3AD203B41FA5}">
                      <a16:colId xmlns:a16="http://schemas.microsoft.com/office/drawing/2014/main" val="99363836"/>
                    </a:ext>
                  </a:extLst>
                </a:gridCol>
              </a:tblGrid>
              <a:tr h="576556">
                <a:tc>
                  <a:txBody>
                    <a:bodyPr/>
                    <a:lstStyle/>
                    <a:p>
                      <a:r>
                        <a:rPr lang="vi-VN" sz="2800"/>
                        <a:t>Loại ngắt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Mô tả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Ví dụ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Đặc điểm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4372023"/>
                  </a:ext>
                </a:extLst>
              </a:tr>
              <a:tr h="2738640">
                <a:tc>
                  <a:txBody>
                    <a:bodyPr/>
                    <a:lstStyle/>
                    <a:p>
                      <a:r>
                        <a:rPr lang="en-US" sz="2800" b="1"/>
                        <a:t>Maskable Interrupt</a:t>
                      </a:r>
                      <a:r>
                        <a:rPr lang="en-US" sz="2800"/>
                        <a:t> (Có thể mask/che)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Có thể bật/tắt bằng phần mềm (qua thanh ghi như NVIC trong ARM, IE trong 8051).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Hầu hết ngoại vi: Timer, UART, External, ADC...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Linh hoạt, dùng cho sự kiện thông thường.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2780395"/>
                  </a:ext>
                </a:extLst>
              </a:tr>
              <a:tr h="2738640">
                <a:tc>
                  <a:txBody>
                    <a:bodyPr/>
                    <a:lstStyle/>
                    <a:p>
                      <a:r>
                        <a:rPr lang="vi-VN" sz="2800" b="1"/>
                        <a:t>Non-Maskable Interrupt</a:t>
                      </a:r>
                      <a:r>
                        <a:rPr lang="vi-VN" sz="2800"/>
                        <a:t> (NMI - Không thể mask)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Không thể tắt bằng phần mềm, luôn được xử lý ngay (trừ khi CPU ở trạng thái đặc biệt).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NMI pin (trên một số chip), Watchdog timeout, Power failure detect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Dành cho sự kiện khẩn cấp (critical/emergency).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9928554"/>
                  </a:ext>
                </a:extLst>
              </a:tr>
            </a:tbl>
          </a:graphicData>
        </a:graphic>
      </p:graphicFrame>
    </p:spTree>
    <p:extLst>
      <p:ext uri="{BB962C8B-B14F-4D97-AF65-F5344CB8AC3E}">
        <p14:creationId xmlns:p14="http://schemas.microsoft.com/office/powerpoint/2010/main" val="4142081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6154400" cy="646331"/>
          </a:xfrm>
          <a:prstGeom prst="rect">
            <a:avLst/>
          </a:prstGeom>
          <a:noFill/>
        </p:spPr>
        <p:txBody>
          <a:bodyPr wrap="square" rtlCol="0">
            <a:spAutoFit/>
          </a:bodyPr>
          <a:lstStyle/>
          <a:p>
            <a:r>
              <a:rPr lang="en-US" sz="3600" b="1">
                <a:effectLst/>
              </a:rPr>
              <a:t>Theo cách kích hoạt (trigger type) – rất quan trọng khi config external interrupt</a:t>
            </a: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graphicFrame>
        <p:nvGraphicFramePr>
          <p:cNvPr id="6" name="Table 5">
            <a:extLst>
              <a:ext uri="{FF2B5EF4-FFF2-40B4-BE49-F238E27FC236}">
                <a16:creationId xmlns:a16="http://schemas.microsoft.com/office/drawing/2014/main" id="{3FB2C783-50C1-5489-65F9-1CCCF6983579}"/>
              </a:ext>
            </a:extLst>
          </p:cNvPr>
          <p:cNvGraphicFramePr>
            <a:graphicFrameLocks noGrp="1"/>
          </p:cNvGraphicFramePr>
          <p:nvPr>
            <p:extLst>
              <p:ext uri="{D42A27DB-BD31-4B8C-83A1-F6EECF244321}">
                <p14:modId xmlns:p14="http://schemas.microsoft.com/office/powerpoint/2010/main" val="4206505525"/>
              </p:ext>
            </p:extLst>
          </p:nvPr>
        </p:nvGraphicFramePr>
        <p:xfrm>
          <a:off x="533400" y="2843854"/>
          <a:ext cx="16840200" cy="6414445"/>
        </p:xfrm>
        <a:graphic>
          <a:graphicData uri="http://schemas.openxmlformats.org/drawingml/2006/table">
            <a:tbl>
              <a:tblPr/>
              <a:tblGrid>
                <a:gridCol w="4210050">
                  <a:extLst>
                    <a:ext uri="{9D8B030D-6E8A-4147-A177-3AD203B41FA5}">
                      <a16:colId xmlns:a16="http://schemas.microsoft.com/office/drawing/2014/main" val="3836053063"/>
                    </a:ext>
                  </a:extLst>
                </a:gridCol>
                <a:gridCol w="4210050">
                  <a:extLst>
                    <a:ext uri="{9D8B030D-6E8A-4147-A177-3AD203B41FA5}">
                      <a16:colId xmlns:a16="http://schemas.microsoft.com/office/drawing/2014/main" val="3694932242"/>
                    </a:ext>
                  </a:extLst>
                </a:gridCol>
                <a:gridCol w="4210050">
                  <a:extLst>
                    <a:ext uri="{9D8B030D-6E8A-4147-A177-3AD203B41FA5}">
                      <a16:colId xmlns:a16="http://schemas.microsoft.com/office/drawing/2014/main" val="3203812600"/>
                    </a:ext>
                  </a:extLst>
                </a:gridCol>
                <a:gridCol w="4210050">
                  <a:extLst>
                    <a:ext uri="{9D8B030D-6E8A-4147-A177-3AD203B41FA5}">
                      <a16:colId xmlns:a16="http://schemas.microsoft.com/office/drawing/2014/main" val="865912093"/>
                    </a:ext>
                  </a:extLst>
                </a:gridCol>
              </a:tblGrid>
              <a:tr h="1069074">
                <a:tc>
                  <a:txBody>
                    <a:bodyPr/>
                    <a:lstStyle/>
                    <a:p>
                      <a:r>
                        <a:rPr lang="vi-VN" sz="2800"/>
                        <a:t>Loại trigger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Mô tả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Ví dụ config trong STM32 (EXTI)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Ứng dụng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6500589"/>
                  </a:ext>
                </a:extLst>
              </a:tr>
              <a:tr h="2443598">
                <a:tc>
                  <a:txBody>
                    <a:bodyPr/>
                    <a:lstStyle/>
                    <a:p>
                      <a:r>
                        <a:rPr lang="vi-VN" sz="2800" b="1"/>
                        <a:t>Level-triggered</a:t>
                      </a:r>
                      <a:r>
                        <a:rPr lang="vi-VN" sz="2800"/>
                        <a:t> (Theo mức)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Ngắt xảy ra khi mức tín hiệu duy trì ở trạng thái active (high/low).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a:t>Interrupt on high/low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Cảm biến giữ trạng thái (ví dụ nút nhấn giữ lâu). Dễ share line giữa nhiều thiết bị.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3664994"/>
                  </a:ext>
                </a:extLst>
              </a:tr>
              <a:tr h="2901773">
                <a:tc>
                  <a:txBody>
                    <a:bodyPr/>
                    <a:lstStyle/>
                    <a:p>
                      <a:r>
                        <a:rPr lang="vi-VN" sz="2800" b="1"/>
                        <a:t>Edge-triggered</a:t>
                      </a:r>
                      <a:r>
                        <a:rPr lang="vi-VN" sz="2800"/>
                        <a:t> (Theo cạnh/sườn)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Ngắt chỉ xảy ra khi có sự thay đổi cạnh (rising/falling/both).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800"/>
                        <a:t>Rising edge, Falling edge, Both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2800"/>
                        <a:t>Nút nhấn debounce, encoder quay, sự kiện "một lần". Phổ biến hơn trong nhúng.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3376413"/>
                  </a:ext>
                </a:extLst>
              </a:tr>
            </a:tbl>
          </a:graphicData>
        </a:graphic>
      </p:graphicFrame>
    </p:spTree>
    <p:extLst>
      <p:ext uri="{BB962C8B-B14F-4D97-AF65-F5344CB8AC3E}">
        <p14:creationId xmlns:p14="http://schemas.microsoft.com/office/powerpoint/2010/main" val="1650270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Vector table</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8270E2AF-C1AA-A4BB-A345-33A1816EE322}"/>
              </a:ext>
            </a:extLst>
          </p:cNvPr>
          <p:cNvSpPr txBox="1"/>
          <p:nvPr/>
        </p:nvSpPr>
        <p:spPr>
          <a:xfrm>
            <a:off x="368300" y="2343056"/>
            <a:ext cx="8775700" cy="2862322"/>
          </a:xfrm>
          <a:prstGeom prst="rect">
            <a:avLst/>
          </a:prstGeom>
          <a:noFill/>
        </p:spPr>
        <p:txBody>
          <a:bodyPr wrap="square">
            <a:spAutoFit/>
          </a:bodyPr>
          <a:lstStyle/>
          <a:p>
            <a:r>
              <a:rPr lang="en-US" b="1">
                <a:effectLst/>
              </a:rPr>
              <a:t>V</a:t>
            </a:r>
            <a:r>
              <a:rPr lang="vi-VN" b="1">
                <a:effectLst/>
              </a:rPr>
              <a:t>ector table</a:t>
            </a:r>
            <a:r>
              <a:rPr lang="vi-VN">
                <a:effectLst/>
              </a:rPr>
              <a:t> (hay </a:t>
            </a:r>
            <a:r>
              <a:rPr lang="vi-VN" b="1">
                <a:effectLst/>
              </a:rPr>
              <a:t>Interrupt Vector Table - IVT</a:t>
            </a:r>
            <a:r>
              <a:rPr lang="vi-VN">
                <a:effectLst/>
              </a:rPr>
              <a:t>, bảng vector ngắt) trong lập trình </a:t>
            </a:r>
            <a:r>
              <a:rPr lang="vi-VN" b="1">
                <a:effectLst/>
              </a:rPr>
              <a:t>nhúng</a:t>
            </a:r>
            <a:r>
              <a:rPr lang="vi-VN">
                <a:effectLst/>
              </a:rPr>
              <a:t> (embedded systems, vi điều khiển như STM32, ESP32, AVR...) là một </a:t>
            </a:r>
            <a:r>
              <a:rPr lang="vi-VN" b="1">
                <a:effectLst/>
              </a:rPr>
              <a:t>bảng dữ liệu đặc biệt</a:t>
            </a:r>
            <a:r>
              <a:rPr lang="vi-VN">
                <a:effectLst/>
              </a:rPr>
              <a:t> nằm trong bộ nhớ (thường là Flash hoặc RAM), chứa </a:t>
            </a:r>
            <a:r>
              <a:rPr lang="vi-VN" b="1">
                <a:effectLst/>
              </a:rPr>
              <a:t>các địa chỉ (pointer)</a:t>
            </a:r>
            <a:r>
              <a:rPr lang="vi-VN">
                <a:effectLst/>
              </a:rPr>
              <a:t> trỏ đến các hàm xử lý ngắt (</a:t>
            </a:r>
            <a:r>
              <a:rPr lang="vi-VN" b="1">
                <a:effectLst/>
              </a:rPr>
              <a:t>ISR - Interrupt Service Routine</a:t>
            </a:r>
            <a:r>
              <a:rPr lang="vi-VN">
                <a:effectLst/>
              </a:rPr>
              <a:t>) và một số exception/reset.</a:t>
            </a:r>
            <a:endParaRPr lang="en-US">
              <a:effectLst/>
            </a:endParaRPr>
          </a:p>
          <a:p>
            <a:endParaRPr lang="en-US"/>
          </a:p>
          <a:p>
            <a:endParaRPr lang="vi-VN">
              <a:effectLst/>
            </a:endParaRPr>
          </a:p>
          <a:p>
            <a:r>
              <a:rPr lang="vi-VN">
                <a:effectLst/>
              </a:rPr>
              <a:t>Nói đơn giản: Khi có </a:t>
            </a:r>
            <a:r>
              <a:rPr lang="vi-VN" b="1">
                <a:effectLst/>
              </a:rPr>
              <a:t>ngắt</a:t>
            </a:r>
            <a:r>
              <a:rPr lang="vi-VN">
                <a:effectLst/>
              </a:rPr>
              <a:t> (interrupt) hoặc </a:t>
            </a:r>
            <a:r>
              <a:rPr lang="vi-VN" b="1">
                <a:effectLst/>
              </a:rPr>
              <a:t>exception</a:t>
            </a:r>
            <a:r>
              <a:rPr lang="vi-VN">
                <a:effectLst/>
              </a:rPr>
              <a:t> xảy ra → CPU không biết phải chạy code nào để xử lý → nó </a:t>
            </a:r>
            <a:r>
              <a:rPr lang="vi-VN" b="1">
                <a:effectLst/>
              </a:rPr>
              <a:t>tra cứu</a:t>
            </a:r>
            <a:r>
              <a:rPr lang="vi-VN">
                <a:effectLst/>
              </a:rPr>
              <a:t> trong </a:t>
            </a:r>
            <a:r>
              <a:rPr lang="vi-VN" b="1">
                <a:effectLst/>
              </a:rPr>
              <a:t>vector table</a:t>
            </a:r>
            <a:r>
              <a:rPr lang="vi-VN">
                <a:effectLst/>
              </a:rPr>
              <a:t> để lấy </a:t>
            </a:r>
            <a:r>
              <a:rPr lang="vi-VN" b="1">
                <a:effectLst/>
              </a:rPr>
              <a:t>địa chỉ hàm ISR tương ứng</a:t>
            </a:r>
            <a:r>
              <a:rPr lang="vi-VN">
                <a:effectLst/>
              </a:rPr>
              <a:t>, rồi </a:t>
            </a:r>
            <a:r>
              <a:rPr lang="vi-VN" b="1">
                <a:effectLst/>
              </a:rPr>
              <a:t>nhảy</a:t>
            </a:r>
            <a:r>
              <a:rPr lang="vi-VN">
                <a:effectLst/>
              </a:rPr>
              <a:t> thẳng đến đó để thực thi.</a:t>
            </a:r>
          </a:p>
        </p:txBody>
      </p:sp>
      <p:pic>
        <p:nvPicPr>
          <p:cNvPr id="10244" name="Picture 4">
            <a:extLst>
              <a:ext uri="{FF2B5EF4-FFF2-40B4-BE49-F238E27FC236}">
                <a16:creationId xmlns:a16="http://schemas.microsoft.com/office/drawing/2014/main" id="{BE04073F-39B4-48C6-C61B-7991AF3AD5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1220" y="2128073"/>
            <a:ext cx="7867650" cy="72373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48BE97A-3228-593D-CE8A-D6219A51F5EB}"/>
              </a:ext>
            </a:extLst>
          </p:cNvPr>
          <p:cNvSpPr txBox="1"/>
          <p:nvPr/>
        </p:nvSpPr>
        <p:spPr>
          <a:xfrm>
            <a:off x="381000" y="6134100"/>
            <a:ext cx="7086600" cy="1200329"/>
          </a:xfrm>
          <a:prstGeom prst="rect">
            <a:avLst/>
          </a:prstGeom>
          <a:noFill/>
        </p:spPr>
        <p:txBody>
          <a:bodyPr wrap="square">
            <a:spAutoFit/>
          </a:bodyPr>
          <a:lstStyle/>
          <a:p>
            <a:r>
              <a:rPr lang="vi-VN"/>
              <a:t>Khi interrupt xảy ra:</a:t>
            </a:r>
          </a:p>
          <a:p>
            <a:r>
              <a:rPr lang="vi-VN"/>
              <a:t>CPU:</a:t>
            </a:r>
          </a:p>
          <a:p>
            <a:pPr>
              <a:buFont typeface="+mj-lt"/>
              <a:buAutoNum type="arabicPeriod"/>
            </a:pPr>
            <a:r>
              <a:rPr lang="vi-VN"/>
              <a:t>lookup vector table</a:t>
            </a:r>
          </a:p>
          <a:p>
            <a:pPr>
              <a:buFont typeface="+mj-lt"/>
              <a:buAutoNum type="arabicPeriod"/>
            </a:pPr>
            <a:r>
              <a:rPr lang="vi-VN"/>
              <a:t>jump to ISR</a:t>
            </a:r>
          </a:p>
        </p:txBody>
      </p:sp>
      <p:pic>
        <p:nvPicPr>
          <p:cNvPr id="13" name="Picture 12">
            <a:extLst>
              <a:ext uri="{FF2B5EF4-FFF2-40B4-BE49-F238E27FC236}">
                <a16:creationId xmlns:a16="http://schemas.microsoft.com/office/drawing/2014/main" id="{D9815B77-76AE-8854-4A95-D1C2FEDDEAAB}"/>
              </a:ext>
            </a:extLst>
          </p:cNvPr>
          <p:cNvPicPr>
            <a:picLocks noChangeAspect="1"/>
          </p:cNvPicPr>
          <p:nvPr/>
        </p:nvPicPr>
        <p:blipFill>
          <a:blip r:embed="rId4"/>
          <a:stretch>
            <a:fillRect/>
          </a:stretch>
        </p:blipFill>
        <p:spPr>
          <a:xfrm>
            <a:off x="3638550" y="5713479"/>
            <a:ext cx="5657850" cy="3491437"/>
          </a:xfrm>
          <a:prstGeom prst="rect">
            <a:avLst/>
          </a:prstGeom>
        </p:spPr>
      </p:pic>
    </p:spTree>
    <p:extLst>
      <p:ext uri="{BB962C8B-B14F-4D97-AF65-F5344CB8AC3E}">
        <p14:creationId xmlns:p14="http://schemas.microsoft.com/office/powerpoint/2010/main" val="2951280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NVIC</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D87D449A-4A57-E19E-B3F8-528A9A90F95A}"/>
              </a:ext>
            </a:extLst>
          </p:cNvPr>
          <p:cNvSpPr txBox="1"/>
          <p:nvPr/>
        </p:nvSpPr>
        <p:spPr>
          <a:xfrm>
            <a:off x="406400" y="2171700"/>
            <a:ext cx="16814800" cy="1477328"/>
          </a:xfrm>
          <a:prstGeom prst="rect">
            <a:avLst/>
          </a:prstGeom>
          <a:noFill/>
        </p:spPr>
        <p:txBody>
          <a:bodyPr wrap="square">
            <a:spAutoFit/>
          </a:bodyPr>
          <a:lstStyle/>
          <a:p>
            <a:r>
              <a:rPr lang="vi-VN" b="1">
                <a:effectLst/>
              </a:rPr>
              <a:t>NVIC</a:t>
            </a:r>
            <a:r>
              <a:rPr lang="vi-VN">
                <a:effectLst/>
              </a:rPr>
              <a:t> (viết tắt của </a:t>
            </a:r>
            <a:r>
              <a:rPr lang="vi-VN" b="1">
                <a:effectLst/>
              </a:rPr>
              <a:t>Nested Vectored Interrupt Controller</a:t>
            </a:r>
            <a:r>
              <a:rPr lang="vi-VN">
                <a:effectLst/>
              </a:rPr>
              <a:t> – Bộ điều khiển vector ngắt lồng nhau) là một </a:t>
            </a:r>
            <a:r>
              <a:rPr lang="vi-VN" b="1">
                <a:effectLst/>
              </a:rPr>
              <a:t>khối phần cứng</a:t>
            </a:r>
            <a:r>
              <a:rPr lang="vi-VN">
                <a:effectLst/>
              </a:rPr>
              <a:t> rất quan trọng trong lõi </a:t>
            </a:r>
            <a:r>
              <a:rPr lang="vi-VN" b="1">
                <a:effectLst/>
              </a:rPr>
              <a:t>ARM Cortex-M</a:t>
            </a:r>
            <a:r>
              <a:rPr lang="vi-VN">
                <a:effectLst/>
              </a:rPr>
              <a:t> (như STM32, ESP32-S3, nhiều MCU khác dùng Cortex-M0/M3/M4/M7...).</a:t>
            </a:r>
            <a:endParaRPr lang="en-US">
              <a:effectLst/>
            </a:endParaRPr>
          </a:p>
          <a:p>
            <a:endParaRPr lang="vi-VN">
              <a:effectLst/>
            </a:endParaRPr>
          </a:p>
          <a:p>
            <a:r>
              <a:rPr lang="vi-VN">
                <a:effectLst/>
              </a:rPr>
              <a:t>Nói đơn giản: NVIC là "người quản lý" tất cả các </a:t>
            </a:r>
            <a:r>
              <a:rPr lang="vi-VN" b="1">
                <a:effectLst/>
              </a:rPr>
              <a:t>ngắt</a:t>
            </a:r>
            <a:r>
              <a:rPr lang="vi-VN">
                <a:effectLst/>
              </a:rPr>
              <a:t> (interrupt) và </a:t>
            </a:r>
            <a:r>
              <a:rPr lang="vi-VN" b="1">
                <a:effectLst/>
              </a:rPr>
              <a:t>exception</a:t>
            </a:r>
            <a:r>
              <a:rPr lang="vi-VN">
                <a:effectLst/>
              </a:rPr>
              <a:t> trong vi điều khiển ARM Cortex-M. Nó quyết định </a:t>
            </a:r>
            <a:r>
              <a:rPr lang="vi-VN" b="1">
                <a:effectLst/>
              </a:rPr>
              <a:t>ngắt nào được xử lý trước</a:t>
            </a:r>
            <a:r>
              <a:rPr lang="vi-VN">
                <a:effectLst/>
              </a:rPr>
              <a:t>, </a:t>
            </a:r>
            <a:r>
              <a:rPr lang="vi-VN" b="1">
                <a:effectLst/>
              </a:rPr>
              <a:t>có lồng nhau (nested) được không</a:t>
            </a:r>
            <a:r>
              <a:rPr lang="vi-VN">
                <a:effectLst/>
              </a:rPr>
              <a:t>, </a:t>
            </a:r>
            <a:r>
              <a:rPr lang="vi-VN" b="1">
                <a:effectLst/>
              </a:rPr>
              <a:t>bật/tắt ngắt</a:t>
            </a:r>
            <a:r>
              <a:rPr lang="vi-VN">
                <a:effectLst/>
              </a:rPr>
              <a:t>, và </a:t>
            </a:r>
            <a:r>
              <a:rPr lang="vi-VN" b="1">
                <a:effectLst/>
              </a:rPr>
              <a:t>tự động nhảy đến hàm ISR</a:t>
            </a:r>
            <a:r>
              <a:rPr lang="vi-VN">
                <a:effectLst/>
              </a:rPr>
              <a:t> tương ứng mà không cần CPU phải poll hay check thủ công.</a:t>
            </a:r>
          </a:p>
        </p:txBody>
      </p:sp>
      <p:sp>
        <p:nvSpPr>
          <p:cNvPr id="9" name="AutoShape 2" descr="What is NVIC Nested Vector Interrupt Control?">
            <a:extLst>
              <a:ext uri="{FF2B5EF4-FFF2-40B4-BE49-F238E27FC236}">
                <a16:creationId xmlns:a16="http://schemas.microsoft.com/office/drawing/2014/main" id="{03F8274D-915D-61D4-4C55-4C184CD160DD}"/>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2642B7A6-1FD5-662B-D0D7-397F2567334C}"/>
              </a:ext>
            </a:extLst>
          </p:cNvPr>
          <p:cNvPicPr>
            <a:picLocks noChangeAspect="1"/>
          </p:cNvPicPr>
          <p:nvPr/>
        </p:nvPicPr>
        <p:blipFill>
          <a:blip r:embed="rId3"/>
          <a:stretch>
            <a:fillRect/>
          </a:stretch>
        </p:blipFill>
        <p:spPr>
          <a:xfrm>
            <a:off x="4038600" y="3877629"/>
            <a:ext cx="8058150" cy="4900227"/>
          </a:xfrm>
          <a:prstGeom prst="rect">
            <a:avLst/>
          </a:prstGeom>
        </p:spPr>
      </p:pic>
    </p:spTree>
    <p:extLst>
      <p:ext uri="{BB962C8B-B14F-4D97-AF65-F5344CB8AC3E}">
        <p14:creationId xmlns:p14="http://schemas.microsoft.com/office/powerpoint/2010/main" val="116705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NVIC</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1414A4B9-3CC7-B7E2-347C-274C58A9B78F}"/>
              </a:ext>
            </a:extLst>
          </p:cNvPr>
          <p:cNvSpPr txBox="1"/>
          <p:nvPr/>
        </p:nvSpPr>
        <p:spPr>
          <a:xfrm>
            <a:off x="381000" y="2156497"/>
            <a:ext cx="16535400" cy="2118529"/>
          </a:xfrm>
          <a:prstGeom prst="rect">
            <a:avLst/>
          </a:prstGeom>
          <a:noFill/>
        </p:spPr>
        <p:txBody>
          <a:bodyPr wrap="square">
            <a:spAutoFit/>
          </a:bodyPr>
          <a:lstStyle/>
          <a:p>
            <a:pPr>
              <a:lnSpc>
                <a:spcPct val="150000"/>
              </a:lnSpc>
            </a:pPr>
            <a:r>
              <a:rPr lang="vi-VN" b="1"/>
              <a:t>Vai trò chính của NVIC</a:t>
            </a:r>
          </a:p>
          <a:p>
            <a:pPr>
              <a:lnSpc>
                <a:spcPct val="150000"/>
              </a:lnSpc>
              <a:buFont typeface="Arial" panose="020B0604020202020204" pitchFamily="34" charset="0"/>
              <a:buChar char="•"/>
            </a:pPr>
            <a:r>
              <a:rPr lang="vi-VN"/>
              <a:t>Quản lý </a:t>
            </a:r>
            <a:r>
              <a:rPr lang="vi-VN" b="1"/>
              <a:t>tất cả interrupt sources</a:t>
            </a:r>
            <a:r>
              <a:rPr lang="vi-VN"/>
              <a:t> (ngoại vi + exception hệ thống): lên đến 240+ ngắt tùy chip (STM32F4 thường ~80-100, STM32H7 lên 200+).</a:t>
            </a:r>
          </a:p>
          <a:p>
            <a:pPr>
              <a:lnSpc>
                <a:spcPct val="150000"/>
              </a:lnSpc>
              <a:buFont typeface="Arial" panose="020B0604020202020204" pitchFamily="34" charset="0"/>
              <a:buChar char="•"/>
            </a:pPr>
            <a:r>
              <a:rPr lang="vi-VN" b="1"/>
              <a:t>Ưu tiên (priority)</a:t>
            </a:r>
            <a:r>
              <a:rPr lang="vi-VN"/>
              <a:t> lập trình được: quyết định ngắt nào "chen ngang" (preempt) ngắt khác.</a:t>
            </a:r>
          </a:p>
          <a:p>
            <a:pPr>
              <a:lnSpc>
                <a:spcPct val="150000"/>
              </a:lnSpc>
              <a:buFont typeface="Arial" panose="020B0604020202020204" pitchFamily="34" charset="0"/>
              <a:buChar char="•"/>
            </a:pPr>
            <a:r>
              <a:rPr lang="vi-VN" b="1"/>
              <a:t>Nested (lồng nhau)</a:t>
            </a:r>
            <a:r>
              <a:rPr lang="vi-VN"/>
              <a:t>: Ngắt ưu tiên cao hơn có thể tạm dừng ISR của ngắt ưu tiên thấp hơn → rất tốt cho realtime.</a:t>
            </a:r>
          </a:p>
          <a:p>
            <a:pPr>
              <a:lnSpc>
                <a:spcPct val="150000"/>
              </a:lnSpc>
              <a:buFont typeface="Arial" panose="020B0604020202020204" pitchFamily="34" charset="0"/>
              <a:buChar char="•"/>
            </a:pPr>
            <a:r>
              <a:rPr lang="vi-VN" b="1"/>
              <a:t>Vectored</a:t>
            </a:r>
            <a:r>
              <a:rPr lang="vi-VN"/>
              <a:t>: Tự động lấy địa chỉ ISR từ </a:t>
            </a:r>
            <a:r>
              <a:rPr lang="vi-VN" b="1"/>
              <a:t>vector table</a:t>
            </a:r>
            <a:r>
              <a:rPr lang="vi-VN"/>
              <a:t> (không cần code switch-case lớn như một số MCU cũ).</a:t>
            </a:r>
          </a:p>
        </p:txBody>
      </p:sp>
      <p:sp>
        <p:nvSpPr>
          <p:cNvPr id="11" name="AutoShape 2" descr="🌱 Core 9. Interrupt Priority - Độ ưu tiên ngắt">
            <a:extLst>
              <a:ext uri="{FF2B5EF4-FFF2-40B4-BE49-F238E27FC236}">
                <a16:creationId xmlns:a16="http://schemas.microsoft.com/office/drawing/2014/main" id="{C54059DB-20FB-2BFE-0CD7-66985FE50F22}"/>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4" name="Picture 13">
            <a:extLst>
              <a:ext uri="{FF2B5EF4-FFF2-40B4-BE49-F238E27FC236}">
                <a16:creationId xmlns:a16="http://schemas.microsoft.com/office/drawing/2014/main" id="{C2EA8628-D0F5-5D81-01F3-3BA33315CD81}"/>
              </a:ext>
            </a:extLst>
          </p:cNvPr>
          <p:cNvPicPr>
            <a:picLocks noChangeAspect="1"/>
          </p:cNvPicPr>
          <p:nvPr/>
        </p:nvPicPr>
        <p:blipFill>
          <a:blip r:embed="rId3"/>
          <a:stretch>
            <a:fillRect/>
          </a:stretch>
        </p:blipFill>
        <p:spPr>
          <a:xfrm>
            <a:off x="533400" y="5276460"/>
            <a:ext cx="9312189" cy="3186838"/>
          </a:xfrm>
          <a:prstGeom prst="rect">
            <a:avLst/>
          </a:prstGeom>
        </p:spPr>
      </p:pic>
      <p:sp>
        <p:nvSpPr>
          <p:cNvPr id="15" name="AutoShape 4" descr="What is NVIC in ARM Cortex-M processors? | Sagar Kanjariya posted on the  topic | LinkedIn">
            <a:extLst>
              <a:ext uri="{FF2B5EF4-FFF2-40B4-BE49-F238E27FC236}">
                <a16:creationId xmlns:a16="http://schemas.microsoft.com/office/drawing/2014/main" id="{BE6DFE12-7A36-5A6E-AA0F-BE2961D58EE8}"/>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7" name="Picture 16">
            <a:extLst>
              <a:ext uri="{FF2B5EF4-FFF2-40B4-BE49-F238E27FC236}">
                <a16:creationId xmlns:a16="http://schemas.microsoft.com/office/drawing/2014/main" id="{F564C6FB-9906-29AE-1519-7E10FDA9017C}"/>
              </a:ext>
            </a:extLst>
          </p:cNvPr>
          <p:cNvPicPr>
            <a:picLocks noChangeAspect="1"/>
          </p:cNvPicPr>
          <p:nvPr/>
        </p:nvPicPr>
        <p:blipFill>
          <a:blip r:embed="rId4"/>
          <a:stretch>
            <a:fillRect/>
          </a:stretch>
        </p:blipFill>
        <p:spPr>
          <a:xfrm>
            <a:off x="10909300" y="4328362"/>
            <a:ext cx="7124700" cy="4362450"/>
          </a:xfrm>
          <a:prstGeom prst="rect">
            <a:avLst/>
          </a:prstGeom>
        </p:spPr>
      </p:pic>
    </p:spTree>
    <p:extLst>
      <p:ext uri="{BB962C8B-B14F-4D97-AF65-F5344CB8AC3E}">
        <p14:creationId xmlns:p14="http://schemas.microsoft.com/office/powerpoint/2010/main" val="2668658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Flow</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6" name="Picture 5">
            <a:extLst>
              <a:ext uri="{FF2B5EF4-FFF2-40B4-BE49-F238E27FC236}">
                <a16:creationId xmlns:a16="http://schemas.microsoft.com/office/drawing/2014/main" id="{B7210B76-5386-CB69-92E3-1A658B1B95E2}"/>
              </a:ext>
            </a:extLst>
          </p:cNvPr>
          <p:cNvPicPr>
            <a:picLocks noChangeAspect="1"/>
          </p:cNvPicPr>
          <p:nvPr/>
        </p:nvPicPr>
        <p:blipFill>
          <a:blip r:embed="rId3"/>
          <a:stretch>
            <a:fillRect/>
          </a:stretch>
        </p:blipFill>
        <p:spPr>
          <a:xfrm>
            <a:off x="266700" y="3982732"/>
            <a:ext cx="7124700" cy="4451012"/>
          </a:xfrm>
          <a:prstGeom prst="rect">
            <a:avLst/>
          </a:prstGeom>
        </p:spPr>
      </p:pic>
      <p:sp>
        <p:nvSpPr>
          <p:cNvPr id="9" name="TextBox 8">
            <a:extLst>
              <a:ext uri="{FF2B5EF4-FFF2-40B4-BE49-F238E27FC236}">
                <a16:creationId xmlns:a16="http://schemas.microsoft.com/office/drawing/2014/main" id="{7B16079F-2670-B207-9EB1-6F867634F5C1}"/>
              </a:ext>
            </a:extLst>
          </p:cNvPr>
          <p:cNvSpPr txBox="1"/>
          <p:nvPr/>
        </p:nvSpPr>
        <p:spPr>
          <a:xfrm>
            <a:off x="7747000" y="3116532"/>
            <a:ext cx="10312400" cy="5355312"/>
          </a:xfrm>
          <a:prstGeom prst="rect">
            <a:avLst/>
          </a:prstGeom>
          <a:noFill/>
        </p:spPr>
        <p:txBody>
          <a:bodyPr wrap="square">
            <a:spAutoFit/>
          </a:bodyPr>
          <a:lstStyle/>
          <a:p>
            <a:r>
              <a:rPr lang="vi-VN">
                <a:effectLst/>
              </a:rPr>
              <a:t>Khi có sự kiện ngắt xảy ra (ví dụ: nút bấm EXTI, UART nhận byte, Timer overflow...):</a:t>
            </a:r>
          </a:p>
          <a:p>
            <a:pPr>
              <a:buFont typeface="+mj-lt"/>
              <a:buAutoNum type="arabicPeriod"/>
            </a:pPr>
            <a:r>
              <a:rPr lang="vi-VN" b="1"/>
              <a:t>Peripheral kích hoạt tín hiệu IRQ</a:t>
            </a:r>
            <a:r>
              <a:rPr lang="vi-VN"/>
              <a:t> → NVIC nhận tín hiệu.</a:t>
            </a:r>
          </a:p>
          <a:p>
            <a:pPr>
              <a:buFont typeface="+mj-lt"/>
              <a:buAutoNum type="arabicPeriod"/>
            </a:pPr>
            <a:r>
              <a:rPr lang="vi-VN" b="1"/>
              <a:t>NVIC set bit Pending</a:t>
            </a:r>
            <a:r>
              <a:rPr lang="vi-VN"/>
              <a:t> cho interrupt đó (trong thanh ghi ISPR – Interrupt Set-Pending Register).</a:t>
            </a:r>
          </a:p>
          <a:p>
            <a:pPr>
              <a:buFont typeface="+mj-lt"/>
              <a:buAutoNum type="arabicPeriod"/>
            </a:pPr>
            <a:r>
              <a:rPr lang="vi-VN" b="1"/>
              <a:t>NVIC kiểm tra</a:t>
            </a:r>
            <a:r>
              <a:rPr lang="vi-VN"/>
              <a:t>:</a:t>
            </a:r>
          </a:p>
          <a:p>
            <a:pPr marL="742950" lvl="1" indent="-285750">
              <a:buFont typeface="+mj-lt"/>
              <a:buAutoNum type="arabicPeriod"/>
            </a:pPr>
            <a:r>
              <a:rPr lang="vi-VN"/>
              <a:t>Interrupt có </a:t>
            </a:r>
            <a:r>
              <a:rPr lang="vi-VN" b="1"/>
              <a:t>enable</a:t>
            </a:r>
            <a:r>
              <a:rPr lang="vi-VN"/>
              <a:t> không? (trong ISER – Interrupt Set-Enable Register)</a:t>
            </a:r>
          </a:p>
          <a:p>
            <a:pPr marL="742950" lvl="1" indent="-285750">
              <a:buFont typeface="+mj-lt"/>
              <a:buAutoNum type="arabicPeriod"/>
            </a:pPr>
            <a:r>
              <a:rPr lang="vi-VN"/>
              <a:t>Ưu tiên của nó có </a:t>
            </a:r>
            <a:r>
              <a:rPr lang="vi-VN" b="1"/>
              <a:t>cao hơn</a:t>
            </a:r>
            <a:r>
              <a:rPr lang="vi-VN"/>
              <a:t> (số nhỏ hơn) ưu tiên hiện tại đang chạy (nếu đang trong ISR)?</a:t>
            </a:r>
          </a:p>
          <a:p>
            <a:pPr marL="742950" lvl="1" indent="-285750">
              <a:buFont typeface="+mj-lt"/>
              <a:buAutoNum type="arabicPeriod"/>
            </a:pPr>
            <a:r>
              <a:rPr lang="vi-VN"/>
              <a:t>CPU có </a:t>
            </a:r>
            <a:r>
              <a:rPr lang="vi-VN" b="1"/>
              <a:t>global interrupt enable</a:t>
            </a:r>
            <a:r>
              <a:rPr lang="vi-VN"/>
              <a:t> không? (bit PRIMASK hoặc BASEPRI)</a:t>
            </a:r>
          </a:p>
          <a:p>
            <a:pPr>
              <a:buFont typeface="+mj-lt"/>
              <a:buAutoNum type="arabicPeriod"/>
            </a:pPr>
            <a:r>
              <a:rPr lang="vi-VN"/>
              <a:t>Nếu điều kiện thỏa → </a:t>
            </a:r>
            <a:r>
              <a:rPr lang="vi-VN" b="1"/>
              <a:t>CPU chấp nhận ngắt</a:t>
            </a:r>
            <a:r>
              <a:rPr lang="vi-VN"/>
              <a:t>:</a:t>
            </a:r>
          </a:p>
          <a:p>
            <a:pPr marL="742950" lvl="1" indent="-285750">
              <a:buFont typeface="+mj-lt"/>
              <a:buAutoNum type="arabicPeriod"/>
            </a:pPr>
            <a:r>
              <a:rPr lang="vi-VN"/>
              <a:t>Tự động </a:t>
            </a:r>
            <a:r>
              <a:rPr lang="vi-VN" b="1"/>
              <a:t>push</a:t>
            </a:r>
            <a:r>
              <a:rPr lang="vi-VN"/>
              <a:t> context (8 thanh ghi: R0-R3, R12, LR, PC, xPSR) lên stack (tail-chaining nếu có thể).</a:t>
            </a:r>
          </a:p>
          <a:p>
            <a:pPr marL="742950" lvl="1" indent="-285750">
              <a:buFont typeface="+mj-lt"/>
              <a:buAutoNum type="arabicPeriod"/>
            </a:pPr>
            <a:r>
              <a:rPr lang="vi-VN"/>
              <a:t>Tự động </a:t>
            </a:r>
            <a:r>
              <a:rPr lang="vi-VN" b="1"/>
              <a:t>load</a:t>
            </a:r>
            <a:r>
              <a:rPr lang="vi-VN"/>
              <a:t> địa chỉ ISR từ </a:t>
            </a:r>
            <a:r>
              <a:rPr lang="vi-VN" b="1"/>
              <a:t>Vector Table</a:t>
            </a:r>
            <a:r>
              <a:rPr lang="vi-VN"/>
              <a:t> (không cần polling như 8051).</a:t>
            </a:r>
          </a:p>
          <a:p>
            <a:pPr marL="742950" lvl="1" indent="-285750">
              <a:buFont typeface="+mj-lt"/>
              <a:buAutoNum type="arabicPeriod"/>
            </a:pPr>
            <a:r>
              <a:rPr lang="vi-VN"/>
              <a:t>Chuyển sang </a:t>
            </a:r>
            <a:r>
              <a:rPr lang="vi-VN" b="1"/>
              <a:t>Handler Mode</a:t>
            </a:r>
            <a:r>
              <a:rPr lang="vi-VN"/>
              <a:t> (thường dùng MSP – Main Stack Pointer).</a:t>
            </a:r>
          </a:p>
          <a:p>
            <a:pPr>
              <a:buFont typeface="+mj-lt"/>
              <a:buAutoNum type="arabicPeriod"/>
            </a:pPr>
            <a:r>
              <a:rPr lang="vi-VN" b="1"/>
              <a:t>Chạy ISR</a:t>
            </a:r>
            <a:r>
              <a:rPr lang="vi-VN"/>
              <a:t> (Interrupt Service Routine):</a:t>
            </a:r>
          </a:p>
          <a:p>
            <a:pPr marL="742950" lvl="1" indent="-285750">
              <a:buFont typeface="+mj-lt"/>
              <a:buAutoNum type="arabicPeriod"/>
            </a:pPr>
            <a:r>
              <a:rPr lang="vi-VN"/>
              <a:t>Xử lý nhanh, clear nguồn ngắt (ví dụ: clear pending bit trong peripheral).</a:t>
            </a:r>
          </a:p>
          <a:p>
            <a:pPr marL="742950" lvl="1" indent="-285750">
              <a:buFont typeface="+mj-lt"/>
              <a:buAutoNum type="arabicPeriod"/>
            </a:pPr>
            <a:r>
              <a:rPr lang="vi-VN"/>
              <a:t>Không nên delay() hoặc gọi hàm nặng.</a:t>
            </a:r>
          </a:p>
          <a:p>
            <a:pPr>
              <a:buFont typeface="+mj-lt"/>
              <a:buAutoNum type="arabicPeriod"/>
            </a:pPr>
            <a:r>
              <a:rPr lang="vi-VN" b="1"/>
              <a:t>Kết thúc ISR</a:t>
            </a:r>
            <a:r>
              <a:rPr lang="vi-VN"/>
              <a:t>:</a:t>
            </a:r>
          </a:p>
          <a:p>
            <a:pPr marL="742950" lvl="1" indent="-285750">
              <a:buFont typeface="+mj-lt"/>
              <a:buAutoNum type="arabicPeriod"/>
            </a:pPr>
            <a:r>
              <a:rPr lang="vi-VN"/>
              <a:t>Lệnh BX LR (hoặc POP {PC}) → CPU tự động pop context và trở về chỗ cũ.</a:t>
            </a:r>
          </a:p>
          <a:p>
            <a:pPr marL="742950" lvl="1" indent="-285750">
              <a:buFont typeface="+mj-lt"/>
              <a:buAutoNum type="arabicPeriod"/>
            </a:pPr>
            <a:r>
              <a:rPr lang="vi-VN"/>
              <a:t>Nếu có interrupt pending khác ưu tiên cao hơn → </a:t>
            </a:r>
            <a:r>
              <a:rPr lang="vi-VN" b="1"/>
              <a:t>preempt</a:t>
            </a:r>
            <a:r>
              <a:rPr lang="vi-VN"/>
              <a:t> (lồng) ngay.</a:t>
            </a:r>
          </a:p>
          <a:p>
            <a:pPr marL="742950" lvl="1" indent="-285750">
              <a:buFont typeface="+mj-lt"/>
              <a:buAutoNum type="arabicPeriod"/>
            </a:pPr>
            <a:r>
              <a:rPr lang="vi-VN"/>
              <a:t>Nếu có interrupt cùng mức ưu tiên → tail-chaining (không pop/push lại, tiết kiệm chu kỳ).</a:t>
            </a:r>
          </a:p>
        </p:txBody>
      </p:sp>
    </p:spTree>
    <p:extLst>
      <p:ext uri="{BB962C8B-B14F-4D97-AF65-F5344CB8AC3E}">
        <p14:creationId xmlns:p14="http://schemas.microsoft.com/office/powerpoint/2010/main" val="324062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Tình huống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1C24D261-74DD-4B78-FCE4-D9B9289B6CBC}"/>
              </a:ext>
            </a:extLst>
          </p:cNvPr>
          <p:cNvSpPr txBox="1"/>
          <p:nvPr/>
        </p:nvSpPr>
        <p:spPr>
          <a:xfrm>
            <a:off x="533400" y="4498350"/>
            <a:ext cx="8058150" cy="2585323"/>
          </a:xfrm>
          <a:prstGeom prst="rect">
            <a:avLst/>
          </a:prstGeom>
          <a:noFill/>
        </p:spPr>
        <p:txBody>
          <a:bodyPr wrap="square">
            <a:spAutoFit/>
          </a:bodyPr>
          <a:lstStyle/>
          <a:p>
            <a:r>
              <a:rPr lang="vi-VN" b="1">
                <a:effectLst/>
              </a:rPr>
              <a:t>Hàm ngắt cần ngắn gọn, đây là các lưu ý chính (dạng checklist):</a:t>
            </a:r>
            <a:endParaRPr lang="vi-VN">
              <a:effectLst/>
            </a:endParaRPr>
          </a:p>
          <a:p>
            <a:pPr>
              <a:buFont typeface="Arial" panose="020B0604020202020204" pitchFamily="34" charset="0"/>
              <a:buChar char="•"/>
            </a:pPr>
            <a:r>
              <a:rPr lang="vi-VN"/>
              <a:t>Giữ </a:t>
            </a:r>
            <a:r>
              <a:rPr lang="vi-VN" b="1"/>
              <a:t>cực ngắn</a:t>
            </a:r>
            <a:r>
              <a:rPr lang="vi-VN"/>
              <a:t>, chỉ làm việc tối thiểu</a:t>
            </a:r>
          </a:p>
          <a:p>
            <a:pPr>
              <a:buFont typeface="Arial" panose="020B0604020202020204" pitchFamily="34" charset="0"/>
              <a:buChar char="•"/>
            </a:pPr>
            <a:r>
              <a:rPr lang="vi-VN"/>
              <a:t>Không delay, không printf, không vòng lặp chờ</a:t>
            </a:r>
          </a:p>
          <a:p>
            <a:pPr>
              <a:buFont typeface="Arial" panose="020B0604020202020204" pitchFamily="34" charset="0"/>
              <a:buChar char="•"/>
            </a:pPr>
            <a:r>
              <a:rPr lang="vi-VN"/>
              <a:t>Không gọi hàm phức tạp (hoặc chỉ gọi hàm rất nhỏ, inline)</a:t>
            </a:r>
          </a:p>
          <a:p>
            <a:pPr>
              <a:buFont typeface="Arial" panose="020B0604020202020204" pitchFamily="34" charset="0"/>
              <a:buChar char="•"/>
            </a:pPr>
            <a:r>
              <a:rPr lang="vi-VN"/>
              <a:t>Biến chia sẻ với main → phải </a:t>
            </a:r>
            <a:r>
              <a:rPr lang="vi-VN" b="1"/>
              <a:t>volatile</a:t>
            </a:r>
            <a:endParaRPr lang="vi-VN"/>
          </a:p>
          <a:p>
            <a:pPr>
              <a:buFont typeface="Arial" panose="020B0604020202020204" pitchFamily="34" charset="0"/>
              <a:buChar char="•"/>
            </a:pPr>
            <a:r>
              <a:rPr lang="vi-VN"/>
              <a:t>Không dùng float/double</a:t>
            </a:r>
          </a:p>
          <a:p>
            <a:pPr>
              <a:buFont typeface="Arial" panose="020B0604020202020204" pitchFamily="34" charset="0"/>
              <a:buChar char="•"/>
            </a:pPr>
            <a:r>
              <a:rPr lang="vi-VN"/>
              <a:t>Đẩy việc nặng ra main hoặc task (dùng flag, queue)</a:t>
            </a:r>
          </a:p>
          <a:p>
            <a:pPr>
              <a:buFont typeface="Arial" panose="020B0604020202020204" pitchFamily="34" charset="0"/>
              <a:buChar char="•"/>
            </a:pPr>
            <a:r>
              <a:rPr lang="vi-VN"/>
              <a:t>Kiểm tra thời gian chạy ISR (nên &lt; 10–20 µs)</a:t>
            </a:r>
          </a:p>
          <a:p>
            <a:pPr>
              <a:buFont typeface="Arial" panose="020B0604020202020204" pitchFamily="34" charset="0"/>
              <a:buChar char="•"/>
            </a:pPr>
            <a:r>
              <a:rPr lang="vi-VN"/>
              <a:t>Không để ISR chạy quá 50% chu kỳ ngắt → nguy cơ mất ngắt</a:t>
            </a:r>
          </a:p>
        </p:txBody>
      </p:sp>
      <p:pic>
        <p:nvPicPr>
          <p:cNvPr id="13" name="Picture 12">
            <a:extLst>
              <a:ext uri="{FF2B5EF4-FFF2-40B4-BE49-F238E27FC236}">
                <a16:creationId xmlns:a16="http://schemas.microsoft.com/office/drawing/2014/main" id="{964ABF4A-5E52-6296-0535-5A4BCD9508A9}"/>
              </a:ext>
            </a:extLst>
          </p:cNvPr>
          <p:cNvPicPr>
            <a:picLocks noChangeAspect="1"/>
          </p:cNvPicPr>
          <p:nvPr/>
        </p:nvPicPr>
        <p:blipFill>
          <a:blip r:embed="rId3"/>
          <a:stretch>
            <a:fillRect/>
          </a:stretch>
        </p:blipFill>
        <p:spPr>
          <a:xfrm>
            <a:off x="9270670" y="3162300"/>
            <a:ext cx="7543800" cy="6333414"/>
          </a:xfrm>
          <a:prstGeom prst="rect">
            <a:avLst/>
          </a:prstGeom>
        </p:spPr>
      </p:pic>
    </p:spTree>
    <p:extLst>
      <p:ext uri="{BB962C8B-B14F-4D97-AF65-F5344CB8AC3E}">
        <p14:creationId xmlns:p14="http://schemas.microsoft.com/office/powerpoint/2010/main" val="709873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a:solidFill>
                  <a:schemeClr val="bg1"/>
                </a:solidFill>
                <a:effectLst>
                  <a:outerShdw blurRad="38100" dist="38100" dir="2700000" algn="tl">
                    <a:srgbClr val="000000">
                      <a:alpha val="43137"/>
                    </a:srgbClr>
                  </a:outerShdw>
                </a:effectLst>
              </a:rPr>
              <a:t>Interrupt</a:t>
            </a:r>
            <a:endParaRPr lang="en-US" sz="4800" b="1" dirty="0">
              <a:solidFill>
                <a:schemeClr val="bg1"/>
              </a:solidFill>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a:effectLst>
                  <a:outerShdw blurRad="38100" dist="38100" dir="2700000" algn="tl">
                    <a:srgbClr val="000000">
                      <a:alpha val="43137"/>
                    </a:srgbClr>
                  </a:outerShdw>
                </a:effectLst>
              </a:rPr>
              <a:t>Tình huống</a:t>
            </a:r>
            <a:endParaRPr lang="en-US" sz="3600" b="1" dirty="0">
              <a:effectLst>
                <a:outerShdw blurRad="38100" dist="38100" dir="2700000" algn="tl">
                  <a:srgbClr val="000000">
                    <a:alpha val="43137"/>
                  </a:srgbClr>
                </a:outerShdw>
              </a:effectLst>
            </a:endParaRP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6C9432B6-954B-D5DC-DE56-FD03F1910C9C}"/>
              </a:ext>
            </a:extLst>
          </p:cNvPr>
          <p:cNvPicPr>
            <a:picLocks noChangeAspect="1"/>
          </p:cNvPicPr>
          <p:nvPr/>
        </p:nvPicPr>
        <p:blipFill>
          <a:blip r:embed="rId3"/>
          <a:stretch>
            <a:fillRect/>
          </a:stretch>
        </p:blipFill>
        <p:spPr>
          <a:xfrm>
            <a:off x="381000" y="2975463"/>
            <a:ext cx="9882187" cy="6729501"/>
          </a:xfrm>
          <a:prstGeom prst="rect">
            <a:avLst/>
          </a:prstGeom>
        </p:spPr>
      </p:pic>
      <p:pic>
        <p:nvPicPr>
          <p:cNvPr id="14" name="Picture 13">
            <a:extLst>
              <a:ext uri="{FF2B5EF4-FFF2-40B4-BE49-F238E27FC236}">
                <a16:creationId xmlns:a16="http://schemas.microsoft.com/office/drawing/2014/main" id="{6259EA76-1D5C-A33A-F96C-F55BE319D3AD}"/>
              </a:ext>
            </a:extLst>
          </p:cNvPr>
          <p:cNvPicPr>
            <a:picLocks noChangeAspect="1"/>
          </p:cNvPicPr>
          <p:nvPr/>
        </p:nvPicPr>
        <p:blipFill>
          <a:blip r:embed="rId4"/>
          <a:stretch>
            <a:fillRect/>
          </a:stretch>
        </p:blipFill>
        <p:spPr>
          <a:xfrm>
            <a:off x="11353800" y="2113071"/>
            <a:ext cx="6224503" cy="7985528"/>
          </a:xfrm>
          <a:prstGeom prst="rect">
            <a:avLst/>
          </a:prstGeom>
        </p:spPr>
      </p:pic>
    </p:spTree>
    <p:extLst>
      <p:ext uri="{BB962C8B-B14F-4D97-AF65-F5344CB8AC3E}">
        <p14:creationId xmlns:p14="http://schemas.microsoft.com/office/powerpoint/2010/main" val="675042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17677</TotalTime>
  <Words>3210</Words>
  <Application>Microsoft Office PowerPoint</Application>
  <PresentationFormat>Custom</PresentationFormat>
  <Paragraphs>380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Times New Roman</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dương và Trắng Bản đồ tư duy Bài thuyết trình</dc:title>
  <dc:creator>Minh Hoang Tran</dc:creator>
  <cp:lastModifiedBy>ADMIN-PC</cp:lastModifiedBy>
  <cp:revision>1187</cp:revision>
  <dcterms:created xsi:type="dcterms:W3CDTF">2006-08-16T00:00:00Z</dcterms:created>
  <dcterms:modified xsi:type="dcterms:W3CDTF">2026-03-06T19:29:55Z</dcterms:modified>
  <dc:identifier>DAFizwE0log</dc:identifier>
</cp:coreProperties>
</file>