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bookmarkIdSeed="6">
  <p:sldMasterIdLst>
    <p:sldMasterId id="2147483648" r:id="rId1"/>
  </p:sldMasterIdLst>
  <p:notesMasterIdLst>
    <p:notesMasterId r:id="rId59"/>
  </p:notesMasterIdLst>
  <p:sldIdLst>
    <p:sldId id="390" r:id="rId2"/>
    <p:sldId id="404" r:id="rId3"/>
    <p:sldId id="405" r:id="rId4"/>
    <p:sldId id="475" r:id="rId5"/>
    <p:sldId id="476" r:id="rId6"/>
    <p:sldId id="477" r:id="rId7"/>
    <p:sldId id="478" r:id="rId8"/>
    <p:sldId id="479" r:id="rId9"/>
    <p:sldId id="455" r:id="rId10"/>
    <p:sldId id="406" r:id="rId11"/>
    <p:sldId id="409" r:id="rId12"/>
    <p:sldId id="472" r:id="rId13"/>
    <p:sldId id="473" r:id="rId14"/>
    <p:sldId id="456" r:id="rId15"/>
    <p:sldId id="457" r:id="rId16"/>
    <p:sldId id="458" r:id="rId17"/>
    <p:sldId id="459" r:id="rId18"/>
    <p:sldId id="460" r:id="rId19"/>
    <p:sldId id="461" r:id="rId20"/>
    <p:sldId id="462" r:id="rId21"/>
    <p:sldId id="463" r:id="rId22"/>
    <p:sldId id="407" r:id="rId23"/>
    <p:sldId id="474" r:id="rId24"/>
    <p:sldId id="464" r:id="rId25"/>
    <p:sldId id="465" r:id="rId26"/>
    <p:sldId id="466" r:id="rId27"/>
    <p:sldId id="467" r:id="rId28"/>
    <p:sldId id="468" r:id="rId29"/>
    <p:sldId id="469" r:id="rId30"/>
    <p:sldId id="470" r:id="rId31"/>
    <p:sldId id="471" r:id="rId32"/>
    <p:sldId id="480" r:id="rId33"/>
    <p:sldId id="506" r:id="rId34"/>
    <p:sldId id="482" r:id="rId35"/>
    <p:sldId id="483" r:id="rId36"/>
    <p:sldId id="484" r:id="rId37"/>
    <p:sldId id="485" r:id="rId38"/>
    <p:sldId id="486" r:id="rId39"/>
    <p:sldId id="487" r:id="rId40"/>
    <p:sldId id="504" r:id="rId41"/>
    <p:sldId id="488" r:id="rId42"/>
    <p:sldId id="489" r:id="rId43"/>
    <p:sldId id="490" r:id="rId44"/>
    <p:sldId id="491" r:id="rId45"/>
    <p:sldId id="492" r:id="rId46"/>
    <p:sldId id="493" r:id="rId47"/>
    <p:sldId id="497" r:id="rId48"/>
    <p:sldId id="494" r:id="rId49"/>
    <p:sldId id="495" r:id="rId50"/>
    <p:sldId id="498" r:id="rId51"/>
    <p:sldId id="499" r:id="rId52"/>
    <p:sldId id="500" r:id="rId53"/>
    <p:sldId id="501" r:id="rId54"/>
    <p:sldId id="502" r:id="rId55"/>
    <p:sldId id="496" r:id="rId56"/>
    <p:sldId id="503" r:id="rId57"/>
    <p:sldId id="505" r:id="rId58"/>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93" autoAdjust="0"/>
    <p:restoredTop sz="94189" autoAdjust="0"/>
  </p:normalViewPr>
  <p:slideViewPr>
    <p:cSldViewPr>
      <p:cViewPr varScale="1">
        <p:scale>
          <a:sx n="70" d="100"/>
          <a:sy n="70" d="100"/>
        </p:scale>
        <p:origin x="1080" y="96"/>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4FDD0A-8E9A-403A-8A26-3515633FB2A5}" type="datetimeFigureOut">
              <a:rPr lang="en-US" smtClean="0"/>
              <a:t>10/12/2025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D01E2C-B751-4C38-A4F8-4A97733E0BA7}" type="slidenum">
              <a:rPr lang="en-US" smtClean="0"/>
              <a:t>‹#›</a:t>
            </a:fld>
            <a:endParaRPr lang="en-US"/>
          </a:p>
        </p:txBody>
      </p:sp>
    </p:spTree>
    <p:extLst>
      <p:ext uri="{BB962C8B-B14F-4D97-AF65-F5344CB8AC3E}">
        <p14:creationId xmlns:p14="http://schemas.microsoft.com/office/powerpoint/2010/main" val="362049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7BC093-C3B0-855C-A37D-2EAEF4360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7D578A-F261-FDEF-B7B0-7959C11A1E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4698F0-A07F-F02A-6F6B-A0CCB5F05C6E}"/>
              </a:ext>
            </a:extLst>
          </p:cNvPr>
          <p:cNvSpPr>
            <a:spLocks noGrp="1"/>
          </p:cNvSpPr>
          <p:nvPr>
            <p:ph type="body" idx="1"/>
          </p:nvPr>
        </p:nvSpPr>
        <p:spPr/>
        <p:txBody>
          <a:bodyPr/>
          <a:lstStyle/>
          <a:p>
            <a:r>
              <a:rPr lang="vi-VN" b="1" dirty="0"/>
              <a:t>🧠 1️⃣ Giao thức là gì?</a:t>
            </a:r>
            <a:endParaRPr lang="en-US" b="1" dirty="0"/>
          </a:p>
          <a:p>
            <a:endParaRPr lang="en-US" b="1" dirty="0"/>
          </a:p>
          <a:p>
            <a:r>
              <a:rPr lang="vi-VN" b="1" dirty="0"/>
              <a:t>Giao thức là một tập hợp các quy tắc xác định cách thức dữ liệu được gửi và nhận qua mạng. Giao thức giống như một ngôn ngữ mà </a:t>
            </a:r>
            <a:r>
              <a:rPr lang="en-US" b="1" dirty="0" err="1"/>
              <a:t>thiet</a:t>
            </a:r>
            <a:r>
              <a:rPr lang="en-US" b="1" dirty="0"/>
              <a:t> bi </a:t>
            </a:r>
            <a:r>
              <a:rPr lang="vi-VN" b="1" dirty="0"/>
              <a:t>sử dụng để giao tiếp với nhau, đảm bảo chúng hiểu và có thể phản hồi chính xác thông điệp của nhau. Giao thức giúp đảm bảo dữ liệu được truyền tải trơn tru và an toàn giữa các thiết bị</a:t>
            </a:r>
            <a:endParaRPr lang="en-US" b="1" dirty="0"/>
          </a:p>
          <a:p>
            <a:endParaRPr lang="vi-VN" b="1" dirty="0"/>
          </a:p>
          <a:p>
            <a:r>
              <a:rPr lang="vi-VN" b="1" dirty="0"/>
              <a:t>Giao thức (Protocol)</a:t>
            </a:r>
            <a:r>
              <a:rPr lang="vi-VN" dirty="0"/>
              <a:t> là </a:t>
            </a:r>
            <a:r>
              <a:rPr lang="vi-VN" b="1" dirty="0"/>
              <a:t>tập hợp các quy tắc và quy định</a:t>
            </a:r>
            <a:r>
              <a:rPr lang="vi-VN" dirty="0"/>
              <a:t> mà </a:t>
            </a:r>
            <a:r>
              <a:rPr lang="vi-VN" b="1" dirty="0"/>
              <a:t>hai hay nhiều thiết bị</a:t>
            </a:r>
            <a:r>
              <a:rPr lang="vi-VN" dirty="0"/>
              <a:t> phải tuân theo để </a:t>
            </a:r>
            <a:r>
              <a:rPr lang="vi-VN" b="1" dirty="0"/>
              <a:t>có thể trao đổi dữ liệu với nhau một cách chính xác và hiểu được nhau</a:t>
            </a:r>
            <a:r>
              <a:rPr lang="vi-VN" dirty="0"/>
              <a:t>.</a:t>
            </a:r>
          </a:p>
          <a:p>
            <a:r>
              <a:rPr lang="vi-VN" dirty="0"/>
              <a:t>Nói đơn giản:</a:t>
            </a:r>
          </a:p>
          <a:p>
            <a:r>
              <a:rPr lang="vi-VN" dirty="0"/>
              <a:t>Giao thức = “ngôn ngữ + quy tắc giao tiếp” giữa hai thiết bị điện tử.</a:t>
            </a:r>
          </a:p>
        </p:txBody>
      </p:sp>
      <p:sp>
        <p:nvSpPr>
          <p:cNvPr id="4" name="Slide Number Placeholder 3">
            <a:extLst>
              <a:ext uri="{FF2B5EF4-FFF2-40B4-BE49-F238E27FC236}">
                <a16:creationId xmlns:a16="http://schemas.microsoft.com/office/drawing/2014/main" id="{BA6C292D-0043-A932-22F6-F74D4569FDDF}"/>
              </a:ext>
            </a:extLst>
          </p:cNvPr>
          <p:cNvSpPr>
            <a:spLocks noGrp="1"/>
          </p:cNvSpPr>
          <p:nvPr>
            <p:ph type="sldNum" sz="quarter" idx="5"/>
          </p:nvPr>
        </p:nvSpPr>
        <p:spPr/>
        <p:txBody>
          <a:bodyPr/>
          <a:lstStyle/>
          <a:p>
            <a:fld id="{37D01E2C-B751-4C38-A4F8-4A97733E0BA7}" type="slidenum">
              <a:rPr lang="en-US" smtClean="0"/>
              <a:t>1</a:t>
            </a:fld>
            <a:endParaRPr lang="en-US"/>
          </a:p>
        </p:txBody>
      </p:sp>
    </p:spTree>
    <p:extLst>
      <p:ext uri="{BB962C8B-B14F-4D97-AF65-F5344CB8AC3E}">
        <p14:creationId xmlns:p14="http://schemas.microsoft.com/office/powerpoint/2010/main" val="1440008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0F148-7118-B7D0-D3C2-9FE47B7829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8A5E5-B9EF-1E25-9099-DE129746D9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33B11B-B89F-A64B-5896-D212F5127F5F}"/>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Các giao thức truyền thông đóng một vai trò quan trọng trong việc cho phép các thiết bị khác nhau giao tiếp và truyền thông tin với nhau.</a:t>
            </a:r>
          </a:p>
          <a:p>
            <a:r>
              <a:rPr lang="vi-VN" sz="1200" b="0" i="0" kern="1200" dirty="0">
                <a:solidFill>
                  <a:schemeClr val="tx1"/>
                </a:solidFill>
                <a:effectLst/>
                <a:highlight>
                  <a:srgbClr val="FFFFFF"/>
                </a:highlight>
                <a:latin typeface="+mn-lt"/>
                <a:ea typeface="+mn-ea"/>
                <a:cs typeface="+mn-cs"/>
              </a:rPr>
              <a:t>Trong Hệ thống nhúng, Giao thức truyền thông rất quan trọng đối với chức năng của thiết bị.  Giống như các thiết bị không dây, các thiết bị nhúng cần giao tiếp với nhau để chia sẻ dữ liệu hữu ích.</a:t>
            </a:r>
          </a:p>
          <a:p>
            <a:r>
              <a:rPr lang="vi-VN" sz="1200" b="0" i="0" kern="1200" dirty="0">
                <a:solidFill>
                  <a:schemeClr val="tx1"/>
                </a:solidFill>
                <a:effectLst/>
                <a:highlight>
                  <a:srgbClr val="FFFFFF"/>
                </a:highlight>
                <a:latin typeface="+mn-lt"/>
                <a:ea typeface="+mn-ea"/>
                <a:cs typeface="+mn-cs"/>
              </a:rPr>
              <a:t>Giao tiếp này thường tuân theo trao đổi giao thức Master-Slave, trong đó Master (Bộ vi xử lý) ra lệnh truyền dữ liệu đến và từ Slave (Cảm biến).</a:t>
            </a:r>
          </a:p>
        </p:txBody>
      </p:sp>
      <p:sp>
        <p:nvSpPr>
          <p:cNvPr id="4" name="Slide Number Placeholder 3">
            <a:extLst>
              <a:ext uri="{FF2B5EF4-FFF2-40B4-BE49-F238E27FC236}">
                <a16:creationId xmlns:a16="http://schemas.microsoft.com/office/drawing/2014/main" id="{BFA5CD2F-182C-1A55-3207-BBC796A0BA86}"/>
              </a:ext>
            </a:extLst>
          </p:cNvPr>
          <p:cNvSpPr>
            <a:spLocks noGrp="1"/>
          </p:cNvSpPr>
          <p:nvPr>
            <p:ph type="sldNum" sz="quarter" idx="5"/>
          </p:nvPr>
        </p:nvSpPr>
        <p:spPr/>
        <p:txBody>
          <a:bodyPr/>
          <a:lstStyle/>
          <a:p>
            <a:fld id="{37D01E2C-B751-4C38-A4F8-4A97733E0BA7}" type="slidenum">
              <a:rPr lang="en-US" smtClean="0"/>
              <a:t>2</a:t>
            </a:fld>
            <a:endParaRPr lang="en-US"/>
          </a:p>
        </p:txBody>
      </p:sp>
    </p:spTree>
    <p:extLst>
      <p:ext uri="{BB962C8B-B14F-4D97-AF65-F5344CB8AC3E}">
        <p14:creationId xmlns:p14="http://schemas.microsoft.com/office/powerpoint/2010/main" val="2237840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DE503-DE03-8CA7-9CE3-EBA6AA5AAB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7E67A2-89B7-8828-790E-26437A8336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486217-4212-BBE2-F530-700D38A2E999}"/>
              </a:ext>
            </a:extLst>
          </p:cNvPr>
          <p:cNvSpPr>
            <a:spLocks noGrp="1"/>
          </p:cNvSpPr>
          <p:nvPr>
            <p:ph type="body" idx="1"/>
          </p:nvPr>
        </p:nvSpPr>
        <p:spPr/>
        <p:txBody>
          <a:bodyPr/>
          <a:lstStyle/>
          <a:p>
            <a:br>
              <a:rPr lang="vi-VN" dirty="0">
                <a:highlight>
                  <a:srgbClr val="FFFFFF"/>
                </a:highlight>
              </a:rPr>
            </a:br>
            <a:r>
              <a:rPr lang="vi-VN" b="1" dirty="0">
                <a:highlight>
                  <a:srgbClr val="FFFFFF"/>
                </a:highlight>
              </a:rPr>
              <a:t>Phân loại giao thức:</a:t>
            </a:r>
            <a:br>
              <a:rPr lang="vi-VN" dirty="0">
                <a:highlight>
                  <a:srgbClr val="FFFFFF"/>
                </a:highlight>
              </a:rPr>
            </a:br>
            <a:r>
              <a:rPr lang="vi-VN" dirty="0">
                <a:highlight>
                  <a:srgbClr val="FFFFFF"/>
                </a:highlight>
              </a:rPr>
              <a:t>Giao thức có thể được chia thành nhiều loại dựa trên các tiêu chí khác nhau:</a:t>
            </a:r>
          </a:p>
          <a:p>
            <a:r>
              <a:rPr lang="vi-VN" dirty="0">
                <a:highlight>
                  <a:srgbClr val="FFFFFF"/>
                </a:highlight>
              </a:rPr>
              <a:t>Theo cơ chế đồng bộ (đồng bộ / bất đồng bộ)</a:t>
            </a:r>
          </a:p>
          <a:p>
            <a:r>
              <a:rPr lang="vi-VN" dirty="0">
                <a:highlight>
                  <a:srgbClr val="FFFFFF"/>
                </a:highlight>
              </a:rPr>
              <a:t>Theo cấu trúc kết nối (bus, sao, vòng, lưới, …)</a:t>
            </a:r>
          </a:p>
          <a:p>
            <a:r>
              <a:rPr lang="vi-VN" dirty="0">
                <a:highlight>
                  <a:srgbClr val="FFFFFF"/>
                </a:highlight>
              </a:rPr>
              <a:t>Theo lớp vật lý / số dây truyền (nối tiếp, song song, …)</a:t>
            </a:r>
          </a:p>
          <a:p>
            <a:r>
              <a:rPr lang="vi-VN" dirty="0">
                <a:highlight>
                  <a:srgbClr val="FFFFFF"/>
                </a:highlight>
              </a:rPr>
              <a:t>Theo phạm vi ứng dụng (truyền thông, điều khiển, công nghiệp, IoT, …)</a:t>
            </a:r>
          </a:p>
          <a:p>
            <a:pPr fontAlgn="base"/>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B8AC65E4-CE71-1399-67A9-D36A21124527}"/>
              </a:ext>
            </a:extLst>
          </p:cNvPr>
          <p:cNvSpPr>
            <a:spLocks noGrp="1"/>
          </p:cNvSpPr>
          <p:nvPr>
            <p:ph type="sldNum" sz="quarter" idx="5"/>
          </p:nvPr>
        </p:nvSpPr>
        <p:spPr/>
        <p:txBody>
          <a:bodyPr/>
          <a:lstStyle/>
          <a:p>
            <a:fld id="{37D01E2C-B751-4C38-A4F8-4A97733E0BA7}" type="slidenum">
              <a:rPr lang="en-US" smtClean="0"/>
              <a:t>3</a:t>
            </a:fld>
            <a:endParaRPr lang="en-US"/>
          </a:p>
        </p:txBody>
      </p:sp>
    </p:spTree>
    <p:extLst>
      <p:ext uri="{BB962C8B-B14F-4D97-AF65-F5344CB8AC3E}">
        <p14:creationId xmlns:p14="http://schemas.microsoft.com/office/powerpoint/2010/main" val="2988791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0F017-57E9-332B-639E-19AEB3E684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61D36E-D6B9-2E62-F5B5-342E098886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81E1FE-0EFD-1759-63EB-D24CCBAF882F}"/>
              </a:ext>
            </a:extLst>
          </p:cNvPr>
          <p:cNvSpPr>
            <a:spLocks noGrp="1"/>
          </p:cNvSpPr>
          <p:nvPr>
            <p:ph type="body" idx="1"/>
          </p:nvPr>
        </p:nvSpPr>
        <p:spPr/>
        <p:txBody>
          <a:bodyPr/>
          <a:lstStyle/>
          <a:p>
            <a:r>
              <a:rPr lang="vi-VN" b="1" dirty="0">
                <a:highlight>
                  <a:srgbClr val="FFFFFF"/>
                </a:highlight>
              </a:rPr>
              <a:t>⚙️ I. Cách phân loại giao thức trong hệ thống nhúng</a:t>
            </a:r>
          </a:p>
          <a:p>
            <a:r>
              <a:rPr lang="vi-VN" dirty="0">
                <a:highlight>
                  <a:srgbClr val="FFFFFF"/>
                </a:highlight>
              </a:rPr>
              <a:t>Trong lĩnh vực </a:t>
            </a:r>
            <a:r>
              <a:rPr lang="vi-VN" b="1" dirty="0">
                <a:highlight>
                  <a:srgbClr val="FFFFFF"/>
                </a:highlight>
              </a:rPr>
              <a:t>Embedded Systems</a:t>
            </a:r>
            <a:r>
              <a:rPr lang="vi-VN" dirty="0">
                <a:highlight>
                  <a:srgbClr val="FFFFFF"/>
                </a:highlight>
              </a:rPr>
              <a:t>, người ta thường chia giao thức theo </a:t>
            </a:r>
            <a:r>
              <a:rPr lang="vi-VN" b="1" dirty="0">
                <a:highlight>
                  <a:srgbClr val="FFFFFF"/>
                </a:highlight>
              </a:rPr>
              <a:t>4 tiêu chí chính</a:t>
            </a:r>
            <a:r>
              <a:rPr lang="vi-VN" dirty="0">
                <a:highlight>
                  <a:srgbClr val="FFFFFF"/>
                </a:highlight>
              </a:rPr>
              <a:t> sau:</a:t>
            </a:r>
          </a:p>
          <a:p>
            <a:br>
              <a:rPr lang="vi-VN" dirty="0">
                <a:highlight>
                  <a:srgbClr val="FFFFFF"/>
                </a:highlight>
              </a:rPr>
            </a:br>
            <a:endParaRPr lang="vi-VN" dirty="0">
              <a:highlight>
                <a:srgbClr val="FFFFFF"/>
              </a:highlight>
            </a:endParaRPr>
          </a:p>
          <a:p>
            <a:r>
              <a:rPr lang="vi-VN" b="1" dirty="0">
                <a:highlight>
                  <a:srgbClr val="FFFFFF"/>
                </a:highlight>
              </a:rPr>
              <a:t>🧩 1️⃣ Theo cơ chế đồng bộ (Synchronization)</a:t>
            </a:r>
          </a:p>
          <a:p>
            <a:r>
              <a:rPr lang="vi-VN" dirty="0">
                <a:highlight>
                  <a:srgbClr val="FFFFFF"/>
                </a:highlight>
              </a:rPr>
              <a:t>LoạiMô tảVí dụ</a:t>
            </a:r>
            <a:r>
              <a:rPr lang="vi-VN" b="1" dirty="0">
                <a:highlight>
                  <a:srgbClr val="FFFFFF"/>
                </a:highlight>
              </a:rPr>
              <a:t>Giao thức đồng bộ (Synchronous)</a:t>
            </a:r>
            <a:r>
              <a:rPr lang="vi-VN" dirty="0">
                <a:highlight>
                  <a:srgbClr val="FFFFFF"/>
                </a:highlight>
              </a:rPr>
              <a:t>Cần tín hiệu xung nhịp (clock) chung giữa các thiết bị để đồng bộ dữ liệu</a:t>
            </a:r>
            <a:r>
              <a:rPr lang="vi-VN" b="1" dirty="0">
                <a:highlight>
                  <a:srgbClr val="FFFFFF"/>
                </a:highlight>
              </a:rPr>
              <a:t>SPI, I2C, CANGiao thức phi đồng bộ (Asynchronous)</a:t>
            </a:r>
            <a:r>
              <a:rPr lang="vi-VN" dirty="0">
                <a:highlight>
                  <a:srgbClr val="FFFFFF"/>
                </a:highlight>
              </a:rPr>
              <a:t>Không có clock, hai bên chỉ cần thống nhất tốc độ truyền (baud rate)</a:t>
            </a:r>
            <a:r>
              <a:rPr lang="vi-VN" b="1" dirty="0">
                <a:highlight>
                  <a:srgbClr val="FFFFFF"/>
                </a:highlight>
              </a:rPr>
              <a:t>UART, RS-232, RS-485</a:t>
            </a:r>
            <a:endParaRPr lang="vi-VN" dirty="0">
              <a:highlight>
                <a:srgbClr val="FFFFFF"/>
              </a:highlight>
            </a:endParaRPr>
          </a:p>
          <a:p>
            <a:r>
              <a:rPr lang="vi-VN" b="1" dirty="0">
                <a:highlight>
                  <a:srgbClr val="FFFFFF"/>
                </a:highlight>
              </a:rPr>
              <a:t>→ Nhớ:</a:t>
            </a:r>
            <a:endParaRPr lang="vi-VN" dirty="0">
              <a:highlight>
                <a:srgbClr val="FFFFFF"/>
              </a:highlight>
            </a:endParaRPr>
          </a:p>
          <a:p>
            <a:r>
              <a:rPr lang="vi-VN" i="1" dirty="0">
                <a:highlight>
                  <a:srgbClr val="FFFFFF"/>
                </a:highlight>
              </a:rPr>
              <a:t>SPI/I2C</a:t>
            </a:r>
            <a:r>
              <a:rPr lang="vi-VN" dirty="0">
                <a:highlight>
                  <a:srgbClr val="FFFFFF"/>
                </a:highlight>
              </a:rPr>
              <a:t>: có dây clock chung (SCK / SCL).</a:t>
            </a:r>
          </a:p>
          <a:p>
            <a:r>
              <a:rPr lang="vi-VN" i="1" dirty="0">
                <a:highlight>
                  <a:srgbClr val="FFFFFF"/>
                </a:highlight>
              </a:rPr>
              <a:t>UART</a:t>
            </a:r>
            <a:r>
              <a:rPr lang="vi-VN" dirty="0">
                <a:highlight>
                  <a:srgbClr val="FFFFFF"/>
                </a:highlight>
              </a:rPr>
              <a:t>: không có clock, chỉ dùng TX/RX.</a:t>
            </a:r>
          </a:p>
        </p:txBody>
      </p:sp>
      <p:sp>
        <p:nvSpPr>
          <p:cNvPr id="4" name="Slide Number Placeholder 3">
            <a:extLst>
              <a:ext uri="{FF2B5EF4-FFF2-40B4-BE49-F238E27FC236}">
                <a16:creationId xmlns:a16="http://schemas.microsoft.com/office/drawing/2014/main" id="{21CE9CD0-FEAE-5E7A-3231-DF52B2FA02DB}"/>
              </a:ext>
            </a:extLst>
          </p:cNvPr>
          <p:cNvSpPr>
            <a:spLocks noGrp="1"/>
          </p:cNvSpPr>
          <p:nvPr>
            <p:ph type="sldNum" sz="quarter" idx="5"/>
          </p:nvPr>
        </p:nvSpPr>
        <p:spPr/>
        <p:txBody>
          <a:bodyPr/>
          <a:lstStyle/>
          <a:p>
            <a:fld id="{37D01E2C-B751-4C38-A4F8-4A97733E0BA7}" type="slidenum">
              <a:rPr lang="en-US" smtClean="0"/>
              <a:t>4</a:t>
            </a:fld>
            <a:endParaRPr lang="en-US"/>
          </a:p>
        </p:txBody>
      </p:sp>
    </p:spTree>
    <p:extLst>
      <p:ext uri="{BB962C8B-B14F-4D97-AF65-F5344CB8AC3E}">
        <p14:creationId xmlns:p14="http://schemas.microsoft.com/office/powerpoint/2010/main" val="13512777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4C9D1-1DDC-9A73-AA26-0671E85D4B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5572F9-0CB6-F58F-2537-AE435C1E79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908973-EB37-D636-7C06-52C54A40185F}"/>
              </a:ext>
            </a:extLst>
          </p:cNvPr>
          <p:cNvSpPr>
            <a:spLocks noGrp="1"/>
          </p:cNvSpPr>
          <p:nvPr>
            <p:ph type="body" idx="1"/>
          </p:nvPr>
        </p:nvSpPr>
        <p:spPr/>
        <p:txBody>
          <a:bodyPr/>
          <a:lstStyle/>
          <a:p>
            <a:r>
              <a:rPr lang="vi-VN" b="1" dirty="0">
                <a:highlight>
                  <a:srgbClr val="FFFFFF"/>
                </a:highlight>
              </a:rPr>
              <a:t>🔗 2️⃣ Theo cấu trúc kết nối (Topology)</a:t>
            </a:r>
          </a:p>
          <a:p>
            <a:r>
              <a:rPr lang="vi-VN" dirty="0">
                <a:highlight>
                  <a:srgbClr val="FFFFFF"/>
                </a:highlight>
              </a:rPr>
              <a:t>Cấu trúcMô tảGiao thức ví dụ</a:t>
            </a:r>
            <a:r>
              <a:rPr lang="vi-VN" b="1" dirty="0">
                <a:highlight>
                  <a:srgbClr val="FFFFFF"/>
                </a:highlight>
              </a:rPr>
              <a:t>Point-to-Point (1–1)</a:t>
            </a:r>
            <a:r>
              <a:rPr lang="vi-VN" dirty="0">
                <a:highlight>
                  <a:srgbClr val="FFFFFF"/>
                </a:highlight>
              </a:rPr>
              <a:t>Hai thiết bị kết nối trực tiếpUART, RS-232</a:t>
            </a:r>
            <a:r>
              <a:rPr lang="vi-VN" b="1" dirty="0">
                <a:highlight>
                  <a:srgbClr val="FFFFFF"/>
                </a:highlight>
              </a:rPr>
              <a:t>Multi-Master / Multi-Slave (1–N)</a:t>
            </a:r>
            <a:r>
              <a:rPr lang="vi-VN" dirty="0">
                <a:highlight>
                  <a:srgbClr val="FFFFFF"/>
                </a:highlight>
              </a:rPr>
              <a:t>Một chủ, nhiều thiết bị conI2C, SPI</a:t>
            </a:r>
            <a:r>
              <a:rPr lang="vi-VN" b="1" dirty="0">
                <a:highlight>
                  <a:srgbClr val="FFFFFF"/>
                </a:highlight>
              </a:rPr>
              <a:t>Bus Network (N–N)</a:t>
            </a:r>
            <a:r>
              <a:rPr lang="vi-VN" dirty="0">
                <a:highlight>
                  <a:srgbClr val="FFFFFF"/>
                </a:highlight>
              </a:rPr>
              <a:t>Nhiều thiết bị cùng chia sẻ đường truyềnCAN, RS-485</a:t>
            </a:r>
          </a:p>
          <a:p>
            <a:r>
              <a:rPr lang="vi-VN" dirty="0">
                <a:highlight>
                  <a:srgbClr val="FFFFFF"/>
                </a:highlight>
              </a:rPr>
              <a:t>👉 Ví dụ:</a:t>
            </a:r>
          </a:p>
          <a:p>
            <a:r>
              <a:rPr lang="vi-VN" b="1" dirty="0">
                <a:highlight>
                  <a:srgbClr val="FFFFFF"/>
                </a:highlight>
              </a:rPr>
              <a:t>I2C</a:t>
            </a:r>
            <a:r>
              <a:rPr lang="vi-VN" dirty="0">
                <a:highlight>
                  <a:srgbClr val="FFFFFF"/>
                </a:highlight>
              </a:rPr>
              <a:t>: một Master có thể nói chuyện với nhiều Slave trên cùng 2 dây.</a:t>
            </a:r>
          </a:p>
          <a:p>
            <a:r>
              <a:rPr lang="vi-VN" b="1" dirty="0">
                <a:highlight>
                  <a:srgbClr val="FFFFFF"/>
                </a:highlight>
              </a:rPr>
              <a:t>CAN/RS-485</a:t>
            </a:r>
            <a:r>
              <a:rPr lang="vi-VN" dirty="0">
                <a:highlight>
                  <a:srgbClr val="FFFFFF"/>
                </a:highlight>
              </a:rPr>
              <a:t>: nhiều thiết bị trên cùng một bus vật lý (đa điểm).</a:t>
            </a:r>
          </a:p>
        </p:txBody>
      </p:sp>
      <p:sp>
        <p:nvSpPr>
          <p:cNvPr id="4" name="Slide Number Placeholder 3">
            <a:extLst>
              <a:ext uri="{FF2B5EF4-FFF2-40B4-BE49-F238E27FC236}">
                <a16:creationId xmlns:a16="http://schemas.microsoft.com/office/drawing/2014/main" id="{E62F9267-2C43-ED68-32A9-ADECF436DCC6}"/>
              </a:ext>
            </a:extLst>
          </p:cNvPr>
          <p:cNvSpPr>
            <a:spLocks noGrp="1"/>
          </p:cNvSpPr>
          <p:nvPr>
            <p:ph type="sldNum" sz="quarter" idx="5"/>
          </p:nvPr>
        </p:nvSpPr>
        <p:spPr/>
        <p:txBody>
          <a:bodyPr/>
          <a:lstStyle/>
          <a:p>
            <a:fld id="{37D01E2C-B751-4C38-A4F8-4A97733E0BA7}" type="slidenum">
              <a:rPr lang="en-US" smtClean="0"/>
              <a:t>5</a:t>
            </a:fld>
            <a:endParaRPr lang="en-US"/>
          </a:p>
        </p:txBody>
      </p:sp>
    </p:spTree>
    <p:extLst>
      <p:ext uri="{BB962C8B-B14F-4D97-AF65-F5344CB8AC3E}">
        <p14:creationId xmlns:p14="http://schemas.microsoft.com/office/powerpoint/2010/main" val="20314609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D2F09-CE1D-CE63-5736-E3A4211E6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D450D1-0123-99E5-18D4-C9ED6AEF41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2D54DB-F6D3-184D-1B78-3866AFDA9CF4}"/>
              </a:ext>
            </a:extLst>
          </p:cNvPr>
          <p:cNvSpPr>
            <a:spLocks noGrp="1"/>
          </p:cNvSpPr>
          <p:nvPr>
            <p:ph type="body" idx="1"/>
          </p:nvPr>
        </p:nvSpPr>
        <p:spPr/>
        <p:txBody>
          <a:bodyPr/>
          <a:lstStyle/>
          <a:p>
            <a:r>
              <a:rPr lang="vi-VN" b="1" dirty="0">
                <a:highlight>
                  <a:srgbClr val="FFFFFF"/>
                </a:highlight>
              </a:rPr>
              <a:t>⚡ 3️⃣ Theo lớp vật lý (Physical Layer / Số dây truyền)</a:t>
            </a:r>
          </a:p>
          <a:p>
            <a:r>
              <a:rPr lang="vi-VN" dirty="0">
                <a:highlight>
                  <a:srgbClr val="FFFFFF"/>
                </a:highlight>
              </a:rPr>
              <a:t>Số dâyMô tảGiao thức</a:t>
            </a:r>
            <a:endParaRPr lang="en-US" dirty="0">
              <a:highlight>
                <a:srgbClr val="FFFFFF"/>
              </a:highlight>
            </a:endParaRPr>
          </a:p>
          <a:p>
            <a:r>
              <a:rPr lang="vi-VN" b="1" dirty="0">
                <a:highlight>
                  <a:srgbClr val="FFFFFF"/>
                </a:highlight>
              </a:rPr>
              <a:t>1 dây</a:t>
            </a:r>
            <a:r>
              <a:rPr lang="vi-VN" dirty="0">
                <a:highlight>
                  <a:srgbClr val="FFFFFF"/>
                </a:highlight>
              </a:rPr>
              <a:t>Dữ liệu và nguồn chung một đường1-Wire (DS18B20)</a:t>
            </a:r>
            <a:endParaRPr lang="en-US" dirty="0">
              <a:highlight>
                <a:srgbClr val="FFFFFF"/>
              </a:highlight>
            </a:endParaRPr>
          </a:p>
          <a:p>
            <a:r>
              <a:rPr lang="vi-VN" b="1" dirty="0">
                <a:highlight>
                  <a:srgbClr val="FFFFFF"/>
                </a:highlight>
              </a:rPr>
              <a:t>2 dây</a:t>
            </a:r>
            <a:r>
              <a:rPr lang="vi-VN" dirty="0">
                <a:highlight>
                  <a:srgbClr val="FFFFFF"/>
                </a:highlight>
              </a:rPr>
              <a:t>Truyền và nhận hoặc dữ liệu + clockUART (TX/RX), I2C (SDA/SCL)</a:t>
            </a:r>
            <a:endParaRPr lang="en-US" dirty="0">
              <a:highlight>
                <a:srgbClr val="FFFFFF"/>
              </a:highlight>
            </a:endParaRPr>
          </a:p>
          <a:p>
            <a:r>
              <a:rPr lang="vi-VN" b="1" dirty="0">
                <a:highlight>
                  <a:srgbClr val="FFFFFF"/>
                </a:highlight>
              </a:rPr>
              <a:t>3–4 dây</a:t>
            </a:r>
            <a:r>
              <a:rPr lang="vi-VN" dirty="0">
                <a:highlight>
                  <a:srgbClr val="FFFFFF"/>
                </a:highlight>
              </a:rPr>
              <a:t>Có thêm clock và tín hiệu chip selectSPI (MOSI, MISO, SCK, SS)</a:t>
            </a:r>
            <a:endParaRPr lang="en-US" dirty="0">
              <a:highlight>
                <a:srgbClr val="FFFFFF"/>
              </a:highlight>
            </a:endParaRPr>
          </a:p>
          <a:p>
            <a:r>
              <a:rPr lang="vi-VN" b="1" dirty="0">
                <a:highlight>
                  <a:srgbClr val="FFFFFF"/>
                </a:highlight>
              </a:rPr>
              <a:t>2 dây vi sai (differential)</a:t>
            </a:r>
            <a:r>
              <a:rPr lang="vi-VN" dirty="0">
                <a:highlight>
                  <a:srgbClr val="FFFFFF"/>
                </a:highlight>
              </a:rPr>
              <a:t>Truyền xa, chống nhiễuRS-485, CAN</a:t>
            </a:r>
          </a:p>
        </p:txBody>
      </p:sp>
      <p:sp>
        <p:nvSpPr>
          <p:cNvPr id="4" name="Slide Number Placeholder 3">
            <a:extLst>
              <a:ext uri="{FF2B5EF4-FFF2-40B4-BE49-F238E27FC236}">
                <a16:creationId xmlns:a16="http://schemas.microsoft.com/office/drawing/2014/main" id="{40CD1A67-4C43-04B2-2A90-6EDEB816B254}"/>
              </a:ext>
            </a:extLst>
          </p:cNvPr>
          <p:cNvSpPr>
            <a:spLocks noGrp="1"/>
          </p:cNvSpPr>
          <p:nvPr>
            <p:ph type="sldNum" sz="quarter" idx="5"/>
          </p:nvPr>
        </p:nvSpPr>
        <p:spPr/>
        <p:txBody>
          <a:bodyPr/>
          <a:lstStyle/>
          <a:p>
            <a:fld id="{37D01E2C-B751-4C38-A4F8-4A97733E0BA7}" type="slidenum">
              <a:rPr lang="en-US" smtClean="0"/>
              <a:t>6</a:t>
            </a:fld>
            <a:endParaRPr lang="en-US"/>
          </a:p>
        </p:txBody>
      </p:sp>
    </p:spTree>
    <p:extLst>
      <p:ext uri="{BB962C8B-B14F-4D97-AF65-F5344CB8AC3E}">
        <p14:creationId xmlns:p14="http://schemas.microsoft.com/office/powerpoint/2010/main" val="358679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5E0AC-26A3-0619-CF87-5739281EFA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0F1384-EF9C-96CA-9556-1D90CE467C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912A55-2787-7707-C2EB-87B6CFD56C4B}"/>
              </a:ext>
            </a:extLst>
          </p:cNvPr>
          <p:cNvSpPr>
            <a:spLocks noGrp="1"/>
          </p:cNvSpPr>
          <p:nvPr>
            <p:ph type="body" idx="1"/>
          </p:nvPr>
        </p:nvSpPr>
        <p:spPr/>
        <p:txBody>
          <a:bodyPr/>
          <a:lstStyle/>
          <a:p>
            <a:r>
              <a:rPr lang="vi-VN" b="1" dirty="0">
                <a:highlight>
                  <a:srgbClr val="FFFFFF"/>
                </a:highlight>
              </a:rPr>
              <a:t>🧠 4️⃣ Theo phạm vi ứng dụng (Application Domain)</a:t>
            </a:r>
          </a:p>
          <a:p>
            <a:r>
              <a:rPr lang="vi-VN" dirty="0">
                <a:highlight>
                  <a:srgbClr val="FFFFFF"/>
                </a:highlight>
              </a:rPr>
              <a:t>NhómĐặc điểmGiao thức tiêu biểu</a:t>
            </a:r>
            <a:endParaRPr lang="en-US" dirty="0">
              <a:highlight>
                <a:srgbClr val="FFFFFF"/>
              </a:highlight>
            </a:endParaRPr>
          </a:p>
          <a:p>
            <a:r>
              <a:rPr lang="vi-VN" b="1" dirty="0">
                <a:highlight>
                  <a:srgbClr val="FFFFFF"/>
                </a:highlight>
              </a:rPr>
              <a:t>Giao thức cơ bản giữa MCU và cảm biến</a:t>
            </a:r>
            <a:r>
              <a:rPr lang="vi-VN" dirty="0">
                <a:highlight>
                  <a:srgbClr val="FFFFFF"/>
                </a:highlight>
              </a:rPr>
              <a:t>Giao tiếp tầm ngắn, tốc độ cao, đơn giảnUART, SPI, I2C, 1-Wire</a:t>
            </a:r>
            <a:endParaRPr lang="en-US" dirty="0">
              <a:highlight>
                <a:srgbClr val="FFFFFF"/>
              </a:highlight>
            </a:endParaRPr>
          </a:p>
          <a:p>
            <a:r>
              <a:rPr lang="vi-VN" b="1" dirty="0">
                <a:highlight>
                  <a:srgbClr val="FFFFFF"/>
                </a:highlight>
              </a:rPr>
              <a:t>Giao thức công nghiệp / truyền xa</a:t>
            </a:r>
            <a:r>
              <a:rPr lang="vi-VN" dirty="0">
                <a:highlight>
                  <a:srgbClr val="FFFFFF"/>
                </a:highlight>
              </a:rPr>
              <a:t>Chống nhiễu, khoảng cách dài, đa thiết bịRS-485, CAN, Modbus RTU</a:t>
            </a:r>
            <a:endParaRPr lang="en-US" dirty="0">
              <a:highlight>
                <a:srgbClr val="FFFFFF"/>
              </a:highlight>
            </a:endParaRPr>
          </a:p>
          <a:p>
            <a:r>
              <a:rPr lang="vi-VN" b="1" dirty="0">
                <a:highlight>
                  <a:srgbClr val="FFFFFF"/>
                </a:highlight>
              </a:rPr>
              <a:t>Giao thức không dây nhúng</a:t>
            </a:r>
            <a:r>
              <a:rPr lang="vi-VN" dirty="0">
                <a:highlight>
                  <a:srgbClr val="FFFFFF"/>
                </a:highlight>
              </a:rPr>
              <a:t>Truyền bằng sóng radioBluetooth, Zigbee, LoRa, Wi-Fi</a:t>
            </a:r>
            <a:endParaRPr lang="en-US" dirty="0">
              <a:highlight>
                <a:srgbClr val="FFFFFF"/>
              </a:highlight>
            </a:endParaRPr>
          </a:p>
          <a:p>
            <a:r>
              <a:rPr lang="vi-VN" b="1" dirty="0">
                <a:highlight>
                  <a:srgbClr val="FFFFFF"/>
                </a:highlight>
              </a:rPr>
              <a:t>Giao thức truyền dữ liệu số (Digital Audio / Video)</a:t>
            </a:r>
            <a:r>
              <a:rPr lang="vi-VN" dirty="0">
                <a:highlight>
                  <a:srgbClr val="FFFFFF"/>
                </a:highlight>
              </a:rPr>
              <a:t>Gửi dữ liệu tốc độ cao giữa chipI2S (âm thanh), DSI, CSI</a:t>
            </a:r>
            <a:endParaRPr lang="en-US" dirty="0">
              <a:highlight>
                <a:srgbClr val="FFFFFF"/>
              </a:highlight>
            </a:endParaRPr>
          </a:p>
          <a:p>
            <a:r>
              <a:rPr lang="vi-VN" b="1" dirty="0">
                <a:highlight>
                  <a:srgbClr val="FFFFFF"/>
                </a:highlight>
              </a:rPr>
              <a:t>Giao thức lưu trữ dữ liệu</a:t>
            </a:r>
            <a:r>
              <a:rPr lang="vi-VN" dirty="0">
                <a:highlight>
                  <a:srgbClr val="FFFFFF"/>
                </a:highlight>
              </a:rPr>
              <a:t>Đọc/ghi bộ nhớ ngoàiSDIO (thẻ SD), SPI Flash</a:t>
            </a:r>
          </a:p>
        </p:txBody>
      </p:sp>
      <p:sp>
        <p:nvSpPr>
          <p:cNvPr id="4" name="Slide Number Placeholder 3">
            <a:extLst>
              <a:ext uri="{FF2B5EF4-FFF2-40B4-BE49-F238E27FC236}">
                <a16:creationId xmlns:a16="http://schemas.microsoft.com/office/drawing/2014/main" id="{01027FC6-E5DE-2F96-6F6C-D3C50014382A}"/>
              </a:ext>
            </a:extLst>
          </p:cNvPr>
          <p:cNvSpPr>
            <a:spLocks noGrp="1"/>
          </p:cNvSpPr>
          <p:nvPr>
            <p:ph type="sldNum" sz="quarter" idx="5"/>
          </p:nvPr>
        </p:nvSpPr>
        <p:spPr/>
        <p:txBody>
          <a:bodyPr/>
          <a:lstStyle/>
          <a:p>
            <a:fld id="{37D01E2C-B751-4C38-A4F8-4A97733E0BA7}" type="slidenum">
              <a:rPr lang="en-US" smtClean="0"/>
              <a:t>7</a:t>
            </a:fld>
            <a:endParaRPr lang="en-US"/>
          </a:p>
        </p:txBody>
      </p:sp>
    </p:spTree>
    <p:extLst>
      <p:ext uri="{BB962C8B-B14F-4D97-AF65-F5344CB8AC3E}">
        <p14:creationId xmlns:p14="http://schemas.microsoft.com/office/powerpoint/2010/main" val="3243662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C2F94-0C73-DBB5-2DC6-590241BDA2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5E7F15-DA85-CE8F-EB37-31034D8582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C24F25-85FB-3754-4876-3F0E27364140}"/>
              </a:ext>
            </a:extLst>
          </p:cNvPr>
          <p:cNvSpPr>
            <a:spLocks noGrp="1"/>
          </p:cNvSpPr>
          <p:nvPr>
            <p:ph type="body" idx="1"/>
          </p:nvPr>
        </p:nvSpPr>
        <p:spPr/>
        <p:txBody>
          <a:bodyPr/>
          <a:lstStyle/>
          <a:p>
            <a:r>
              <a:rPr lang="vi-VN" b="1" dirty="0">
                <a:highlight>
                  <a:srgbClr val="FFFFFF"/>
                </a:highlight>
              </a:rPr>
              <a:t>II. Bảng tổng hợp – Giao thức nhúng thông dụng</a:t>
            </a:r>
          </a:p>
          <a:p>
            <a:r>
              <a:rPr lang="vi-VN" dirty="0">
                <a:highlight>
                  <a:srgbClr val="FFFFFF"/>
                </a:highlight>
              </a:rPr>
              <a:t>Giao thứcLoại đồng bộKiểu kết nốiSố dâyƯu điểmỨng dụng</a:t>
            </a:r>
            <a:endParaRPr lang="en-US" dirty="0">
              <a:highlight>
                <a:srgbClr val="FFFFFF"/>
              </a:highlight>
            </a:endParaRPr>
          </a:p>
          <a:p>
            <a:r>
              <a:rPr lang="vi-VN" b="1" dirty="0">
                <a:highlight>
                  <a:srgbClr val="FFFFFF"/>
                </a:highlight>
              </a:rPr>
              <a:t>UART (Serial)</a:t>
            </a:r>
            <a:r>
              <a:rPr lang="vi-VN" dirty="0">
                <a:highlight>
                  <a:srgbClr val="FFFFFF"/>
                </a:highlight>
              </a:rPr>
              <a:t>Phi đồng bộ1–12Dễ dùng, phổ biếnDebug, GPS, Bluetooth</a:t>
            </a:r>
            <a:endParaRPr lang="en-US" dirty="0">
              <a:highlight>
                <a:srgbClr val="FFFFFF"/>
              </a:highlight>
            </a:endParaRPr>
          </a:p>
          <a:p>
            <a:r>
              <a:rPr lang="vi-VN" b="1" dirty="0">
                <a:highlight>
                  <a:srgbClr val="FFFFFF"/>
                </a:highlight>
              </a:rPr>
              <a:t>I2C</a:t>
            </a:r>
            <a:r>
              <a:rPr lang="vi-VN" dirty="0">
                <a:highlight>
                  <a:srgbClr val="FFFFFF"/>
                </a:highlight>
              </a:rPr>
              <a:t>Đồng bộ1–N2Ít dây, nhiều thiết bịRTC, EEPROM, OLED</a:t>
            </a:r>
            <a:endParaRPr lang="en-US" dirty="0">
              <a:highlight>
                <a:srgbClr val="FFFFFF"/>
              </a:highlight>
            </a:endParaRPr>
          </a:p>
          <a:p>
            <a:r>
              <a:rPr lang="vi-VN" b="1" dirty="0">
                <a:highlight>
                  <a:srgbClr val="FFFFFF"/>
                </a:highlight>
              </a:rPr>
              <a:t>SPI</a:t>
            </a:r>
            <a:r>
              <a:rPr lang="vi-VN" dirty="0">
                <a:highlight>
                  <a:srgbClr val="FFFFFF"/>
                </a:highlight>
              </a:rPr>
              <a:t>Đồng bộ1–N3–4Tốc độ caoLCD, thẻ nhớ</a:t>
            </a:r>
            <a:endParaRPr lang="en-US" dirty="0">
              <a:highlight>
                <a:srgbClr val="FFFFFF"/>
              </a:highlight>
            </a:endParaRPr>
          </a:p>
          <a:p>
            <a:r>
              <a:rPr lang="vi-VN" b="1" dirty="0">
                <a:highlight>
                  <a:srgbClr val="FFFFFF"/>
                </a:highlight>
              </a:rPr>
              <a:t>1-Wire</a:t>
            </a:r>
            <a:r>
              <a:rPr lang="vi-VN" dirty="0">
                <a:highlight>
                  <a:srgbClr val="FFFFFF"/>
                </a:highlight>
              </a:rPr>
              <a:t>Phi đồng bộ1–N1Tiết kiệm dâyCảm biến DS18B20</a:t>
            </a:r>
            <a:endParaRPr lang="en-US" dirty="0">
              <a:highlight>
                <a:srgbClr val="FFFFFF"/>
              </a:highlight>
            </a:endParaRPr>
          </a:p>
          <a:p>
            <a:r>
              <a:rPr lang="vi-VN" b="1" dirty="0">
                <a:highlight>
                  <a:srgbClr val="FFFFFF"/>
                </a:highlight>
              </a:rPr>
              <a:t>CAN</a:t>
            </a:r>
            <a:r>
              <a:rPr lang="vi-VN" dirty="0">
                <a:highlight>
                  <a:srgbClr val="FFFFFF"/>
                </a:highlight>
              </a:rPr>
              <a:t>Đồng bộN–N (Bus)2Chống nhiễu, đa thiết bịÔ tô, công nghiệp</a:t>
            </a:r>
            <a:endParaRPr lang="en-US" dirty="0">
              <a:highlight>
                <a:srgbClr val="FFFFFF"/>
              </a:highlight>
            </a:endParaRPr>
          </a:p>
          <a:p>
            <a:r>
              <a:rPr lang="vi-VN" b="1" dirty="0">
                <a:highlight>
                  <a:srgbClr val="FFFFFF"/>
                </a:highlight>
              </a:rPr>
              <a:t>RS-485</a:t>
            </a:r>
            <a:r>
              <a:rPr lang="vi-VN" dirty="0">
                <a:highlight>
                  <a:srgbClr val="FFFFFF"/>
                </a:highlight>
              </a:rPr>
              <a:t>Phi đồng bộN–N (Bus)2Truyền xa, ổn địnhModbus, PLC</a:t>
            </a:r>
            <a:endParaRPr lang="en-US" dirty="0">
              <a:highlight>
                <a:srgbClr val="FFFFFF"/>
              </a:highlight>
            </a:endParaRPr>
          </a:p>
          <a:p>
            <a:r>
              <a:rPr lang="vi-VN" b="1" dirty="0">
                <a:highlight>
                  <a:srgbClr val="FFFFFF"/>
                </a:highlight>
              </a:rPr>
              <a:t>I2S</a:t>
            </a:r>
            <a:r>
              <a:rPr lang="vi-VN" dirty="0">
                <a:highlight>
                  <a:srgbClr val="FFFFFF"/>
                </a:highlight>
              </a:rPr>
              <a:t>Đồng bộ1–13–4Âm thanh sốLoa, micro kỹ thuật số</a:t>
            </a:r>
            <a:endParaRPr lang="en-US" dirty="0">
              <a:highlight>
                <a:srgbClr val="FFFFFF"/>
              </a:highlight>
            </a:endParaRPr>
          </a:p>
          <a:p>
            <a:r>
              <a:rPr lang="vi-VN" b="1" dirty="0">
                <a:highlight>
                  <a:srgbClr val="FFFFFF"/>
                </a:highlight>
              </a:rPr>
              <a:t>SDIO</a:t>
            </a:r>
            <a:r>
              <a:rPr lang="vi-VN" dirty="0">
                <a:highlight>
                  <a:srgbClr val="FFFFFF"/>
                </a:highlight>
              </a:rPr>
              <a:t>Đồng bộ1–14Tốc độ caoThẻ SD, Wi-Fi module</a:t>
            </a:r>
          </a:p>
        </p:txBody>
      </p:sp>
      <p:sp>
        <p:nvSpPr>
          <p:cNvPr id="4" name="Slide Number Placeholder 3">
            <a:extLst>
              <a:ext uri="{FF2B5EF4-FFF2-40B4-BE49-F238E27FC236}">
                <a16:creationId xmlns:a16="http://schemas.microsoft.com/office/drawing/2014/main" id="{6BDC9DE3-B6E1-8A0A-4606-14B36B735BD8}"/>
              </a:ext>
            </a:extLst>
          </p:cNvPr>
          <p:cNvSpPr>
            <a:spLocks noGrp="1"/>
          </p:cNvSpPr>
          <p:nvPr>
            <p:ph type="sldNum" sz="quarter" idx="5"/>
          </p:nvPr>
        </p:nvSpPr>
        <p:spPr/>
        <p:txBody>
          <a:bodyPr/>
          <a:lstStyle/>
          <a:p>
            <a:fld id="{37D01E2C-B751-4C38-A4F8-4A97733E0BA7}" type="slidenum">
              <a:rPr lang="en-US" smtClean="0"/>
              <a:t>8</a:t>
            </a:fld>
            <a:endParaRPr lang="en-US"/>
          </a:p>
        </p:txBody>
      </p:sp>
    </p:spTree>
    <p:extLst>
      <p:ext uri="{BB962C8B-B14F-4D97-AF65-F5344CB8AC3E}">
        <p14:creationId xmlns:p14="http://schemas.microsoft.com/office/powerpoint/2010/main" val="31359586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FF2F5-E515-F8D3-69FF-13B79EE51F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9AEB6E-CF46-6E29-14A3-6699C85000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3D53E8-1244-3789-80AC-E8E1022CF312}"/>
              </a:ext>
            </a:extLst>
          </p:cNvPr>
          <p:cNvSpPr>
            <a:spLocks noGrp="1"/>
          </p:cNvSpPr>
          <p:nvPr>
            <p:ph type="body" idx="1"/>
          </p:nvPr>
        </p:nvSpPr>
        <p:spPr/>
        <p:txBody>
          <a:bodyPr/>
          <a:lstStyle/>
          <a:p>
            <a:pPr fontAlgn="base"/>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BA4B47DD-5BAF-2A4A-512C-818E58BEBB95}"/>
              </a:ext>
            </a:extLst>
          </p:cNvPr>
          <p:cNvSpPr>
            <a:spLocks noGrp="1"/>
          </p:cNvSpPr>
          <p:nvPr>
            <p:ph type="sldNum" sz="quarter" idx="5"/>
          </p:nvPr>
        </p:nvSpPr>
        <p:spPr/>
        <p:txBody>
          <a:bodyPr/>
          <a:lstStyle/>
          <a:p>
            <a:fld id="{37D01E2C-B751-4C38-A4F8-4A97733E0BA7}" type="slidenum">
              <a:rPr lang="en-US" smtClean="0"/>
              <a:t>9</a:t>
            </a:fld>
            <a:endParaRPr lang="en-US"/>
          </a:p>
        </p:txBody>
      </p:sp>
    </p:spTree>
    <p:extLst>
      <p:ext uri="{BB962C8B-B14F-4D97-AF65-F5344CB8AC3E}">
        <p14:creationId xmlns:p14="http://schemas.microsoft.com/office/powerpoint/2010/main" val="28749108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28FD1-E901-7DEC-C340-C491C11EF8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20FE47-2FBB-7263-E59D-CD40645B2D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464A3B-3E3B-484A-F0DB-96A74945110F}"/>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Trong Truyền đồng bộ, dữ liệu được gửi dưới dạng khối hoặc khung. Việc truyền tải này là loại song công hoàn toàn. Giữa người gửi và người nhận, việc đồng bộ hóa là bắt buộc. Trong truyền đồng bộ, không có khoảng cách thời gian giữa dữ liệu. Nó hiệu quả hơn và đáng tin cậy hơn so với truyền không đồng bộ để truyền một lượng lớn dữ liệu.</a:t>
            </a:r>
          </a:p>
          <a:p>
            <a:r>
              <a:rPr lang="vi-VN" sz="1200" b="0" i="0" kern="1200" dirty="0">
                <a:solidFill>
                  <a:schemeClr val="tx1"/>
                </a:solidFill>
                <a:effectLst/>
                <a:highlight>
                  <a:srgbClr val="FFFFFF"/>
                </a:highlight>
                <a:latin typeface="+mn-lt"/>
                <a:ea typeface="+mn-ea"/>
                <a:cs typeface="+mn-cs"/>
              </a:rPr>
              <a:t>Cả người gửi và người nhận đều được đồng bộ hóa với tín hiệu đồng hồ chung. Điều này có nghĩa là chúng hoạt động ở cùng tốc độ và biết chính xác thời điểm gửi và nhận dữ liệu. Dữ liệu được gửi theo luồng liên tục, với mỗi byte hoặc đoạn dữ liệu theo sau dữ liệu trước đó mà không có bất kỳ khoảng trống nào. Việc gửi lượng lớn dữ liệu một cách nhanh chóng sẽ hiệu quả vì cần ít chi phí hơn (bit bổ sung) để bắt đầu và dừng truyền.</a:t>
            </a:r>
          </a:p>
          <a:p>
            <a:r>
              <a:rPr lang="vi-VN" sz="1200" b="0" i="0" kern="1200" dirty="0">
                <a:solidFill>
                  <a:schemeClr val="tx1"/>
                </a:solidFill>
                <a:effectLst/>
                <a:highlight>
                  <a:srgbClr val="FFFFFF"/>
                </a:highlight>
                <a:latin typeface="+mn-lt"/>
                <a:ea typeface="+mn-ea"/>
                <a:cs typeface="+mn-cs"/>
              </a:rPr>
              <a:t>Ví dụ:</a:t>
            </a:r>
          </a:p>
          <a:p>
            <a:r>
              <a:rPr lang="vi-VN" sz="1200" b="0" i="0" kern="1200" dirty="0">
                <a:solidFill>
                  <a:schemeClr val="tx1"/>
                </a:solidFill>
                <a:effectLst/>
                <a:highlight>
                  <a:srgbClr val="FFFFFF"/>
                </a:highlight>
                <a:latin typeface="+mn-lt"/>
                <a:ea typeface="+mn-ea"/>
                <a:cs typeface="+mn-cs"/>
              </a:rPr>
              <a:t>Phòng trò chuyện</a:t>
            </a:r>
          </a:p>
          <a:p>
            <a:r>
              <a:rPr lang="vi-VN" sz="1200" b="0" i="0" kern="1200" dirty="0">
                <a:solidFill>
                  <a:schemeClr val="tx1"/>
                </a:solidFill>
                <a:effectLst/>
                <a:highlight>
                  <a:srgbClr val="FFFFFF"/>
                </a:highlight>
                <a:latin typeface="+mn-lt"/>
                <a:ea typeface="+mn-ea"/>
                <a:cs typeface="+mn-cs"/>
              </a:rPr>
              <a:t>Cuộc trò chuyện qua điện thoại</a:t>
            </a:r>
          </a:p>
          <a:p>
            <a:r>
              <a:rPr lang="vi-VN" sz="1200" b="0" i="0" kern="1200" dirty="0">
                <a:solidFill>
                  <a:schemeClr val="tx1"/>
                </a:solidFill>
                <a:effectLst/>
                <a:highlight>
                  <a:srgbClr val="FFFFFF"/>
                </a:highlight>
                <a:latin typeface="+mn-lt"/>
                <a:ea typeface="+mn-ea"/>
                <a:cs typeface="+mn-cs"/>
              </a:rPr>
              <a:t>Hội nghị truyền hình</a:t>
            </a:r>
          </a:p>
          <a:p>
            <a:pPr fontAlgn="base"/>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4338DD81-1E56-9C3A-2951-6CD6FA80AF5B}"/>
              </a:ext>
            </a:extLst>
          </p:cNvPr>
          <p:cNvSpPr>
            <a:spLocks noGrp="1"/>
          </p:cNvSpPr>
          <p:nvPr>
            <p:ph type="sldNum" sz="quarter" idx="5"/>
          </p:nvPr>
        </p:nvSpPr>
        <p:spPr/>
        <p:txBody>
          <a:bodyPr/>
          <a:lstStyle/>
          <a:p>
            <a:fld id="{37D01E2C-B751-4C38-A4F8-4A97733E0BA7}" type="slidenum">
              <a:rPr lang="en-US" smtClean="0"/>
              <a:t>10</a:t>
            </a:fld>
            <a:endParaRPr lang="en-US"/>
          </a:p>
        </p:txBody>
      </p:sp>
    </p:spTree>
    <p:extLst>
      <p:ext uri="{BB962C8B-B14F-4D97-AF65-F5344CB8AC3E}">
        <p14:creationId xmlns:p14="http://schemas.microsoft.com/office/powerpoint/2010/main" val="31692254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68759-8F84-5B4D-45D5-D27873484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8BD12-1DE1-C041-A318-EDDCBC0902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0ED1E5-D83B-68E6-02A1-FB17CEA5D596}"/>
              </a:ext>
            </a:extLst>
          </p:cNvPr>
          <p:cNvSpPr>
            <a:spLocks noGrp="1"/>
          </p:cNvSpPr>
          <p:nvPr>
            <p:ph type="body" idx="1"/>
          </p:nvPr>
        </p:nvSpPr>
        <p:spPr/>
        <p:txBody>
          <a:bodyPr/>
          <a:lstStyle/>
          <a:p>
            <a:r>
              <a:rPr lang="vi-VN" dirty="0">
                <a:highlight>
                  <a:srgbClr val="FFFFFF"/>
                </a:highlight>
              </a:rPr>
              <a:t>Thiết bị phát (Master) gửi dữ liệu cùng với xung clock, giúp thiết bị thu (Slave) biết chính xác thời điểm để đọc hoặc ghi từng bit dữ liệu. 👉 Đặc điểm: Có tín hiệu clock chung giữa hai thiết bị. Tốc độ truyền nhanh và ổn định hơn, vì việc đồng bộ hóa được đảm bảo bằng clock. Cần nhiều dây hơn (vì phải truyền cả clock). </a:t>
            </a:r>
            <a:r>
              <a:rPr lang="vi-VN">
                <a:highlight>
                  <a:srgbClr val="FFFFFF"/>
                </a:highlight>
              </a:rPr>
              <a:t>Phù hợp với khoảng cách truyền ngắn, trong cùng mạch hoặc bo mạch chủ.</a:t>
            </a:r>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694BFE78-D533-DC9A-6A30-52238E5134F8}"/>
              </a:ext>
            </a:extLst>
          </p:cNvPr>
          <p:cNvSpPr>
            <a:spLocks noGrp="1"/>
          </p:cNvSpPr>
          <p:nvPr>
            <p:ph type="sldNum" sz="quarter" idx="5"/>
          </p:nvPr>
        </p:nvSpPr>
        <p:spPr/>
        <p:txBody>
          <a:bodyPr/>
          <a:lstStyle/>
          <a:p>
            <a:fld id="{37D01E2C-B751-4C38-A4F8-4A97733E0BA7}" type="slidenum">
              <a:rPr lang="en-US" smtClean="0"/>
              <a:t>11</a:t>
            </a:fld>
            <a:endParaRPr lang="en-US"/>
          </a:p>
        </p:txBody>
      </p:sp>
    </p:spTree>
    <p:extLst>
      <p:ext uri="{BB962C8B-B14F-4D97-AF65-F5344CB8AC3E}">
        <p14:creationId xmlns:p14="http://schemas.microsoft.com/office/powerpoint/2010/main" val="27533384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6FF07-73B5-DCBB-9E28-28D8A404C6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4FDF96-4725-2ECD-F6A5-6FAB307C9A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2AD5B5-5670-FDD9-B57E-B140EDA738A4}"/>
              </a:ext>
            </a:extLst>
          </p:cNvPr>
          <p:cNvSpPr>
            <a:spLocks noGrp="1"/>
          </p:cNvSpPr>
          <p:nvPr>
            <p:ph type="body" idx="1"/>
          </p:nvPr>
        </p:nvSpPr>
        <p:spPr/>
        <p:txBody>
          <a:bodyPr/>
          <a:lstStyle/>
          <a:p>
            <a:r>
              <a:rPr lang="vi-VN" b="1" dirty="0">
                <a:highlight>
                  <a:srgbClr val="FFFFFF"/>
                </a:highlight>
              </a:rPr>
              <a:t>🧠 2️⃣ Nguyên lý hoạt động chi tiết</a:t>
            </a:r>
          </a:p>
          <a:p>
            <a:r>
              <a:rPr lang="vi-VN" dirty="0">
                <a:highlight>
                  <a:srgbClr val="FFFFFF"/>
                </a:highlight>
              </a:rPr>
              <a:t>Hãy xem 3 thành phần chính trong một hệ thống truyền đồng bộ:</a:t>
            </a:r>
          </a:p>
          <a:p>
            <a:r>
              <a:rPr lang="vi-VN" dirty="0">
                <a:highlight>
                  <a:srgbClr val="FFFFFF"/>
                </a:highlight>
              </a:rPr>
              <a:t>Thành phầnVai trò</a:t>
            </a:r>
            <a:endParaRPr lang="en-US" dirty="0">
              <a:highlight>
                <a:srgbClr val="FFFFFF"/>
              </a:highlight>
            </a:endParaRPr>
          </a:p>
          <a:p>
            <a:r>
              <a:rPr lang="vi-VN" b="1" dirty="0">
                <a:highlight>
                  <a:srgbClr val="FFFFFF"/>
                </a:highlight>
              </a:rPr>
              <a:t>Master (thiết bị điều khiển)</a:t>
            </a:r>
            <a:r>
              <a:rPr lang="vi-VN" dirty="0">
                <a:highlight>
                  <a:srgbClr val="FFFFFF"/>
                </a:highlight>
              </a:rPr>
              <a:t>Tạo và gửi xung clock để điều khiển thời điểm truyền.</a:t>
            </a:r>
            <a:endParaRPr lang="en-US" dirty="0">
              <a:highlight>
                <a:srgbClr val="FFFFFF"/>
              </a:highlight>
            </a:endParaRPr>
          </a:p>
          <a:p>
            <a:r>
              <a:rPr lang="vi-VN" b="1" dirty="0">
                <a:highlight>
                  <a:srgbClr val="FFFFFF"/>
                </a:highlight>
              </a:rPr>
              <a:t>Slave (thiết bị phụ)</a:t>
            </a:r>
            <a:r>
              <a:rPr lang="vi-VN" dirty="0">
                <a:highlight>
                  <a:srgbClr val="FFFFFF"/>
                </a:highlight>
              </a:rPr>
              <a:t>Nhận clock từ Master để đọc hoặc gửi dữ liệu đúng thời điểm.</a:t>
            </a:r>
            <a:endParaRPr lang="en-US" dirty="0">
              <a:highlight>
                <a:srgbClr val="FFFFFF"/>
              </a:highlight>
            </a:endParaRPr>
          </a:p>
          <a:p>
            <a:r>
              <a:rPr lang="vi-VN" b="1" dirty="0">
                <a:highlight>
                  <a:srgbClr val="FFFFFF"/>
                </a:highlight>
              </a:rPr>
              <a:t>Clock line (dây xung nhịp)</a:t>
            </a:r>
            <a:r>
              <a:rPr lang="vi-VN" dirty="0">
                <a:highlight>
                  <a:srgbClr val="FFFFFF"/>
                </a:highlight>
              </a:rPr>
              <a:t>Giúp đồng bộ hóa thời gian giữa Master và Slave.</a:t>
            </a:r>
          </a:p>
        </p:txBody>
      </p:sp>
      <p:sp>
        <p:nvSpPr>
          <p:cNvPr id="4" name="Slide Number Placeholder 3">
            <a:extLst>
              <a:ext uri="{FF2B5EF4-FFF2-40B4-BE49-F238E27FC236}">
                <a16:creationId xmlns:a16="http://schemas.microsoft.com/office/drawing/2014/main" id="{672CD301-1BB3-913C-8BDD-BCBF6341736D}"/>
              </a:ext>
            </a:extLst>
          </p:cNvPr>
          <p:cNvSpPr>
            <a:spLocks noGrp="1"/>
          </p:cNvSpPr>
          <p:nvPr>
            <p:ph type="sldNum" sz="quarter" idx="5"/>
          </p:nvPr>
        </p:nvSpPr>
        <p:spPr/>
        <p:txBody>
          <a:bodyPr/>
          <a:lstStyle/>
          <a:p>
            <a:fld id="{37D01E2C-B751-4C38-A4F8-4A97733E0BA7}" type="slidenum">
              <a:rPr lang="en-US" smtClean="0"/>
              <a:t>12</a:t>
            </a:fld>
            <a:endParaRPr lang="en-US"/>
          </a:p>
        </p:txBody>
      </p:sp>
    </p:spTree>
    <p:extLst>
      <p:ext uri="{BB962C8B-B14F-4D97-AF65-F5344CB8AC3E}">
        <p14:creationId xmlns:p14="http://schemas.microsoft.com/office/powerpoint/2010/main" val="12403064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2F134-51B0-7EAC-AAB6-F8DF04BEAA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7C3B8D-8D7C-D732-11FD-649C696287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C620BD-8033-7E6B-C845-108CB8B19C9A}"/>
              </a:ext>
            </a:extLst>
          </p:cNvPr>
          <p:cNvSpPr>
            <a:spLocks noGrp="1"/>
          </p:cNvSpPr>
          <p:nvPr>
            <p:ph type="body" idx="1"/>
          </p:nvPr>
        </p:nvSpPr>
        <p:spPr/>
        <p:txBody>
          <a:bodyPr/>
          <a:lstStyle/>
          <a:p>
            <a:r>
              <a:rPr lang="vi-VN" b="1" dirty="0">
                <a:highlight>
                  <a:srgbClr val="FFFFFF"/>
                </a:highlight>
              </a:rPr>
              <a:t>🔄 Quy trình hoạt động từng bước</a:t>
            </a:r>
          </a:p>
          <a:p>
            <a:r>
              <a:rPr lang="vi-VN" dirty="0">
                <a:highlight>
                  <a:srgbClr val="FFFFFF"/>
                </a:highlight>
              </a:rPr>
              <a:t>1️⃣ </a:t>
            </a:r>
            <a:r>
              <a:rPr lang="vi-VN" b="1" dirty="0">
                <a:highlight>
                  <a:srgbClr val="FFFFFF"/>
                </a:highlight>
              </a:rPr>
              <a:t>Master tạo xung clock (SCLK):</a:t>
            </a:r>
            <a:endParaRPr lang="vi-VN" dirty="0">
              <a:highlight>
                <a:srgbClr val="FFFFFF"/>
              </a:highlight>
            </a:endParaRPr>
          </a:p>
          <a:p>
            <a:r>
              <a:rPr lang="vi-VN" dirty="0">
                <a:highlight>
                  <a:srgbClr val="FFFFFF"/>
                </a:highlight>
              </a:rPr>
              <a:t>Master phát tín hiệu xung nhịp đều đặn (0-1-0-1...) qua dây clock.</a:t>
            </a:r>
          </a:p>
          <a:p>
            <a:r>
              <a:rPr lang="vi-VN" dirty="0">
                <a:highlight>
                  <a:srgbClr val="FFFFFF"/>
                </a:highlight>
              </a:rPr>
              <a:t>Mỗi cạnh xung (rising hoặc falling) báo cho Slave biết “hãy đọc/gửi 1 bit dữ liệu”.</a:t>
            </a:r>
          </a:p>
          <a:p>
            <a:r>
              <a:rPr lang="vi-VN" dirty="0">
                <a:highlight>
                  <a:srgbClr val="FFFFFF"/>
                </a:highlight>
              </a:rPr>
              <a:t>2️⃣ </a:t>
            </a:r>
            <a:r>
              <a:rPr lang="vi-VN" b="1" dirty="0">
                <a:highlight>
                  <a:srgbClr val="FFFFFF"/>
                </a:highlight>
              </a:rPr>
              <a:t>Master gửi dữ liệu (Data line):</a:t>
            </a:r>
            <a:endParaRPr lang="vi-VN" dirty="0">
              <a:highlight>
                <a:srgbClr val="FFFFFF"/>
              </a:highlight>
            </a:endParaRPr>
          </a:p>
          <a:p>
            <a:r>
              <a:rPr lang="vi-VN" dirty="0">
                <a:highlight>
                  <a:srgbClr val="FFFFFF"/>
                </a:highlight>
              </a:rPr>
              <a:t>Đồng thời với clock, Master gửi dữ liệu bit-by-bit trên đường </a:t>
            </a:r>
            <a:r>
              <a:rPr lang="vi-VN" b="1" dirty="0">
                <a:highlight>
                  <a:srgbClr val="FFFFFF"/>
                </a:highlight>
              </a:rPr>
              <a:t>MOSI</a:t>
            </a:r>
            <a:r>
              <a:rPr lang="vi-VN" dirty="0">
                <a:highlight>
                  <a:srgbClr val="FFFFFF"/>
                </a:highlight>
              </a:rPr>
              <a:t> (Master Out Slave In).</a:t>
            </a:r>
          </a:p>
          <a:p>
            <a:r>
              <a:rPr lang="vi-VN" dirty="0">
                <a:highlight>
                  <a:srgbClr val="FFFFFF"/>
                </a:highlight>
              </a:rPr>
              <a:t>3️⃣ </a:t>
            </a:r>
            <a:r>
              <a:rPr lang="vi-VN" b="1" dirty="0">
                <a:highlight>
                  <a:srgbClr val="FFFFFF"/>
                </a:highlight>
              </a:rPr>
              <a:t>Slave đọc dữ liệu theo xung clock:</a:t>
            </a:r>
            <a:endParaRPr lang="vi-VN" dirty="0">
              <a:highlight>
                <a:srgbClr val="FFFFFF"/>
              </a:highlight>
            </a:endParaRPr>
          </a:p>
          <a:p>
            <a:r>
              <a:rPr lang="vi-VN" dirty="0">
                <a:highlight>
                  <a:srgbClr val="FFFFFF"/>
                </a:highlight>
              </a:rPr>
              <a:t>Slave không cần đoán thời điểm — chỉ cần “chờ cạnh xung clock” rồi đọc bit ngay lập tức.</a:t>
            </a:r>
          </a:p>
          <a:p>
            <a:r>
              <a:rPr lang="vi-VN" dirty="0">
                <a:highlight>
                  <a:srgbClr val="FFFFFF"/>
                </a:highlight>
              </a:rPr>
              <a:t>Vì có clock chung, hai bên luôn đồng bộ chính xác về thời gian.</a:t>
            </a:r>
          </a:p>
          <a:p>
            <a:r>
              <a:rPr lang="vi-VN" dirty="0">
                <a:highlight>
                  <a:srgbClr val="FFFFFF"/>
                </a:highlight>
              </a:rPr>
              <a:t>4️⃣ </a:t>
            </a:r>
            <a:r>
              <a:rPr lang="vi-VN" b="1" dirty="0">
                <a:highlight>
                  <a:srgbClr val="FFFFFF"/>
                </a:highlight>
              </a:rPr>
              <a:t>Slave có thể gửi dữ liệu ngược lại:</a:t>
            </a:r>
            <a:endParaRPr lang="vi-VN" dirty="0">
              <a:highlight>
                <a:srgbClr val="FFFFFF"/>
              </a:highlight>
            </a:endParaRPr>
          </a:p>
          <a:p>
            <a:r>
              <a:rPr lang="vi-VN" dirty="0">
                <a:highlight>
                  <a:srgbClr val="FFFFFF"/>
                </a:highlight>
              </a:rPr>
              <a:t>Nếu giao thức cho phép (như SPI), Slave gửi dữ liệu trên đường </a:t>
            </a:r>
            <a:r>
              <a:rPr lang="vi-VN" b="1" dirty="0">
                <a:highlight>
                  <a:srgbClr val="FFFFFF"/>
                </a:highlight>
              </a:rPr>
              <a:t>MISO</a:t>
            </a:r>
            <a:r>
              <a:rPr lang="vi-VN" dirty="0">
                <a:highlight>
                  <a:srgbClr val="FFFFFF"/>
                </a:highlight>
              </a:rPr>
              <a:t> (Master In Slave Out), cũng được điều khiển bằng cùng clock đó.</a:t>
            </a:r>
          </a:p>
          <a:p>
            <a:r>
              <a:rPr lang="vi-VN" dirty="0">
                <a:highlight>
                  <a:srgbClr val="FFFFFF"/>
                </a:highlight>
              </a:rPr>
              <a:t>5️⃣ </a:t>
            </a:r>
            <a:r>
              <a:rPr lang="vi-VN" b="1" dirty="0">
                <a:highlight>
                  <a:srgbClr val="FFFFFF"/>
                </a:highlight>
              </a:rPr>
              <a:t>Truyền liên tục nhiều byte:</a:t>
            </a:r>
            <a:endParaRPr lang="vi-VN" dirty="0">
              <a:highlight>
                <a:srgbClr val="FFFFFF"/>
              </a:highlight>
            </a:endParaRPr>
          </a:p>
          <a:p>
            <a:r>
              <a:rPr lang="vi-VN" dirty="0">
                <a:highlight>
                  <a:srgbClr val="FFFFFF"/>
                </a:highlight>
              </a:rPr>
              <a:t>Không cần bit Start/Stop như giao thức không đồng bộ.</a:t>
            </a:r>
          </a:p>
          <a:p>
            <a:r>
              <a:rPr lang="vi-VN" dirty="0">
                <a:highlight>
                  <a:srgbClr val="FFFFFF"/>
                </a:highlight>
              </a:rPr>
              <a:t>Dữ liệu có thể truyền </a:t>
            </a:r>
            <a:r>
              <a:rPr lang="vi-VN" b="1" dirty="0">
                <a:highlight>
                  <a:srgbClr val="FFFFFF"/>
                </a:highlight>
              </a:rPr>
              <a:t>liên tục</a:t>
            </a:r>
            <a:r>
              <a:rPr lang="vi-VN" dirty="0">
                <a:highlight>
                  <a:srgbClr val="FFFFFF"/>
                </a:highlight>
              </a:rPr>
              <a:t>, không ngắt quãng.</a:t>
            </a:r>
          </a:p>
          <a:p>
            <a:br>
              <a:rPr lang="vi-VN" dirty="0">
                <a:highlight>
                  <a:srgbClr val="FFFFFF"/>
                </a:highlight>
              </a:rPr>
            </a:br>
            <a:endParaRPr lang="vi-VN" dirty="0">
              <a:highlight>
                <a:srgbClr val="FFFFFF"/>
              </a:highlight>
            </a:endParaRPr>
          </a:p>
          <a:p>
            <a:r>
              <a:rPr lang="vi-VN" b="1" dirty="0">
                <a:highlight>
                  <a:srgbClr val="FFFFFF"/>
                </a:highlight>
              </a:rPr>
              <a:t>📊 Ví dụ minh họa (SPI Transmission)</a:t>
            </a:r>
          </a:p>
          <a:p>
            <a:pPr rtl="0"/>
            <a:r>
              <a:rPr lang="vi-VN" sz="1200" kern="1200" dirty="0">
                <a:solidFill>
                  <a:schemeClr val="tx1"/>
                </a:solidFill>
                <a:highlight>
                  <a:srgbClr val="FFFFFF"/>
                </a:highlight>
                <a:latin typeface="+mn-lt"/>
                <a:ea typeface="+mn-ea"/>
                <a:cs typeface="+mn-cs"/>
              </a:rPr>
              <a:t>Clock:  ↑   ↑   ↑   ↑   ↑   ↑   ↑   ↑</a:t>
            </a:r>
          </a:p>
          <a:p>
            <a:pPr rtl="0"/>
            <a:r>
              <a:rPr lang="vi-VN" sz="1200" kern="1200" dirty="0">
                <a:solidFill>
                  <a:schemeClr val="tx1"/>
                </a:solidFill>
                <a:highlight>
                  <a:srgbClr val="FFFFFF"/>
                </a:highlight>
                <a:latin typeface="+mn-lt"/>
                <a:ea typeface="+mn-ea"/>
                <a:cs typeface="+mn-cs"/>
              </a:rPr>
              <a:t>Data :  1   0   0   1   0   1   1   0</a:t>
            </a:r>
          </a:p>
          <a:p>
            <a:r>
              <a:rPr lang="vi-VN" dirty="0">
                <a:highlight>
                  <a:srgbClr val="FFFFFF"/>
                </a:highlight>
              </a:rPr>
              <a:t>Mỗi </a:t>
            </a:r>
            <a:r>
              <a:rPr lang="vi-VN" b="1" dirty="0">
                <a:highlight>
                  <a:srgbClr val="FFFFFF"/>
                </a:highlight>
              </a:rPr>
              <a:t>cạnh lên của clock (↑)</a:t>
            </a:r>
            <a:r>
              <a:rPr lang="vi-VN" dirty="0">
                <a:highlight>
                  <a:srgbClr val="FFFFFF"/>
                </a:highlight>
              </a:rPr>
              <a:t> là thời điểm đọc 1 bit.</a:t>
            </a:r>
          </a:p>
          <a:p>
            <a:r>
              <a:rPr lang="vi-VN" dirty="0">
                <a:highlight>
                  <a:srgbClr val="FFFFFF"/>
                </a:highlight>
              </a:rPr>
              <a:t>Khi đủ 8 xung clock → 1 byte dữ liệu được truyền hoàn tất.</a:t>
            </a:r>
          </a:p>
          <a:p>
            <a:r>
              <a:rPr lang="vi-VN" dirty="0">
                <a:highlight>
                  <a:srgbClr val="FFFFFF"/>
                </a:highlight>
              </a:rPr>
              <a:t>Không có start/stop bit vì </a:t>
            </a:r>
            <a:r>
              <a:rPr lang="vi-VN" b="1" dirty="0">
                <a:highlight>
                  <a:srgbClr val="FFFFFF"/>
                </a:highlight>
              </a:rPr>
              <a:t>clock đảm bảo đồng bộ tuyệt đối</a:t>
            </a:r>
            <a:r>
              <a:rPr lang="vi-VN" dirty="0">
                <a:highlight>
                  <a:srgbClr val="FFFFFF"/>
                </a:highlight>
              </a:rPr>
              <a:t>.</a:t>
            </a:r>
          </a:p>
        </p:txBody>
      </p:sp>
      <p:sp>
        <p:nvSpPr>
          <p:cNvPr id="4" name="Slide Number Placeholder 3">
            <a:extLst>
              <a:ext uri="{FF2B5EF4-FFF2-40B4-BE49-F238E27FC236}">
                <a16:creationId xmlns:a16="http://schemas.microsoft.com/office/drawing/2014/main" id="{4F68A89F-4BAA-0E35-1A20-BF28D16BE718}"/>
              </a:ext>
            </a:extLst>
          </p:cNvPr>
          <p:cNvSpPr>
            <a:spLocks noGrp="1"/>
          </p:cNvSpPr>
          <p:nvPr>
            <p:ph type="sldNum" sz="quarter" idx="5"/>
          </p:nvPr>
        </p:nvSpPr>
        <p:spPr/>
        <p:txBody>
          <a:bodyPr/>
          <a:lstStyle/>
          <a:p>
            <a:fld id="{37D01E2C-B751-4C38-A4F8-4A97733E0BA7}" type="slidenum">
              <a:rPr lang="en-US" smtClean="0"/>
              <a:t>13</a:t>
            </a:fld>
            <a:endParaRPr lang="en-US"/>
          </a:p>
        </p:txBody>
      </p:sp>
    </p:spTree>
    <p:extLst>
      <p:ext uri="{BB962C8B-B14F-4D97-AF65-F5344CB8AC3E}">
        <p14:creationId xmlns:p14="http://schemas.microsoft.com/office/powerpoint/2010/main" val="19757183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12343-4502-4F05-B362-8B07CAE5E7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26570D-2C3B-1B5B-CA6C-571C16DE88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2FD1D-B98A-57AD-62E2-754B7E13DF54}"/>
              </a:ext>
            </a:extLst>
          </p:cNvPr>
          <p:cNvSpPr>
            <a:spLocks noGrp="1"/>
          </p:cNvSpPr>
          <p:nvPr>
            <p:ph type="body" idx="1"/>
          </p:nvPr>
        </p:nvSpPr>
        <p:spPr/>
        <p:txBody>
          <a:bodyPr/>
          <a:lstStyle/>
          <a:p>
            <a:r>
              <a:rPr lang="vi-VN" dirty="0">
                <a:highlight>
                  <a:srgbClr val="FFFFFF"/>
                </a:highlight>
              </a:rPr>
              <a:t>Thiết bị phát (Master) gửi dữ liệu cùng với xung clock, giúp thiết bị thu (Slave) biết chính xác thời điểm để đọc hoặc ghi từng bit dữ liệu. 👉 Đặc điểm: Có tín hiệu clock chung giữa hai thiết bị. Tốc độ truyền nhanh và ổn định hơn, vì việc đồng bộ hóa được đảm bảo bằng clock. Cần nhiều dây hơn (vì phải truyền cả clock). </a:t>
            </a:r>
            <a:r>
              <a:rPr lang="vi-VN">
                <a:highlight>
                  <a:srgbClr val="FFFFFF"/>
                </a:highlight>
              </a:rPr>
              <a:t>Phù hợp với khoảng cách truyền ngắn, trong cùng mạch hoặc bo mạch chủ.</a:t>
            </a:r>
            <a:endParaRPr lang="en-US" sz="1200" b="0" i="0" kern="1200" dirty="0">
              <a:solidFill>
                <a:schemeClr val="tx1"/>
              </a:solidFill>
              <a:effectLst/>
              <a:highlight>
                <a:srgbClr val="FFFFFF"/>
              </a:highlight>
              <a:latin typeface="+mn-lt"/>
              <a:ea typeface="+mn-ea"/>
              <a:cs typeface="+mn-cs"/>
            </a:endParaRPr>
          </a:p>
        </p:txBody>
      </p:sp>
      <p:sp>
        <p:nvSpPr>
          <p:cNvPr id="4" name="Slide Number Placeholder 3">
            <a:extLst>
              <a:ext uri="{FF2B5EF4-FFF2-40B4-BE49-F238E27FC236}">
                <a16:creationId xmlns:a16="http://schemas.microsoft.com/office/drawing/2014/main" id="{585D866D-B536-7A55-17D1-C500D070739C}"/>
              </a:ext>
            </a:extLst>
          </p:cNvPr>
          <p:cNvSpPr>
            <a:spLocks noGrp="1"/>
          </p:cNvSpPr>
          <p:nvPr>
            <p:ph type="sldNum" sz="quarter" idx="5"/>
          </p:nvPr>
        </p:nvSpPr>
        <p:spPr/>
        <p:txBody>
          <a:bodyPr/>
          <a:lstStyle/>
          <a:p>
            <a:fld id="{37D01E2C-B751-4C38-A4F8-4A97733E0BA7}" type="slidenum">
              <a:rPr lang="en-US" smtClean="0"/>
              <a:t>14</a:t>
            </a:fld>
            <a:endParaRPr lang="en-US"/>
          </a:p>
        </p:txBody>
      </p:sp>
    </p:spTree>
    <p:extLst>
      <p:ext uri="{BB962C8B-B14F-4D97-AF65-F5344CB8AC3E}">
        <p14:creationId xmlns:p14="http://schemas.microsoft.com/office/powerpoint/2010/main" val="13905975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CC67A-A17C-71EA-01C3-446A1DB2FA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325EB9-608A-5A67-4CD5-AF8E78680A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DCF906-E0DF-00AE-D17F-BF0C4DA0D1C8}"/>
              </a:ext>
            </a:extLst>
          </p:cNvPr>
          <p:cNvSpPr>
            <a:spLocks noGrp="1"/>
          </p:cNvSpPr>
          <p:nvPr>
            <p:ph type="body" idx="1"/>
          </p:nvPr>
        </p:nvSpPr>
        <p:spPr/>
        <p:txBody>
          <a:bodyPr/>
          <a:lstStyle/>
          <a:p>
            <a:r>
              <a:rPr lang="vi-VN" b="1" dirty="0">
                <a:highlight>
                  <a:srgbClr val="FFFFFF"/>
                </a:highlight>
              </a:rPr>
              <a:t>⚙️ Ưu điểm chung của các giao thức đồng bộ (Synchronous Protocol)</a:t>
            </a:r>
          </a:p>
          <a:p>
            <a:r>
              <a:rPr lang="vi-VN" b="1" dirty="0">
                <a:highlight>
                  <a:srgbClr val="FFFFFF"/>
                </a:highlight>
              </a:rPr>
              <a:t>🧩 1️⃣ Truyền dữ liệu nhanh hơn (High Speed Transmission)</a:t>
            </a:r>
          </a:p>
          <a:p>
            <a:r>
              <a:rPr lang="vi-VN" dirty="0">
                <a:highlight>
                  <a:srgbClr val="FFFFFF"/>
                </a:highlight>
              </a:rPr>
              <a:t>Vì </a:t>
            </a:r>
            <a:r>
              <a:rPr lang="vi-VN" b="1" dirty="0">
                <a:highlight>
                  <a:srgbClr val="FFFFFF"/>
                </a:highlight>
              </a:rPr>
              <a:t>có tín hiệu clock chung</a:t>
            </a:r>
            <a:r>
              <a:rPr lang="vi-VN" dirty="0">
                <a:highlight>
                  <a:srgbClr val="FFFFFF"/>
                </a:highlight>
              </a:rPr>
              <a:t>, nên việc gửi và nhận dữ liệu được </a:t>
            </a:r>
            <a:r>
              <a:rPr lang="vi-VN" b="1" dirty="0">
                <a:highlight>
                  <a:srgbClr val="FFFFFF"/>
                </a:highlight>
              </a:rPr>
              <a:t>đồng bộ từng bit theo nhịp xung clock</a:t>
            </a:r>
            <a:r>
              <a:rPr lang="vi-VN" dirty="0">
                <a:highlight>
                  <a:srgbClr val="FFFFFF"/>
                </a:highlight>
              </a:rPr>
              <a:t> → tốc độ truyền </a:t>
            </a:r>
            <a:r>
              <a:rPr lang="vi-VN" b="1" dirty="0">
                <a:highlight>
                  <a:srgbClr val="FFFFFF"/>
                </a:highlight>
              </a:rPr>
              <a:t>cao và ổn định</a:t>
            </a:r>
            <a:r>
              <a:rPr lang="vi-VN" dirty="0">
                <a:highlight>
                  <a:srgbClr val="FFFFFF"/>
                </a:highlight>
              </a:rPr>
              <a:t>.</a:t>
            </a:r>
          </a:p>
          <a:p>
            <a:r>
              <a:rPr lang="vi-VN" dirty="0">
                <a:highlight>
                  <a:srgbClr val="FFFFFF"/>
                </a:highlight>
              </a:rPr>
              <a:t>Không cần thêm các bit Start/Stop như UART → </a:t>
            </a:r>
            <a:r>
              <a:rPr lang="vi-VN" b="1" dirty="0">
                <a:highlight>
                  <a:srgbClr val="FFFFFF"/>
                </a:highlight>
              </a:rPr>
              <a:t>ít overhead</a:t>
            </a:r>
            <a:r>
              <a:rPr lang="vi-VN" dirty="0">
                <a:highlight>
                  <a:srgbClr val="FFFFFF"/>
                </a:highlight>
              </a:rPr>
              <a:t>, tăng </a:t>
            </a:r>
            <a:r>
              <a:rPr lang="vi-VN" b="1" dirty="0">
                <a:highlight>
                  <a:srgbClr val="FFFFFF"/>
                </a:highlight>
              </a:rPr>
              <a:t>hiệu suất truyền</a:t>
            </a:r>
            <a:r>
              <a:rPr lang="vi-VN" dirty="0">
                <a:highlight>
                  <a:srgbClr val="FFFFFF"/>
                </a:highlight>
              </a:rPr>
              <a:t>.</a:t>
            </a:r>
          </a:p>
          <a:p>
            <a:r>
              <a:rPr lang="vi-VN" dirty="0">
                <a:highlight>
                  <a:srgbClr val="FFFFFF"/>
                </a:highlight>
              </a:rPr>
              <a:t>🔸 </a:t>
            </a:r>
            <a:r>
              <a:rPr lang="vi-VN" i="1" dirty="0">
                <a:highlight>
                  <a:srgbClr val="FFFFFF"/>
                </a:highlight>
              </a:rPr>
              <a:t>Ví dụ:</a:t>
            </a:r>
            <a:r>
              <a:rPr lang="vi-VN" dirty="0">
                <a:highlight>
                  <a:srgbClr val="FFFFFF"/>
                </a:highlight>
              </a:rPr>
              <a:t> SPI có thể đạt tốc độ hàng chục Mbps, trong khi UART chỉ khoảng vài trăm kbps.</a:t>
            </a:r>
          </a:p>
          <a:p>
            <a:br>
              <a:rPr lang="vi-VN" dirty="0">
                <a:highlight>
                  <a:srgbClr val="FFFFFF"/>
                </a:highlight>
              </a:rPr>
            </a:br>
            <a:endParaRPr lang="vi-VN" dirty="0">
              <a:highlight>
                <a:srgbClr val="FFFFFF"/>
              </a:highlight>
            </a:endParaRPr>
          </a:p>
          <a:p>
            <a:r>
              <a:rPr lang="vi-VN" b="1" dirty="0">
                <a:highlight>
                  <a:srgbClr val="FFFFFF"/>
                </a:highlight>
              </a:rPr>
              <a:t>🧩 2️⃣ Độ chính xác cao – ít sai lệch thời gian (High Timing Accuracy)</a:t>
            </a:r>
          </a:p>
          <a:p>
            <a:r>
              <a:rPr lang="vi-VN" dirty="0">
                <a:highlight>
                  <a:srgbClr val="FFFFFF"/>
                </a:highlight>
              </a:rPr>
              <a:t>Dữ liệu được </a:t>
            </a:r>
            <a:r>
              <a:rPr lang="vi-VN" b="1" dirty="0">
                <a:highlight>
                  <a:srgbClr val="FFFFFF"/>
                </a:highlight>
              </a:rPr>
              <a:t>lấy mẫu (sampling)</a:t>
            </a:r>
            <a:r>
              <a:rPr lang="vi-VN" dirty="0">
                <a:highlight>
                  <a:srgbClr val="FFFFFF"/>
                </a:highlight>
              </a:rPr>
              <a:t> đúng theo nhịp xung clock của master,</a:t>
            </a:r>
            <a:br>
              <a:rPr lang="vi-VN" dirty="0">
                <a:highlight>
                  <a:srgbClr val="FFFFFF"/>
                </a:highlight>
              </a:rPr>
            </a:br>
            <a:r>
              <a:rPr lang="vi-VN" dirty="0">
                <a:highlight>
                  <a:srgbClr val="FFFFFF"/>
                </a:highlight>
              </a:rPr>
              <a:t>→ tránh lỗi lệch pha (timing drift) giữa 2 thiết bị.</a:t>
            </a:r>
          </a:p>
          <a:p>
            <a:r>
              <a:rPr lang="vi-VN" dirty="0">
                <a:highlight>
                  <a:srgbClr val="FFFFFF"/>
                </a:highlight>
              </a:rPr>
              <a:t>Không phụ thuộc vào đồng hồ nội của mỗi thiết bị → </a:t>
            </a:r>
            <a:r>
              <a:rPr lang="vi-VN" b="1" dirty="0">
                <a:highlight>
                  <a:srgbClr val="FFFFFF"/>
                </a:highlight>
              </a:rPr>
              <a:t>giảm sai số bit</a:t>
            </a:r>
            <a:r>
              <a:rPr lang="vi-VN" dirty="0">
                <a:highlight>
                  <a:srgbClr val="FFFFFF"/>
                </a:highlight>
              </a:rPr>
              <a:t>.</a:t>
            </a:r>
          </a:p>
          <a:p>
            <a:r>
              <a:rPr lang="vi-VN" dirty="0">
                <a:highlight>
                  <a:srgbClr val="FFFFFF"/>
                </a:highlight>
              </a:rPr>
              <a:t>🔸 </a:t>
            </a:r>
            <a:r>
              <a:rPr lang="vi-VN" i="1" dirty="0">
                <a:highlight>
                  <a:srgbClr val="FFFFFF"/>
                </a:highlight>
              </a:rPr>
              <a:t>Điều này cực kỳ quan trọng trong các hệ thống thời gian thực (real-time systems).</a:t>
            </a:r>
            <a:endParaRPr lang="vi-VN" dirty="0">
              <a:highlight>
                <a:srgbClr val="FFFFFF"/>
              </a:highlight>
            </a:endParaRPr>
          </a:p>
          <a:p>
            <a:br>
              <a:rPr lang="vi-VN" dirty="0">
                <a:highlight>
                  <a:srgbClr val="FFFFFF"/>
                </a:highlight>
              </a:rPr>
            </a:br>
            <a:endParaRPr lang="vi-VN" dirty="0">
              <a:highlight>
                <a:srgbClr val="FFFFFF"/>
              </a:highlight>
            </a:endParaRPr>
          </a:p>
          <a:p>
            <a:r>
              <a:rPr lang="vi-VN" b="1" dirty="0">
                <a:highlight>
                  <a:srgbClr val="FFFFFF"/>
                </a:highlight>
              </a:rPr>
              <a:t>🧩 3️⃣ Truyền dữ liệu ổn định, tin cậy (Reliable Communication)</a:t>
            </a:r>
          </a:p>
          <a:p>
            <a:r>
              <a:rPr lang="vi-VN" dirty="0">
                <a:highlight>
                  <a:srgbClr val="FFFFFF"/>
                </a:highlight>
              </a:rPr>
              <a:t>Clock chung giúp </a:t>
            </a:r>
            <a:r>
              <a:rPr lang="vi-VN" b="1" dirty="0">
                <a:highlight>
                  <a:srgbClr val="FFFFFF"/>
                </a:highlight>
              </a:rPr>
              <a:t>đồng bộ hoàn toàn quá trình truyền/nhận</a:t>
            </a:r>
            <a:r>
              <a:rPr lang="vi-VN" dirty="0">
                <a:highlight>
                  <a:srgbClr val="FFFFFF"/>
                </a:highlight>
              </a:rPr>
              <a:t>,</a:t>
            </a:r>
            <a:br>
              <a:rPr lang="vi-VN" dirty="0">
                <a:highlight>
                  <a:srgbClr val="FFFFFF"/>
                </a:highlight>
              </a:rPr>
            </a:br>
            <a:r>
              <a:rPr lang="vi-VN" dirty="0">
                <a:highlight>
                  <a:srgbClr val="FFFFFF"/>
                </a:highlight>
              </a:rPr>
              <a:t>→ nên dữ liệu ít bị méo, đặc biệt ở tốc độ cao.</a:t>
            </a:r>
          </a:p>
          <a:p>
            <a:r>
              <a:rPr lang="vi-VN" dirty="0">
                <a:highlight>
                  <a:srgbClr val="FFFFFF"/>
                </a:highlight>
              </a:rPr>
              <a:t>Một số giao thức (như CAN, I2C) còn có </a:t>
            </a:r>
            <a:r>
              <a:rPr lang="vi-VN" b="1" dirty="0">
                <a:highlight>
                  <a:srgbClr val="FFFFFF"/>
                </a:highlight>
              </a:rPr>
              <a:t>cơ chế kiểm lỗi</a:t>
            </a:r>
            <a:r>
              <a:rPr lang="vi-VN" dirty="0">
                <a:highlight>
                  <a:srgbClr val="FFFFFF"/>
                </a:highlight>
              </a:rPr>
              <a:t> (CRC, ACK bit, parity check).</a:t>
            </a:r>
          </a:p>
          <a:p>
            <a:r>
              <a:rPr lang="vi-VN" dirty="0">
                <a:highlight>
                  <a:srgbClr val="FFFFFF"/>
                </a:highlight>
              </a:rPr>
              <a:t>🔸 </a:t>
            </a:r>
            <a:r>
              <a:rPr lang="vi-VN" i="1" dirty="0">
                <a:highlight>
                  <a:srgbClr val="FFFFFF"/>
                </a:highlight>
              </a:rPr>
              <a:t>Ví dụ:</a:t>
            </a:r>
            <a:r>
              <a:rPr lang="vi-VN" dirty="0">
                <a:highlight>
                  <a:srgbClr val="FFFFFF"/>
                </a:highlight>
              </a:rPr>
              <a:t> Giao thức CAN có khả năng tự phát hiện và sửa lỗi khung dữ liệu bị hỏng.</a:t>
            </a:r>
          </a:p>
        </p:txBody>
      </p:sp>
      <p:sp>
        <p:nvSpPr>
          <p:cNvPr id="4" name="Slide Number Placeholder 3">
            <a:extLst>
              <a:ext uri="{FF2B5EF4-FFF2-40B4-BE49-F238E27FC236}">
                <a16:creationId xmlns:a16="http://schemas.microsoft.com/office/drawing/2014/main" id="{A80D305F-5A32-8B12-0793-B8891E59E6D7}"/>
              </a:ext>
            </a:extLst>
          </p:cNvPr>
          <p:cNvSpPr>
            <a:spLocks noGrp="1"/>
          </p:cNvSpPr>
          <p:nvPr>
            <p:ph type="sldNum" sz="quarter" idx="5"/>
          </p:nvPr>
        </p:nvSpPr>
        <p:spPr/>
        <p:txBody>
          <a:bodyPr/>
          <a:lstStyle/>
          <a:p>
            <a:fld id="{37D01E2C-B751-4C38-A4F8-4A97733E0BA7}" type="slidenum">
              <a:rPr lang="en-US" smtClean="0"/>
              <a:t>15</a:t>
            </a:fld>
            <a:endParaRPr lang="en-US"/>
          </a:p>
        </p:txBody>
      </p:sp>
    </p:spTree>
    <p:extLst>
      <p:ext uri="{BB962C8B-B14F-4D97-AF65-F5344CB8AC3E}">
        <p14:creationId xmlns:p14="http://schemas.microsoft.com/office/powerpoint/2010/main" val="6792512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900EE-64F6-BA2B-941E-81E6196DC5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149624-59DE-8C3B-51D2-E2625C4BBF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19B23F-3FD3-7A78-C201-96C4F1264B77}"/>
              </a:ext>
            </a:extLst>
          </p:cNvPr>
          <p:cNvSpPr>
            <a:spLocks noGrp="1"/>
          </p:cNvSpPr>
          <p:nvPr>
            <p:ph type="body" idx="1"/>
          </p:nvPr>
        </p:nvSpPr>
        <p:spPr/>
        <p:txBody>
          <a:bodyPr/>
          <a:lstStyle/>
          <a:p>
            <a:r>
              <a:rPr lang="vi-VN" b="1" dirty="0">
                <a:highlight>
                  <a:srgbClr val="FFFFFF"/>
                </a:highlight>
              </a:rPr>
              <a:t>🧩 4️⃣ Hỗ trợ truyền song công (Full/Half Duplex)</a:t>
            </a:r>
          </a:p>
          <a:p>
            <a:r>
              <a:rPr lang="vi-VN" dirty="0">
                <a:highlight>
                  <a:srgbClr val="FFFFFF"/>
                </a:highlight>
              </a:rPr>
              <a:t>Một số giao thức đồng bộ như </a:t>
            </a:r>
            <a:r>
              <a:rPr lang="vi-VN" b="1" dirty="0">
                <a:highlight>
                  <a:srgbClr val="FFFFFF"/>
                </a:highlight>
              </a:rPr>
              <a:t>SPI</a:t>
            </a:r>
            <a:r>
              <a:rPr lang="vi-VN" dirty="0">
                <a:highlight>
                  <a:srgbClr val="FFFFFF"/>
                </a:highlight>
              </a:rPr>
              <a:t> cho phép truyền và nhận dữ liệu </a:t>
            </a:r>
            <a:r>
              <a:rPr lang="vi-VN" b="1" dirty="0">
                <a:highlight>
                  <a:srgbClr val="FFFFFF"/>
                </a:highlight>
              </a:rPr>
              <a:t>đồng thời (full-duplex)</a:t>
            </a:r>
            <a:r>
              <a:rPr lang="vi-VN" dirty="0">
                <a:highlight>
                  <a:srgbClr val="FFFFFF"/>
                </a:highlight>
              </a:rPr>
              <a:t>.</a:t>
            </a:r>
          </a:p>
          <a:p>
            <a:r>
              <a:rPr lang="vi-VN" dirty="0">
                <a:highlight>
                  <a:srgbClr val="FFFFFF"/>
                </a:highlight>
              </a:rPr>
              <a:t>Điều này làm tăng </a:t>
            </a:r>
            <a:r>
              <a:rPr lang="vi-VN" b="1" dirty="0">
                <a:highlight>
                  <a:srgbClr val="FFFFFF"/>
                </a:highlight>
              </a:rPr>
              <a:t>băng thông thực tế</a:t>
            </a:r>
            <a:r>
              <a:rPr lang="vi-VN" dirty="0">
                <a:highlight>
                  <a:srgbClr val="FFFFFF"/>
                </a:highlight>
              </a:rPr>
              <a:t> và giảm thời gian chờ khi trao đổi dữ liệu 2 chiều.</a:t>
            </a:r>
          </a:p>
          <a:p>
            <a:br>
              <a:rPr lang="vi-VN" dirty="0">
                <a:highlight>
                  <a:srgbClr val="FFFFFF"/>
                </a:highlight>
              </a:rPr>
            </a:br>
            <a:endParaRPr lang="vi-VN" dirty="0">
              <a:highlight>
                <a:srgbClr val="FFFFFF"/>
              </a:highlight>
            </a:endParaRPr>
          </a:p>
          <a:p>
            <a:r>
              <a:rPr lang="vi-VN" b="1" dirty="0">
                <a:highlight>
                  <a:srgbClr val="FFFFFF"/>
                </a:highlight>
              </a:rPr>
              <a:t>🧩 5️⃣ Dễ mở rộng và kết nối nhiều thiết bị (Multi-Device Support)</a:t>
            </a:r>
          </a:p>
          <a:p>
            <a:r>
              <a:rPr lang="vi-VN" dirty="0">
                <a:highlight>
                  <a:srgbClr val="FFFFFF"/>
                </a:highlight>
              </a:rPr>
              <a:t>Nhiều giao thức đồng bộ hỗ trợ </a:t>
            </a:r>
            <a:r>
              <a:rPr lang="vi-VN" b="1" dirty="0">
                <a:highlight>
                  <a:srgbClr val="FFFFFF"/>
                </a:highlight>
              </a:rPr>
              <a:t>kết nối nhiều thiết bị trên cùng bus</a:t>
            </a:r>
            <a:r>
              <a:rPr lang="vi-VN" dirty="0">
                <a:highlight>
                  <a:srgbClr val="FFFFFF"/>
                </a:highlight>
              </a:rPr>
              <a:t>:</a:t>
            </a:r>
          </a:p>
          <a:p>
            <a:pPr lvl="1"/>
            <a:r>
              <a:rPr lang="vi-VN" b="1" dirty="0">
                <a:highlight>
                  <a:srgbClr val="FFFFFF"/>
                </a:highlight>
              </a:rPr>
              <a:t>I2C</a:t>
            </a:r>
            <a:r>
              <a:rPr lang="vi-VN" dirty="0">
                <a:highlight>
                  <a:srgbClr val="FFFFFF"/>
                </a:highlight>
              </a:rPr>
              <a:t>: dùng địa chỉ để phân biệt các thiết bị.</a:t>
            </a:r>
          </a:p>
          <a:p>
            <a:pPr lvl="1"/>
            <a:r>
              <a:rPr lang="vi-VN" b="1" dirty="0">
                <a:highlight>
                  <a:srgbClr val="FFFFFF"/>
                </a:highlight>
              </a:rPr>
              <a:t>CAN</a:t>
            </a:r>
            <a:r>
              <a:rPr lang="vi-VN" dirty="0">
                <a:highlight>
                  <a:srgbClr val="FFFFFF"/>
                </a:highlight>
              </a:rPr>
              <a:t>: nhiều node cùng chia sẻ 1 đường truyền, có cơ chế ưu tiên tự động.</a:t>
            </a:r>
          </a:p>
          <a:p>
            <a:r>
              <a:rPr lang="vi-VN" dirty="0">
                <a:highlight>
                  <a:srgbClr val="FFFFFF"/>
                </a:highlight>
              </a:rPr>
              <a:t>🔸 </a:t>
            </a:r>
            <a:r>
              <a:rPr lang="vi-VN" i="1" dirty="0">
                <a:highlight>
                  <a:srgbClr val="FFFFFF"/>
                </a:highlight>
              </a:rPr>
              <a:t>Điều này rất hữu ích trong các hệ thống nhúng có nhiều cảm biến hoặc module ngoại vi.</a:t>
            </a:r>
            <a:endParaRPr lang="vi-VN" dirty="0">
              <a:highlight>
                <a:srgbClr val="FFFFFF"/>
              </a:highlight>
            </a:endParaRPr>
          </a:p>
          <a:p>
            <a:br>
              <a:rPr lang="vi-VN" dirty="0">
                <a:highlight>
                  <a:srgbClr val="FFFFFF"/>
                </a:highlight>
              </a:rPr>
            </a:br>
            <a:endParaRPr lang="vi-VN" dirty="0">
              <a:highlight>
                <a:srgbClr val="FFFFFF"/>
              </a:highlight>
            </a:endParaRPr>
          </a:p>
          <a:p>
            <a:r>
              <a:rPr lang="vi-VN" b="1" dirty="0">
                <a:highlight>
                  <a:srgbClr val="FFFFFF"/>
                </a:highlight>
              </a:rPr>
              <a:t>🧩 6️⃣ Tiết kiệm tài nguyên xử lý của vi điều khiển (Low CPU Overhead)</a:t>
            </a:r>
          </a:p>
          <a:p>
            <a:r>
              <a:rPr lang="vi-VN" dirty="0">
                <a:highlight>
                  <a:srgbClr val="FFFFFF"/>
                </a:highlight>
              </a:rPr>
              <a:t>Do </a:t>
            </a:r>
            <a:r>
              <a:rPr lang="vi-VN" b="1" dirty="0">
                <a:highlight>
                  <a:srgbClr val="FFFFFF"/>
                </a:highlight>
              </a:rPr>
              <a:t>đồng bộ bằng clock cứng</a:t>
            </a:r>
            <a:r>
              <a:rPr lang="vi-VN" dirty="0">
                <a:highlight>
                  <a:srgbClr val="FFFFFF"/>
                </a:highlight>
              </a:rPr>
              <a:t>, việc truyền/nhận có thể được </a:t>
            </a:r>
            <a:r>
              <a:rPr lang="vi-VN" b="1" dirty="0">
                <a:highlight>
                  <a:srgbClr val="FFFFFF"/>
                </a:highlight>
              </a:rPr>
              <a:t>phần cứng giao thức (hardware peripheral)</a:t>
            </a:r>
            <a:r>
              <a:rPr lang="vi-VN" dirty="0">
                <a:highlight>
                  <a:srgbClr val="FFFFFF"/>
                </a:highlight>
              </a:rPr>
              <a:t> đảm nhiệm.</a:t>
            </a:r>
          </a:p>
          <a:p>
            <a:r>
              <a:rPr lang="vi-VN" dirty="0">
                <a:highlight>
                  <a:srgbClr val="FFFFFF"/>
                </a:highlight>
              </a:rPr>
              <a:t>CPU chỉ cần đọc/ghi dữ liệu khi cần → </a:t>
            </a:r>
            <a:r>
              <a:rPr lang="vi-VN" b="1" dirty="0">
                <a:highlight>
                  <a:srgbClr val="FFFFFF"/>
                </a:highlight>
              </a:rPr>
              <a:t>giảm tải cho vi điều khiển</a:t>
            </a:r>
            <a:r>
              <a:rPr lang="vi-VN" dirty="0">
                <a:highlight>
                  <a:srgbClr val="FFFFFF"/>
                </a:highlight>
              </a:rPr>
              <a:t>, cho phép chạy các tác vụ khác song song.</a:t>
            </a:r>
          </a:p>
          <a:p>
            <a:br>
              <a:rPr lang="vi-VN" dirty="0">
                <a:highlight>
                  <a:srgbClr val="FFFFFF"/>
                </a:highlight>
              </a:rPr>
            </a:br>
            <a:endParaRPr lang="vi-VN" dirty="0">
              <a:highlight>
                <a:srgbClr val="FFFFFF"/>
              </a:highlight>
            </a:endParaRPr>
          </a:p>
          <a:p>
            <a:r>
              <a:rPr lang="vi-VN" b="1" dirty="0">
                <a:highlight>
                  <a:srgbClr val="FFFFFF"/>
                </a:highlight>
              </a:rPr>
              <a:t>🧩 7️⃣ Linh hoạt về khoảng cách và ứng dụng</a:t>
            </a:r>
          </a:p>
          <a:p>
            <a:r>
              <a:rPr lang="vi-VN" dirty="0">
                <a:highlight>
                  <a:srgbClr val="FFFFFF"/>
                </a:highlight>
              </a:rPr>
              <a:t>Một số giao thức đồng bộ được thiết kế </a:t>
            </a:r>
            <a:r>
              <a:rPr lang="vi-VN" b="1" dirty="0">
                <a:highlight>
                  <a:srgbClr val="FFFFFF"/>
                </a:highlight>
              </a:rPr>
              <a:t>cho từng mục đích</a:t>
            </a:r>
            <a:r>
              <a:rPr lang="vi-VN" dirty="0">
                <a:highlight>
                  <a:srgbClr val="FFFFFF"/>
                </a:highlight>
              </a:rPr>
              <a:t>:</a:t>
            </a:r>
          </a:p>
          <a:p>
            <a:pPr lvl="1"/>
            <a:r>
              <a:rPr lang="vi-VN" b="1" dirty="0">
                <a:highlight>
                  <a:srgbClr val="FFFFFF"/>
                </a:highlight>
              </a:rPr>
              <a:t>SPI/I2C:</a:t>
            </a:r>
            <a:r>
              <a:rPr lang="vi-VN" dirty="0">
                <a:highlight>
                  <a:srgbClr val="FFFFFF"/>
                </a:highlight>
              </a:rPr>
              <a:t> khoảng cách ngắn, tốc độ cao (trên board mạch).</a:t>
            </a:r>
          </a:p>
          <a:p>
            <a:pPr lvl="1"/>
            <a:r>
              <a:rPr lang="vi-VN" b="1" dirty="0">
                <a:highlight>
                  <a:srgbClr val="FFFFFF"/>
                </a:highlight>
              </a:rPr>
              <a:t>CAN/LIN:</a:t>
            </a:r>
            <a:r>
              <a:rPr lang="vi-VN" dirty="0">
                <a:highlight>
                  <a:srgbClr val="FFFFFF"/>
                </a:highlight>
              </a:rPr>
              <a:t> khoảng cách xa, nhiều node, chống nhiễu tốt.</a:t>
            </a:r>
          </a:p>
          <a:p>
            <a:pPr lvl="1"/>
            <a:r>
              <a:rPr lang="vi-VN" b="1" dirty="0">
                <a:highlight>
                  <a:srgbClr val="FFFFFF"/>
                </a:highlight>
              </a:rPr>
              <a:t>Ethernet/USB:</a:t>
            </a:r>
            <a:r>
              <a:rPr lang="vi-VN" dirty="0">
                <a:highlight>
                  <a:srgbClr val="FFFFFF"/>
                </a:highlight>
              </a:rPr>
              <a:t> tốc độ rất cao, truyền dữ liệu lớn.</a:t>
            </a:r>
          </a:p>
          <a:p>
            <a:r>
              <a:rPr lang="vi-VN" dirty="0">
                <a:highlight>
                  <a:srgbClr val="FFFFFF"/>
                </a:highlight>
              </a:rPr>
              <a:t>🔸 Điều này giúp bạn chọn </a:t>
            </a:r>
            <a:r>
              <a:rPr lang="vi-VN" b="1" dirty="0">
                <a:highlight>
                  <a:srgbClr val="FFFFFF"/>
                </a:highlight>
              </a:rPr>
              <a:t>giao thức phù hợp cho từng bài toán nhúng thực tế.</a:t>
            </a:r>
            <a:endParaRPr lang="vi-VN" dirty="0">
              <a:highlight>
                <a:srgbClr val="FFFFFF"/>
              </a:highlight>
            </a:endParaRPr>
          </a:p>
        </p:txBody>
      </p:sp>
      <p:sp>
        <p:nvSpPr>
          <p:cNvPr id="4" name="Slide Number Placeholder 3">
            <a:extLst>
              <a:ext uri="{FF2B5EF4-FFF2-40B4-BE49-F238E27FC236}">
                <a16:creationId xmlns:a16="http://schemas.microsoft.com/office/drawing/2014/main" id="{B562AF1F-CF3B-E378-ACEF-259D30D5DC00}"/>
              </a:ext>
            </a:extLst>
          </p:cNvPr>
          <p:cNvSpPr>
            <a:spLocks noGrp="1"/>
          </p:cNvSpPr>
          <p:nvPr>
            <p:ph type="sldNum" sz="quarter" idx="5"/>
          </p:nvPr>
        </p:nvSpPr>
        <p:spPr/>
        <p:txBody>
          <a:bodyPr/>
          <a:lstStyle/>
          <a:p>
            <a:fld id="{37D01E2C-B751-4C38-A4F8-4A97733E0BA7}" type="slidenum">
              <a:rPr lang="en-US" smtClean="0"/>
              <a:t>16</a:t>
            </a:fld>
            <a:endParaRPr lang="en-US"/>
          </a:p>
        </p:txBody>
      </p:sp>
    </p:spTree>
    <p:extLst>
      <p:ext uri="{BB962C8B-B14F-4D97-AF65-F5344CB8AC3E}">
        <p14:creationId xmlns:p14="http://schemas.microsoft.com/office/powerpoint/2010/main" val="20948742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6DD58-9B5E-84E9-93DE-26EFA49EE4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0B5E0-059E-9412-ADF2-1EBB1C6D9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2A1A88-3B3B-9CE1-F68B-297897B69610}"/>
              </a:ext>
            </a:extLst>
          </p:cNvPr>
          <p:cNvSpPr>
            <a:spLocks noGrp="1"/>
          </p:cNvSpPr>
          <p:nvPr>
            <p:ph type="body" idx="1"/>
          </p:nvPr>
        </p:nvSpPr>
        <p:spPr/>
        <p:txBody>
          <a:bodyPr/>
          <a:lstStyle/>
          <a:p>
            <a:r>
              <a:rPr lang="vi-VN" dirty="0">
                <a:highlight>
                  <a:srgbClr val="FFFFFF"/>
                </a:highlight>
              </a:rPr>
              <a:t>#Ưu điểmGiải thích ngắn</a:t>
            </a:r>
            <a:endParaRPr lang="en-US" dirty="0">
              <a:highlight>
                <a:srgbClr val="FFFFFF"/>
              </a:highlight>
            </a:endParaRPr>
          </a:p>
          <a:p>
            <a:r>
              <a:rPr lang="vi-VN" dirty="0">
                <a:highlight>
                  <a:srgbClr val="FFFFFF"/>
                </a:highlight>
              </a:rPr>
              <a:t>1</a:t>
            </a:r>
            <a:r>
              <a:rPr lang="vi-VN" b="1" dirty="0">
                <a:highlight>
                  <a:srgbClr val="FFFFFF"/>
                </a:highlight>
              </a:rPr>
              <a:t>Tốc độ truyền cao</a:t>
            </a:r>
            <a:r>
              <a:rPr lang="vi-VN" dirty="0">
                <a:highlight>
                  <a:srgbClr val="FFFFFF"/>
                </a:highlight>
              </a:rPr>
              <a:t>Có clock chung, không cần bit Start/Stop</a:t>
            </a:r>
            <a:endParaRPr lang="en-US" dirty="0">
              <a:highlight>
                <a:srgbClr val="FFFFFF"/>
              </a:highlight>
            </a:endParaRPr>
          </a:p>
          <a:p>
            <a:r>
              <a:rPr lang="vi-VN" dirty="0">
                <a:highlight>
                  <a:srgbClr val="FFFFFF"/>
                </a:highlight>
              </a:rPr>
              <a:t>2</a:t>
            </a:r>
            <a:r>
              <a:rPr lang="vi-VN" b="1" dirty="0">
                <a:highlight>
                  <a:srgbClr val="FFFFFF"/>
                </a:highlight>
              </a:rPr>
              <a:t>Đồng bộ chính xác theo thời gian</a:t>
            </a:r>
            <a:r>
              <a:rPr lang="vi-VN" dirty="0">
                <a:highlight>
                  <a:srgbClr val="FFFFFF"/>
                </a:highlight>
              </a:rPr>
              <a:t>Dữ liệu truyền đúng nhịp xung clock</a:t>
            </a:r>
            <a:endParaRPr lang="en-US" dirty="0">
              <a:highlight>
                <a:srgbClr val="FFFFFF"/>
              </a:highlight>
            </a:endParaRPr>
          </a:p>
          <a:p>
            <a:r>
              <a:rPr lang="vi-VN" dirty="0">
                <a:highlight>
                  <a:srgbClr val="FFFFFF"/>
                </a:highlight>
              </a:rPr>
              <a:t>3</a:t>
            </a:r>
            <a:r>
              <a:rPr lang="vi-VN" b="1" dirty="0">
                <a:highlight>
                  <a:srgbClr val="FFFFFF"/>
                </a:highlight>
              </a:rPr>
              <a:t>Ổn định, ít lỗi</a:t>
            </a:r>
            <a:r>
              <a:rPr lang="vi-VN" dirty="0">
                <a:highlight>
                  <a:srgbClr val="FFFFFF"/>
                </a:highlight>
              </a:rPr>
              <a:t>Có cơ chế kiểm lỗi (ACK, CRC)</a:t>
            </a:r>
            <a:endParaRPr lang="en-US" dirty="0">
              <a:highlight>
                <a:srgbClr val="FFFFFF"/>
              </a:highlight>
            </a:endParaRPr>
          </a:p>
          <a:p>
            <a:r>
              <a:rPr lang="vi-VN" dirty="0">
                <a:highlight>
                  <a:srgbClr val="FFFFFF"/>
                </a:highlight>
              </a:rPr>
              <a:t>4</a:t>
            </a:r>
            <a:r>
              <a:rPr lang="vi-VN" b="1" dirty="0">
                <a:highlight>
                  <a:srgbClr val="FFFFFF"/>
                </a:highlight>
              </a:rPr>
              <a:t>Hỗ trợ song công</a:t>
            </a:r>
            <a:r>
              <a:rPr lang="vi-VN" dirty="0">
                <a:highlight>
                  <a:srgbClr val="FFFFFF"/>
                </a:highlight>
              </a:rPr>
              <a:t>Gửi/nhận cùng lúc (như SPI)</a:t>
            </a:r>
            <a:endParaRPr lang="en-US" dirty="0">
              <a:highlight>
                <a:srgbClr val="FFFFFF"/>
              </a:highlight>
            </a:endParaRPr>
          </a:p>
          <a:p>
            <a:r>
              <a:rPr lang="vi-VN" dirty="0">
                <a:highlight>
                  <a:srgbClr val="FFFFFF"/>
                </a:highlight>
              </a:rPr>
              <a:t>5</a:t>
            </a:r>
            <a:r>
              <a:rPr lang="vi-VN" b="1" dirty="0">
                <a:highlight>
                  <a:srgbClr val="FFFFFF"/>
                </a:highlight>
              </a:rPr>
              <a:t>Kết nối nhiều thiết bị</a:t>
            </a:r>
            <a:r>
              <a:rPr lang="vi-VN" dirty="0">
                <a:highlight>
                  <a:srgbClr val="FFFFFF"/>
                </a:highlight>
              </a:rPr>
              <a:t>Multi-slave, Multi-master (I2C, CAN)</a:t>
            </a:r>
            <a:endParaRPr lang="en-US" dirty="0">
              <a:highlight>
                <a:srgbClr val="FFFFFF"/>
              </a:highlight>
            </a:endParaRPr>
          </a:p>
          <a:p>
            <a:r>
              <a:rPr lang="vi-VN" dirty="0">
                <a:highlight>
                  <a:srgbClr val="FFFFFF"/>
                </a:highlight>
              </a:rPr>
              <a:t>6</a:t>
            </a:r>
            <a:r>
              <a:rPr lang="vi-VN" b="1" dirty="0">
                <a:highlight>
                  <a:srgbClr val="FFFFFF"/>
                </a:highlight>
              </a:rPr>
              <a:t>Giảm tải cho CPU</a:t>
            </a:r>
            <a:r>
              <a:rPr lang="vi-VN" dirty="0">
                <a:highlight>
                  <a:srgbClr val="FFFFFF"/>
                </a:highlight>
              </a:rPr>
              <a:t>Truyền dữ liệu do phần cứng giao thức xử lý</a:t>
            </a:r>
            <a:endParaRPr lang="en-US" dirty="0">
              <a:highlight>
                <a:srgbClr val="FFFFFF"/>
              </a:highlight>
            </a:endParaRPr>
          </a:p>
          <a:p>
            <a:r>
              <a:rPr lang="vi-VN" dirty="0">
                <a:highlight>
                  <a:srgbClr val="FFFFFF"/>
                </a:highlight>
              </a:rPr>
              <a:t>7</a:t>
            </a:r>
            <a:r>
              <a:rPr lang="vi-VN" b="1" dirty="0">
                <a:highlight>
                  <a:srgbClr val="FFFFFF"/>
                </a:highlight>
              </a:rPr>
              <a:t>Linh hoạt về khoảng cách/tốc độ</a:t>
            </a:r>
            <a:r>
              <a:rPr lang="vi-VN" dirty="0">
                <a:highlight>
                  <a:srgbClr val="FFFFFF"/>
                </a:highlight>
              </a:rPr>
              <a:t>Mỗi giao thức phù hợp cho môi trường riêng</a:t>
            </a:r>
          </a:p>
        </p:txBody>
      </p:sp>
      <p:sp>
        <p:nvSpPr>
          <p:cNvPr id="4" name="Slide Number Placeholder 3">
            <a:extLst>
              <a:ext uri="{FF2B5EF4-FFF2-40B4-BE49-F238E27FC236}">
                <a16:creationId xmlns:a16="http://schemas.microsoft.com/office/drawing/2014/main" id="{8BFDFE86-08F6-A369-C468-9ABA8FAE49ED}"/>
              </a:ext>
            </a:extLst>
          </p:cNvPr>
          <p:cNvSpPr>
            <a:spLocks noGrp="1"/>
          </p:cNvSpPr>
          <p:nvPr>
            <p:ph type="sldNum" sz="quarter" idx="5"/>
          </p:nvPr>
        </p:nvSpPr>
        <p:spPr/>
        <p:txBody>
          <a:bodyPr/>
          <a:lstStyle/>
          <a:p>
            <a:fld id="{37D01E2C-B751-4C38-A4F8-4A97733E0BA7}" type="slidenum">
              <a:rPr lang="en-US" smtClean="0"/>
              <a:t>17</a:t>
            </a:fld>
            <a:endParaRPr lang="en-US"/>
          </a:p>
        </p:txBody>
      </p:sp>
    </p:spTree>
    <p:extLst>
      <p:ext uri="{BB962C8B-B14F-4D97-AF65-F5344CB8AC3E}">
        <p14:creationId xmlns:p14="http://schemas.microsoft.com/office/powerpoint/2010/main" val="38435906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40E4A-CA0F-3BF0-56C9-3E9EF093D2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7B68DE-5ED0-82ED-D81A-C810859C63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1BA0A5-3DBF-67FF-E390-5DF7F772B2B8}"/>
              </a:ext>
            </a:extLst>
          </p:cNvPr>
          <p:cNvSpPr>
            <a:spLocks noGrp="1"/>
          </p:cNvSpPr>
          <p:nvPr>
            <p:ph type="body" idx="1"/>
          </p:nvPr>
        </p:nvSpPr>
        <p:spPr/>
        <p:txBody>
          <a:bodyPr/>
          <a:lstStyle/>
          <a:p>
            <a:r>
              <a:rPr lang="vi-VN" b="1" dirty="0">
                <a:highlight>
                  <a:srgbClr val="FFFFFF"/>
                </a:highlight>
              </a:rPr>
              <a:t>⚠️ Nhược điểm chung của các giao thức đồng bộ (Synchronous Protocol)</a:t>
            </a:r>
          </a:p>
          <a:p>
            <a:r>
              <a:rPr lang="vi-VN" b="1" dirty="0">
                <a:highlight>
                  <a:srgbClr val="FFFFFF"/>
                </a:highlight>
              </a:rPr>
              <a:t>🔹 1️⃣ Cần thêm dây tín hiệu (do có clock)</a:t>
            </a:r>
          </a:p>
          <a:p>
            <a:r>
              <a:rPr lang="vi-VN" dirty="0">
                <a:highlight>
                  <a:srgbClr val="FFFFFF"/>
                </a:highlight>
              </a:rPr>
              <a:t>Vì phải truyền </a:t>
            </a:r>
            <a:r>
              <a:rPr lang="vi-VN" b="1" dirty="0">
                <a:highlight>
                  <a:srgbClr val="FFFFFF"/>
                </a:highlight>
              </a:rPr>
              <a:t>tín hiệu xung clock (SCK/SCL)</a:t>
            </a:r>
            <a:r>
              <a:rPr lang="vi-VN" dirty="0">
                <a:highlight>
                  <a:srgbClr val="FFFFFF"/>
                </a:highlight>
              </a:rPr>
              <a:t> bên cạnh đường dữ liệu, nên số dây kết nối sẽ </a:t>
            </a:r>
            <a:r>
              <a:rPr lang="vi-VN" b="1" dirty="0">
                <a:highlight>
                  <a:srgbClr val="FFFFFF"/>
                </a:highlight>
              </a:rPr>
              <a:t>nhiều hơn</a:t>
            </a:r>
            <a:r>
              <a:rPr lang="vi-VN" dirty="0">
                <a:highlight>
                  <a:srgbClr val="FFFFFF"/>
                </a:highlight>
              </a:rPr>
              <a:t> so với giao thức bất đồng bộ (chỉ cần TX/RX).</a:t>
            </a:r>
          </a:p>
          <a:p>
            <a:r>
              <a:rPr lang="vi-VN" dirty="0">
                <a:highlight>
                  <a:srgbClr val="FFFFFF"/>
                </a:highlight>
              </a:rPr>
              <a:t>Khi số thiết bị tăng, việc </a:t>
            </a:r>
            <a:r>
              <a:rPr lang="vi-VN" b="1" dirty="0">
                <a:highlight>
                  <a:srgbClr val="FFFFFF"/>
                </a:highlight>
              </a:rPr>
              <a:t>đi dây trở nên phức tạp</a:t>
            </a:r>
            <a:r>
              <a:rPr lang="vi-VN" dirty="0">
                <a:highlight>
                  <a:srgbClr val="FFFFFF"/>
                </a:highlight>
              </a:rPr>
              <a:t>, nhất là với giao thức như </a:t>
            </a:r>
            <a:r>
              <a:rPr lang="vi-VN" b="1" dirty="0">
                <a:highlight>
                  <a:srgbClr val="FFFFFF"/>
                </a:highlight>
              </a:rPr>
              <a:t>SPI</a:t>
            </a:r>
            <a:r>
              <a:rPr lang="vi-VN" dirty="0">
                <a:highlight>
                  <a:srgbClr val="FFFFFF"/>
                </a:highlight>
              </a:rPr>
              <a:t> (mỗi Slave cần 1 dây SS riêng).</a:t>
            </a:r>
          </a:p>
          <a:p>
            <a:r>
              <a:rPr lang="vi-VN" dirty="0">
                <a:highlight>
                  <a:srgbClr val="FFFFFF"/>
                </a:highlight>
              </a:rPr>
              <a:t>🔸 </a:t>
            </a:r>
            <a:r>
              <a:rPr lang="vi-VN" i="1" dirty="0">
                <a:highlight>
                  <a:srgbClr val="FFFFFF"/>
                </a:highlight>
              </a:rPr>
              <a:t>Ví dụ:</a:t>
            </a:r>
            <a:br>
              <a:rPr lang="vi-VN" dirty="0">
                <a:highlight>
                  <a:srgbClr val="FFFFFF"/>
                </a:highlight>
              </a:rPr>
            </a:br>
            <a:r>
              <a:rPr lang="vi-VN" dirty="0">
                <a:highlight>
                  <a:srgbClr val="FFFFFF"/>
                </a:highlight>
              </a:rPr>
              <a:t>SPI với 3 Slave → cần ít nhất </a:t>
            </a:r>
            <a:r>
              <a:rPr lang="vi-VN" b="1" dirty="0">
                <a:highlight>
                  <a:srgbClr val="FFFFFF"/>
                </a:highlight>
              </a:rPr>
              <a:t>3 dây SS + 3 dây chung (MOSI, MISO, SCK)</a:t>
            </a:r>
            <a:r>
              <a:rPr lang="vi-VN" dirty="0">
                <a:highlight>
                  <a:srgbClr val="FFFFFF"/>
                </a:highlight>
              </a:rPr>
              <a:t> = </a:t>
            </a:r>
            <a:r>
              <a:rPr lang="vi-VN" b="1" dirty="0">
                <a:highlight>
                  <a:srgbClr val="FFFFFF"/>
                </a:highlight>
              </a:rPr>
              <a:t>6 dây</a:t>
            </a:r>
            <a:r>
              <a:rPr lang="vi-VN" dirty="0">
                <a:highlight>
                  <a:srgbClr val="FFFFFF"/>
                </a:highlight>
              </a:rPr>
              <a:t>.</a:t>
            </a:r>
          </a:p>
          <a:p>
            <a:br>
              <a:rPr lang="vi-VN" dirty="0">
                <a:highlight>
                  <a:srgbClr val="FFFFFF"/>
                </a:highlight>
              </a:rPr>
            </a:br>
            <a:endParaRPr lang="vi-VN" dirty="0">
              <a:highlight>
                <a:srgbClr val="FFFFFF"/>
              </a:highlight>
            </a:endParaRPr>
          </a:p>
          <a:p>
            <a:r>
              <a:rPr lang="vi-VN" b="1" dirty="0">
                <a:highlight>
                  <a:srgbClr val="FFFFFF"/>
                </a:highlight>
              </a:rPr>
              <a:t>🔹 2️⃣ Khoảng cách truyền ngắn</a:t>
            </a:r>
          </a:p>
          <a:p>
            <a:r>
              <a:rPr lang="vi-VN" dirty="0">
                <a:highlight>
                  <a:srgbClr val="FFFFFF"/>
                </a:highlight>
              </a:rPr>
              <a:t>Vì tín hiệu clock và dữ liệu phải đồng bộ về </a:t>
            </a:r>
            <a:r>
              <a:rPr lang="vi-VN" b="1" dirty="0">
                <a:highlight>
                  <a:srgbClr val="FFFFFF"/>
                </a:highlight>
              </a:rPr>
              <a:t>pha và thời gian</a:t>
            </a:r>
            <a:r>
              <a:rPr lang="vi-VN" dirty="0">
                <a:highlight>
                  <a:srgbClr val="FFFFFF"/>
                </a:highlight>
              </a:rPr>
              <a:t>, nên khi truyền xa (dây dài) sẽ dễ xảy ra </a:t>
            </a:r>
            <a:r>
              <a:rPr lang="vi-VN" b="1" dirty="0">
                <a:highlight>
                  <a:srgbClr val="FFFFFF"/>
                </a:highlight>
              </a:rPr>
              <a:t>nhiễu, trễ pha (clock skew)</a:t>
            </a:r>
            <a:r>
              <a:rPr lang="vi-VN" dirty="0">
                <a:highlight>
                  <a:srgbClr val="FFFFFF"/>
                </a:highlight>
              </a:rPr>
              <a:t> → sai bit dữ liệu.</a:t>
            </a:r>
          </a:p>
          <a:p>
            <a:r>
              <a:rPr lang="vi-VN" dirty="0">
                <a:highlight>
                  <a:srgbClr val="FFFFFF"/>
                </a:highlight>
              </a:rPr>
              <a:t>Phù hợp cho </a:t>
            </a:r>
            <a:r>
              <a:rPr lang="vi-VN" b="1" dirty="0">
                <a:highlight>
                  <a:srgbClr val="FFFFFF"/>
                </a:highlight>
              </a:rPr>
              <a:t>truyền trong cùng bo mạch (on-board)</a:t>
            </a:r>
            <a:r>
              <a:rPr lang="vi-VN" dirty="0">
                <a:highlight>
                  <a:srgbClr val="FFFFFF"/>
                </a:highlight>
              </a:rPr>
              <a:t>, không thích hợp cho truyền xa vài mét.</a:t>
            </a:r>
          </a:p>
          <a:p>
            <a:r>
              <a:rPr lang="vi-VN" dirty="0">
                <a:highlight>
                  <a:srgbClr val="FFFFFF"/>
                </a:highlight>
              </a:rPr>
              <a:t>🔸 </a:t>
            </a:r>
            <a:r>
              <a:rPr lang="vi-VN" i="1" dirty="0">
                <a:highlight>
                  <a:srgbClr val="FFFFFF"/>
                </a:highlight>
              </a:rPr>
              <a:t>Ví dụ:</a:t>
            </a:r>
            <a:r>
              <a:rPr lang="vi-VN" dirty="0">
                <a:highlight>
                  <a:srgbClr val="FFFFFF"/>
                </a:highlight>
              </a:rPr>
              <a:t> SPI chỉ ổn định ở </a:t>
            </a:r>
            <a:r>
              <a:rPr lang="vi-VN" b="1" dirty="0">
                <a:highlight>
                  <a:srgbClr val="FFFFFF"/>
                </a:highlight>
              </a:rPr>
              <a:t>&lt; 30 cm</a:t>
            </a:r>
            <a:r>
              <a:rPr lang="vi-VN" dirty="0">
                <a:highlight>
                  <a:srgbClr val="FFFFFF"/>
                </a:highlight>
              </a:rPr>
              <a:t> nếu không có mạch đệm hoặc chống nhiễu.</a:t>
            </a:r>
          </a:p>
        </p:txBody>
      </p:sp>
      <p:sp>
        <p:nvSpPr>
          <p:cNvPr id="4" name="Slide Number Placeholder 3">
            <a:extLst>
              <a:ext uri="{FF2B5EF4-FFF2-40B4-BE49-F238E27FC236}">
                <a16:creationId xmlns:a16="http://schemas.microsoft.com/office/drawing/2014/main" id="{39285E6A-5F09-023D-40B6-9D7E46BE4E2B}"/>
              </a:ext>
            </a:extLst>
          </p:cNvPr>
          <p:cNvSpPr>
            <a:spLocks noGrp="1"/>
          </p:cNvSpPr>
          <p:nvPr>
            <p:ph type="sldNum" sz="quarter" idx="5"/>
          </p:nvPr>
        </p:nvSpPr>
        <p:spPr/>
        <p:txBody>
          <a:bodyPr/>
          <a:lstStyle/>
          <a:p>
            <a:fld id="{37D01E2C-B751-4C38-A4F8-4A97733E0BA7}" type="slidenum">
              <a:rPr lang="en-US" smtClean="0"/>
              <a:t>18</a:t>
            </a:fld>
            <a:endParaRPr lang="en-US"/>
          </a:p>
        </p:txBody>
      </p:sp>
    </p:spTree>
    <p:extLst>
      <p:ext uri="{BB962C8B-B14F-4D97-AF65-F5344CB8AC3E}">
        <p14:creationId xmlns:p14="http://schemas.microsoft.com/office/powerpoint/2010/main" val="1203002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9D9E6-B2F3-7AB3-1898-32D738A452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C64EF1-2EE7-CA23-471F-595B8362AB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CE13BC-507E-ED7E-A99B-5A000C35D530}"/>
              </a:ext>
            </a:extLst>
          </p:cNvPr>
          <p:cNvSpPr>
            <a:spLocks noGrp="1"/>
          </p:cNvSpPr>
          <p:nvPr>
            <p:ph type="body" idx="1"/>
          </p:nvPr>
        </p:nvSpPr>
        <p:spPr/>
        <p:txBody>
          <a:bodyPr/>
          <a:lstStyle/>
          <a:p>
            <a:r>
              <a:rPr lang="vi-VN" b="1" dirty="0">
                <a:highlight>
                  <a:srgbClr val="FFFFFF"/>
                </a:highlight>
              </a:rPr>
              <a:t>🔹 3️⃣ Khó mở rộng số lượng thiết bị</a:t>
            </a:r>
          </a:p>
          <a:p>
            <a:r>
              <a:rPr lang="vi-VN" dirty="0">
                <a:highlight>
                  <a:srgbClr val="FFFFFF"/>
                </a:highlight>
              </a:rPr>
              <a:t>Một số giao thức đồng bộ như </a:t>
            </a:r>
            <a:r>
              <a:rPr lang="vi-VN" b="1" dirty="0">
                <a:highlight>
                  <a:srgbClr val="FFFFFF"/>
                </a:highlight>
              </a:rPr>
              <a:t>SPI</a:t>
            </a:r>
            <a:r>
              <a:rPr lang="vi-VN" dirty="0">
                <a:highlight>
                  <a:srgbClr val="FFFFFF"/>
                </a:highlight>
              </a:rPr>
              <a:t> hoặc </a:t>
            </a:r>
            <a:r>
              <a:rPr lang="vi-VN" b="1" dirty="0">
                <a:highlight>
                  <a:srgbClr val="FFFFFF"/>
                </a:highlight>
              </a:rPr>
              <a:t>I2C</a:t>
            </a:r>
            <a:r>
              <a:rPr lang="vi-VN" dirty="0">
                <a:highlight>
                  <a:srgbClr val="FFFFFF"/>
                </a:highlight>
              </a:rPr>
              <a:t> giới hạn số lượng thiết bị có thể kết nối:</a:t>
            </a:r>
          </a:p>
          <a:p>
            <a:pPr lvl="1"/>
            <a:r>
              <a:rPr lang="vi-VN" dirty="0">
                <a:highlight>
                  <a:srgbClr val="FFFFFF"/>
                </a:highlight>
              </a:rPr>
              <a:t>SPI: Mỗi Slave cần một chân CS riêng → hạn chế bởi số chân của vi điều khiển.</a:t>
            </a:r>
          </a:p>
          <a:p>
            <a:pPr lvl="1"/>
            <a:r>
              <a:rPr lang="vi-VN" dirty="0">
                <a:highlight>
                  <a:srgbClr val="FFFFFF"/>
                </a:highlight>
              </a:rPr>
              <a:t>I2C: Địa chỉ thiết bị chỉ có </a:t>
            </a:r>
            <a:r>
              <a:rPr lang="vi-VN" b="1" dirty="0">
                <a:highlight>
                  <a:srgbClr val="FFFFFF"/>
                </a:highlight>
              </a:rPr>
              <a:t>7 hoặc 10 bit</a:t>
            </a:r>
            <a:r>
              <a:rPr lang="vi-VN" dirty="0">
                <a:highlight>
                  <a:srgbClr val="FFFFFF"/>
                </a:highlight>
              </a:rPr>
              <a:t>, nên </a:t>
            </a:r>
            <a:r>
              <a:rPr lang="vi-VN" b="1" dirty="0">
                <a:highlight>
                  <a:srgbClr val="FFFFFF"/>
                </a:highlight>
              </a:rPr>
              <a:t>số lượng thiết bị tối đa bị giới hạn</a:t>
            </a:r>
            <a:r>
              <a:rPr lang="vi-VN" dirty="0">
                <a:highlight>
                  <a:srgbClr val="FFFFFF"/>
                </a:highlight>
              </a:rPr>
              <a:t>.</a:t>
            </a:r>
          </a:p>
          <a:p>
            <a:br>
              <a:rPr lang="vi-VN" dirty="0">
                <a:highlight>
                  <a:srgbClr val="FFFFFF"/>
                </a:highlight>
              </a:rPr>
            </a:br>
            <a:endParaRPr lang="vi-VN" dirty="0">
              <a:highlight>
                <a:srgbClr val="FFFFFF"/>
              </a:highlight>
            </a:endParaRPr>
          </a:p>
          <a:p>
            <a:r>
              <a:rPr lang="vi-VN" b="1" dirty="0">
                <a:highlight>
                  <a:srgbClr val="FFFFFF"/>
                </a:highlight>
              </a:rPr>
              <a:t>🔹 4️⃣ Thiết kế phần cứng phức tạp hơn</a:t>
            </a:r>
          </a:p>
          <a:p>
            <a:r>
              <a:rPr lang="vi-VN" dirty="0">
                <a:highlight>
                  <a:srgbClr val="FFFFFF"/>
                </a:highlight>
              </a:rPr>
              <a:t>Do phải đồng bộ clock và dữ liệu → cần </a:t>
            </a:r>
            <a:r>
              <a:rPr lang="vi-VN" b="1" dirty="0">
                <a:highlight>
                  <a:srgbClr val="FFFFFF"/>
                </a:highlight>
              </a:rPr>
              <a:t>thiết kế mạch chính xác về timing</a:t>
            </a:r>
            <a:r>
              <a:rPr lang="vi-VN" dirty="0">
                <a:highlight>
                  <a:srgbClr val="FFFFFF"/>
                </a:highlight>
              </a:rPr>
              <a:t>, </a:t>
            </a:r>
            <a:r>
              <a:rPr lang="vi-VN" b="1" dirty="0">
                <a:highlight>
                  <a:srgbClr val="FFFFFF"/>
                </a:highlight>
              </a:rPr>
              <a:t>độ dài dây phải phù hợp</a:t>
            </a:r>
            <a:r>
              <a:rPr lang="vi-VN" dirty="0">
                <a:highlight>
                  <a:srgbClr val="FFFFFF"/>
                </a:highlight>
              </a:rPr>
              <a:t> để tránh trễ pha.</a:t>
            </a:r>
          </a:p>
          <a:p>
            <a:r>
              <a:rPr lang="vi-VN" dirty="0">
                <a:highlight>
                  <a:srgbClr val="FFFFFF"/>
                </a:highlight>
              </a:rPr>
              <a:t>Với các tốc độ cao (như SPI tốc độ hàng chục MHz), </a:t>
            </a:r>
            <a:r>
              <a:rPr lang="vi-VN" b="1" dirty="0">
                <a:highlight>
                  <a:srgbClr val="FFFFFF"/>
                </a:highlight>
              </a:rPr>
              <a:t>chỉ cần dây lệch vài cm</a:t>
            </a:r>
            <a:r>
              <a:rPr lang="vi-VN" dirty="0">
                <a:highlight>
                  <a:srgbClr val="FFFFFF"/>
                </a:highlight>
              </a:rPr>
              <a:t> cũng gây lỗi truyền.</a:t>
            </a:r>
            <a:br>
              <a:rPr lang="vi-VN" dirty="0">
                <a:highlight>
                  <a:srgbClr val="FFFFFF"/>
                </a:highlight>
              </a:rPr>
            </a:br>
            <a:endParaRPr lang="vi-VN" dirty="0">
              <a:highlight>
                <a:srgbClr val="FFFFFF"/>
              </a:highlight>
            </a:endParaRPr>
          </a:p>
          <a:p>
            <a:r>
              <a:rPr lang="vi-VN" b="1" dirty="0">
                <a:highlight>
                  <a:srgbClr val="FFFFFF"/>
                </a:highlight>
              </a:rPr>
              <a:t>🔹 5️⃣ Tiêu thụ năng lượng cao hơn</a:t>
            </a:r>
          </a:p>
          <a:p>
            <a:r>
              <a:rPr lang="vi-VN" dirty="0">
                <a:highlight>
                  <a:srgbClr val="FFFFFF"/>
                </a:highlight>
              </a:rPr>
              <a:t>Vì có thêm </a:t>
            </a:r>
            <a:r>
              <a:rPr lang="vi-VN" b="1" dirty="0">
                <a:highlight>
                  <a:srgbClr val="FFFFFF"/>
                </a:highlight>
              </a:rPr>
              <a:t>đường clock</a:t>
            </a:r>
            <a:r>
              <a:rPr lang="vi-VN" dirty="0">
                <a:highlight>
                  <a:srgbClr val="FFFFFF"/>
                </a:highlight>
              </a:rPr>
              <a:t> và hoạt động liên tục theo nhịp, nên tổng lượng </a:t>
            </a:r>
            <a:r>
              <a:rPr lang="vi-VN" b="1" dirty="0">
                <a:highlight>
                  <a:srgbClr val="FFFFFF"/>
                </a:highlight>
              </a:rPr>
              <a:t>xung chuyển trạng thái</a:t>
            </a:r>
            <a:r>
              <a:rPr lang="vi-VN" dirty="0">
                <a:highlight>
                  <a:srgbClr val="FFFFFF"/>
                </a:highlight>
              </a:rPr>
              <a:t> (switching activity) tăng → </a:t>
            </a:r>
            <a:r>
              <a:rPr lang="vi-VN" b="1" dirty="0">
                <a:highlight>
                  <a:srgbClr val="FFFFFF"/>
                </a:highlight>
              </a:rPr>
              <a:t>tốn năng lượng hơn</a:t>
            </a:r>
            <a:r>
              <a:rPr lang="vi-VN" dirty="0">
                <a:highlight>
                  <a:srgbClr val="FFFFFF"/>
                </a:highlight>
              </a:rPr>
              <a:t> so với giao thức bất đồng bộ.</a:t>
            </a:r>
          </a:p>
          <a:p>
            <a:r>
              <a:rPr lang="vi-VN" dirty="0">
                <a:highlight>
                  <a:srgbClr val="FFFFFF"/>
                </a:highlight>
              </a:rPr>
              <a:t>🔸 </a:t>
            </a:r>
            <a:r>
              <a:rPr lang="vi-VN" i="1" dirty="0">
                <a:highlight>
                  <a:srgbClr val="FFFFFF"/>
                </a:highlight>
              </a:rPr>
              <a:t>Ví dụ:</a:t>
            </a:r>
            <a:r>
              <a:rPr lang="vi-VN" dirty="0">
                <a:highlight>
                  <a:srgbClr val="FFFFFF"/>
                </a:highlight>
              </a:rPr>
              <a:t> Trong hệ thống cảm biến pin, I2C/SPI hoạt động liên tục sẽ tốn pin hơn UART (truyền từng khung).</a:t>
            </a:r>
          </a:p>
        </p:txBody>
      </p:sp>
      <p:sp>
        <p:nvSpPr>
          <p:cNvPr id="4" name="Slide Number Placeholder 3">
            <a:extLst>
              <a:ext uri="{FF2B5EF4-FFF2-40B4-BE49-F238E27FC236}">
                <a16:creationId xmlns:a16="http://schemas.microsoft.com/office/drawing/2014/main" id="{49061BB7-4F52-B777-9AB6-B15B09582C0C}"/>
              </a:ext>
            </a:extLst>
          </p:cNvPr>
          <p:cNvSpPr>
            <a:spLocks noGrp="1"/>
          </p:cNvSpPr>
          <p:nvPr>
            <p:ph type="sldNum" sz="quarter" idx="5"/>
          </p:nvPr>
        </p:nvSpPr>
        <p:spPr/>
        <p:txBody>
          <a:bodyPr/>
          <a:lstStyle/>
          <a:p>
            <a:fld id="{37D01E2C-B751-4C38-A4F8-4A97733E0BA7}" type="slidenum">
              <a:rPr lang="en-US" smtClean="0"/>
              <a:t>19</a:t>
            </a:fld>
            <a:endParaRPr lang="en-US"/>
          </a:p>
        </p:txBody>
      </p:sp>
    </p:spTree>
    <p:extLst>
      <p:ext uri="{BB962C8B-B14F-4D97-AF65-F5344CB8AC3E}">
        <p14:creationId xmlns:p14="http://schemas.microsoft.com/office/powerpoint/2010/main" val="38237364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CC966-F5CE-8C56-AB68-18CF27D3BC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2E11A7-BC77-EF65-93F7-5F6085AB04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EA93AA-1E1E-C200-2642-7D288BF56B7D}"/>
              </a:ext>
            </a:extLst>
          </p:cNvPr>
          <p:cNvSpPr>
            <a:spLocks noGrp="1"/>
          </p:cNvSpPr>
          <p:nvPr>
            <p:ph type="body" idx="1"/>
          </p:nvPr>
        </p:nvSpPr>
        <p:spPr/>
        <p:txBody>
          <a:bodyPr/>
          <a:lstStyle/>
          <a:p>
            <a:r>
              <a:rPr lang="vi-VN" b="1" dirty="0">
                <a:highlight>
                  <a:srgbClr val="FFFFFF"/>
                </a:highlight>
              </a:rPr>
              <a:t>🔹 6️⃣ Cần đồng hồ chung ổn định</a:t>
            </a:r>
          </a:p>
          <a:p>
            <a:r>
              <a:rPr lang="vi-VN" dirty="0">
                <a:highlight>
                  <a:srgbClr val="FFFFFF"/>
                </a:highlight>
              </a:rPr>
              <a:t>Hệ thống phải đảm bảo </a:t>
            </a:r>
            <a:r>
              <a:rPr lang="vi-VN" b="1" dirty="0">
                <a:highlight>
                  <a:srgbClr val="FFFFFF"/>
                </a:highlight>
              </a:rPr>
              <a:t>tín hiệu clock không bị nhiễu hoặc sai tần số</a:t>
            </a:r>
            <a:r>
              <a:rPr lang="vi-VN" dirty="0">
                <a:highlight>
                  <a:srgbClr val="FFFFFF"/>
                </a:highlight>
              </a:rPr>
              <a:t>.</a:t>
            </a:r>
          </a:p>
          <a:p>
            <a:r>
              <a:rPr lang="vi-VN" dirty="0">
                <a:highlight>
                  <a:srgbClr val="FFFFFF"/>
                </a:highlight>
              </a:rPr>
              <a:t>Nếu clock bị méo hoặc sai biên độ → toàn bộ việc truyền dữ liệu bị lỗi.</a:t>
            </a:r>
          </a:p>
          <a:p>
            <a:r>
              <a:rPr lang="vi-VN" dirty="0">
                <a:highlight>
                  <a:srgbClr val="FFFFFF"/>
                </a:highlight>
              </a:rPr>
              <a:t>Đặc biệt với các hệ thống nhiều module, </a:t>
            </a:r>
            <a:r>
              <a:rPr lang="vi-VN" b="1" dirty="0">
                <a:highlight>
                  <a:srgbClr val="FFFFFF"/>
                </a:highlight>
              </a:rPr>
              <a:t>nhiễu clock</a:t>
            </a:r>
            <a:r>
              <a:rPr lang="vi-VN" dirty="0">
                <a:highlight>
                  <a:srgbClr val="FFFFFF"/>
                </a:highlight>
              </a:rPr>
              <a:t> là vấn đề thường gặp.</a:t>
            </a:r>
          </a:p>
          <a:p>
            <a:br>
              <a:rPr lang="vi-VN" dirty="0">
                <a:highlight>
                  <a:srgbClr val="FFFFFF"/>
                </a:highlight>
              </a:rPr>
            </a:br>
            <a:endParaRPr lang="vi-VN" dirty="0">
              <a:highlight>
                <a:srgbClr val="FFFFFF"/>
              </a:highlight>
            </a:endParaRPr>
          </a:p>
          <a:p>
            <a:r>
              <a:rPr lang="vi-VN" b="1" dirty="0">
                <a:highlight>
                  <a:srgbClr val="FFFFFF"/>
                </a:highlight>
              </a:rPr>
              <a:t>🔹 7️⃣ Một số giao thức có cấu trúc cài đặt phức tạp</a:t>
            </a:r>
          </a:p>
          <a:p>
            <a:r>
              <a:rPr lang="vi-VN" dirty="0">
                <a:highlight>
                  <a:srgbClr val="FFFFFF"/>
                </a:highlight>
              </a:rPr>
              <a:t>Các giao thức đồng bộ “cao cấp” như </a:t>
            </a:r>
            <a:r>
              <a:rPr lang="vi-VN" b="1" dirty="0">
                <a:highlight>
                  <a:srgbClr val="FFFFFF"/>
                </a:highlight>
              </a:rPr>
              <a:t>I2C, CAN, USB, Ethernet</a:t>
            </a:r>
            <a:r>
              <a:rPr lang="vi-VN" dirty="0">
                <a:highlight>
                  <a:srgbClr val="FFFFFF"/>
                </a:highlight>
              </a:rPr>
              <a:t> có khung dữ liệu phức tạp,</a:t>
            </a:r>
            <a:br>
              <a:rPr lang="vi-VN" dirty="0">
                <a:highlight>
                  <a:srgbClr val="FFFFFF"/>
                </a:highlight>
              </a:rPr>
            </a:br>
            <a:r>
              <a:rPr lang="vi-VN" dirty="0">
                <a:highlight>
                  <a:srgbClr val="FFFFFF"/>
                </a:highlight>
              </a:rPr>
              <a:t>cần hiểu rõ </a:t>
            </a:r>
            <a:r>
              <a:rPr lang="vi-VN" b="1" dirty="0">
                <a:highlight>
                  <a:srgbClr val="FFFFFF"/>
                </a:highlight>
              </a:rPr>
              <a:t>cơ chế bắt đầu, địa chỉ, kiểm lỗi, ACK, STOP</a:t>
            </a:r>
            <a:r>
              <a:rPr lang="vi-VN" dirty="0">
                <a:highlight>
                  <a:srgbClr val="FFFFFF"/>
                </a:highlight>
              </a:rPr>
              <a:t>, nên việc lập trình và debug khó hơn.</a:t>
            </a:r>
          </a:p>
          <a:p>
            <a:r>
              <a:rPr lang="vi-VN" dirty="0">
                <a:highlight>
                  <a:srgbClr val="FFFFFF"/>
                </a:highlight>
              </a:rPr>
              <a:t>🔸 </a:t>
            </a:r>
            <a:r>
              <a:rPr lang="vi-VN" i="1" dirty="0">
                <a:highlight>
                  <a:srgbClr val="FFFFFF"/>
                </a:highlight>
              </a:rPr>
              <a:t>Ví dụ:</a:t>
            </a:r>
            <a:r>
              <a:rPr lang="vi-VN" dirty="0">
                <a:highlight>
                  <a:srgbClr val="FFFFFF"/>
                </a:highlight>
              </a:rPr>
              <a:t> Lập trình CAN cần hiểu khái niệm </a:t>
            </a:r>
            <a:r>
              <a:rPr lang="vi-VN" b="1" dirty="0">
                <a:highlight>
                  <a:srgbClr val="FFFFFF"/>
                </a:highlight>
              </a:rPr>
              <a:t>bit stuffing, arbitration, CRC field</a:t>
            </a:r>
            <a:r>
              <a:rPr lang="vi-VN" dirty="0">
                <a:highlight>
                  <a:srgbClr val="FFFFFF"/>
                </a:highlight>
              </a:rPr>
              <a:t>, khá phức tạp cho người mới.</a:t>
            </a:r>
          </a:p>
        </p:txBody>
      </p:sp>
      <p:sp>
        <p:nvSpPr>
          <p:cNvPr id="4" name="Slide Number Placeholder 3">
            <a:extLst>
              <a:ext uri="{FF2B5EF4-FFF2-40B4-BE49-F238E27FC236}">
                <a16:creationId xmlns:a16="http://schemas.microsoft.com/office/drawing/2014/main" id="{C8C35B3F-07B4-E12D-209B-E5A1B1B03C01}"/>
              </a:ext>
            </a:extLst>
          </p:cNvPr>
          <p:cNvSpPr>
            <a:spLocks noGrp="1"/>
          </p:cNvSpPr>
          <p:nvPr>
            <p:ph type="sldNum" sz="quarter" idx="5"/>
          </p:nvPr>
        </p:nvSpPr>
        <p:spPr/>
        <p:txBody>
          <a:bodyPr/>
          <a:lstStyle/>
          <a:p>
            <a:fld id="{37D01E2C-B751-4C38-A4F8-4A97733E0BA7}" type="slidenum">
              <a:rPr lang="en-US" smtClean="0"/>
              <a:t>20</a:t>
            </a:fld>
            <a:endParaRPr lang="en-US"/>
          </a:p>
        </p:txBody>
      </p:sp>
    </p:spTree>
    <p:extLst>
      <p:ext uri="{BB962C8B-B14F-4D97-AF65-F5344CB8AC3E}">
        <p14:creationId xmlns:p14="http://schemas.microsoft.com/office/powerpoint/2010/main" val="16114141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23BE0-1B45-4748-344C-CB662A31F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E46279-B602-7E58-90D9-B2D207D125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225683-1057-20DD-63B0-A32F47961A7C}"/>
              </a:ext>
            </a:extLst>
          </p:cNvPr>
          <p:cNvSpPr>
            <a:spLocks noGrp="1"/>
          </p:cNvSpPr>
          <p:nvPr>
            <p:ph type="body" idx="1"/>
          </p:nvPr>
        </p:nvSpPr>
        <p:spPr/>
        <p:txBody>
          <a:bodyPr/>
          <a:lstStyle/>
          <a:p>
            <a:r>
              <a:rPr lang="vi-VN" b="1" dirty="0">
                <a:highlight>
                  <a:srgbClr val="FFFFFF"/>
                </a:highlight>
              </a:rPr>
              <a:t>Tiêu chíƯu điểmNhược điểmTốc độ truyền</a:t>
            </a:r>
            <a:r>
              <a:rPr lang="vi-VN" dirty="0">
                <a:highlight>
                  <a:srgbClr val="FFFFFF"/>
                </a:highlight>
              </a:rPr>
              <a:t>Rất cao, nhờ clock chungClock gây nhiễu nếu dây dài</a:t>
            </a:r>
            <a:r>
              <a:rPr lang="vi-VN" b="1" dirty="0">
                <a:highlight>
                  <a:srgbClr val="FFFFFF"/>
                </a:highlight>
              </a:rPr>
              <a:t>Độ chính xác</a:t>
            </a:r>
            <a:r>
              <a:rPr lang="vi-VN" dirty="0">
                <a:highlight>
                  <a:srgbClr val="FFFFFF"/>
                </a:highlight>
              </a:rPr>
              <a:t>Đồng bộ theo clock → ổn địnhClock sai lệch → lỗi toàn bus</a:t>
            </a:r>
            <a:r>
              <a:rPr lang="vi-VN" b="1" dirty="0">
                <a:highlight>
                  <a:srgbClr val="FFFFFF"/>
                </a:highlight>
              </a:rPr>
              <a:t>Số dây kết nối</a:t>
            </a:r>
            <a:r>
              <a:rPr lang="vi-VN" dirty="0">
                <a:highlight>
                  <a:srgbClr val="FFFFFF"/>
                </a:highlight>
              </a:rPr>
              <a:t>Truyền dữ liệu song song hiệu quảCần thêm dây clock, SS</a:t>
            </a:r>
            <a:r>
              <a:rPr lang="vi-VN" b="1" dirty="0">
                <a:highlight>
                  <a:srgbClr val="FFFFFF"/>
                </a:highlight>
              </a:rPr>
              <a:t>Khoảng cách truyền</a:t>
            </a:r>
            <a:r>
              <a:rPr lang="vi-VN" dirty="0">
                <a:highlight>
                  <a:srgbClr val="FFFFFF"/>
                </a:highlight>
              </a:rPr>
              <a:t>Ngắn và nhanhKhông truyền xa được</a:t>
            </a:r>
            <a:r>
              <a:rPr lang="vi-VN" b="1" dirty="0">
                <a:highlight>
                  <a:srgbClr val="FFFFFF"/>
                </a:highlight>
              </a:rPr>
              <a:t>Độ phức tạp phần cứng</a:t>
            </a:r>
            <a:r>
              <a:rPr lang="vi-VN" dirty="0">
                <a:highlight>
                  <a:srgbClr val="FFFFFF"/>
                </a:highlight>
              </a:rPr>
              <a:t>Hiệu suất caoThiết kế, routing dây phức tạp</a:t>
            </a:r>
            <a:r>
              <a:rPr lang="vi-VN" b="1" dirty="0">
                <a:highlight>
                  <a:srgbClr val="FFFFFF"/>
                </a:highlight>
              </a:rPr>
              <a:t>Tiêu thụ năng lượng</a:t>
            </a:r>
            <a:r>
              <a:rPr lang="vi-VN" dirty="0">
                <a:highlight>
                  <a:srgbClr val="FFFFFF"/>
                </a:highlight>
              </a:rPr>
              <a:t>Ổn địnhTốn năng lượng hơn UART</a:t>
            </a:r>
            <a:r>
              <a:rPr lang="vi-VN" b="1" dirty="0">
                <a:highlight>
                  <a:srgbClr val="FFFFFF"/>
                </a:highlight>
              </a:rPr>
              <a:t>Khả năng mở rộng</a:t>
            </a:r>
            <a:r>
              <a:rPr lang="vi-VN" dirty="0">
                <a:highlight>
                  <a:srgbClr val="FFFFFF"/>
                </a:highlight>
              </a:rPr>
              <a:t>Tùy giao thức (I2C, CAN có thể mở rộng)Bị giới hạn bởi số chân hoặc địa chỉ</a:t>
            </a:r>
          </a:p>
        </p:txBody>
      </p:sp>
      <p:sp>
        <p:nvSpPr>
          <p:cNvPr id="4" name="Slide Number Placeholder 3">
            <a:extLst>
              <a:ext uri="{FF2B5EF4-FFF2-40B4-BE49-F238E27FC236}">
                <a16:creationId xmlns:a16="http://schemas.microsoft.com/office/drawing/2014/main" id="{EDD93118-9BD3-3134-C28F-098EB0842692}"/>
              </a:ext>
            </a:extLst>
          </p:cNvPr>
          <p:cNvSpPr>
            <a:spLocks noGrp="1"/>
          </p:cNvSpPr>
          <p:nvPr>
            <p:ph type="sldNum" sz="quarter" idx="5"/>
          </p:nvPr>
        </p:nvSpPr>
        <p:spPr/>
        <p:txBody>
          <a:bodyPr/>
          <a:lstStyle/>
          <a:p>
            <a:fld id="{37D01E2C-B751-4C38-A4F8-4A97733E0BA7}" type="slidenum">
              <a:rPr lang="en-US" smtClean="0"/>
              <a:t>21</a:t>
            </a:fld>
            <a:endParaRPr lang="en-US"/>
          </a:p>
        </p:txBody>
      </p:sp>
    </p:spTree>
    <p:extLst>
      <p:ext uri="{BB962C8B-B14F-4D97-AF65-F5344CB8AC3E}">
        <p14:creationId xmlns:p14="http://schemas.microsoft.com/office/powerpoint/2010/main" val="32425509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376B7-C67F-FEA0-30C1-843AB2801A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BF9836-1D20-485C-9E36-4065F5090D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3CCE56-BFC3-CC17-AC35-523E0D7F15A3}"/>
              </a:ext>
            </a:extLst>
          </p:cNvPr>
          <p:cNvSpPr>
            <a:spLocks noGrp="1"/>
          </p:cNvSpPr>
          <p:nvPr>
            <p:ph type="body" idx="1"/>
          </p:nvPr>
        </p:nvSpPr>
        <p:spPr/>
        <p:txBody>
          <a:bodyPr/>
          <a:lstStyle/>
          <a:p>
            <a:r>
              <a:rPr lang="vi-VN" dirty="0"/>
              <a:t>Vì </a:t>
            </a:r>
            <a:r>
              <a:rPr lang="vi-VN" b="1" dirty="0"/>
              <a:t>không có clock chung</a:t>
            </a:r>
            <a:r>
              <a:rPr lang="vi-VN" dirty="0"/>
              <a:t>, nên dữ liệu được truyền </a:t>
            </a:r>
            <a:r>
              <a:rPr lang="vi-VN" b="1" dirty="0"/>
              <a:t>từng byte (hoặc ký tự)</a:t>
            </a:r>
            <a:r>
              <a:rPr lang="vi-VN" dirty="0"/>
              <a:t>, và </a:t>
            </a:r>
            <a:r>
              <a:rPr lang="vi-VN" b="1" dirty="0"/>
              <a:t>mỗi byte có các bit đặc biệt để báo hiệu bắt đầu và kết thúc</a:t>
            </a:r>
            <a:endParaRPr lang="en-US" b="1" dirty="0"/>
          </a:p>
          <a:p>
            <a:endParaRPr lang="en-US" b="1" dirty="0"/>
          </a:p>
          <a:p>
            <a:r>
              <a:rPr lang="vi-VN" dirty="0"/>
              <a:t>Thiết bị nhận </a:t>
            </a:r>
            <a:r>
              <a:rPr lang="vi-VN" b="1" dirty="0"/>
              <a:t>nhìn thấy bit Start (mức logic 0)</a:t>
            </a:r>
            <a:r>
              <a:rPr lang="vi-VN" dirty="0"/>
              <a:t> để biết rằng “một byte mới bắt đầu”.</a:t>
            </a:r>
            <a:br>
              <a:rPr lang="vi-VN" dirty="0"/>
            </a:br>
            <a:r>
              <a:rPr lang="vi-VN" dirty="0"/>
              <a:t>Sau đó nó </a:t>
            </a:r>
            <a:r>
              <a:rPr lang="vi-VN" b="1" dirty="0"/>
              <a:t>tự đo thời gian</a:t>
            </a:r>
            <a:r>
              <a:rPr lang="vi-VN" dirty="0"/>
              <a:t> (theo baud rate đã thống nhất) để đọc từng bit tiếp theo.</a:t>
            </a:r>
            <a:endParaRPr lang="en-US" b="1" dirty="0"/>
          </a:p>
          <a:p>
            <a:endParaRPr lang="en-US" b="1" dirty="0"/>
          </a:p>
          <a:p>
            <a:endParaRPr lang="vi-VN" dirty="0"/>
          </a:p>
        </p:txBody>
      </p:sp>
      <p:sp>
        <p:nvSpPr>
          <p:cNvPr id="4" name="Slide Number Placeholder 3">
            <a:extLst>
              <a:ext uri="{FF2B5EF4-FFF2-40B4-BE49-F238E27FC236}">
                <a16:creationId xmlns:a16="http://schemas.microsoft.com/office/drawing/2014/main" id="{AAD49EF5-8C37-2A11-620F-983C257F5EEF}"/>
              </a:ext>
            </a:extLst>
          </p:cNvPr>
          <p:cNvSpPr>
            <a:spLocks noGrp="1"/>
          </p:cNvSpPr>
          <p:nvPr>
            <p:ph type="sldNum" sz="quarter" idx="5"/>
          </p:nvPr>
        </p:nvSpPr>
        <p:spPr/>
        <p:txBody>
          <a:bodyPr/>
          <a:lstStyle/>
          <a:p>
            <a:fld id="{37D01E2C-B751-4C38-A4F8-4A97733E0BA7}" type="slidenum">
              <a:rPr lang="en-US" smtClean="0"/>
              <a:t>22</a:t>
            </a:fld>
            <a:endParaRPr lang="en-US"/>
          </a:p>
        </p:txBody>
      </p:sp>
    </p:spTree>
    <p:extLst>
      <p:ext uri="{BB962C8B-B14F-4D97-AF65-F5344CB8AC3E}">
        <p14:creationId xmlns:p14="http://schemas.microsoft.com/office/powerpoint/2010/main" val="40676596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09C1D-A8A3-2009-A92B-514AC00963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830259-FEFD-4F92-A5A8-1A7F14CAC8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C9B1BE-3850-92FF-1471-74309C4EB7EF}"/>
              </a:ext>
            </a:extLst>
          </p:cNvPr>
          <p:cNvSpPr>
            <a:spLocks noGrp="1"/>
          </p:cNvSpPr>
          <p:nvPr>
            <p:ph type="body" idx="1"/>
          </p:nvPr>
        </p:nvSpPr>
        <p:spPr/>
        <p:txBody>
          <a:bodyPr/>
          <a:lstStyle/>
          <a:p>
            <a:r>
              <a:rPr lang="vi-VN" dirty="0"/>
              <a:t>Vì </a:t>
            </a:r>
            <a:r>
              <a:rPr lang="vi-VN" b="1" dirty="0"/>
              <a:t>không có clock chung</a:t>
            </a:r>
            <a:r>
              <a:rPr lang="vi-VN" dirty="0"/>
              <a:t>, nên dữ liệu được truyền </a:t>
            </a:r>
            <a:r>
              <a:rPr lang="vi-VN" b="1" dirty="0"/>
              <a:t>từng byte (hoặc ký tự)</a:t>
            </a:r>
            <a:r>
              <a:rPr lang="vi-VN" dirty="0"/>
              <a:t>, và </a:t>
            </a:r>
            <a:r>
              <a:rPr lang="vi-VN" b="1" dirty="0"/>
              <a:t>mỗi byte có các bit đặc biệt để báo hiệu bắt đầu và kết thúc</a:t>
            </a:r>
            <a:endParaRPr lang="en-US" b="1" dirty="0"/>
          </a:p>
          <a:p>
            <a:endParaRPr lang="en-US" b="1" dirty="0"/>
          </a:p>
          <a:p>
            <a:r>
              <a:rPr lang="vi-VN" dirty="0"/>
              <a:t>Thiết bị nhận </a:t>
            </a:r>
            <a:r>
              <a:rPr lang="vi-VN" b="1" dirty="0"/>
              <a:t>nhìn thấy bit Start (mức logic 0)</a:t>
            </a:r>
            <a:r>
              <a:rPr lang="vi-VN" dirty="0"/>
              <a:t> để biết rằng “một byte mới bắt đầu”.</a:t>
            </a:r>
            <a:br>
              <a:rPr lang="vi-VN" dirty="0"/>
            </a:br>
            <a:r>
              <a:rPr lang="vi-VN" dirty="0"/>
              <a:t>Sau đó nó </a:t>
            </a:r>
            <a:r>
              <a:rPr lang="vi-VN" b="1" dirty="0"/>
              <a:t>tự đo thời gian</a:t>
            </a:r>
            <a:r>
              <a:rPr lang="vi-VN" dirty="0"/>
              <a:t> (theo baud rate đã thống nhất) để đọc từng bit tiếp theo.</a:t>
            </a:r>
            <a:endParaRPr lang="en-US" b="1" dirty="0"/>
          </a:p>
          <a:p>
            <a:endParaRPr lang="en-US" b="1" dirty="0"/>
          </a:p>
          <a:p>
            <a:endParaRPr lang="vi-VN" dirty="0"/>
          </a:p>
        </p:txBody>
      </p:sp>
      <p:sp>
        <p:nvSpPr>
          <p:cNvPr id="4" name="Slide Number Placeholder 3">
            <a:extLst>
              <a:ext uri="{FF2B5EF4-FFF2-40B4-BE49-F238E27FC236}">
                <a16:creationId xmlns:a16="http://schemas.microsoft.com/office/drawing/2014/main" id="{068627E0-3F7B-1CEA-0CC2-9330E2D8E7FB}"/>
              </a:ext>
            </a:extLst>
          </p:cNvPr>
          <p:cNvSpPr>
            <a:spLocks noGrp="1"/>
          </p:cNvSpPr>
          <p:nvPr>
            <p:ph type="sldNum" sz="quarter" idx="5"/>
          </p:nvPr>
        </p:nvSpPr>
        <p:spPr/>
        <p:txBody>
          <a:bodyPr/>
          <a:lstStyle/>
          <a:p>
            <a:fld id="{37D01E2C-B751-4C38-A4F8-4A97733E0BA7}" type="slidenum">
              <a:rPr lang="en-US" smtClean="0"/>
              <a:t>23</a:t>
            </a:fld>
            <a:endParaRPr lang="en-US"/>
          </a:p>
        </p:txBody>
      </p:sp>
    </p:spTree>
    <p:extLst>
      <p:ext uri="{BB962C8B-B14F-4D97-AF65-F5344CB8AC3E}">
        <p14:creationId xmlns:p14="http://schemas.microsoft.com/office/powerpoint/2010/main" val="14822573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6A6F9-0798-695A-C887-F86A2330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115361-403A-BD80-B2F9-5FDCE0CD11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1DA01C-8FE6-542E-3564-D847AC6A4F15}"/>
              </a:ext>
            </a:extLst>
          </p:cNvPr>
          <p:cNvSpPr>
            <a:spLocks noGrp="1"/>
          </p:cNvSpPr>
          <p:nvPr>
            <p:ph type="body" idx="1"/>
          </p:nvPr>
        </p:nvSpPr>
        <p:spPr/>
        <p:txBody>
          <a:bodyPr/>
          <a:lstStyle/>
          <a:p>
            <a:r>
              <a:rPr lang="vi-VN" b="1" dirty="0">
                <a:highlight>
                  <a:srgbClr val="FFFFFF"/>
                </a:highlight>
              </a:rPr>
              <a:t>🧩 1️⃣ Không có xung clock chung (No shared clock)</a:t>
            </a:r>
          </a:p>
          <a:p>
            <a:r>
              <a:rPr lang="vi-VN" dirty="0">
                <a:highlight>
                  <a:srgbClr val="FFFFFF"/>
                </a:highlight>
              </a:rPr>
              <a:t>Trong truyền không đồng bộ, </a:t>
            </a:r>
            <a:r>
              <a:rPr lang="vi-VN" b="1" dirty="0">
                <a:highlight>
                  <a:srgbClr val="FFFFFF"/>
                </a:highlight>
              </a:rPr>
              <a:t>thiết bị phát và thiết bị thu không dùng chung tín hiệu clock</a:t>
            </a:r>
            <a:r>
              <a:rPr lang="vi-VN" dirty="0">
                <a:highlight>
                  <a:srgbClr val="FFFFFF"/>
                </a:highlight>
              </a:rPr>
              <a:t>.</a:t>
            </a:r>
          </a:p>
          <a:p>
            <a:r>
              <a:rPr lang="vi-VN" dirty="0">
                <a:highlight>
                  <a:srgbClr val="FFFFFF"/>
                </a:highlight>
              </a:rPr>
              <a:t>Mỗi bên </a:t>
            </a:r>
            <a:r>
              <a:rPr lang="vi-VN" b="1" dirty="0">
                <a:highlight>
                  <a:srgbClr val="FFFFFF"/>
                </a:highlight>
              </a:rPr>
              <a:t>tự định thời</a:t>
            </a:r>
            <a:r>
              <a:rPr lang="vi-VN" dirty="0">
                <a:highlight>
                  <a:srgbClr val="FFFFFF"/>
                </a:highlight>
              </a:rPr>
              <a:t> (tự tạo clock nội bộ) để đọc hoặc gửi từng bit.</a:t>
            </a:r>
          </a:p>
          <a:p>
            <a:r>
              <a:rPr lang="vi-VN" dirty="0">
                <a:highlight>
                  <a:srgbClr val="FFFFFF"/>
                </a:highlight>
              </a:rPr>
              <a:t>Vì thế, </a:t>
            </a:r>
            <a:r>
              <a:rPr lang="vi-VN" b="1" dirty="0">
                <a:highlight>
                  <a:srgbClr val="FFFFFF"/>
                </a:highlight>
              </a:rPr>
              <a:t>hai bên phải thống nhất trước tốc độ truyền (baud rate)</a:t>
            </a:r>
            <a:r>
              <a:rPr lang="vi-VN" dirty="0">
                <a:highlight>
                  <a:srgbClr val="FFFFFF"/>
                </a:highlight>
              </a:rPr>
              <a:t>.</a:t>
            </a:r>
          </a:p>
          <a:p>
            <a:r>
              <a:rPr lang="vi-VN" dirty="0">
                <a:highlight>
                  <a:srgbClr val="FFFFFF"/>
                </a:highlight>
              </a:rPr>
              <a:t>Ví dụ:</a:t>
            </a:r>
            <a:br>
              <a:rPr lang="vi-VN" dirty="0">
                <a:highlight>
                  <a:srgbClr val="FFFFFF"/>
                </a:highlight>
              </a:rPr>
            </a:br>
            <a:r>
              <a:rPr lang="vi-VN" dirty="0">
                <a:highlight>
                  <a:srgbClr val="FFFFFF"/>
                </a:highlight>
              </a:rPr>
              <a:t>Cả hai cùng thiết lập tốc độ 9600 baud.</a:t>
            </a:r>
            <a:br>
              <a:rPr lang="vi-VN" dirty="0">
                <a:highlight>
                  <a:srgbClr val="FFFFFF"/>
                </a:highlight>
              </a:rPr>
            </a:br>
            <a:r>
              <a:rPr lang="vi-VN" dirty="0">
                <a:highlight>
                  <a:srgbClr val="FFFFFF"/>
                </a:highlight>
              </a:rPr>
              <a:t>→ Cứ 1/9600 giây, thiết bị thu sẽ đọc 1 bit dữ liệu.</a:t>
            </a:r>
          </a:p>
          <a:p>
            <a:r>
              <a:rPr lang="vi-VN" dirty="0">
                <a:highlight>
                  <a:srgbClr val="FFFFFF"/>
                </a:highlight>
              </a:rPr>
              <a:t>Nếu một bên đặt sai tốc độ (ví dụ 9600 vs 115200) → dữ liệu sẽ bị </a:t>
            </a:r>
            <a:r>
              <a:rPr lang="vi-VN" b="1" dirty="0">
                <a:highlight>
                  <a:srgbClr val="FFFFFF"/>
                </a:highlight>
              </a:rPr>
              <a:t>sai ký tự hoặc lỗi nhận</a:t>
            </a:r>
            <a:r>
              <a:rPr lang="vi-VN" dirty="0">
                <a:highlight>
                  <a:srgbClr val="FFFFFF"/>
                </a:highlight>
              </a:rPr>
              <a:t>.</a:t>
            </a:r>
          </a:p>
          <a:p>
            <a:r>
              <a:rPr lang="vi-VN" dirty="0">
                <a:highlight>
                  <a:srgbClr val="FFFFFF"/>
                </a:highlight>
              </a:rPr>
              <a:t>📍 </a:t>
            </a:r>
            <a:r>
              <a:rPr lang="vi-VN" b="1" dirty="0">
                <a:highlight>
                  <a:srgbClr val="FFFFFF"/>
                </a:highlight>
              </a:rPr>
              <a:t>Ứng dụng:</a:t>
            </a:r>
            <a:r>
              <a:rPr lang="vi-VN" dirty="0">
                <a:highlight>
                  <a:srgbClr val="FFFFFF"/>
                </a:highlight>
              </a:rPr>
              <a:t> UART, RS-232, TTL Serial trong Arduino đều dùng kiểu này.</a:t>
            </a:r>
          </a:p>
        </p:txBody>
      </p:sp>
      <p:sp>
        <p:nvSpPr>
          <p:cNvPr id="4" name="Slide Number Placeholder 3">
            <a:extLst>
              <a:ext uri="{FF2B5EF4-FFF2-40B4-BE49-F238E27FC236}">
                <a16:creationId xmlns:a16="http://schemas.microsoft.com/office/drawing/2014/main" id="{A0C7A616-DF30-66F9-76EE-3059531B0557}"/>
              </a:ext>
            </a:extLst>
          </p:cNvPr>
          <p:cNvSpPr>
            <a:spLocks noGrp="1"/>
          </p:cNvSpPr>
          <p:nvPr>
            <p:ph type="sldNum" sz="quarter" idx="5"/>
          </p:nvPr>
        </p:nvSpPr>
        <p:spPr/>
        <p:txBody>
          <a:bodyPr/>
          <a:lstStyle/>
          <a:p>
            <a:fld id="{37D01E2C-B751-4C38-A4F8-4A97733E0BA7}" type="slidenum">
              <a:rPr lang="en-US" smtClean="0"/>
              <a:t>24</a:t>
            </a:fld>
            <a:endParaRPr lang="en-US"/>
          </a:p>
        </p:txBody>
      </p:sp>
    </p:spTree>
    <p:extLst>
      <p:ext uri="{BB962C8B-B14F-4D97-AF65-F5344CB8AC3E}">
        <p14:creationId xmlns:p14="http://schemas.microsoft.com/office/powerpoint/2010/main" val="25724641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FC2116-F74D-4B5F-4812-8A8DB3856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87B794-3D2A-FD17-6854-BEDADAA7BF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27259D-0D6E-BA71-51C4-0BBCE904A421}"/>
              </a:ext>
            </a:extLst>
          </p:cNvPr>
          <p:cNvSpPr>
            <a:spLocks noGrp="1"/>
          </p:cNvSpPr>
          <p:nvPr>
            <p:ph type="body" idx="1"/>
          </p:nvPr>
        </p:nvSpPr>
        <p:spPr/>
        <p:txBody>
          <a:bodyPr/>
          <a:lstStyle/>
          <a:p>
            <a:r>
              <a:rPr lang="vi-VN" b="1" dirty="0">
                <a:highlight>
                  <a:srgbClr val="FFFFFF"/>
                </a:highlight>
              </a:rPr>
              <a:t>📦 2️⃣ Dữ liệu được truyền từng ký tự riêng lẻ (Character-oriented)</a:t>
            </a:r>
          </a:p>
          <a:p>
            <a:r>
              <a:rPr lang="vi-VN" dirty="0">
                <a:highlight>
                  <a:srgbClr val="FFFFFF"/>
                </a:highlight>
              </a:rPr>
              <a:t>Dữ liệu không được truyền liên tục như ở giao thức đồng bộ (SPI, I2C).</a:t>
            </a:r>
          </a:p>
          <a:p>
            <a:r>
              <a:rPr lang="vi-VN" dirty="0">
                <a:highlight>
                  <a:srgbClr val="FFFFFF"/>
                </a:highlight>
              </a:rPr>
              <a:t>Thay vào đó, mỗi ký tự (hoặc byte) được gửi </a:t>
            </a:r>
            <a:r>
              <a:rPr lang="vi-VN" b="1" dirty="0">
                <a:highlight>
                  <a:srgbClr val="FFFFFF"/>
                </a:highlight>
              </a:rPr>
              <a:t>riêng biệt</a:t>
            </a:r>
            <a:r>
              <a:rPr lang="vi-VN" dirty="0">
                <a:highlight>
                  <a:srgbClr val="FFFFFF"/>
                </a:highlight>
              </a:rPr>
              <a:t> với cấu trúc:</a:t>
            </a:r>
          </a:p>
          <a:p>
            <a:pPr rtl="0"/>
            <a:r>
              <a:rPr lang="vi-VN" sz="1200" kern="1200" dirty="0">
                <a:solidFill>
                  <a:schemeClr val="tx1"/>
                </a:solidFill>
                <a:highlight>
                  <a:srgbClr val="FFFFFF"/>
                </a:highlight>
                <a:latin typeface="+mn-lt"/>
                <a:ea typeface="+mn-ea"/>
                <a:cs typeface="+mn-cs"/>
              </a:rPr>
              <a:t>Start bit – Data bits – (Optional Parity bit) – Stop bit(s)</a:t>
            </a:r>
          </a:p>
          <a:p>
            <a:r>
              <a:rPr lang="vi-VN" dirty="0">
                <a:highlight>
                  <a:srgbClr val="FFFFFF"/>
                </a:highlight>
              </a:rPr>
              <a:t>Khi gửi xong một ký tự, có thể tạm dừng một lúc rồi gửi tiếp (vì không cần đồng bộ thời gian chặt chẽ).</a:t>
            </a:r>
          </a:p>
          <a:p>
            <a:r>
              <a:rPr lang="vi-VN" dirty="0">
                <a:highlight>
                  <a:srgbClr val="FFFFFF"/>
                </a:highlight>
              </a:rPr>
              <a:t>📍 </a:t>
            </a:r>
            <a:r>
              <a:rPr lang="vi-VN" b="1" dirty="0">
                <a:highlight>
                  <a:srgbClr val="FFFFFF"/>
                </a:highlight>
              </a:rPr>
              <a:t>Ưu điểm:</a:t>
            </a:r>
            <a:r>
              <a:rPr lang="vi-VN" dirty="0">
                <a:highlight>
                  <a:srgbClr val="FFFFFF"/>
                </a:highlight>
              </a:rPr>
              <a:t> linh hoạt, không cần tốc độ truyền liên tục, phù hợp khi dữ liệu đến rời rạc (ví dụ: gửi lệnh AT, truyền ký tự).</a:t>
            </a:r>
            <a:br>
              <a:rPr lang="vi-VN" dirty="0">
                <a:highlight>
                  <a:srgbClr val="FFFFFF"/>
                </a:highlight>
              </a:rPr>
            </a:br>
            <a:r>
              <a:rPr lang="vi-VN" dirty="0">
                <a:highlight>
                  <a:srgbClr val="FFFFFF"/>
                </a:highlight>
              </a:rPr>
              <a:t>📍 </a:t>
            </a:r>
            <a:r>
              <a:rPr lang="vi-VN" b="1" dirty="0">
                <a:highlight>
                  <a:srgbClr val="FFFFFF"/>
                </a:highlight>
              </a:rPr>
              <a:t>Nhược điểm:</a:t>
            </a:r>
            <a:r>
              <a:rPr lang="vi-VN" dirty="0">
                <a:highlight>
                  <a:srgbClr val="FFFFFF"/>
                </a:highlight>
              </a:rPr>
              <a:t> có độ trễ giữa các ký tự, nên </a:t>
            </a:r>
            <a:r>
              <a:rPr lang="vi-VN" b="1" dirty="0">
                <a:highlight>
                  <a:srgbClr val="FFFFFF"/>
                </a:highlight>
              </a:rPr>
              <a:t>tốc độ tổng thể chậm hơn</a:t>
            </a:r>
            <a:r>
              <a:rPr lang="vi-VN" dirty="0">
                <a:highlight>
                  <a:srgbClr val="FFFFFF"/>
                </a:highlight>
              </a:rPr>
              <a:t>.</a:t>
            </a:r>
          </a:p>
        </p:txBody>
      </p:sp>
      <p:sp>
        <p:nvSpPr>
          <p:cNvPr id="4" name="Slide Number Placeholder 3">
            <a:extLst>
              <a:ext uri="{FF2B5EF4-FFF2-40B4-BE49-F238E27FC236}">
                <a16:creationId xmlns:a16="http://schemas.microsoft.com/office/drawing/2014/main" id="{5261766C-7281-1249-FAE2-35B048624BF5}"/>
              </a:ext>
            </a:extLst>
          </p:cNvPr>
          <p:cNvSpPr>
            <a:spLocks noGrp="1"/>
          </p:cNvSpPr>
          <p:nvPr>
            <p:ph type="sldNum" sz="quarter" idx="5"/>
          </p:nvPr>
        </p:nvSpPr>
        <p:spPr/>
        <p:txBody>
          <a:bodyPr/>
          <a:lstStyle/>
          <a:p>
            <a:fld id="{37D01E2C-B751-4C38-A4F8-4A97733E0BA7}" type="slidenum">
              <a:rPr lang="en-US" smtClean="0"/>
              <a:t>25</a:t>
            </a:fld>
            <a:endParaRPr lang="en-US"/>
          </a:p>
        </p:txBody>
      </p:sp>
    </p:spTree>
    <p:extLst>
      <p:ext uri="{BB962C8B-B14F-4D97-AF65-F5344CB8AC3E}">
        <p14:creationId xmlns:p14="http://schemas.microsoft.com/office/powerpoint/2010/main" val="198801921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EC860-A4BF-B3C6-A8B2-7D1FAC4450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D77704-63A3-6189-81F5-D4ADA4A42B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7B9EB3-5A3F-FCCF-EEF8-68A114D2D0D7}"/>
              </a:ext>
            </a:extLst>
          </p:cNvPr>
          <p:cNvSpPr>
            <a:spLocks noGrp="1"/>
          </p:cNvSpPr>
          <p:nvPr>
            <p:ph type="body" idx="1"/>
          </p:nvPr>
        </p:nvSpPr>
        <p:spPr/>
        <p:txBody>
          <a:bodyPr/>
          <a:lstStyle/>
          <a:p>
            <a:r>
              <a:rPr lang="vi-VN" b="1" dirty="0">
                <a:highlight>
                  <a:srgbClr val="FFFFFF"/>
                </a:highlight>
              </a:rPr>
              <a:t>⏱️ 3️⃣ Cần bit Start và Stop để đồng bộ từng ký tự</a:t>
            </a:r>
          </a:p>
          <a:p>
            <a:r>
              <a:rPr lang="vi-VN" dirty="0">
                <a:highlight>
                  <a:srgbClr val="FFFFFF"/>
                </a:highlight>
              </a:rPr>
              <a:t>Vì không có clock chung, thiết bị thu </a:t>
            </a:r>
            <a:r>
              <a:rPr lang="vi-VN" b="1" dirty="0">
                <a:highlight>
                  <a:srgbClr val="FFFFFF"/>
                </a:highlight>
              </a:rPr>
              <a:t>phải biết khi nào dữ liệu bắt đầu và kết thúc</a:t>
            </a:r>
            <a:r>
              <a:rPr lang="vi-VN" dirty="0">
                <a:highlight>
                  <a:srgbClr val="FFFFFF"/>
                </a:highlight>
              </a:rPr>
              <a:t>.</a:t>
            </a:r>
          </a:p>
          <a:p>
            <a:r>
              <a:rPr lang="vi-VN" dirty="0">
                <a:highlight>
                  <a:srgbClr val="FFFFFF"/>
                </a:highlight>
              </a:rPr>
              <a:t>Do đó, mỗi byte dữ liệu đều có:</a:t>
            </a:r>
          </a:p>
          <a:p>
            <a:pPr lvl="1"/>
            <a:r>
              <a:rPr lang="vi-VN" b="1" dirty="0">
                <a:highlight>
                  <a:srgbClr val="FFFFFF"/>
                </a:highlight>
              </a:rPr>
              <a:t>Start bit (mức 0)</a:t>
            </a:r>
            <a:r>
              <a:rPr lang="vi-VN" dirty="0">
                <a:highlight>
                  <a:srgbClr val="FFFFFF"/>
                </a:highlight>
              </a:rPr>
              <a:t> → báo hiệu “bắt đầu truyền”.</a:t>
            </a:r>
          </a:p>
          <a:p>
            <a:pPr lvl="1"/>
            <a:r>
              <a:rPr lang="vi-VN" b="1" dirty="0">
                <a:highlight>
                  <a:srgbClr val="FFFFFF"/>
                </a:highlight>
              </a:rPr>
              <a:t>Stop bit (mức 1)</a:t>
            </a:r>
            <a:r>
              <a:rPr lang="vi-VN" dirty="0">
                <a:highlight>
                  <a:srgbClr val="FFFFFF"/>
                </a:highlight>
              </a:rPr>
              <a:t> → báo hiệu “kết thúc truyền”.</a:t>
            </a:r>
          </a:p>
          <a:p>
            <a:r>
              <a:rPr lang="vi-VN" dirty="0">
                <a:highlight>
                  <a:srgbClr val="FFFFFF"/>
                </a:highlight>
              </a:rPr>
              <a:t>Nhờ 2 bit này, thiết bị nhận có thể </a:t>
            </a:r>
            <a:r>
              <a:rPr lang="vi-VN" b="1" dirty="0">
                <a:highlight>
                  <a:srgbClr val="FFFFFF"/>
                </a:highlight>
              </a:rPr>
              <a:t>tự canh thời gian đọc 8 bit dữ liệu ở giữa</a:t>
            </a:r>
            <a:r>
              <a:rPr lang="vi-VN" dirty="0">
                <a:highlight>
                  <a:srgbClr val="FFFFFF"/>
                </a:highlight>
              </a:rPr>
              <a:t>.</a:t>
            </a:r>
          </a:p>
          <a:p>
            <a:r>
              <a:rPr lang="vi-VN" dirty="0">
                <a:highlight>
                  <a:srgbClr val="FFFFFF"/>
                </a:highlight>
              </a:rPr>
              <a:t>📍 </a:t>
            </a:r>
            <a:r>
              <a:rPr lang="vi-VN" b="1" dirty="0">
                <a:highlight>
                  <a:srgbClr val="FFFFFF"/>
                </a:highlight>
              </a:rPr>
              <a:t>Ví dụ:</a:t>
            </a:r>
            <a:r>
              <a:rPr lang="vi-VN" dirty="0">
                <a:highlight>
                  <a:srgbClr val="FFFFFF"/>
                </a:highlight>
              </a:rPr>
              <a:t> Khi Arduino gửi ký tự </a:t>
            </a:r>
            <a:r>
              <a:rPr lang="vi-VN" sz="1200" kern="1200" dirty="0">
                <a:solidFill>
                  <a:schemeClr val="tx1"/>
                </a:solidFill>
                <a:highlight>
                  <a:srgbClr val="FFFFFF"/>
                </a:highlight>
                <a:latin typeface="+mn-lt"/>
                <a:ea typeface="+mn-ea"/>
                <a:cs typeface="+mn-cs"/>
              </a:rPr>
              <a:t>'A'</a:t>
            </a:r>
            <a:r>
              <a:rPr lang="vi-VN" dirty="0">
                <a:highlight>
                  <a:srgbClr val="FFFFFF"/>
                </a:highlight>
              </a:rPr>
              <a:t> (mã nhị phân 01000001), gói truyền thực tế sẽ là:</a:t>
            </a:r>
          </a:p>
        </p:txBody>
      </p:sp>
      <p:sp>
        <p:nvSpPr>
          <p:cNvPr id="4" name="Slide Number Placeholder 3">
            <a:extLst>
              <a:ext uri="{FF2B5EF4-FFF2-40B4-BE49-F238E27FC236}">
                <a16:creationId xmlns:a16="http://schemas.microsoft.com/office/drawing/2014/main" id="{69B7488D-D33C-E02D-19AC-090668E35BC5}"/>
              </a:ext>
            </a:extLst>
          </p:cNvPr>
          <p:cNvSpPr>
            <a:spLocks noGrp="1"/>
          </p:cNvSpPr>
          <p:nvPr>
            <p:ph type="sldNum" sz="quarter" idx="5"/>
          </p:nvPr>
        </p:nvSpPr>
        <p:spPr/>
        <p:txBody>
          <a:bodyPr/>
          <a:lstStyle/>
          <a:p>
            <a:fld id="{37D01E2C-B751-4C38-A4F8-4A97733E0BA7}" type="slidenum">
              <a:rPr lang="en-US" smtClean="0"/>
              <a:t>26</a:t>
            </a:fld>
            <a:endParaRPr lang="en-US"/>
          </a:p>
        </p:txBody>
      </p:sp>
    </p:spTree>
    <p:extLst>
      <p:ext uri="{BB962C8B-B14F-4D97-AF65-F5344CB8AC3E}">
        <p14:creationId xmlns:p14="http://schemas.microsoft.com/office/powerpoint/2010/main" val="30794990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A48CD-9F31-E265-59CC-FFD6BB1256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99B6A4-47DD-3D91-25C1-14E381CA10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4CD7AD-2ACC-5608-092B-B3E91C547D42}"/>
              </a:ext>
            </a:extLst>
          </p:cNvPr>
          <p:cNvSpPr>
            <a:spLocks noGrp="1"/>
          </p:cNvSpPr>
          <p:nvPr>
            <p:ph type="body" idx="1"/>
          </p:nvPr>
        </p:nvSpPr>
        <p:spPr/>
        <p:txBody>
          <a:bodyPr/>
          <a:lstStyle/>
          <a:p>
            <a:r>
              <a:rPr lang="vi-VN" b="1" dirty="0">
                <a:highlight>
                  <a:srgbClr val="FFFFFF"/>
                </a:highlight>
              </a:rPr>
              <a:t>⚡ 4️⃣ Sử dụng ít dây kết nối</a:t>
            </a:r>
          </a:p>
          <a:p>
            <a:r>
              <a:rPr lang="vi-VN" dirty="0">
                <a:highlight>
                  <a:srgbClr val="FFFFFF"/>
                </a:highlight>
              </a:rPr>
              <a:t>Một đường truyền không đồng bộ </a:t>
            </a:r>
            <a:r>
              <a:rPr lang="vi-VN" b="1" dirty="0">
                <a:highlight>
                  <a:srgbClr val="FFFFFF"/>
                </a:highlight>
              </a:rPr>
              <a:t>chỉ cần hai dây chính</a:t>
            </a:r>
            <a:r>
              <a:rPr lang="vi-VN" dirty="0">
                <a:highlight>
                  <a:srgbClr val="FFFFFF"/>
                </a:highlight>
              </a:rPr>
              <a:t>:</a:t>
            </a:r>
          </a:p>
          <a:p>
            <a:pPr lvl="1"/>
            <a:r>
              <a:rPr lang="vi-VN" b="1" dirty="0">
                <a:highlight>
                  <a:srgbClr val="FFFFFF"/>
                </a:highlight>
              </a:rPr>
              <a:t>TX (Transmit)</a:t>
            </a:r>
            <a:r>
              <a:rPr lang="vi-VN" dirty="0">
                <a:highlight>
                  <a:srgbClr val="FFFFFF"/>
                </a:highlight>
              </a:rPr>
              <a:t> – gửi dữ liệu.</a:t>
            </a:r>
          </a:p>
          <a:p>
            <a:pPr lvl="1"/>
            <a:r>
              <a:rPr lang="vi-VN" b="1" dirty="0">
                <a:highlight>
                  <a:srgbClr val="FFFFFF"/>
                </a:highlight>
              </a:rPr>
              <a:t>RX (Receive)</a:t>
            </a:r>
            <a:r>
              <a:rPr lang="vi-VN" dirty="0">
                <a:highlight>
                  <a:srgbClr val="FFFFFF"/>
                </a:highlight>
              </a:rPr>
              <a:t> – nhận dữ liệu.</a:t>
            </a:r>
          </a:p>
          <a:p>
            <a:r>
              <a:rPr lang="vi-VN" dirty="0">
                <a:highlight>
                  <a:srgbClr val="FFFFFF"/>
                </a:highlight>
              </a:rPr>
              <a:t>Không cần dây clock, không cần tín hiệu điều khiển phức tạp.</a:t>
            </a:r>
          </a:p>
          <a:p>
            <a:r>
              <a:rPr lang="vi-VN" dirty="0">
                <a:highlight>
                  <a:srgbClr val="FFFFFF"/>
                </a:highlight>
              </a:rPr>
              <a:t>📍 </a:t>
            </a:r>
            <a:r>
              <a:rPr lang="vi-VN" b="1" dirty="0">
                <a:highlight>
                  <a:srgbClr val="FFFFFF"/>
                </a:highlight>
              </a:rPr>
              <a:t>Ưu điểm:</a:t>
            </a:r>
            <a:r>
              <a:rPr lang="vi-VN" dirty="0">
                <a:highlight>
                  <a:srgbClr val="FFFFFF"/>
                </a:highlight>
              </a:rPr>
              <a:t> tiết kiệm chân vi điều khiển, mạch đơn giản, dễ đấu nối.</a:t>
            </a:r>
            <a:br>
              <a:rPr lang="vi-VN" dirty="0">
                <a:highlight>
                  <a:srgbClr val="FFFFFF"/>
                </a:highlight>
              </a:rPr>
            </a:br>
            <a:r>
              <a:rPr lang="vi-VN" dirty="0">
                <a:highlight>
                  <a:srgbClr val="FFFFFF"/>
                </a:highlight>
              </a:rPr>
              <a:t>📍 </a:t>
            </a:r>
            <a:r>
              <a:rPr lang="vi-VN" b="1" dirty="0">
                <a:highlight>
                  <a:srgbClr val="FFFFFF"/>
                </a:highlight>
              </a:rPr>
              <a:t>Ví dụ:</a:t>
            </a:r>
            <a:r>
              <a:rPr lang="vi-VN" dirty="0">
                <a:highlight>
                  <a:srgbClr val="FFFFFF"/>
                </a:highlight>
              </a:rPr>
              <a:t> Arduino Uno giao tiếp với máy tính qua cổng USB → TX và RX chính là 2 chân UART.</a:t>
            </a:r>
          </a:p>
        </p:txBody>
      </p:sp>
      <p:sp>
        <p:nvSpPr>
          <p:cNvPr id="4" name="Slide Number Placeholder 3">
            <a:extLst>
              <a:ext uri="{FF2B5EF4-FFF2-40B4-BE49-F238E27FC236}">
                <a16:creationId xmlns:a16="http://schemas.microsoft.com/office/drawing/2014/main" id="{59387CE5-620B-D681-2863-A3063C730ADC}"/>
              </a:ext>
            </a:extLst>
          </p:cNvPr>
          <p:cNvSpPr>
            <a:spLocks noGrp="1"/>
          </p:cNvSpPr>
          <p:nvPr>
            <p:ph type="sldNum" sz="quarter" idx="5"/>
          </p:nvPr>
        </p:nvSpPr>
        <p:spPr/>
        <p:txBody>
          <a:bodyPr/>
          <a:lstStyle/>
          <a:p>
            <a:fld id="{37D01E2C-B751-4C38-A4F8-4A97733E0BA7}" type="slidenum">
              <a:rPr lang="en-US" smtClean="0"/>
              <a:t>27</a:t>
            </a:fld>
            <a:endParaRPr lang="en-US"/>
          </a:p>
        </p:txBody>
      </p:sp>
    </p:spTree>
    <p:extLst>
      <p:ext uri="{BB962C8B-B14F-4D97-AF65-F5344CB8AC3E}">
        <p14:creationId xmlns:p14="http://schemas.microsoft.com/office/powerpoint/2010/main" val="29814685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8A88F-C08F-C68D-6391-F2E45F6A9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039CE1-6540-86D4-2D4F-F1AE626128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33B593-A566-0FED-D96C-69CCEC43F0A5}"/>
              </a:ext>
            </a:extLst>
          </p:cNvPr>
          <p:cNvSpPr>
            <a:spLocks noGrp="1"/>
          </p:cNvSpPr>
          <p:nvPr>
            <p:ph type="body" idx="1"/>
          </p:nvPr>
        </p:nvSpPr>
        <p:spPr/>
        <p:txBody>
          <a:bodyPr/>
          <a:lstStyle/>
          <a:p>
            <a:r>
              <a:rPr lang="vi-VN" b="1" dirty="0">
                <a:highlight>
                  <a:srgbClr val="FFFFFF"/>
                </a:highlight>
              </a:rPr>
              <a:t>📉 5️⃣ Hiệu suất truyền thấp hơn giao thức đồng bộ</a:t>
            </a:r>
          </a:p>
          <a:p>
            <a:r>
              <a:rPr lang="vi-VN" dirty="0">
                <a:highlight>
                  <a:srgbClr val="FFFFFF"/>
                </a:highlight>
              </a:rPr>
              <a:t>Vì mỗi ký tự đều kèm </a:t>
            </a:r>
            <a:r>
              <a:rPr lang="vi-VN" b="1" dirty="0">
                <a:highlight>
                  <a:srgbClr val="FFFFFF"/>
                </a:highlight>
              </a:rPr>
              <a:t>Start bit và Stop bit</a:t>
            </a:r>
            <a:r>
              <a:rPr lang="vi-VN" dirty="0">
                <a:highlight>
                  <a:srgbClr val="FFFFFF"/>
                </a:highlight>
              </a:rPr>
              <a:t>, nên </a:t>
            </a:r>
            <a:r>
              <a:rPr lang="vi-VN" b="1" dirty="0">
                <a:highlight>
                  <a:srgbClr val="FFFFFF"/>
                </a:highlight>
              </a:rPr>
              <a:t>thêm 2 bit phụ</a:t>
            </a:r>
            <a:r>
              <a:rPr lang="vi-VN" dirty="0">
                <a:highlight>
                  <a:srgbClr val="FFFFFF"/>
                </a:highlight>
              </a:rPr>
              <a:t> cho mỗi 8 bit dữ liệu.</a:t>
            </a:r>
          </a:p>
          <a:p>
            <a:r>
              <a:rPr lang="vi-VN" dirty="0">
                <a:highlight>
                  <a:srgbClr val="FFFFFF"/>
                </a:highlight>
              </a:rPr>
              <a:t>Tức là </a:t>
            </a:r>
            <a:r>
              <a:rPr lang="vi-VN" b="1" dirty="0">
                <a:highlight>
                  <a:srgbClr val="FFFFFF"/>
                </a:highlight>
              </a:rPr>
              <a:t>mỗi byte thực chất mất 10 bit để truyền</a:t>
            </a:r>
            <a:r>
              <a:rPr lang="vi-VN" dirty="0">
                <a:highlight>
                  <a:srgbClr val="FFFFFF"/>
                </a:highlight>
              </a:rPr>
              <a:t>.</a:t>
            </a:r>
            <a:br>
              <a:rPr lang="vi-VN" dirty="0">
                <a:highlight>
                  <a:srgbClr val="FFFFFF"/>
                </a:highlight>
              </a:rPr>
            </a:br>
            <a:r>
              <a:rPr lang="vi-VN" dirty="0">
                <a:highlight>
                  <a:srgbClr val="FFFFFF"/>
                </a:highlight>
              </a:rPr>
              <a:t>→ Hiệu suất chỉ khoảng </a:t>
            </a:r>
            <a:r>
              <a:rPr lang="vi-VN" b="1" dirty="0">
                <a:highlight>
                  <a:srgbClr val="FFFFFF"/>
                </a:highlight>
              </a:rPr>
              <a:t>80%</a:t>
            </a:r>
            <a:r>
              <a:rPr lang="vi-VN" dirty="0">
                <a:highlight>
                  <a:srgbClr val="FFFFFF"/>
                </a:highlight>
              </a:rPr>
              <a:t> so với dữ liệu thuần túy.</a:t>
            </a:r>
          </a:p>
          <a:p>
            <a:r>
              <a:rPr lang="vi-VN" dirty="0">
                <a:highlight>
                  <a:srgbClr val="FFFFFF"/>
                </a:highlight>
              </a:rPr>
              <a:t>Ví dụ:</a:t>
            </a:r>
          </a:p>
          <a:p>
            <a:r>
              <a:rPr lang="vi-VN" dirty="0">
                <a:highlight>
                  <a:srgbClr val="FFFFFF"/>
                </a:highlight>
              </a:rPr>
              <a:t>Tốc độ 9600 baud → 9600 bit/s</a:t>
            </a:r>
          </a:p>
          <a:p>
            <a:r>
              <a:rPr lang="vi-VN" dirty="0">
                <a:highlight>
                  <a:srgbClr val="FFFFFF"/>
                </a:highlight>
              </a:rPr>
              <a:t>Mỗi byte cần 10 bit → chỉ gửi được 960 byte/s thực tế.</a:t>
            </a:r>
          </a:p>
          <a:p>
            <a:r>
              <a:rPr lang="vi-VN" dirty="0">
                <a:highlight>
                  <a:srgbClr val="FFFFFF"/>
                </a:highlight>
              </a:rPr>
              <a:t>📍 </a:t>
            </a:r>
            <a:r>
              <a:rPr lang="vi-VN" b="1" dirty="0">
                <a:highlight>
                  <a:srgbClr val="FFFFFF"/>
                </a:highlight>
              </a:rPr>
              <a:t>Nhược điểm:</a:t>
            </a:r>
            <a:r>
              <a:rPr lang="vi-VN" dirty="0">
                <a:highlight>
                  <a:srgbClr val="FFFFFF"/>
                </a:highlight>
              </a:rPr>
              <a:t> truyền dữ liệu tốc độ cao (video, âm thanh) sẽ không phù hợp.</a:t>
            </a:r>
          </a:p>
        </p:txBody>
      </p:sp>
      <p:sp>
        <p:nvSpPr>
          <p:cNvPr id="4" name="Slide Number Placeholder 3">
            <a:extLst>
              <a:ext uri="{FF2B5EF4-FFF2-40B4-BE49-F238E27FC236}">
                <a16:creationId xmlns:a16="http://schemas.microsoft.com/office/drawing/2014/main" id="{4199BF32-FC64-4594-3E99-7EE7E4BD6EB0}"/>
              </a:ext>
            </a:extLst>
          </p:cNvPr>
          <p:cNvSpPr>
            <a:spLocks noGrp="1"/>
          </p:cNvSpPr>
          <p:nvPr>
            <p:ph type="sldNum" sz="quarter" idx="5"/>
          </p:nvPr>
        </p:nvSpPr>
        <p:spPr/>
        <p:txBody>
          <a:bodyPr/>
          <a:lstStyle/>
          <a:p>
            <a:fld id="{37D01E2C-B751-4C38-A4F8-4A97733E0BA7}" type="slidenum">
              <a:rPr lang="en-US" smtClean="0"/>
              <a:t>28</a:t>
            </a:fld>
            <a:endParaRPr lang="en-US"/>
          </a:p>
        </p:txBody>
      </p:sp>
    </p:spTree>
    <p:extLst>
      <p:ext uri="{BB962C8B-B14F-4D97-AF65-F5344CB8AC3E}">
        <p14:creationId xmlns:p14="http://schemas.microsoft.com/office/powerpoint/2010/main" val="31363489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008CB-0029-8C9A-047D-883186A6B8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FA79E4-4ACC-7AB5-B6B8-25CA226FA7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01C64D-18BB-A3BA-6DED-323FDCC0DCA7}"/>
              </a:ext>
            </a:extLst>
          </p:cNvPr>
          <p:cNvSpPr>
            <a:spLocks noGrp="1"/>
          </p:cNvSpPr>
          <p:nvPr>
            <p:ph type="body" idx="1"/>
          </p:nvPr>
        </p:nvSpPr>
        <p:spPr/>
        <p:txBody>
          <a:bodyPr/>
          <a:lstStyle/>
          <a:p>
            <a:r>
              <a:rPr lang="vi-VN" b="1" dirty="0">
                <a:highlight>
                  <a:srgbClr val="FFFFFF"/>
                </a:highlight>
              </a:rPr>
              <a:t>🧠 6️⃣ Dễ triển khai, phổ biến và đáng tin cậy</a:t>
            </a:r>
          </a:p>
          <a:p>
            <a:r>
              <a:rPr lang="vi-VN" dirty="0">
                <a:highlight>
                  <a:srgbClr val="FFFFFF"/>
                </a:highlight>
              </a:rPr>
              <a:t>Do cấu trúc đơn giản và không yêu cầu clock, </a:t>
            </a:r>
            <a:r>
              <a:rPr lang="vi-VN" b="1" dirty="0">
                <a:highlight>
                  <a:srgbClr val="FFFFFF"/>
                </a:highlight>
              </a:rPr>
              <a:t>UART asynchronous</a:t>
            </a:r>
            <a:r>
              <a:rPr lang="vi-VN" dirty="0">
                <a:highlight>
                  <a:srgbClr val="FFFFFF"/>
                </a:highlight>
              </a:rPr>
              <a:t> là một trong những giao thức </a:t>
            </a:r>
            <a:r>
              <a:rPr lang="vi-VN" b="1" dirty="0">
                <a:highlight>
                  <a:srgbClr val="FFFFFF"/>
                </a:highlight>
              </a:rPr>
              <a:t>dễ dùng nhất</a:t>
            </a:r>
            <a:r>
              <a:rPr lang="vi-VN" dirty="0">
                <a:highlight>
                  <a:srgbClr val="FFFFFF"/>
                </a:highlight>
              </a:rPr>
              <a:t> trong hệ thống nhúng.</a:t>
            </a:r>
          </a:p>
          <a:p>
            <a:r>
              <a:rPr lang="vi-VN" dirty="0">
                <a:highlight>
                  <a:srgbClr val="FFFFFF"/>
                </a:highlight>
              </a:rPr>
              <a:t>Hầu hết các vi điều khiển (Arduino, STM32, ESP32, PIC, AVR, v.v.) đều có </a:t>
            </a:r>
            <a:r>
              <a:rPr lang="vi-VN" b="1" dirty="0">
                <a:highlight>
                  <a:srgbClr val="FFFFFF"/>
                </a:highlight>
              </a:rPr>
              <a:t>module UART tích hợp sẵn</a:t>
            </a:r>
            <a:r>
              <a:rPr lang="vi-VN" dirty="0">
                <a:highlight>
                  <a:srgbClr val="FFFFFF"/>
                </a:highlight>
              </a:rPr>
              <a:t> để hỗ trợ loại truyền này.</a:t>
            </a:r>
          </a:p>
          <a:p>
            <a:r>
              <a:rPr lang="vi-VN" dirty="0">
                <a:highlight>
                  <a:srgbClr val="FFFFFF"/>
                </a:highlight>
              </a:rPr>
              <a:t>Nếu tín hiệu yếu, ta có thể dùng các chuẩn vật lý như </a:t>
            </a:r>
            <a:r>
              <a:rPr lang="vi-VN" b="1" dirty="0">
                <a:highlight>
                  <a:srgbClr val="FFFFFF"/>
                </a:highlight>
              </a:rPr>
              <a:t>RS-232 hoặc RS-485</a:t>
            </a:r>
            <a:r>
              <a:rPr lang="vi-VN" dirty="0">
                <a:highlight>
                  <a:srgbClr val="FFFFFF"/>
                </a:highlight>
              </a:rPr>
              <a:t> để truyền xa hơn (tới vài chục mét hoặc hàng trăm mét).</a:t>
            </a:r>
          </a:p>
          <a:p>
            <a:r>
              <a:rPr lang="vi-VN" dirty="0">
                <a:highlight>
                  <a:srgbClr val="FFFFFF"/>
                </a:highlight>
              </a:rPr>
              <a:t>📍 </a:t>
            </a:r>
            <a:r>
              <a:rPr lang="vi-VN" b="1" dirty="0">
                <a:highlight>
                  <a:srgbClr val="FFFFFF"/>
                </a:highlight>
              </a:rPr>
              <a:t>Ứng dụng thực tế:</a:t>
            </a:r>
            <a:endParaRPr lang="vi-VN" dirty="0">
              <a:highlight>
                <a:srgbClr val="FFFFFF"/>
              </a:highlight>
            </a:endParaRPr>
          </a:p>
          <a:p>
            <a:r>
              <a:rPr lang="vi-VN" dirty="0">
                <a:highlight>
                  <a:srgbClr val="FFFFFF"/>
                </a:highlight>
              </a:rPr>
              <a:t>Gửi dữ liệu từ Arduino sang máy tính (qua Serial Monitor).</a:t>
            </a:r>
          </a:p>
          <a:p>
            <a:r>
              <a:rPr lang="vi-VN" dirty="0">
                <a:highlight>
                  <a:srgbClr val="FFFFFF"/>
                </a:highlight>
              </a:rPr>
              <a:t>Gửi lệnh AT tới module GSM, Wi-Fi, GPS, LoRa, v.v.</a:t>
            </a:r>
          </a:p>
          <a:p>
            <a:r>
              <a:rPr lang="vi-VN" dirty="0">
                <a:highlight>
                  <a:srgbClr val="FFFFFF"/>
                </a:highlight>
              </a:rPr>
              <a:t>Giao tiếp giữa hai vi điều khiển độc lập.</a:t>
            </a:r>
          </a:p>
        </p:txBody>
      </p:sp>
      <p:sp>
        <p:nvSpPr>
          <p:cNvPr id="4" name="Slide Number Placeholder 3">
            <a:extLst>
              <a:ext uri="{FF2B5EF4-FFF2-40B4-BE49-F238E27FC236}">
                <a16:creationId xmlns:a16="http://schemas.microsoft.com/office/drawing/2014/main" id="{6E2F12AA-CE20-8ECE-7FE5-103D03B5B900}"/>
              </a:ext>
            </a:extLst>
          </p:cNvPr>
          <p:cNvSpPr>
            <a:spLocks noGrp="1"/>
          </p:cNvSpPr>
          <p:nvPr>
            <p:ph type="sldNum" sz="quarter" idx="5"/>
          </p:nvPr>
        </p:nvSpPr>
        <p:spPr/>
        <p:txBody>
          <a:bodyPr/>
          <a:lstStyle/>
          <a:p>
            <a:fld id="{37D01E2C-B751-4C38-A4F8-4A97733E0BA7}" type="slidenum">
              <a:rPr lang="en-US" smtClean="0"/>
              <a:t>29</a:t>
            </a:fld>
            <a:endParaRPr lang="en-US"/>
          </a:p>
        </p:txBody>
      </p:sp>
    </p:spTree>
    <p:extLst>
      <p:ext uri="{BB962C8B-B14F-4D97-AF65-F5344CB8AC3E}">
        <p14:creationId xmlns:p14="http://schemas.microsoft.com/office/powerpoint/2010/main" val="28158742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B895F4-4182-592F-E0CC-FB982F3942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93886D-6783-7DD3-F0CD-F3BD9C4229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BC2FC6-57B3-FDEC-101D-97894E0505FD}"/>
              </a:ext>
            </a:extLst>
          </p:cNvPr>
          <p:cNvSpPr>
            <a:spLocks noGrp="1"/>
          </p:cNvSpPr>
          <p:nvPr>
            <p:ph type="body" idx="1"/>
          </p:nvPr>
        </p:nvSpPr>
        <p:spPr/>
        <p:txBody>
          <a:bodyPr/>
          <a:lstStyle/>
          <a:p>
            <a:r>
              <a:rPr lang="vi-VN" b="1" dirty="0">
                <a:highlight>
                  <a:srgbClr val="FFFFFF"/>
                </a:highlight>
              </a:rPr>
              <a:t>⚙️ ƯU ĐIỂM CỦA ASYNCHRONOUS TRANSMISSION</a:t>
            </a:r>
          </a:p>
          <a:p>
            <a:r>
              <a:rPr lang="vi-VN" dirty="0">
                <a:highlight>
                  <a:srgbClr val="FFFFFF"/>
                </a:highlight>
              </a:rPr>
              <a:t>STTƯu điểmGiải thích chi tiếtVí dụ thực tế</a:t>
            </a:r>
            <a:endParaRPr lang="en-US" dirty="0">
              <a:highlight>
                <a:srgbClr val="FFFFFF"/>
              </a:highlight>
            </a:endParaRPr>
          </a:p>
          <a:p>
            <a:r>
              <a:rPr lang="en-US" b="1" dirty="0">
                <a:highlight>
                  <a:srgbClr val="FFFFFF"/>
                </a:highlight>
              </a:rPr>
              <a:t> </a:t>
            </a:r>
            <a:r>
              <a:rPr lang="vi-VN" b="1" dirty="0">
                <a:highlight>
                  <a:srgbClr val="FFFFFF"/>
                </a:highlight>
              </a:rPr>
              <a:t>1️⃣Không cần xung clock chung</a:t>
            </a:r>
            <a:r>
              <a:rPr lang="vi-VN" dirty="0">
                <a:highlight>
                  <a:srgbClr val="FFFFFF"/>
                </a:highlight>
              </a:rPr>
              <a:t>Hai thiết bị chỉ cần thống nhất baud rate, không cần dây clock → tiết kiệm dây, dễ kết nối.Arduino giao tiếp với module GPS chỉ cần 2 dây TX/RX.</a:t>
            </a:r>
            <a:endParaRPr lang="en-US" dirty="0">
              <a:highlight>
                <a:srgbClr val="FFFFFF"/>
              </a:highlight>
            </a:endParaRPr>
          </a:p>
          <a:p>
            <a:r>
              <a:rPr lang="vi-VN" b="1" dirty="0">
                <a:highlight>
                  <a:srgbClr val="FFFFFF"/>
                </a:highlight>
              </a:rPr>
              <a:t>2️⃣Cấu trúc phần cứng đơn giản</a:t>
            </a:r>
            <a:r>
              <a:rPr lang="vi-VN" dirty="0">
                <a:highlight>
                  <a:srgbClr val="FFFFFF"/>
                </a:highlight>
              </a:rPr>
              <a:t>Không cần phần cứng tạo, chia, hay đồng bộ clock → thiết kế mạch và code đơn giản.Hầu hết vi điều khiển đều có UART tích hợp sẵn.</a:t>
            </a:r>
            <a:endParaRPr lang="en-US" dirty="0">
              <a:highlight>
                <a:srgbClr val="FFFFFF"/>
              </a:highlight>
            </a:endParaRPr>
          </a:p>
          <a:p>
            <a:r>
              <a:rPr lang="vi-VN" b="1" dirty="0">
                <a:highlight>
                  <a:srgbClr val="FFFFFF"/>
                </a:highlight>
              </a:rPr>
              <a:t>3️⃣Truyền dữ liệu linh hoạt, không yêu cầu thời gian thực</a:t>
            </a:r>
            <a:r>
              <a:rPr lang="vi-VN" dirty="0">
                <a:highlight>
                  <a:srgbClr val="FFFFFF"/>
                </a:highlight>
              </a:rPr>
              <a:t>Có thể gửi dữ liệu rời rạc, từng byte, không cần luồng liên tục.Gửi lệnh AT đến module GSM từng dòng một.</a:t>
            </a:r>
            <a:endParaRPr lang="en-US" dirty="0">
              <a:highlight>
                <a:srgbClr val="FFFFFF"/>
              </a:highlight>
            </a:endParaRPr>
          </a:p>
          <a:p>
            <a:r>
              <a:rPr lang="vi-VN" b="1" dirty="0">
                <a:highlight>
                  <a:srgbClr val="FFFFFF"/>
                </a:highlight>
              </a:rPr>
              <a:t>4️⃣Chi phí thấp, dễ triển khai</a:t>
            </a:r>
            <a:r>
              <a:rPr lang="vi-VN" dirty="0">
                <a:highlight>
                  <a:srgbClr val="FFFFFF"/>
                </a:highlight>
              </a:rPr>
              <a:t>Vì chỉ dùng 2 dây và không cần mạch đồng bộ, nên chi phí mạch thấp hơn so với giao thức đồng bộ.Hệ thống nhúng giá rẻ, thiết bị IoT nhỏ.</a:t>
            </a:r>
            <a:endParaRPr lang="en-US" dirty="0">
              <a:highlight>
                <a:srgbClr val="FFFFFF"/>
              </a:highlight>
            </a:endParaRPr>
          </a:p>
          <a:p>
            <a:r>
              <a:rPr lang="vi-VN" b="1" dirty="0">
                <a:highlight>
                  <a:srgbClr val="FFFFFF"/>
                </a:highlight>
              </a:rPr>
              <a:t>5️⃣Tách biệt từng ký tự (byte) → dễ debug, dễ khôi phục lỗi</a:t>
            </a:r>
            <a:r>
              <a:rPr lang="vi-VN" dirty="0">
                <a:highlight>
                  <a:srgbClr val="FFFFFF"/>
                </a:highlight>
              </a:rPr>
              <a:t>Nếu một byte bị lỗi, các byte sau vẫn nhận bình thường do có start/stop bit tách biệt.Dễ đọc trên Serial Monitor hoặc terminal.</a:t>
            </a:r>
            <a:endParaRPr lang="en-US" dirty="0">
              <a:highlight>
                <a:srgbClr val="FFFFFF"/>
              </a:highlight>
            </a:endParaRPr>
          </a:p>
          <a:p>
            <a:r>
              <a:rPr lang="vi-VN" b="1" dirty="0">
                <a:highlight>
                  <a:srgbClr val="FFFFFF"/>
                </a:highlight>
              </a:rPr>
              <a:t>6️⃣Tương thích rộng rãi, phổ biến toàn cầu</a:t>
            </a:r>
            <a:r>
              <a:rPr lang="vi-VN" dirty="0">
                <a:highlight>
                  <a:srgbClr val="FFFFFF"/>
                </a:highlight>
              </a:rPr>
              <a:t>UART là chuẩn có mặt trong mọi dòng MCU, module cảm biến, thiết bị truyền thông.ESP32, STM32, Arduino, Raspberry Pi... đều hỗ trợ.</a:t>
            </a:r>
            <a:endParaRPr lang="en-US" dirty="0">
              <a:highlight>
                <a:srgbClr val="FFFFFF"/>
              </a:highlight>
            </a:endParaRPr>
          </a:p>
          <a:p>
            <a:r>
              <a:rPr lang="vi-VN" b="1" dirty="0">
                <a:highlight>
                  <a:srgbClr val="FFFFFF"/>
                </a:highlight>
              </a:rPr>
              <a:t>7️⃣Có thể truyền xa nếu dùng chuẩn vật lý phù hợp (RS-485)</a:t>
            </a:r>
            <a:r>
              <a:rPr lang="vi-VN" dirty="0">
                <a:highlight>
                  <a:srgbClr val="FFFFFF"/>
                </a:highlight>
              </a:rPr>
              <a:t>Khi kết hợp với tầng vật lý mạnh hơn (RS-485), có thể truyền tới vài trăm mét.Giao tiếp giữa các cảm biến công nghiệp hoặc PLC.</a:t>
            </a:r>
          </a:p>
        </p:txBody>
      </p:sp>
      <p:sp>
        <p:nvSpPr>
          <p:cNvPr id="4" name="Slide Number Placeholder 3">
            <a:extLst>
              <a:ext uri="{FF2B5EF4-FFF2-40B4-BE49-F238E27FC236}">
                <a16:creationId xmlns:a16="http://schemas.microsoft.com/office/drawing/2014/main" id="{A8D0522E-5163-4BC3-077A-4BE502966CF0}"/>
              </a:ext>
            </a:extLst>
          </p:cNvPr>
          <p:cNvSpPr>
            <a:spLocks noGrp="1"/>
          </p:cNvSpPr>
          <p:nvPr>
            <p:ph type="sldNum" sz="quarter" idx="5"/>
          </p:nvPr>
        </p:nvSpPr>
        <p:spPr/>
        <p:txBody>
          <a:bodyPr/>
          <a:lstStyle/>
          <a:p>
            <a:fld id="{37D01E2C-B751-4C38-A4F8-4A97733E0BA7}" type="slidenum">
              <a:rPr lang="en-US" smtClean="0"/>
              <a:t>30</a:t>
            </a:fld>
            <a:endParaRPr lang="en-US"/>
          </a:p>
        </p:txBody>
      </p:sp>
    </p:spTree>
    <p:extLst>
      <p:ext uri="{BB962C8B-B14F-4D97-AF65-F5344CB8AC3E}">
        <p14:creationId xmlns:p14="http://schemas.microsoft.com/office/powerpoint/2010/main" val="4300003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26868-E17D-CEBE-00A3-162B23D3E3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02199C-CF3E-D78C-1269-40270B234D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8DC615-B409-46D6-A461-D56B3C44B2AA}"/>
              </a:ext>
            </a:extLst>
          </p:cNvPr>
          <p:cNvSpPr>
            <a:spLocks noGrp="1"/>
          </p:cNvSpPr>
          <p:nvPr>
            <p:ph type="body" idx="1"/>
          </p:nvPr>
        </p:nvSpPr>
        <p:spPr/>
        <p:txBody>
          <a:bodyPr/>
          <a:lstStyle/>
          <a:p>
            <a:r>
              <a:rPr lang="vi-VN" b="1" dirty="0">
                <a:highlight>
                  <a:srgbClr val="FFFFFF"/>
                </a:highlight>
              </a:rPr>
              <a:t>⚠️ NHƯỢC ĐIỂM CỦA ASYNCHRONOUS TRANSMISSION</a:t>
            </a:r>
          </a:p>
          <a:p>
            <a:r>
              <a:rPr lang="vi-VN" dirty="0">
                <a:highlight>
                  <a:srgbClr val="FFFFFF"/>
                </a:highlight>
              </a:rPr>
              <a:t>STTNhược điểmGiải thích chi tiếtHậu quả / Giải pháp</a:t>
            </a:r>
            <a:endParaRPr lang="en-US" dirty="0">
              <a:highlight>
                <a:srgbClr val="FFFFFF"/>
              </a:highlight>
            </a:endParaRPr>
          </a:p>
          <a:p>
            <a:r>
              <a:rPr lang="vi-VN" b="1" dirty="0">
                <a:highlight>
                  <a:srgbClr val="FFFFFF"/>
                </a:highlight>
              </a:rPr>
              <a:t>1️⃣Tốc độ truyền thấp hơn giao thức đồng bộ</a:t>
            </a:r>
            <a:r>
              <a:rPr lang="vi-VN" dirty="0">
                <a:highlight>
                  <a:srgbClr val="FFFFFF"/>
                </a:highlight>
              </a:rPr>
              <a:t>Mỗi byte phải gửi thêm Start/Stop bit (10 bit thay vì 8) → giảm hiệu suất khoảng 20%.Giải pháp: Dùng giao thức đồng bộ (SPI, I2C) khi cần tốc độ cao.</a:t>
            </a:r>
            <a:endParaRPr lang="en-US" dirty="0">
              <a:highlight>
                <a:srgbClr val="FFFFFF"/>
              </a:highlight>
            </a:endParaRPr>
          </a:p>
          <a:p>
            <a:r>
              <a:rPr lang="vi-VN" b="1" dirty="0">
                <a:highlight>
                  <a:srgbClr val="FFFFFF"/>
                </a:highlight>
              </a:rPr>
              <a:t>2️⃣Độ chính xác phụ thuộc vào baud rate</a:t>
            </a:r>
            <a:r>
              <a:rPr lang="vi-VN" dirty="0">
                <a:highlight>
                  <a:srgbClr val="FFFFFF"/>
                </a:highlight>
              </a:rPr>
              <a:t>Nếu 2 thiết bị có sai số clock nội bộ lớn → lệch thời gian → đọc sai bit.Giải pháp: chọn baud rate thấp hơn hoặc dùng bộ dao động chính xác.</a:t>
            </a:r>
            <a:endParaRPr lang="en-US" dirty="0">
              <a:highlight>
                <a:srgbClr val="FFFFFF"/>
              </a:highlight>
            </a:endParaRPr>
          </a:p>
          <a:p>
            <a:r>
              <a:rPr lang="vi-VN" b="1" dirty="0">
                <a:highlight>
                  <a:srgbClr val="FFFFFF"/>
                </a:highlight>
              </a:rPr>
              <a:t>3️⃣Không phù hợp cho dữ liệu khối lớn (streaming)</a:t>
            </a:r>
            <a:r>
              <a:rPr lang="vi-VN" dirty="0">
                <a:highlight>
                  <a:srgbClr val="FFFFFF"/>
                </a:highlight>
              </a:rPr>
              <a:t>Truyền dữ liệu lớn như video, âm thanh bị chậm và có thể mất đồng bộ.Giải pháp: dùng SPI hoặc USB khi cần băng thông cao.</a:t>
            </a:r>
            <a:endParaRPr lang="en-US" dirty="0">
              <a:highlight>
                <a:srgbClr val="FFFFFF"/>
              </a:highlight>
            </a:endParaRPr>
          </a:p>
          <a:p>
            <a:r>
              <a:rPr lang="vi-VN" b="1" dirty="0">
                <a:highlight>
                  <a:srgbClr val="FFFFFF"/>
                </a:highlight>
              </a:rPr>
              <a:t>4️⃣Không có cơ chế kiểm soát lỗi mạnh</a:t>
            </a:r>
            <a:r>
              <a:rPr lang="vi-VN" dirty="0">
                <a:highlight>
                  <a:srgbClr val="FFFFFF"/>
                </a:highlight>
              </a:rPr>
              <a:t>Parity bit chỉ phát hiện được lỗi lẻ, không sửa được lỗi.Giải pháp: thêm tầng giao thức kiểm tra CRC hoặc checksum.</a:t>
            </a:r>
            <a:endParaRPr lang="en-US" dirty="0">
              <a:highlight>
                <a:srgbClr val="FFFFFF"/>
              </a:highlight>
            </a:endParaRPr>
          </a:p>
          <a:p>
            <a:r>
              <a:rPr lang="vi-VN" b="1" dirty="0">
                <a:highlight>
                  <a:srgbClr val="FFFFFF"/>
                </a:highlight>
              </a:rPr>
              <a:t>5️⃣Không truyền được nhiều thiết bị trên cùng bus</a:t>
            </a:r>
            <a:r>
              <a:rPr lang="vi-VN" dirty="0">
                <a:highlight>
                  <a:srgbClr val="FFFFFF"/>
                </a:highlight>
              </a:rPr>
              <a:t>Giao thức UART chỉ truyền </a:t>
            </a:r>
            <a:r>
              <a:rPr lang="vi-VN" b="1" dirty="0">
                <a:highlight>
                  <a:srgbClr val="FFFFFF"/>
                </a:highlight>
              </a:rPr>
              <a:t>1-n-1</a:t>
            </a:r>
            <a:r>
              <a:rPr lang="vi-VN" dirty="0">
                <a:highlight>
                  <a:srgbClr val="FFFFFF"/>
                </a:highlight>
              </a:rPr>
              <a:t> (1 gửi ↔ 1 nhận), không như I2C/SPI có thể nhiều slave.Giải pháp: dùng RS-485 hoặc CAN nếu cần mạng nhiều nút.</a:t>
            </a:r>
            <a:endParaRPr lang="en-US" dirty="0">
              <a:highlight>
                <a:srgbClr val="FFFFFF"/>
              </a:highlight>
            </a:endParaRPr>
          </a:p>
          <a:p>
            <a:r>
              <a:rPr lang="vi-VN" b="1" dirty="0">
                <a:highlight>
                  <a:srgbClr val="FFFFFF"/>
                </a:highlight>
              </a:rPr>
              <a:t>6️⃣Khoảng cách truyền giới hạn nếu không dùng tầng vật lý thích hợp</a:t>
            </a:r>
            <a:r>
              <a:rPr lang="vi-VN" dirty="0">
                <a:highlight>
                  <a:srgbClr val="FFFFFF"/>
                </a:highlight>
              </a:rPr>
              <a:t>UART (TTL) chỉ truyền được vài mét → tín hiệu dễ nhiễu, méo xung.Giải pháp: dùng bộ chuyển đổi RS-232 hoặc RS-485 để truyền xa.</a:t>
            </a:r>
            <a:endParaRPr lang="en-US" dirty="0">
              <a:highlight>
                <a:srgbClr val="FFFFFF"/>
              </a:highlight>
            </a:endParaRPr>
          </a:p>
          <a:p>
            <a:r>
              <a:rPr lang="vi-VN" b="1" dirty="0">
                <a:highlight>
                  <a:srgbClr val="FFFFFF"/>
                </a:highlight>
              </a:rPr>
              <a:t>7️⃣Không đồng bộ dữ liệu theo thời gian thực</a:t>
            </a:r>
            <a:r>
              <a:rPr lang="vi-VN" dirty="0">
                <a:highlight>
                  <a:srgbClr val="FFFFFF"/>
                </a:highlight>
              </a:rPr>
              <a:t>Mỗi ký tự độc lập → không thích hợp cho các hệ thống yêu cầu timing chặt (như điều khiển động cơ chính xác).Giải pháp: dùng giao thức đồng bộ có clock chung.</a:t>
            </a:r>
          </a:p>
        </p:txBody>
      </p:sp>
      <p:sp>
        <p:nvSpPr>
          <p:cNvPr id="4" name="Slide Number Placeholder 3">
            <a:extLst>
              <a:ext uri="{FF2B5EF4-FFF2-40B4-BE49-F238E27FC236}">
                <a16:creationId xmlns:a16="http://schemas.microsoft.com/office/drawing/2014/main" id="{9A20F819-0788-5F8A-18C2-8D832031BECB}"/>
              </a:ext>
            </a:extLst>
          </p:cNvPr>
          <p:cNvSpPr>
            <a:spLocks noGrp="1"/>
          </p:cNvSpPr>
          <p:nvPr>
            <p:ph type="sldNum" sz="quarter" idx="5"/>
          </p:nvPr>
        </p:nvSpPr>
        <p:spPr/>
        <p:txBody>
          <a:bodyPr/>
          <a:lstStyle/>
          <a:p>
            <a:fld id="{37D01E2C-B751-4C38-A4F8-4A97733E0BA7}" type="slidenum">
              <a:rPr lang="en-US" smtClean="0"/>
              <a:t>31</a:t>
            </a:fld>
            <a:endParaRPr lang="en-US"/>
          </a:p>
        </p:txBody>
      </p:sp>
    </p:spTree>
    <p:extLst>
      <p:ext uri="{BB962C8B-B14F-4D97-AF65-F5344CB8AC3E}">
        <p14:creationId xmlns:p14="http://schemas.microsoft.com/office/powerpoint/2010/main" val="41705679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B946F-7EAA-0053-4BB2-B6E1336FF3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F3EDC0-3707-0CD0-6F7C-D76057B3F8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3ED840-AE72-DC4B-B680-0F4B1A20F38A}"/>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UART là giao thức truyền thông phần cứng được sử dụng để liên lạc nối tiếp giữa các thiết bị. Ở đây, Không đồng bộ đề cập đến việc không có tín hiệu đồng hồ liên quan đến giao tiếp. Nó thường được sử dụng trong các bộ vi điều khiển, hệ thống nhúng và nhiều thiết bị khác để truyền và nhận dữ liệu.</a:t>
            </a:r>
          </a:p>
          <a:p>
            <a:r>
              <a:rPr lang="vi-VN" sz="1200" b="0" i="0" kern="1200" dirty="0">
                <a:solidFill>
                  <a:schemeClr val="tx1"/>
                </a:solidFill>
                <a:effectLst/>
                <a:highlight>
                  <a:srgbClr val="FFFFFF"/>
                </a:highlight>
                <a:latin typeface="+mn-lt"/>
                <a:ea typeface="+mn-ea"/>
                <a:cs typeface="+mn-cs"/>
              </a:rPr>
              <a:t>Thông thường, UART sử dụng ba chân để liên lạc, một chân để truyền (TX) và một chân để nhận (RX) và chân thứ ba là chân Ground. Khi một thiết bị muốn gửi dữ liệu đến thiết bị khác, nó sẽ gửi một loạt bit (0 và 1) nối tiếp qua chân TX.</a:t>
            </a:r>
          </a:p>
        </p:txBody>
      </p:sp>
      <p:sp>
        <p:nvSpPr>
          <p:cNvPr id="4" name="Slide Number Placeholder 3">
            <a:extLst>
              <a:ext uri="{FF2B5EF4-FFF2-40B4-BE49-F238E27FC236}">
                <a16:creationId xmlns:a16="http://schemas.microsoft.com/office/drawing/2014/main" id="{38A95E05-0190-7A6A-6F6D-94ABF93B1FF8}"/>
              </a:ext>
            </a:extLst>
          </p:cNvPr>
          <p:cNvSpPr>
            <a:spLocks noGrp="1"/>
          </p:cNvSpPr>
          <p:nvPr>
            <p:ph type="sldNum" sz="quarter" idx="5"/>
          </p:nvPr>
        </p:nvSpPr>
        <p:spPr/>
        <p:txBody>
          <a:bodyPr/>
          <a:lstStyle/>
          <a:p>
            <a:fld id="{37D01E2C-B751-4C38-A4F8-4A97733E0BA7}" type="slidenum">
              <a:rPr lang="en-US" smtClean="0"/>
              <a:t>32</a:t>
            </a:fld>
            <a:endParaRPr lang="en-US"/>
          </a:p>
        </p:txBody>
      </p:sp>
    </p:spTree>
    <p:extLst>
      <p:ext uri="{BB962C8B-B14F-4D97-AF65-F5344CB8AC3E}">
        <p14:creationId xmlns:p14="http://schemas.microsoft.com/office/powerpoint/2010/main" val="13082534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FFAC8-CB34-BC7C-C50C-1C39878B17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65E143-B442-3DB4-CD7B-E7270BC187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C556B9-241C-E5C8-B63D-64993D9991FB}"/>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UART là giao thức truyền thông phần cứng được sử dụng để liên lạc nối tiếp giữa các thiết bị. Ở đây, Không đồng bộ đề cập đến việc không có tín hiệu đồng hồ liên quan đến giao tiếp. Nó thường được sử dụng trong các bộ vi điều khiển, hệ thống nhúng và nhiều thiết bị khác để truyền và nhận dữ liệu.</a:t>
            </a:r>
          </a:p>
          <a:p>
            <a:r>
              <a:rPr lang="vi-VN" sz="1200" b="0" i="0" kern="1200" dirty="0">
                <a:solidFill>
                  <a:schemeClr val="tx1"/>
                </a:solidFill>
                <a:effectLst/>
                <a:highlight>
                  <a:srgbClr val="FFFFFF"/>
                </a:highlight>
                <a:latin typeface="+mn-lt"/>
                <a:ea typeface="+mn-ea"/>
                <a:cs typeface="+mn-cs"/>
              </a:rPr>
              <a:t>Thông thường, UART sử dụng ba chân để liên lạc, một chân để truyền (TX) và một chân để nhận (RX) và chân thứ ba là chân Ground. Khi một thiết bị muốn gửi dữ liệu đến thiết bị khác, nó sẽ gửi một loạt bit (0 và 1) nối tiếp qua chân TX.</a:t>
            </a:r>
          </a:p>
        </p:txBody>
      </p:sp>
      <p:sp>
        <p:nvSpPr>
          <p:cNvPr id="4" name="Slide Number Placeholder 3">
            <a:extLst>
              <a:ext uri="{FF2B5EF4-FFF2-40B4-BE49-F238E27FC236}">
                <a16:creationId xmlns:a16="http://schemas.microsoft.com/office/drawing/2014/main" id="{4F61B499-6389-0DD1-6AD7-3B9069D806B9}"/>
              </a:ext>
            </a:extLst>
          </p:cNvPr>
          <p:cNvSpPr>
            <a:spLocks noGrp="1"/>
          </p:cNvSpPr>
          <p:nvPr>
            <p:ph type="sldNum" sz="quarter" idx="5"/>
          </p:nvPr>
        </p:nvSpPr>
        <p:spPr/>
        <p:txBody>
          <a:bodyPr/>
          <a:lstStyle/>
          <a:p>
            <a:fld id="{37D01E2C-B751-4C38-A4F8-4A97733E0BA7}" type="slidenum">
              <a:rPr lang="en-US" smtClean="0"/>
              <a:t>33</a:t>
            </a:fld>
            <a:endParaRPr lang="en-US"/>
          </a:p>
        </p:txBody>
      </p:sp>
    </p:spTree>
    <p:extLst>
      <p:ext uri="{BB962C8B-B14F-4D97-AF65-F5344CB8AC3E}">
        <p14:creationId xmlns:p14="http://schemas.microsoft.com/office/powerpoint/2010/main" val="35181921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A5E83-1080-81E7-97EC-52F101CCAB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29F3B2-9677-F8CF-AE75-BF32466F6A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688F57-8777-8BB1-07A7-D17A92AC7F1F}"/>
              </a:ext>
            </a:extLst>
          </p:cNvPr>
          <p:cNvSpPr>
            <a:spLocks noGrp="1"/>
          </p:cNvSpPr>
          <p:nvPr>
            <p:ph type="body" idx="1"/>
          </p:nvPr>
        </p:nvSpPr>
        <p:spPr/>
        <p:txBody>
          <a:bodyPr/>
          <a:lstStyle/>
          <a:p>
            <a:r>
              <a:rPr lang="vi-VN" b="1" dirty="0">
                <a:highlight>
                  <a:srgbClr val="FFFFFF"/>
                </a:highlight>
              </a:rPr>
              <a:t>UART</a:t>
            </a:r>
            <a:r>
              <a:rPr lang="vi-VN" dirty="0">
                <a:highlight>
                  <a:srgbClr val="FFFFFF"/>
                </a:highlight>
              </a:rPr>
              <a:t> là giao thức nối tiếp cổ điển, từng rất phổ biến trong RS-232 và modem.</a:t>
            </a:r>
            <a:br>
              <a:rPr lang="vi-VN" dirty="0">
                <a:highlight>
                  <a:srgbClr val="FFFFFF"/>
                </a:highlight>
              </a:rPr>
            </a:br>
            <a:r>
              <a:rPr lang="vi-VN" dirty="0">
                <a:highlight>
                  <a:srgbClr val="FFFFFF"/>
                </a:highlight>
              </a:rPr>
              <a:t>Ngày nay bị thay thế dần bởi </a:t>
            </a:r>
            <a:r>
              <a:rPr lang="vi-VN" b="1" dirty="0">
                <a:highlight>
                  <a:srgbClr val="FFFFFF"/>
                </a:highlight>
              </a:rPr>
              <a:t>SPI, I2C, USB, Ethernet</a:t>
            </a:r>
            <a:r>
              <a:rPr lang="vi-VN" dirty="0">
                <a:highlight>
                  <a:srgbClr val="FFFFFF"/>
                </a:highlight>
              </a:rPr>
              <a:t>,</a:t>
            </a:r>
            <a:br>
              <a:rPr lang="vi-VN" dirty="0">
                <a:highlight>
                  <a:srgbClr val="FFFFFF"/>
                </a:highlight>
              </a:rPr>
            </a:br>
            <a:r>
              <a:rPr lang="vi-VN" dirty="0">
                <a:highlight>
                  <a:srgbClr val="FFFFFF"/>
                </a:highlight>
              </a:rPr>
              <a:t>nhưng vẫn được dùng cho </a:t>
            </a:r>
            <a:r>
              <a:rPr lang="vi-VN" b="1" dirty="0">
                <a:highlight>
                  <a:srgbClr val="FFFFFF"/>
                </a:highlight>
              </a:rPr>
              <a:t>ứng dụng đơn giản, tốc độ thấp</a:t>
            </a:r>
            <a:r>
              <a:rPr lang="vi-VN" dirty="0">
                <a:highlight>
                  <a:srgbClr val="FFFFFF"/>
                </a:highlight>
              </a:rPr>
              <a:t> vì </a:t>
            </a:r>
            <a:r>
              <a:rPr lang="vi-VN" b="1" dirty="0">
                <a:highlight>
                  <a:srgbClr val="FFFFFF"/>
                </a:highlight>
              </a:rPr>
              <a:t>dễ và rẻ</a:t>
            </a:r>
            <a:r>
              <a:rPr lang="vi-VN" dirty="0">
                <a:highlight>
                  <a:srgbClr val="FFFFFF"/>
                </a:highlight>
              </a:rPr>
              <a:t>.</a:t>
            </a:r>
          </a:p>
        </p:txBody>
      </p:sp>
      <p:sp>
        <p:nvSpPr>
          <p:cNvPr id="4" name="Slide Number Placeholder 3">
            <a:extLst>
              <a:ext uri="{FF2B5EF4-FFF2-40B4-BE49-F238E27FC236}">
                <a16:creationId xmlns:a16="http://schemas.microsoft.com/office/drawing/2014/main" id="{F14B1AA5-1B66-4EBB-3CEF-640BC7C57F3B}"/>
              </a:ext>
            </a:extLst>
          </p:cNvPr>
          <p:cNvSpPr>
            <a:spLocks noGrp="1"/>
          </p:cNvSpPr>
          <p:nvPr>
            <p:ph type="sldNum" sz="quarter" idx="5"/>
          </p:nvPr>
        </p:nvSpPr>
        <p:spPr/>
        <p:txBody>
          <a:bodyPr/>
          <a:lstStyle/>
          <a:p>
            <a:fld id="{37D01E2C-B751-4C38-A4F8-4A97733E0BA7}" type="slidenum">
              <a:rPr lang="en-US" smtClean="0"/>
              <a:t>34</a:t>
            </a:fld>
            <a:endParaRPr lang="en-US"/>
          </a:p>
        </p:txBody>
      </p:sp>
    </p:spTree>
    <p:extLst>
      <p:ext uri="{BB962C8B-B14F-4D97-AF65-F5344CB8AC3E}">
        <p14:creationId xmlns:p14="http://schemas.microsoft.com/office/powerpoint/2010/main" val="19324790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4696A-982D-21E6-FC6E-608AD24F89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91199-CC33-FDCC-BE14-6D9C3E2208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8F1BD1-37B4-433A-9EE2-5DB80ADB7F3D}"/>
              </a:ext>
            </a:extLst>
          </p:cNvPr>
          <p:cNvSpPr>
            <a:spLocks noGrp="1"/>
          </p:cNvSpPr>
          <p:nvPr>
            <p:ph type="body" idx="1"/>
          </p:nvPr>
        </p:nvSpPr>
        <p:spPr/>
        <p:txBody>
          <a:bodyPr/>
          <a:lstStyle/>
          <a:p>
            <a:r>
              <a:rPr lang="vi-VN" b="1" dirty="0">
                <a:highlight>
                  <a:srgbClr val="FFFFFF"/>
                </a:highlight>
              </a:rPr>
              <a:t>UART</a:t>
            </a:r>
            <a:r>
              <a:rPr lang="vi-VN" dirty="0">
                <a:highlight>
                  <a:srgbClr val="FFFFFF"/>
                </a:highlight>
              </a:rPr>
              <a:t> là giao thức nối tiếp cổ điển, từng rất phổ biến trong RS-232 và modem.</a:t>
            </a:r>
            <a:br>
              <a:rPr lang="vi-VN" dirty="0">
                <a:highlight>
                  <a:srgbClr val="FFFFFF"/>
                </a:highlight>
              </a:rPr>
            </a:br>
            <a:r>
              <a:rPr lang="vi-VN" dirty="0">
                <a:highlight>
                  <a:srgbClr val="FFFFFF"/>
                </a:highlight>
              </a:rPr>
              <a:t>Ngày nay bị thay thế dần bởi </a:t>
            </a:r>
            <a:r>
              <a:rPr lang="vi-VN" b="1" dirty="0">
                <a:highlight>
                  <a:srgbClr val="FFFFFF"/>
                </a:highlight>
              </a:rPr>
              <a:t>SPI, I2C, USB, Ethernet</a:t>
            </a:r>
            <a:r>
              <a:rPr lang="vi-VN" dirty="0">
                <a:highlight>
                  <a:srgbClr val="FFFFFF"/>
                </a:highlight>
              </a:rPr>
              <a:t>,</a:t>
            </a:r>
            <a:br>
              <a:rPr lang="vi-VN" dirty="0">
                <a:highlight>
                  <a:srgbClr val="FFFFFF"/>
                </a:highlight>
              </a:rPr>
            </a:br>
            <a:r>
              <a:rPr lang="vi-VN" dirty="0">
                <a:highlight>
                  <a:srgbClr val="FFFFFF"/>
                </a:highlight>
              </a:rPr>
              <a:t>nhưng vẫn được dùng cho </a:t>
            </a:r>
            <a:r>
              <a:rPr lang="vi-VN" b="1" dirty="0">
                <a:highlight>
                  <a:srgbClr val="FFFFFF"/>
                </a:highlight>
              </a:rPr>
              <a:t>ứng dụng đơn giản, tốc độ thấp</a:t>
            </a:r>
            <a:r>
              <a:rPr lang="vi-VN" dirty="0">
                <a:highlight>
                  <a:srgbClr val="FFFFFF"/>
                </a:highlight>
              </a:rPr>
              <a:t> vì </a:t>
            </a:r>
            <a:r>
              <a:rPr lang="vi-VN" b="1" dirty="0">
                <a:highlight>
                  <a:srgbClr val="FFFFFF"/>
                </a:highlight>
              </a:rPr>
              <a:t>dễ và rẻ</a:t>
            </a:r>
            <a:r>
              <a:rPr lang="vi-VN" dirty="0">
                <a:highlight>
                  <a:srgbClr val="FFFFFF"/>
                </a:highlight>
              </a:rPr>
              <a:t>.</a:t>
            </a:r>
          </a:p>
        </p:txBody>
      </p:sp>
      <p:sp>
        <p:nvSpPr>
          <p:cNvPr id="4" name="Slide Number Placeholder 3">
            <a:extLst>
              <a:ext uri="{FF2B5EF4-FFF2-40B4-BE49-F238E27FC236}">
                <a16:creationId xmlns:a16="http://schemas.microsoft.com/office/drawing/2014/main" id="{A02E05A5-8651-7CE1-5FBE-EC4C6CCF2883}"/>
              </a:ext>
            </a:extLst>
          </p:cNvPr>
          <p:cNvSpPr>
            <a:spLocks noGrp="1"/>
          </p:cNvSpPr>
          <p:nvPr>
            <p:ph type="sldNum" sz="quarter" idx="5"/>
          </p:nvPr>
        </p:nvSpPr>
        <p:spPr/>
        <p:txBody>
          <a:bodyPr/>
          <a:lstStyle/>
          <a:p>
            <a:fld id="{37D01E2C-B751-4C38-A4F8-4A97733E0BA7}" type="slidenum">
              <a:rPr lang="en-US" smtClean="0"/>
              <a:t>35</a:t>
            </a:fld>
            <a:endParaRPr lang="en-US"/>
          </a:p>
        </p:txBody>
      </p:sp>
    </p:spTree>
    <p:extLst>
      <p:ext uri="{BB962C8B-B14F-4D97-AF65-F5344CB8AC3E}">
        <p14:creationId xmlns:p14="http://schemas.microsoft.com/office/powerpoint/2010/main" val="16247299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78B9E-9E34-4B56-A1CC-3732CCA3ED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1C8DA2-988F-261E-9281-44E7138C0E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773C7A-E756-3ECF-A429-462AC1D6B74E}"/>
              </a:ext>
            </a:extLst>
          </p:cNvPr>
          <p:cNvSpPr>
            <a:spLocks noGrp="1"/>
          </p:cNvSpPr>
          <p:nvPr>
            <p:ph type="body" idx="1"/>
          </p:nvPr>
        </p:nvSpPr>
        <p:spPr/>
        <p:txBody>
          <a:bodyPr/>
          <a:lstStyle/>
          <a:p>
            <a:r>
              <a:rPr lang="vi-VN" b="1" dirty="0">
                <a:highlight>
                  <a:srgbClr val="FFFFFF"/>
                </a:highlight>
              </a:rPr>
              <a:t>UART</a:t>
            </a:r>
            <a:r>
              <a:rPr lang="vi-VN" dirty="0">
                <a:highlight>
                  <a:srgbClr val="FFFFFF"/>
                </a:highlight>
              </a:rPr>
              <a:t> là giao thức nối tiếp cổ điển, từng rất phổ biến trong RS-232 và modem.</a:t>
            </a:r>
            <a:br>
              <a:rPr lang="vi-VN" dirty="0">
                <a:highlight>
                  <a:srgbClr val="FFFFFF"/>
                </a:highlight>
              </a:rPr>
            </a:br>
            <a:r>
              <a:rPr lang="vi-VN" dirty="0">
                <a:highlight>
                  <a:srgbClr val="FFFFFF"/>
                </a:highlight>
              </a:rPr>
              <a:t>Ngày nay bị thay thế dần bởi </a:t>
            </a:r>
            <a:r>
              <a:rPr lang="vi-VN" b="1" dirty="0">
                <a:highlight>
                  <a:srgbClr val="FFFFFF"/>
                </a:highlight>
              </a:rPr>
              <a:t>SPI, I2C, USB, Ethernet</a:t>
            </a:r>
            <a:r>
              <a:rPr lang="vi-VN" dirty="0">
                <a:highlight>
                  <a:srgbClr val="FFFFFF"/>
                </a:highlight>
              </a:rPr>
              <a:t>,</a:t>
            </a:r>
            <a:br>
              <a:rPr lang="vi-VN" dirty="0">
                <a:highlight>
                  <a:srgbClr val="FFFFFF"/>
                </a:highlight>
              </a:rPr>
            </a:br>
            <a:r>
              <a:rPr lang="vi-VN" dirty="0">
                <a:highlight>
                  <a:srgbClr val="FFFFFF"/>
                </a:highlight>
              </a:rPr>
              <a:t>nhưng vẫn được dùng cho </a:t>
            </a:r>
            <a:r>
              <a:rPr lang="vi-VN" b="1" dirty="0">
                <a:highlight>
                  <a:srgbClr val="FFFFFF"/>
                </a:highlight>
              </a:rPr>
              <a:t>ứng dụng đơn giản, tốc độ thấp</a:t>
            </a:r>
            <a:r>
              <a:rPr lang="vi-VN" dirty="0">
                <a:highlight>
                  <a:srgbClr val="FFFFFF"/>
                </a:highlight>
              </a:rPr>
              <a:t> vì </a:t>
            </a:r>
            <a:r>
              <a:rPr lang="vi-VN" b="1" dirty="0">
                <a:highlight>
                  <a:srgbClr val="FFFFFF"/>
                </a:highlight>
              </a:rPr>
              <a:t>dễ và rẻ</a:t>
            </a:r>
            <a:r>
              <a:rPr lang="vi-VN" dirty="0">
                <a:highlight>
                  <a:srgbClr val="FFFFFF"/>
                </a:highlight>
              </a:rPr>
              <a:t>.</a:t>
            </a:r>
          </a:p>
        </p:txBody>
      </p:sp>
      <p:sp>
        <p:nvSpPr>
          <p:cNvPr id="4" name="Slide Number Placeholder 3">
            <a:extLst>
              <a:ext uri="{FF2B5EF4-FFF2-40B4-BE49-F238E27FC236}">
                <a16:creationId xmlns:a16="http://schemas.microsoft.com/office/drawing/2014/main" id="{3DEDF362-CDFE-F830-3B61-2576C15C6446}"/>
              </a:ext>
            </a:extLst>
          </p:cNvPr>
          <p:cNvSpPr>
            <a:spLocks noGrp="1"/>
          </p:cNvSpPr>
          <p:nvPr>
            <p:ph type="sldNum" sz="quarter" idx="5"/>
          </p:nvPr>
        </p:nvSpPr>
        <p:spPr/>
        <p:txBody>
          <a:bodyPr/>
          <a:lstStyle/>
          <a:p>
            <a:fld id="{37D01E2C-B751-4C38-A4F8-4A97733E0BA7}" type="slidenum">
              <a:rPr lang="en-US" smtClean="0"/>
              <a:t>36</a:t>
            </a:fld>
            <a:endParaRPr lang="en-US"/>
          </a:p>
        </p:txBody>
      </p:sp>
    </p:spTree>
    <p:extLst>
      <p:ext uri="{BB962C8B-B14F-4D97-AF65-F5344CB8AC3E}">
        <p14:creationId xmlns:p14="http://schemas.microsoft.com/office/powerpoint/2010/main" val="37718399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A225C-88BE-CF7F-773D-BA396B639C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BF81CB-0AEE-F8FB-E88B-2B18FA5B0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6B5A60-C636-8A3D-3450-A6FC800A75C8}"/>
              </a:ext>
            </a:extLst>
          </p:cNvPr>
          <p:cNvSpPr>
            <a:spLocks noGrp="1"/>
          </p:cNvSpPr>
          <p:nvPr>
            <p:ph type="body" idx="1"/>
          </p:nvPr>
        </p:nvSpPr>
        <p:spPr/>
        <p:txBody>
          <a:bodyPr/>
          <a:lstStyle/>
          <a:p>
            <a:r>
              <a:rPr lang="vi-VN" b="1" dirty="0">
                <a:highlight>
                  <a:srgbClr val="FFFFFF"/>
                </a:highlight>
              </a:rPr>
              <a:t>🕒 3. Đồng bộ thời gian (Timing synchronization)</a:t>
            </a:r>
          </a:p>
          <a:p>
            <a:r>
              <a:rPr lang="vi-VN" dirty="0">
                <a:highlight>
                  <a:srgbClr val="FFFFFF"/>
                </a:highlight>
              </a:rPr>
              <a:t>Vì UART </a:t>
            </a:r>
            <a:r>
              <a:rPr lang="vi-VN" b="1" dirty="0">
                <a:highlight>
                  <a:srgbClr val="FFFFFF"/>
                </a:highlight>
              </a:rPr>
              <a:t>không có tín hiệu clock</a:t>
            </a:r>
            <a:r>
              <a:rPr lang="vi-VN" dirty="0">
                <a:highlight>
                  <a:srgbClr val="FFFFFF"/>
                </a:highlight>
              </a:rPr>
              <a:t>, nên việc đồng bộ hóa được thực hiện như sau:</a:t>
            </a:r>
          </a:p>
          <a:p>
            <a:r>
              <a:rPr lang="vi-VN" dirty="0">
                <a:highlight>
                  <a:srgbClr val="FFFFFF"/>
                </a:highlight>
              </a:rPr>
              <a:t>Khi </a:t>
            </a:r>
            <a:r>
              <a:rPr lang="vi-VN" b="1" dirty="0">
                <a:highlight>
                  <a:srgbClr val="FFFFFF"/>
                </a:highlight>
              </a:rPr>
              <a:t>thiết bị nhận (RX)</a:t>
            </a:r>
            <a:r>
              <a:rPr lang="vi-VN" dirty="0">
                <a:highlight>
                  <a:srgbClr val="FFFFFF"/>
                </a:highlight>
              </a:rPr>
              <a:t> phát hiện </a:t>
            </a:r>
            <a:r>
              <a:rPr lang="vi-VN" b="1" dirty="0">
                <a:highlight>
                  <a:srgbClr val="FFFFFF"/>
                </a:highlight>
              </a:rPr>
              <a:t>start bit (mức thấp)</a:t>
            </a:r>
            <a:r>
              <a:rPr lang="vi-VN" dirty="0">
                <a:highlight>
                  <a:srgbClr val="FFFFFF"/>
                </a:highlight>
              </a:rPr>
              <a:t>, nó bắt đầu </a:t>
            </a:r>
            <a:r>
              <a:rPr lang="vi-VN" b="1" dirty="0">
                <a:highlight>
                  <a:srgbClr val="FFFFFF"/>
                </a:highlight>
              </a:rPr>
              <a:t>đồng hồ nội (internal clock)</a:t>
            </a:r>
            <a:r>
              <a:rPr lang="vi-VN" dirty="0">
                <a:highlight>
                  <a:srgbClr val="FFFFFF"/>
                </a:highlight>
              </a:rPr>
              <a:t> của mình.</a:t>
            </a:r>
          </a:p>
          <a:p>
            <a:r>
              <a:rPr lang="vi-VN" dirty="0">
                <a:highlight>
                  <a:srgbClr val="FFFFFF"/>
                </a:highlight>
              </a:rPr>
              <a:t>Thiết bị RX sẽ </a:t>
            </a:r>
            <a:r>
              <a:rPr lang="vi-VN" b="1" dirty="0">
                <a:highlight>
                  <a:srgbClr val="FFFFFF"/>
                </a:highlight>
              </a:rPr>
              <a:t>lấy mẫu dữ liệu (sampling)</a:t>
            </a:r>
            <a:r>
              <a:rPr lang="vi-VN" dirty="0">
                <a:highlight>
                  <a:srgbClr val="FFFFFF"/>
                </a:highlight>
              </a:rPr>
              <a:t> tại </a:t>
            </a:r>
            <a:r>
              <a:rPr lang="vi-VN" b="1" dirty="0">
                <a:highlight>
                  <a:srgbClr val="FFFFFF"/>
                </a:highlight>
              </a:rPr>
              <a:t>giữa mỗi bit period</a:t>
            </a:r>
            <a:r>
              <a:rPr lang="vi-VN" dirty="0">
                <a:highlight>
                  <a:srgbClr val="FFFFFF"/>
                </a:highlight>
              </a:rPr>
              <a:t> (thời điểm ổn định nhất).</a:t>
            </a:r>
          </a:p>
          <a:p>
            <a:r>
              <a:rPr lang="vi-VN" dirty="0">
                <a:highlight>
                  <a:srgbClr val="FFFFFF"/>
                </a:highlight>
              </a:rPr>
              <a:t>Dựa trên baud rate đã cấu hình, RX biết chính xác </a:t>
            </a:r>
            <a:r>
              <a:rPr lang="vi-VN" b="1" dirty="0">
                <a:highlight>
                  <a:srgbClr val="FFFFFF"/>
                </a:highlight>
              </a:rPr>
              <a:t>khi nào đọc từng bit</a:t>
            </a:r>
            <a:r>
              <a:rPr lang="vi-VN" dirty="0">
                <a:highlight>
                  <a:srgbClr val="FFFFFF"/>
                </a:highlight>
              </a:rPr>
              <a:t> tiếp theo.</a:t>
            </a:r>
          </a:p>
          <a:p>
            <a:r>
              <a:rPr lang="vi-VN" dirty="0">
                <a:highlight>
                  <a:srgbClr val="FFFFFF"/>
                </a:highlight>
              </a:rPr>
              <a:t>👉 Ví dụ:</a:t>
            </a:r>
            <a:br>
              <a:rPr lang="vi-VN" dirty="0">
                <a:highlight>
                  <a:srgbClr val="FFFFFF"/>
                </a:highlight>
              </a:rPr>
            </a:br>
            <a:r>
              <a:rPr lang="vi-VN" dirty="0">
                <a:highlight>
                  <a:srgbClr val="FFFFFF"/>
                </a:highlight>
              </a:rPr>
              <a:t>Baud rate = 9600 bps → mỗi bit dài </a:t>
            </a:r>
            <a:r>
              <a:rPr lang="vi-VN" b="1" dirty="0">
                <a:highlight>
                  <a:srgbClr val="FFFFFF"/>
                </a:highlight>
              </a:rPr>
              <a:t>1 / 9600 ≈ 104 µs</a:t>
            </a:r>
            <a:r>
              <a:rPr lang="vi-VN" dirty="0">
                <a:highlight>
                  <a:srgbClr val="FFFFFF"/>
                </a:highlight>
              </a:rPr>
              <a:t>.</a:t>
            </a:r>
            <a:br>
              <a:rPr lang="vi-VN" dirty="0">
                <a:highlight>
                  <a:srgbClr val="FFFFFF"/>
                </a:highlight>
              </a:rPr>
            </a:br>
            <a:r>
              <a:rPr lang="vi-VN" dirty="0">
                <a:highlight>
                  <a:srgbClr val="FFFFFF"/>
                </a:highlight>
              </a:rPr>
              <a:t>Thiết bị nhận sẽ đo chính xác khoảng thời gian này để đọc từng bit.</a:t>
            </a:r>
          </a:p>
        </p:txBody>
      </p:sp>
      <p:sp>
        <p:nvSpPr>
          <p:cNvPr id="4" name="Slide Number Placeholder 3">
            <a:extLst>
              <a:ext uri="{FF2B5EF4-FFF2-40B4-BE49-F238E27FC236}">
                <a16:creationId xmlns:a16="http://schemas.microsoft.com/office/drawing/2014/main" id="{0E0DFD97-6B52-657A-C814-D67FF9505838}"/>
              </a:ext>
            </a:extLst>
          </p:cNvPr>
          <p:cNvSpPr>
            <a:spLocks noGrp="1"/>
          </p:cNvSpPr>
          <p:nvPr>
            <p:ph type="sldNum" sz="quarter" idx="5"/>
          </p:nvPr>
        </p:nvSpPr>
        <p:spPr/>
        <p:txBody>
          <a:bodyPr/>
          <a:lstStyle/>
          <a:p>
            <a:fld id="{37D01E2C-B751-4C38-A4F8-4A97733E0BA7}" type="slidenum">
              <a:rPr lang="en-US" smtClean="0"/>
              <a:t>37</a:t>
            </a:fld>
            <a:endParaRPr lang="en-US"/>
          </a:p>
        </p:txBody>
      </p:sp>
    </p:spTree>
    <p:extLst>
      <p:ext uri="{BB962C8B-B14F-4D97-AF65-F5344CB8AC3E}">
        <p14:creationId xmlns:p14="http://schemas.microsoft.com/office/powerpoint/2010/main" val="7123093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1D3C7-2854-6DF8-70A2-37F08BCC2D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47D379-9232-C70A-B025-1C98384FCD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2DF600-808B-D5F8-5C97-B29F9DD99A72}"/>
              </a:ext>
            </a:extLst>
          </p:cNvPr>
          <p:cNvSpPr>
            <a:spLocks noGrp="1"/>
          </p:cNvSpPr>
          <p:nvPr>
            <p:ph type="body" idx="1"/>
          </p:nvPr>
        </p:nvSpPr>
        <p:spPr/>
        <p:txBody>
          <a:bodyPr/>
          <a:lstStyle/>
          <a:p>
            <a:r>
              <a:rPr lang="vi-VN" b="1" dirty="0">
                <a:highlight>
                  <a:srgbClr val="FFFFFF"/>
                </a:highlight>
              </a:rPr>
              <a:t>🕒 3. Đồng bộ thời gian (Timing synchronization)</a:t>
            </a:r>
          </a:p>
          <a:p>
            <a:r>
              <a:rPr lang="vi-VN" dirty="0">
                <a:highlight>
                  <a:srgbClr val="FFFFFF"/>
                </a:highlight>
              </a:rPr>
              <a:t>Vì UART </a:t>
            </a:r>
            <a:r>
              <a:rPr lang="vi-VN" b="1" dirty="0">
                <a:highlight>
                  <a:srgbClr val="FFFFFF"/>
                </a:highlight>
              </a:rPr>
              <a:t>không có tín hiệu clock</a:t>
            </a:r>
            <a:r>
              <a:rPr lang="vi-VN" dirty="0">
                <a:highlight>
                  <a:srgbClr val="FFFFFF"/>
                </a:highlight>
              </a:rPr>
              <a:t>, nên việc đồng bộ hóa được thực hiện như sau:</a:t>
            </a:r>
          </a:p>
          <a:p>
            <a:r>
              <a:rPr lang="vi-VN" dirty="0">
                <a:highlight>
                  <a:srgbClr val="FFFFFF"/>
                </a:highlight>
              </a:rPr>
              <a:t>Khi </a:t>
            </a:r>
            <a:r>
              <a:rPr lang="vi-VN" b="1" dirty="0">
                <a:highlight>
                  <a:srgbClr val="FFFFFF"/>
                </a:highlight>
              </a:rPr>
              <a:t>thiết bị nhận (RX)</a:t>
            </a:r>
            <a:r>
              <a:rPr lang="vi-VN" dirty="0">
                <a:highlight>
                  <a:srgbClr val="FFFFFF"/>
                </a:highlight>
              </a:rPr>
              <a:t> phát hiện </a:t>
            </a:r>
            <a:r>
              <a:rPr lang="vi-VN" b="1" dirty="0">
                <a:highlight>
                  <a:srgbClr val="FFFFFF"/>
                </a:highlight>
              </a:rPr>
              <a:t>start bit (mức thấp)</a:t>
            </a:r>
            <a:r>
              <a:rPr lang="vi-VN" dirty="0">
                <a:highlight>
                  <a:srgbClr val="FFFFFF"/>
                </a:highlight>
              </a:rPr>
              <a:t>, nó bắt đầu </a:t>
            </a:r>
            <a:r>
              <a:rPr lang="vi-VN" b="1" dirty="0">
                <a:highlight>
                  <a:srgbClr val="FFFFFF"/>
                </a:highlight>
              </a:rPr>
              <a:t>đồng hồ nội (internal clock)</a:t>
            </a:r>
            <a:r>
              <a:rPr lang="vi-VN" dirty="0">
                <a:highlight>
                  <a:srgbClr val="FFFFFF"/>
                </a:highlight>
              </a:rPr>
              <a:t> của mình.</a:t>
            </a:r>
          </a:p>
          <a:p>
            <a:r>
              <a:rPr lang="vi-VN" dirty="0">
                <a:highlight>
                  <a:srgbClr val="FFFFFF"/>
                </a:highlight>
              </a:rPr>
              <a:t>Thiết bị RX sẽ </a:t>
            </a:r>
            <a:r>
              <a:rPr lang="vi-VN" b="1" dirty="0">
                <a:highlight>
                  <a:srgbClr val="FFFFFF"/>
                </a:highlight>
              </a:rPr>
              <a:t>lấy mẫu dữ liệu (sampling)</a:t>
            </a:r>
            <a:r>
              <a:rPr lang="vi-VN" dirty="0">
                <a:highlight>
                  <a:srgbClr val="FFFFFF"/>
                </a:highlight>
              </a:rPr>
              <a:t> tại </a:t>
            </a:r>
            <a:r>
              <a:rPr lang="vi-VN" b="1" dirty="0">
                <a:highlight>
                  <a:srgbClr val="FFFFFF"/>
                </a:highlight>
              </a:rPr>
              <a:t>giữa mỗi bit period</a:t>
            </a:r>
            <a:r>
              <a:rPr lang="vi-VN" dirty="0">
                <a:highlight>
                  <a:srgbClr val="FFFFFF"/>
                </a:highlight>
              </a:rPr>
              <a:t> (thời điểm ổn định nhất).</a:t>
            </a:r>
          </a:p>
          <a:p>
            <a:r>
              <a:rPr lang="vi-VN" dirty="0">
                <a:highlight>
                  <a:srgbClr val="FFFFFF"/>
                </a:highlight>
              </a:rPr>
              <a:t>Dựa trên baud rate đã cấu hình, RX biết chính xác </a:t>
            </a:r>
            <a:r>
              <a:rPr lang="vi-VN" b="1" dirty="0">
                <a:highlight>
                  <a:srgbClr val="FFFFFF"/>
                </a:highlight>
              </a:rPr>
              <a:t>khi nào đọc từng bit</a:t>
            </a:r>
            <a:r>
              <a:rPr lang="vi-VN" dirty="0">
                <a:highlight>
                  <a:srgbClr val="FFFFFF"/>
                </a:highlight>
              </a:rPr>
              <a:t> tiếp theo.</a:t>
            </a:r>
          </a:p>
          <a:p>
            <a:r>
              <a:rPr lang="vi-VN" dirty="0">
                <a:highlight>
                  <a:srgbClr val="FFFFFF"/>
                </a:highlight>
              </a:rPr>
              <a:t>👉 Ví dụ:</a:t>
            </a:r>
            <a:br>
              <a:rPr lang="vi-VN" dirty="0">
                <a:highlight>
                  <a:srgbClr val="FFFFFF"/>
                </a:highlight>
              </a:rPr>
            </a:br>
            <a:r>
              <a:rPr lang="vi-VN" dirty="0">
                <a:highlight>
                  <a:srgbClr val="FFFFFF"/>
                </a:highlight>
              </a:rPr>
              <a:t>Baud rate = 9600 bps → mỗi bit dài </a:t>
            </a:r>
            <a:r>
              <a:rPr lang="vi-VN" b="1" dirty="0">
                <a:highlight>
                  <a:srgbClr val="FFFFFF"/>
                </a:highlight>
              </a:rPr>
              <a:t>1 / 9600 ≈ 104 µs</a:t>
            </a:r>
            <a:r>
              <a:rPr lang="vi-VN" dirty="0">
                <a:highlight>
                  <a:srgbClr val="FFFFFF"/>
                </a:highlight>
              </a:rPr>
              <a:t>.</a:t>
            </a:r>
            <a:br>
              <a:rPr lang="vi-VN" dirty="0">
                <a:highlight>
                  <a:srgbClr val="FFFFFF"/>
                </a:highlight>
              </a:rPr>
            </a:br>
            <a:r>
              <a:rPr lang="vi-VN" dirty="0">
                <a:highlight>
                  <a:srgbClr val="FFFFFF"/>
                </a:highlight>
              </a:rPr>
              <a:t>Thiết bị nhận sẽ đo chính xác khoảng thời gian này để đọc từng bit.</a:t>
            </a:r>
          </a:p>
        </p:txBody>
      </p:sp>
      <p:sp>
        <p:nvSpPr>
          <p:cNvPr id="4" name="Slide Number Placeholder 3">
            <a:extLst>
              <a:ext uri="{FF2B5EF4-FFF2-40B4-BE49-F238E27FC236}">
                <a16:creationId xmlns:a16="http://schemas.microsoft.com/office/drawing/2014/main" id="{C2998698-6CAD-99D0-3BC3-B66DEF392150}"/>
              </a:ext>
            </a:extLst>
          </p:cNvPr>
          <p:cNvSpPr>
            <a:spLocks noGrp="1"/>
          </p:cNvSpPr>
          <p:nvPr>
            <p:ph type="sldNum" sz="quarter" idx="5"/>
          </p:nvPr>
        </p:nvSpPr>
        <p:spPr/>
        <p:txBody>
          <a:bodyPr/>
          <a:lstStyle/>
          <a:p>
            <a:fld id="{37D01E2C-B751-4C38-A4F8-4A97733E0BA7}" type="slidenum">
              <a:rPr lang="en-US" smtClean="0"/>
              <a:t>38</a:t>
            </a:fld>
            <a:endParaRPr lang="en-US"/>
          </a:p>
        </p:txBody>
      </p:sp>
    </p:spTree>
    <p:extLst>
      <p:ext uri="{BB962C8B-B14F-4D97-AF65-F5344CB8AC3E}">
        <p14:creationId xmlns:p14="http://schemas.microsoft.com/office/powerpoint/2010/main" val="1193210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7DCC7-0672-862C-44FB-79D75FA867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CDED4E-81D5-C7C7-2041-5CEF61C14A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6187A5-4A1F-119A-CAE5-4BFF1A0F0AC4}"/>
              </a:ext>
            </a:extLst>
          </p:cNvPr>
          <p:cNvSpPr>
            <a:spLocks noGrp="1"/>
          </p:cNvSpPr>
          <p:nvPr>
            <p:ph type="body" idx="1"/>
          </p:nvPr>
        </p:nvSpPr>
        <p:spPr/>
        <p:txBody>
          <a:bodyPr/>
          <a:lstStyle/>
          <a:p>
            <a:r>
              <a:rPr lang="vi-VN" b="1" dirty="0">
                <a:highlight>
                  <a:srgbClr val="FFFFFF"/>
                </a:highlight>
              </a:rPr>
              <a:t>🔁 5. Giao tiếp song công (Full-duplex)</a:t>
            </a:r>
          </a:p>
          <a:p>
            <a:r>
              <a:rPr lang="vi-VN" dirty="0">
                <a:highlight>
                  <a:srgbClr val="FFFFFF"/>
                </a:highlight>
              </a:rPr>
              <a:t>UART có </a:t>
            </a:r>
            <a:r>
              <a:rPr lang="vi-VN" b="1" dirty="0">
                <a:highlight>
                  <a:srgbClr val="FFFFFF"/>
                </a:highlight>
              </a:rPr>
              <a:t>hai đường độc lập</a:t>
            </a:r>
            <a:r>
              <a:rPr lang="vi-VN" dirty="0">
                <a:highlight>
                  <a:srgbClr val="FFFFFF"/>
                </a:highlight>
              </a:rPr>
              <a:t>:</a:t>
            </a:r>
          </a:p>
          <a:p>
            <a:r>
              <a:rPr lang="vi-VN" b="1" dirty="0">
                <a:highlight>
                  <a:srgbClr val="FFFFFF"/>
                </a:highlight>
              </a:rPr>
              <a:t>TX (Transmit)</a:t>
            </a:r>
            <a:r>
              <a:rPr lang="vi-VN" dirty="0">
                <a:highlight>
                  <a:srgbClr val="FFFFFF"/>
                </a:highlight>
              </a:rPr>
              <a:t> → gửi dữ liệu.</a:t>
            </a:r>
          </a:p>
          <a:p>
            <a:r>
              <a:rPr lang="vi-VN" b="1" dirty="0">
                <a:highlight>
                  <a:srgbClr val="FFFFFF"/>
                </a:highlight>
              </a:rPr>
              <a:t>RX (Receive)</a:t>
            </a:r>
            <a:r>
              <a:rPr lang="vi-VN" dirty="0">
                <a:highlight>
                  <a:srgbClr val="FFFFFF"/>
                </a:highlight>
              </a:rPr>
              <a:t> → nhận dữ liệu.</a:t>
            </a:r>
          </a:p>
          <a:p>
            <a:r>
              <a:rPr lang="vi-VN" dirty="0">
                <a:highlight>
                  <a:srgbClr val="FFFFFF"/>
                </a:highlight>
              </a:rPr>
              <a:t>Vì vậy, hai thiết bị có thể </a:t>
            </a:r>
            <a:r>
              <a:rPr lang="vi-VN" b="1" dirty="0">
                <a:highlight>
                  <a:srgbClr val="FFFFFF"/>
                </a:highlight>
              </a:rPr>
              <a:t>vừa gửi vừa nhận cùng lúc</a:t>
            </a:r>
            <a:r>
              <a:rPr lang="vi-VN" dirty="0">
                <a:highlight>
                  <a:srgbClr val="FFFFFF"/>
                </a:highlight>
              </a:rPr>
              <a:t>, ví dụ:</a:t>
            </a:r>
          </a:p>
          <a:p>
            <a:r>
              <a:rPr lang="vi-VN" dirty="0">
                <a:highlight>
                  <a:srgbClr val="FFFFFF"/>
                </a:highlight>
              </a:rPr>
              <a:t>Thiết bị AThiết bị BTX → RXRX ← TX</a:t>
            </a:r>
          </a:p>
          <a:p>
            <a:r>
              <a:rPr lang="vi-VN" dirty="0">
                <a:highlight>
                  <a:srgbClr val="FFFFFF"/>
                </a:highlight>
              </a:rPr>
              <a:t>Cả hai thiết bị đều cần cấu hình giống nhau:</a:t>
            </a:r>
          </a:p>
          <a:p>
            <a:r>
              <a:rPr lang="vi-VN" dirty="0">
                <a:highlight>
                  <a:srgbClr val="FFFFFF"/>
                </a:highlight>
              </a:rPr>
              <a:t>Cùng </a:t>
            </a:r>
            <a:r>
              <a:rPr lang="vi-VN" b="1" dirty="0">
                <a:highlight>
                  <a:srgbClr val="FFFFFF"/>
                </a:highlight>
              </a:rPr>
              <a:t>baud rate</a:t>
            </a:r>
            <a:endParaRPr lang="vi-VN" dirty="0">
              <a:highlight>
                <a:srgbClr val="FFFFFF"/>
              </a:highlight>
            </a:endParaRPr>
          </a:p>
          <a:p>
            <a:r>
              <a:rPr lang="vi-VN" dirty="0">
                <a:highlight>
                  <a:srgbClr val="FFFFFF"/>
                </a:highlight>
              </a:rPr>
              <a:t>Cùng </a:t>
            </a:r>
            <a:r>
              <a:rPr lang="vi-VN" b="1" dirty="0">
                <a:highlight>
                  <a:srgbClr val="FFFFFF"/>
                </a:highlight>
              </a:rPr>
              <a:t>số bit dữ liệu</a:t>
            </a:r>
            <a:r>
              <a:rPr lang="vi-VN" dirty="0">
                <a:highlight>
                  <a:srgbClr val="FFFFFF"/>
                </a:highlight>
              </a:rPr>
              <a:t>, </a:t>
            </a:r>
            <a:r>
              <a:rPr lang="vi-VN" b="1" dirty="0">
                <a:highlight>
                  <a:srgbClr val="FFFFFF"/>
                </a:highlight>
              </a:rPr>
              <a:t>parity</a:t>
            </a:r>
            <a:r>
              <a:rPr lang="vi-VN" dirty="0">
                <a:highlight>
                  <a:srgbClr val="FFFFFF"/>
                </a:highlight>
              </a:rPr>
              <a:t>, </a:t>
            </a:r>
            <a:r>
              <a:rPr lang="vi-VN" b="1" dirty="0">
                <a:highlight>
                  <a:srgbClr val="FFFFFF"/>
                </a:highlight>
              </a:rPr>
              <a:t>stop bit</a:t>
            </a:r>
            <a:endParaRPr lang="vi-VN" dirty="0">
              <a:highlight>
                <a:srgbClr val="FFFFFF"/>
              </a:highlight>
            </a:endParaRPr>
          </a:p>
        </p:txBody>
      </p:sp>
      <p:sp>
        <p:nvSpPr>
          <p:cNvPr id="4" name="Slide Number Placeholder 3">
            <a:extLst>
              <a:ext uri="{FF2B5EF4-FFF2-40B4-BE49-F238E27FC236}">
                <a16:creationId xmlns:a16="http://schemas.microsoft.com/office/drawing/2014/main" id="{6722DDCB-50E1-7DE0-2177-DFCDEF98E729}"/>
              </a:ext>
            </a:extLst>
          </p:cNvPr>
          <p:cNvSpPr>
            <a:spLocks noGrp="1"/>
          </p:cNvSpPr>
          <p:nvPr>
            <p:ph type="sldNum" sz="quarter" idx="5"/>
          </p:nvPr>
        </p:nvSpPr>
        <p:spPr/>
        <p:txBody>
          <a:bodyPr/>
          <a:lstStyle/>
          <a:p>
            <a:fld id="{37D01E2C-B751-4C38-A4F8-4A97733E0BA7}" type="slidenum">
              <a:rPr lang="en-US" smtClean="0"/>
              <a:t>39</a:t>
            </a:fld>
            <a:endParaRPr lang="en-US"/>
          </a:p>
        </p:txBody>
      </p:sp>
    </p:spTree>
    <p:extLst>
      <p:ext uri="{BB962C8B-B14F-4D97-AF65-F5344CB8AC3E}">
        <p14:creationId xmlns:p14="http://schemas.microsoft.com/office/powerpoint/2010/main" val="126023920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B51E5E-9CAB-4EE0-3ABD-1B2D11E22E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00DF11-E357-09A8-6C07-3DBBE8A0CC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6A90B2-0B48-8ABB-0E18-2F23CCE6A0A6}"/>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Ưu điểm của giao thức UART</a:t>
            </a:r>
          </a:p>
          <a:p>
            <a:r>
              <a:rPr lang="vi-VN" sz="1200" b="0" i="0" kern="1200" dirty="0">
                <a:solidFill>
                  <a:schemeClr val="tx1"/>
                </a:solidFill>
                <a:effectLst/>
                <a:highlight>
                  <a:srgbClr val="FFFFFF"/>
                </a:highlight>
                <a:latin typeface="+mn-lt"/>
                <a:ea typeface="+mn-ea"/>
                <a:cs typeface="+mn-cs"/>
              </a:rPr>
              <a:t>Nó có ít giao diện vật lý hơn chỉ dựa trên hai dòng.  </a:t>
            </a:r>
          </a:p>
          <a:p>
            <a:r>
              <a:rPr lang="vi-VN" sz="1200" b="0" i="0" kern="1200" dirty="0">
                <a:solidFill>
                  <a:schemeClr val="tx1"/>
                </a:solidFill>
                <a:effectLst/>
                <a:highlight>
                  <a:srgbClr val="FFFFFF"/>
                </a:highlight>
                <a:latin typeface="+mn-lt"/>
                <a:ea typeface="+mn-ea"/>
                <a:cs typeface="+mn-cs"/>
              </a:rPr>
              <a:t>Đơn giản để cấu hình dữ liệu và kích thước dữ liệu. Tốc độ cũng có thể được cấu hình. Trong phần lớn các trường hợp, tốc độ truyền này là 9600 đối với giao thức UART. Có thể cấu hình chế độ song công hoàn toàn bằng cách sử dụng hai dây, đó là ưu điểm chính của UART. </a:t>
            </a:r>
          </a:p>
          <a:p>
            <a:r>
              <a:rPr lang="vi-VN" sz="1200" b="0" i="0" kern="1200" dirty="0">
                <a:solidFill>
                  <a:schemeClr val="tx1"/>
                </a:solidFill>
                <a:effectLst/>
                <a:highlight>
                  <a:srgbClr val="FFFFFF"/>
                </a:highlight>
                <a:latin typeface="+mn-lt"/>
                <a:ea typeface="+mn-ea"/>
                <a:cs typeface="+mn-cs"/>
              </a:rPr>
              <a:t>Có thể giam giữ lỗi</a:t>
            </a:r>
          </a:p>
          <a:p>
            <a:r>
              <a:rPr lang="vi-VN" sz="1200" b="0" i="0" kern="1200" dirty="0">
                <a:solidFill>
                  <a:schemeClr val="tx1"/>
                </a:solidFill>
                <a:effectLst/>
                <a:highlight>
                  <a:srgbClr val="FFFFFF"/>
                </a:highlight>
                <a:latin typeface="+mn-lt"/>
                <a:ea typeface="+mn-ea"/>
                <a:cs typeface="+mn-cs"/>
              </a:rPr>
              <a:t>Nhược điểm của giao thức UART</a:t>
            </a:r>
          </a:p>
          <a:p>
            <a:r>
              <a:rPr lang="vi-VN" sz="1200" b="0" i="0" kern="1200" dirty="0">
                <a:solidFill>
                  <a:schemeClr val="tx1"/>
                </a:solidFill>
                <a:effectLst/>
                <a:highlight>
                  <a:srgbClr val="FFFFFF"/>
                </a:highlight>
                <a:latin typeface="+mn-lt"/>
                <a:ea typeface="+mn-ea"/>
                <a:cs typeface="+mn-cs"/>
              </a:rPr>
              <a:t>UART có giao tiếp nối tiếp nên tốc độ chậm hơn.</a:t>
            </a:r>
          </a:p>
          <a:p>
            <a:r>
              <a:rPr lang="vi-VN" sz="1200" b="0" i="0" kern="1200" dirty="0">
                <a:solidFill>
                  <a:schemeClr val="tx1"/>
                </a:solidFill>
                <a:effectLst/>
                <a:highlight>
                  <a:srgbClr val="FFFFFF"/>
                </a:highlight>
                <a:latin typeface="+mn-lt"/>
                <a:ea typeface="+mn-ea"/>
                <a:cs typeface="+mn-cs"/>
              </a:rPr>
              <a:t>Bit bắt đầu, bit dừng và bit chẵn lẻ là phần chi phí khác.  </a:t>
            </a:r>
          </a:p>
          <a:p>
            <a:r>
              <a:rPr lang="vi-VN" sz="1200" b="0" i="0" kern="1200" dirty="0">
                <a:solidFill>
                  <a:schemeClr val="tx1"/>
                </a:solidFill>
                <a:effectLst/>
                <a:highlight>
                  <a:srgbClr val="FFFFFF"/>
                </a:highlight>
                <a:latin typeface="+mn-lt"/>
                <a:ea typeface="+mn-ea"/>
                <a:cs typeface="+mn-cs"/>
              </a:rPr>
              <a:t>Vì đây là giao tiếp không đồng bộ nên ở đây có nhiều điều chúng ta cần thực hiện trong cấu hình, chẳng hạn như chúng ta nên cấu hình cả hai thiết bị ở cùng tốc độ vì không có tín hiệu xung nhịp.</a:t>
            </a:r>
          </a:p>
        </p:txBody>
      </p:sp>
      <p:sp>
        <p:nvSpPr>
          <p:cNvPr id="4" name="Slide Number Placeholder 3">
            <a:extLst>
              <a:ext uri="{FF2B5EF4-FFF2-40B4-BE49-F238E27FC236}">
                <a16:creationId xmlns:a16="http://schemas.microsoft.com/office/drawing/2014/main" id="{5A465345-763E-16F0-CB9D-FC1E02EDA305}"/>
              </a:ext>
            </a:extLst>
          </p:cNvPr>
          <p:cNvSpPr>
            <a:spLocks noGrp="1"/>
          </p:cNvSpPr>
          <p:nvPr>
            <p:ph type="sldNum" sz="quarter" idx="5"/>
          </p:nvPr>
        </p:nvSpPr>
        <p:spPr/>
        <p:txBody>
          <a:bodyPr/>
          <a:lstStyle/>
          <a:p>
            <a:fld id="{37D01E2C-B751-4C38-A4F8-4A97733E0BA7}" type="slidenum">
              <a:rPr lang="en-US" smtClean="0"/>
              <a:t>40</a:t>
            </a:fld>
            <a:endParaRPr lang="en-US"/>
          </a:p>
        </p:txBody>
      </p:sp>
    </p:spTree>
    <p:extLst>
      <p:ext uri="{BB962C8B-B14F-4D97-AF65-F5344CB8AC3E}">
        <p14:creationId xmlns:p14="http://schemas.microsoft.com/office/powerpoint/2010/main" val="31539905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8A2CC-D8A0-5D07-92AA-4E3C77C61B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70A867-18D0-549A-BF15-74024248D0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0BE906-7D0D-90BB-663D-4D6B7DF93C8A}"/>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Định cấu hình các tham số truyền thông UART</a:t>
            </a:r>
          </a:p>
          <a:p>
            <a:r>
              <a:rPr lang="vi-VN" sz="1200" b="0" i="0" kern="1200" dirty="0">
                <a:solidFill>
                  <a:schemeClr val="tx1"/>
                </a:solidFill>
                <a:effectLst/>
                <a:highlight>
                  <a:srgbClr val="FFFFFF"/>
                </a:highlight>
                <a:latin typeface="+mn-lt"/>
                <a:ea typeface="+mn-ea"/>
                <a:cs typeface="+mn-cs"/>
              </a:rPr>
              <a:t>Trong giao tiếp UART, cả máy phát và máy thu phải được cấu hình với cùng một bộ tham số; nếu không, dữ liệu sẽ bị đọc sai hoặc bị mất. Các tham số này xác định định dạng và thời gian chính xác của việc trao đổi dữ liệu và rất cần thiết để liên lạc đáng tin cậy. Các thông số chính là:</a:t>
            </a:r>
          </a:p>
          <a:p>
            <a:r>
              <a:rPr lang="vi-VN" sz="1200" b="0" i="0" kern="1200" dirty="0">
                <a:solidFill>
                  <a:schemeClr val="tx1"/>
                </a:solidFill>
                <a:effectLst/>
                <a:highlight>
                  <a:srgbClr val="FFFFFF"/>
                </a:highlight>
                <a:latin typeface="+mn-lt"/>
                <a:ea typeface="+mn-ea"/>
                <a:cs typeface="+mn-cs"/>
              </a:rPr>
              <a:t>Tốc độ truyền</a:t>
            </a:r>
          </a:p>
          <a:p>
            <a:r>
              <a:rPr lang="vi-VN" sz="1200" b="0" i="0" kern="1200" dirty="0">
                <a:solidFill>
                  <a:schemeClr val="tx1"/>
                </a:solidFill>
                <a:effectLst/>
                <a:highlight>
                  <a:srgbClr val="FFFFFF"/>
                </a:highlight>
                <a:latin typeface="+mn-lt"/>
                <a:ea typeface="+mn-ea"/>
                <a:cs typeface="+mn-cs"/>
              </a:rPr>
              <a:t>Tốc độ baud là thước đo số lượng bit mỗi giây mà một kênh truyền thông có thể truyền tải. Nó xác định tốc độ gửi hoặc nhận dữ liệu trong giao tiếp nối tiếp.</a:t>
            </a:r>
          </a:p>
          <a:p>
            <a:r>
              <a:rPr lang="vi-VN" sz="1200" b="0" i="0" kern="1200" dirty="0">
                <a:solidFill>
                  <a:schemeClr val="tx1"/>
                </a:solidFill>
                <a:effectLst/>
                <a:highlight>
                  <a:srgbClr val="FFFFFF"/>
                </a:highlight>
                <a:latin typeface="+mn-lt"/>
                <a:ea typeface="+mn-ea"/>
                <a:cs typeface="+mn-cs"/>
              </a:rPr>
              <a:t>Các giá trị tốc độ truyền phổ biến bao gồm 2400, 4800, 9600, 115200 và hơn thế nữa. Việc lựa chọn tốc độ truyền phụ thuộc vào yêu cầu của dự án cụ thể của bạn và khả năng của thiết bị bên ngoài. Cả thiết bị truyền và thiết bị nhận đều cần hoạt động ở cùng tốc độ truyền để đảm bảo dữ liệu được gửi và nhận đúng cách.</a:t>
            </a:r>
          </a:p>
          <a:p>
            <a:r>
              <a:rPr lang="vi-VN" sz="1200" b="0" i="0" kern="1200" dirty="0">
                <a:solidFill>
                  <a:schemeClr val="tx1"/>
                </a:solidFill>
                <a:effectLst/>
                <a:highlight>
                  <a:srgbClr val="FFFFFF"/>
                </a:highlight>
                <a:latin typeface="+mn-lt"/>
                <a:ea typeface="+mn-ea"/>
                <a:cs typeface="+mn-cs"/>
              </a:rPr>
              <a:t>Nếu bạn đặt kênh liên lạc UART ở tốc độ baud là 115200, điều đó có nghĩa là kênh đó có thể truyền dữ liệu với tốc độ 115200 bit mỗi giây.</a:t>
            </a:r>
          </a:p>
        </p:txBody>
      </p:sp>
      <p:sp>
        <p:nvSpPr>
          <p:cNvPr id="4" name="Slide Number Placeholder 3">
            <a:extLst>
              <a:ext uri="{FF2B5EF4-FFF2-40B4-BE49-F238E27FC236}">
                <a16:creationId xmlns:a16="http://schemas.microsoft.com/office/drawing/2014/main" id="{E7F66C27-058C-0587-1BBE-40C58D5E43A9}"/>
              </a:ext>
            </a:extLst>
          </p:cNvPr>
          <p:cNvSpPr>
            <a:spLocks noGrp="1"/>
          </p:cNvSpPr>
          <p:nvPr>
            <p:ph type="sldNum" sz="quarter" idx="5"/>
          </p:nvPr>
        </p:nvSpPr>
        <p:spPr/>
        <p:txBody>
          <a:bodyPr/>
          <a:lstStyle/>
          <a:p>
            <a:fld id="{37D01E2C-B751-4C38-A4F8-4A97733E0BA7}" type="slidenum">
              <a:rPr lang="en-US" smtClean="0"/>
              <a:t>41</a:t>
            </a:fld>
            <a:endParaRPr lang="en-US"/>
          </a:p>
        </p:txBody>
      </p:sp>
    </p:spTree>
    <p:extLst>
      <p:ext uri="{BB962C8B-B14F-4D97-AF65-F5344CB8AC3E}">
        <p14:creationId xmlns:p14="http://schemas.microsoft.com/office/powerpoint/2010/main" val="396263692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21B66-165E-50DC-AA38-F734466E8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1FD32C-2052-DBED-9392-9A07105D5B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FE07AB-B98D-443D-5F1D-A63EBE81CEC0}"/>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UART Flow Control là phương pháp giúp các thiết bị chậm và nhanh giao tiếp với nhau qua UART mà không có nguy cơ mất dữ liệu. Hãy xem xét trường hợp hai đơn vị đang liên lạc qua UART. Máy phát T đang gửi một dòng byte dài đến máy thu R. R là thiết bị chậm hơn T và R không thể theo kịp. Nó cần thực hiện một số xử lý trên dữ liệu hoặc làm trống một số bộ đệm trước khi có thể tiếp tục nhận dữ liệu.</a:t>
            </a:r>
          </a:p>
          <a:p>
            <a:r>
              <a:rPr lang="vi-VN" sz="1200" b="0" i="0" kern="1200" dirty="0">
                <a:solidFill>
                  <a:schemeClr val="tx1"/>
                </a:solidFill>
                <a:effectLst/>
                <a:highlight>
                  <a:srgbClr val="FFFFFF"/>
                </a:highlight>
                <a:latin typeface="+mn-lt"/>
                <a:ea typeface="+mn-ea"/>
                <a:cs typeface="+mn-cs"/>
              </a:rPr>
              <a:t>R cần yêu cầu T ngừng truyền một lúc. Đây là lúc điều khiển luồng phát huy tác dụng. Điều khiển luồng cung cấp tín hiệu bổ sung để thông báo cho bộ phát rằng nó nên dừng (tạm dừng) hoặc bắt đầu (tiếp tục) quá trình truyền.</a:t>
            </a:r>
          </a:p>
          <a:p>
            <a:r>
              <a:rPr lang="vi-VN" sz="1200" b="0" i="0" kern="1200" dirty="0">
                <a:solidFill>
                  <a:schemeClr val="tx1"/>
                </a:solidFill>
                <a:effectLst/>
                <a:highlight>
                  <a:srgbClr val="FFFFFF"/>
                </a:highlight>
                <a:latin typeface="+mn-lt"/>
                <a:ea typeface="+mn-ea"/>
                <a:cs typeface="+mn-cs"/>
              </a:rPr>
              <a:t>Một số hình thức kiểm soát dòng chảy tồn tại. Ví dụ: điều khiển luồng phần cứng sử dụng các dây bổ sung, trong đó mức logic trên các dây này xác định xem bộ phát nên tiếp tục gửi dữ liệu hay dừng. Với điều khiển luồng phần mềm, các ký tự đặc biệt được gửi qua đường dữ liệu thông thường để bắt đầu hoặc dừng truyền.</a:t>
            </a:r>
          </a:p>
        </p:txBody>
      </p:sp>
      <p:sp>
        <p:nvSpPr>
          <p:cNvPr id="4" name="Slide Number Placeholder 3">
            <a:extLst>
              <a:ext uri="{FF2B5EF4-FFF2-40B4-BE49-F238E27FC236}">
                <a16:creationId xmlns:a16="http://schemas.microsoft.com/office/drawing/2014/main" id="{EE287E45-5D41-6660-633A-D3EF9B7AE88D}"/>
              </a:ext>
            </a:extLst>
          </p:cNvPr>
          <p:cNvSpPr>
            <a:spLocks noGrp="1"/>
          </p:cNvSpPr>
          <p:nvPr>
            <p:ph type="sldNum" sz="quarter" idx="5"/>
          </p:nvPr>
        </p:nvSpPr>
        <p:spPr/>
        <p:txBody>
          <a:bodyPr/>
          <a:lstStyle/>
          <a:p>
            <a:fld id="{37D01E2C-B751-4C38-A4F8-4A97733E0BA7}" type="slidenum">
              <a:rPr lang="en-US" smtClean="0"/>
              <a:t>42</a:t>
            </a:fld>
            <a:endParaRPr lang="en-US"/>
          </a:p>
        </p:txBody>
      </p:sp>
    </p:spTree>
    <p:extLst>
      <p:ext uri="{BB962C8B-B14F-4D97-AF65-F5344CB8AC3E}">
        <p14:creationId xmlns:p14="http://schemas.microsoft.com/office/powerpoint/2010/main" val="339449844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375F8-0E76-EAF1-CE00-AD5B99E18B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D1D196-7A04-0C35-867F-95E075FF55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81CCA3-D45D-8F26-6B55-4CB9F0B9BB61}"/>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Trong giao tiếp UART, mỗi khung dữ liệu được gói gọn bằng các bit bắt đầu và dừng. Các bit này đóng vai trò quan trọng trong việc thiết lập ranh giới truyền dữ liệu và đảm bảo đồng bộ hóa giữa người gửi và người nhận.</a:t>
            </a:r>
          </a:p>
        </p:txBody>
      </p:sp>
      <p:sp>
        <p:nvSpPr>
          <p:cNvPr id="4" name="Slide Number Placeholder 3">
            <a:extLst>
              <a:ext uri="{FF2B5EF4-FFF2-40B4-BE49-F238E27FC236}">
                <a16:creationId xmlns:a16="http://schemas.microsoft.com/office/drawing/2014/main" id="{C42EF4FA-0EE3-7249-DFC0-2ECC2904704F}"/>
              </a:ext>
            </a:extLst>
          </p:cNvPr>
          <p:cNvSpPr>
            <a:spLocks noGrp="1"/>
          </p:cNvSpPr>
          <p:nvPr>
            <p:ph type="sldNum" sz="quarter" idx="5"/>
          </p:nvPr>
        </p:nvSpPr>
        <p:spPr/>
        <p:txBody>
          <a:bodyPr/>
          <a:lstStyle/>
          <a:p>
            <a:fld id="{37D01E2C-B751-4C38-A4F8-4A97733E0BA7}" type="slidenum">
              <a:rPr lang="en-US" smtClean="0"/>
              <a:t>43</a:t>
            </a:fld>
            <a:endParaRPr lang="en-US"/>
          </a:p>
        </p:txBody>
      </p:sp>
    </p:spTree>
    <p:extLst>
      <p:ext uri="{BB962C8B-B14F-4D97-AF65-F5344CB8AC3E}">
        <p14:creationId xmlns:p14="http://schemas.microsoft.com/office/powerpoint/2010/main" val="341479500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D76B4-796B-FF19-625D-9265CFB27A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0886D-9AAB-BE0C-6D9B-377BD15A4D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9BA948-08E1-67AA-C7D5-FA58831373A9}"/>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Một bit bắt đầu duy nhất được truyền ở đầu mỗi khung UART. Mục đích chính của bit bắt đầu là chỉ ra sự bắt đầu truyền dữ liệu và chuẩn bị cho bộ thu nhận dữ liệu.</a:t>
            </a:r>
          </a:p>
          <a:p>
            <a:r>
              <a:rPr lang="vi-VN" sz="1200" b="0" i="0" kern="1200" dirty="0">
                <a:solidFill>
                  <a:schemeClr val="tx1"/>
                </a:solidFill>
                <a:effectLst/>
                <a:highlight>
                  <a:srgbClr val="FFFFFF"/>
                </a:highlight>
                <a:latin typeface="+mn-lt"/>
                <a:ea typeface="+mn-ea"/>
                <a:cs typeface="+mn-cs"/>
              </a:rPr>
              <a:t>Bit bắt đầu luôn ở mức logic thấp (0) đối với giao tiếp UART. Điều này có nghĩa là bit bắt đầu được truyền ở mức điện áp thấp hơn ngưỡng logic cao, thường là ở đầu máy thu.</a:t>
            </a:r>
          </a:p>
          <a:p>
            <a:r>
              <a:rPr lang="vi-VN" sz="1200" b="0" i="0" kern="1200" dirty="0">
                <a:solidFill>
                  <a:schemeClr val="tx1"/>
                </a:solidFill>
                <a:effectLst/>
                <a:highlight>
                  <a:srgbClr val="FFFFFF"/>
                </a:highlight>
                <a:latin typeface="+mn-lt"/>
                <a:ea typeface="+mn-ea"/>
                <a:cs typeface="+mn-cs"/>
              </a:rPr>
              <a:t>Khi bộ thu phát hiện bit bắt đầu, nó biết rằng khung dữ liệu mới đang bắt đầu và nó chuẩn bị nhận các bit đến.</a:t>
            </a:r>
          </a:p>
        </p:txBody>
      </p:sp>
      <p:sp>
        <p:nvSpPr>
          <p:cNvPr id="4" name="Slide Number Placeholder 3">
            <a:extLst>
              <a:ext uri="{FF2B5EF4-FFF2-40B4-BE49-F238E27FC236}">
                <a16:creationId xmlns:a16="http://schemas.microsoft.com/office/drawing/2014/main" id="{DA114E81-4DD0-57BC-2553-65218457658D}"/>
              </a:ext>
            </a:extLst>
          </p:cNvPr>
          <p:cNvSpPr>
            <a:spLocks noGrp="1"/>
          </p:cNvSpPr>
          <p:nvPr>
            <p:ph type="sldNum" sz="quarter" idx="5"/>
          </p:nvPr>
        </p:nvSpPr>
        <p:spPr/>
        <p:txBody>
          <a:bodyPr/>
          <a:lstStyle/>
          <a:p>
            <a:fld id="{37D01E2C-B751-4C38-A4F8-4A97733E0BA7}" type="slidenum">
              <a:rPr lang="en-US" smtClean="0"/>
              <a:t>44</a:t>
            </a:fld>
            <a:endParaRPr lang="en-US"/>
          </a:p>
        </p:txBody>
      </p:sp>
    </p:spTree>
    <p:extLst>
      <p:ext uri="{BB962C8B-B14F-4D97-AF65-F5344CB8AC3E}">
        <p14:creationId xmlns:p14="http://schemas.microsoft.com/office/powerpoint/2010/main" val="331208841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48D95-B73F-DBDD-F166-4FCF9AD72D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5E17BF-8939-A888-5E16-FE8F99F009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E40D79-6811-B18E-506C-56F56AA04ED7}"/>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Các bit dữ liệu là thành phần cơ bản của giao tiếp UART vì chúng mang thông tin thực tế được truyền đi. Số lượng bit dữ liệu trong khung UART có thể khác nhau, nhưng cấu hình phổ biến và được sử dụng rộng rãi là 8 bit. Tuy nhiên, UART hỗ trợ nhiều kích cỡ ký tự khác nhau, bao gồm cấu hình 7 bit và 6 bit, tùy thuộc vào yêu cầu ứng dụng cụ thể.</a:t>
            </a:r>
          </a:p>
        </p:txBody>
      </p:sp>
      <p:sp>
        <p:nvSpPr>
          <p:cNvPr id="4" name="Slide Number Placeholder 3">
            <a:extLst>
              <a:ext uri="{FF2B5EF4-FFF2-40B4-BE49-F238E27FC236}">
                <a16:creationId xmlns:a16="http://schemas.microsoft.com/office/drawing/2014/main" id="{70F49500-C787-75B4-3B07-5ACD887236CE}"/>
              </a:ext>
            </a:extLst>
          </p:cNvPr>
          <p:cNvSpPr>
            <a:spLocks noGrp="1"/>
          </p:cNvSpPr>
          <p:nvPr>
            <p:ph type="sldNum" sz="quarter" idx="5"/>
          </p:nvPr>
        </p:nvSpPr>
        <p:spPr/>
        <p:txBody>
          <a:bodyPr/>
          <a:lstStyle/>
          <a:p>
            <a:fld id="{37D01E2C-B751-4C38-A4F8-4A97733E0BA7}" type="slidenum">
              <a:rPr lang="en-US" smtClean="0"/>
              <a:t>45</a:t>
            </a:fld>
            <a:endParaRPr lang="en-US"/>
          </a:p>
        </p:txBody>
      </p:sp>
    </p:spTree>
    <p:extLst>
      <p:ext uri="{BB962C8B-B14F-4D97-AF65-F5344CB8AC3E}">
        <p14:creationId xmlns:p14="http://schemas.microsoft.com/office/powerpoint/2010/main" val="86080539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11E92-F543-B8D9-785F-6F94B93F4C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A9D180-86DC-0498-E139-06561EACBF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C9ED78-67CC-649C-AD08-634008AF0122}"/>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Kích thước ký tự trong giao tiếp UART được xác định bởi số bit dữ liệu trong một khung. Điều cần thiết là chọn kích thước ký tự phù hợp để phù hợp với yêu cầu của dữ liệu được truyền. Dưới đây là một số cấu hình kích thước ký tự phổ biến:</a:t>
            </a:r>
          </a:p>
          <a:p>
            <a:r>
              <a:rPr lang="vi-VN" sz="1200" b="0" i="0" kern="1200" dirty="0">
                <a:solidFill>
                  <a:schemeClr val="tx1"/>
                </a:solidFill>
                <a:effectLst/>
                <a:highlight>
                  <a:srgbClr val="FFFFFF"/>
                </a:highlight>
                <a:latin typeface="+mn-lt"/>
                <a:ea typeface="+mn-ea"/>
                <a:cs typeface="+mn-cs"/>
              </a:rPr>
              <a:t>8-bit: Đây là kích thước ký tự phổ biến nhất trong giao tiếp UART. Nó cho phép truyền một byte dữ liệu, có thể biểu thị nhiều loại giá trị, bao gồm các ký tự ASCII, giá trị số, v.v.</a:t>
            </a:r>
          </a:p>
          <a:p>
            <a:r>
              <a:rPr lang="vi-VN" sz="1200" b="0" i="0" kern="1200" dirty="0">
                <a:solidFill>
                  <a:schemeClr val="tx1"/>
                </a:solidFill>
                <a:effectLst/>
                <a:highlight>
                  <a:srgbClr val="FFFFFF"/>
                </a:highlight>
                <a:latin typeface="+mn-lt"/>
                <a:ea typeface="+mn-ea"/>
                <a:cs typeface="+mn-cs"/>
              </a:rPr>
              <a:t>7-bit: Trong trường hợp kích thước dữ liệu cần nhỏ hơn, kích thước ký tự 7-bit sẽ được sử dụng. Nó phù hợp cho các ứng dụng yêu cầu ít dữ liệu hơn và có thể biểu thị 128 giá trị khác nhau.</a:t>
            </a:r>
          </a:p>
          <a:p>
            <a:r>
              <a:rPr lang="vi-VN" sz="1200" b="0" i="0" kern="1200" dirty="0">
                <a:solidFill>
                  <a:schemeClr val="tx1"/>
                </a:solidFill>
                <a:effectLst/>
                <a:highlight>
                  <a:srgbClr val="FFFFFF"/>
                </a:highlight>
                <a:latin typeface="+mn-lt"/>
                <a:ea typeface="+mn-ea"/>
                <a:cs typeface="+mn-cs"/>
              </a:rPr>
              <a:t>6-bit: Để biểu diễn dữ liệu nhỏ gọn hơn nữa, có thể sử dụng kích thước ký tự 6-bit. Cấu hình này cung cấp khả năng biểu diễn 64 giá trị khác nhau.</a:t>
            </a:r>
          </a:p>
        </p:txBody>
      </p:sp>
      <p:sp>
        <p:nvSpPr>
          <p:cNvPr id="4" name="Slide Number Placeholder 3">
            <a:extLst>
              <a:ext uri="{FF2B5EF4-FFF2-40B4-BE49-F238E27FC236}">
                <a16:creationId xmlns:a16="http://schemas.microsoft.com/office/drawing/2014/main" id="{659FE2B3-2FA8-66A8-F748-3ACC7BC2B2C8}"/>
              </a:ext>
            </a:extLst>
          </p:cNvPr>
          <p:cNvSpPr>
            <a:spLocks noGrp="1"/>
          </p:cNvSpPr>
          <p:nvPr>
            <p:ph type="sldNum" sz="quarter" idx="5"/>
          </p:nvPr>
        </p:nvSpPr>
        <p:spPr/>
        <p:txBody>
          <a:bodyPr/>
          <a:lstStyle/>
          <a:p>
            <a:fld id="{37D01E2C-B751-4C38-A4F8-4A97733E0BA7}" type="slidenum">
              <a:rPr lang="en-US" smtClean="0"/>
              <a:t>46</a:t>
            </a:fld>
            <a:endParaRPr lang="en-US"/>
          </a:p>
        </p:txBody>
      </p:sp>
    </p:spTree>
    <p:extLst>
      <p:ext uri="{BB962C8B-B14F-4D97-AF65-F5344CB8AC3E}">
        <p14:creationId xmlns:p14="http://schemas.microsoft.com/office/powerpoint/2010/main" val="190631171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7AE7F-DD49-C4CE-DE38-4F89360510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E25816-3AC2-62C3-53B2-72F6C87A8A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DD3C1D-8895-7459-47D8-D9D813BC9500}"/>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Bit dữ liệu đại diện cho số bit trong mỗi byte dữ liệu. Các giá trị phổ biến là 5, 6, 7, 8 hoặc 9. Cấu hình phổ biến nhất là 8 bit dữ liệu, cho phép 256 giá trị khác nhau (2^8) trong mỗi byte.</a:t>
            </a:r>
          </a:p>
        </p:txBody>
      </p:sp>
      <p:sp>
        <p:nvSpPr>
          <p:cNvPr id="4" name="Slide Number Placeholder 3">
            <a:extLst>
              <a:ext uri="{FF2B5EF4-FFF2-40B4-BE49-F238E27FC236}">
                <a16:creationId xmlns:a16="http://schemas.microsoft.com/office/drawing/2014/main" id="{81CCD881-3D92-8034-2114-845A79E644F7}"/>
              </a:ext>
            </a:extLst>
          </p:cNvPr>
          <p:cNvSpPr>
            <a:spLocks noGrp="1"/>
          </p:cNvSpPr>
          <p:nvPr>
            <p:ph type="sldNum" sz="quarter" idx="5"/>
          </p:nvPr>
        </p:nvSpPr>
        <p:spPr/>
        <p:txBody>
          <a:bodyPr/>
          <a:lstStyle/>
          <a:p>
            <a:fld id="{37D01E2C-B751-4C38-A4F8-4A97733E0BA7}" type="slidenum">
              <a:rPr lang="en-US" smtClean="0"/>
              <a:t>47</a:t>
            </a:fld>
            <a:endParaRPr lang="en-US"/>
          </a:p>
        </p:txBody>
      </p:sp>
    </p:spTree>
    <p:extLst>
      <p:ext uri="{BB962C8B-B14F-4D97-AF65-F5344CB8AC3E}">
        <p14:creationId xmlns:p14="http://schemas.microsoft.com/office/powerpoint/2010/main" val="15365215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81EC5-39AE-6AA2-6251-234F668817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248CC9-317C-DF39-3BFE-1448C0A010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81045A-AB90-CA03-401D-50B6A4E366C2}"/>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Mã hóa dữ liệu</a:t>
            </a:r>
          </a:p>
          <a:p>
            <a:r>
              <a:rPr lang="vi-VN" sz="1200" b="0" i="0" kern="1200" dirty="0">
                <a:solidFill>
                  <a:schemeClr val="tx1"/>
                </a:solidFill>
                <a:effectLst/>
                <a:highlight>
                  <a:srgbClr val="FFFFFF"/>
                </a:highlight>
                <a:latin typeface="+mn-lt"/>
                <a:ea typeface="+mn-ea"/>
                <a:cs typeface="+mn-cs"/>
              </a:rPr>
              <a:t>Các bit dữ liệu biểu thị các ký tự hoặc dữ liệu bằng cách sử dụng mã hóa nhị phân, trong đó mỗi bit tương ứng với lũy thừa 2. Mỗi bit trong byte dữ liệu giữ một vị trí và trọng số cụ thể trong biểu diễn nhị phân. Mã hóa này cho phép truyền nhiều loại thông tin, làm cho UART trở nên linh hoạt với nhiều loại dữ liệu khác nhau, từ các ký tự văn bản đơn giản đến dữ liệu nhị phân phức tạp.</a:t>
            </a:r>
          </a:p>
          <a:p>
            <a:r>
              <a:rPr lang="vi-VN" sz="1200" b="0" i="0" kern="1200" dirty="0">
                <a:solidFill>
                  <a:schemeClr val="tx1"/>
                </a:solidFill>
                <a:effectLst/>
                <a:highlight>
                  <a:srgbClr val="FFFFFF"/>
                </a:highlight>
                <a:latin typeface="+mn-lt"/>
                <a:ea typeface="+mn-ea"/>
                <a:cs typeface="+mn-cs"/>
              </a:rPr>
              <a:t>Tính toàn vẹn dữ liệu</a:t>
            </a:r>
          </a:p>
          <a:p>
            <a:r>
              <a:rPr lang="vi-VN" sz="1200" b="0" i="0" kern="1200" dirty="0">
                <a:solidFill>
                  <a:schemeClr val="tx1"/>
                </a:solidFill>
                <a:effectLst/>
                <a:highlight>
                  <a:srgbClr val="FFFFFF"/>
                </a:highlight>
                <a:latin typeface="+mn-lt"/>
                <a:ea typeface="+mn-ea"/>
                <a:cs typeface="+mn-cs"/>
              </a:rPr>
              <a:t>Độ chính xác của việc truyền dữ liệu trong giao tiếp UART phụ thuộc vào cấu hình thích hợp của các bit dữ liệu. Điều quan trọng là cả máy phát và máy thu đều phải đồng ý về số lượng bit dữ liệu và mã hóa của chúng. Nếu cấu hình không chính xác, dữ liệu có thể bị hỏng. Ví dụ: nếu máy phát gửi dữ liệu dưới dạng ký tự 8 bit nhưng máy thu được cấu hình để mong đợi các ký tự 7 bit thì dữ liệu có thể bị hiểu sai, dẫn đến lỗi trong thông tin nhận được.</a:t>
            </a:r>
          </a:p>
        </p:txBody>
      </p:sp>
      <p:sp>
        <p:nvSpPr>
          <p:cNvPr id="4" name="Slide Number Placeholder 3">
            <a:extLst>
              <a:ext uri="{FF2B5EF4-FFF2-40B4-BE49-F238E27FC236}">
                <a16:creationId xmlns:a16="http://schemas.microsoft.com/office/drawing/2014/main" id="{187A1E26-3E15-DBE9-3017-1C4D767669BA}"/>
              </a:ext>
            </a:extLst>
          </p:cNvPr>
          <p:cNvSpPr>
            <a:spLocks noGrp="1"/>
          </p:cNvSpPr>
          <p:nvPr>
            <p:ph type="sldNum" sz="quarter" idx="5"/>
          </p:nvPr>
        </p:nvSpPr>
        <p:spPr/>
        <p:txBody>
          <a:bodyPr/>
          <a:lstStyle/>
          <a:p>
            <a:fld id="{37D01E2C-B751-4C38-A4F8-4A97733E0BA7}" type="slidenum">
              <a:rPr lang="en-US" smtClean="0"/>
              <a:t>48</a:t>
            </a:fld>
            <a:endParaRPr lang="en-US"/>
          </a:p>
        </p:txBody>
      </p:sp>
    </p:spTree>
    <p:extLst>
      <p:ext uri="{BB962C8B-B14F-4D97-AF65-F5344CB8AC3E}">
        <p14:creationId xmlns:p14="http://schemas.microsoft.com/office/powerpoint/2010/main" val="262139694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29F8B-42ED-1A15-C778-3253C09135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B3C180-D24C-BB2C-0725-648D22D2A5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794A1E-A0F2-E705-6BEA-C4B41B9F6579}"/>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Ngoài các bit dữ liệu, giao tiếp UART có thể bao gồm một bit chẵn lẻ như một phần của khung dữ liệu. Tính chẵn lẻ là một cơ chế kiểm tra lỗi có thể giúp phát hiện lỗi truyền dữ liệu. Tính chẵn lẻ có thể được đặt thành "lẻ" hoặc "chẵn" và nó đảm bảo rằng tổng số bit được đặt thành logic "1" trong một ký tự là chẵn hoặc lẻ, tùy thuộc vào loại chẵn lẻ đã chọn. Sự hiện diện của bit chẵn lẻ cho phép người nhận xác minh tính toàn vẹn của dữ liệu nhận được. Nếu số bit "1" không khớp với số chẵn lẻ dự kiến ​​thì sẽ phát hiện ra lỗi.</a:t>
            </a:r>
          </a:p>
        </p:txBody>
      </p:sp>
      <p:sp>
        <p:nvSpPr>
          <p:cNvPr id="4" name="Slide Number Placeholder 3">
            <a:extLst>
              <a:ext uri="{FF2B5EF4-FFF2-40B4-BE49-F238E27FC236}">
                <a16:creationId xmlns:a16="http://schemas.microsoft.com/office/drawing/2014/main" id="{265351D7-126D-6A43-BDD4-9C322F9AA166}"/>
              </a:ext>
            </a:extLst>
          </p:cNvPr>
          <p:cNvSpPr>
            <a:spLocks noGrp="1"/>
          </p:cNvSpPr>
          <p:nvPr>
            <p:ph type="sldNum" sz="quarter" idx="5"/>
          </p:nvPr>
        </p:nvSpPr>
        <p:spPr/>
        <p:txBody>
          <a:bodyPr/>
          <a:lstStyle/>
          <a:p>
            <a:fld id="{37D01E2C-B751-4C38-A4F8-4A97733E0BA7}" type="slidenum">
              <a:rPr lang="en-US" smtClean="0"/>
              <a:t>49</a:t>
            </a:fld>
            <a:endParaRPr lang="en-US"/>
          </a:p>
        </p:txBody>
      </p:sp>
    </p:spTree>
    <p:extLst>
      <p:ext uri="{BB962C8B-B14F-4D97-AF65-F5344CB8AC3E}">
        <p14:creationId xmlns:p14="http://schemas.microsoft.com/office/powerpoint/2010/main" val="385327673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518B8-4D31-346E-4233-655A594B18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C16B3F-3D01-0F79-D86B-59B75BB4DC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521A87-8057-068B-6606-A46C5FA5EFF4}"/>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Ngoài các bit dữ liệu, giao tiếp UART có thể bao gồm một bit chẵn lẻ như một phần của khung dữ liệu. Tính chẵn lẻ là một cơ chế kiểm tra lỗi có thể giúp phát hiện lỗi truyền dữ liệu. Tính chẵn lẻ có thể được đặt thành "lẻ" hoặc "chẵn" và nó đảm bảo rằng tổng số bit được đặt thành logic "1" trong một ký tự là chẵn hoặc lẻ, tùy thuộc vào loại chẵn lẻ đã chọn. Sự hiện diện của bit chẵn lẻ cho phép người nhận xác minh tính toàn vẹn của dữ liệu nhận được. Nếu số bit "1" không khớp với số chẵn lẻ dự kiến ​​thì sẽ phát hiện ra lỗi.</a:t>
            </a:r>
          </a:p>
        </p:txBody>
      </p:sp>
      <p:sp>
        <p:nvSpPr>
          <p:cNvPr id="4" name="Slide Number Placeholder 3">
            <a:extLst>
              <a:ext uri="{FF2B5EF4-FFF2-40B4-BE49-F238E27FC236}">
                <a16:creationId xmlns:a16="http://schemas.microsoft.com/office/drawing/2014/main" id="{A0AFC1D9-0CE7-7D6C-8936-39123D6C68E2}"/>
              </a:ext>
            </a:extLst>
          </p:cNvPr>
          <p:cNvSpPr>
            <a:spLocks noGrp="1"/>
          </p:cNvSpPr>
          <p:nvPr>
            <p:ph type="sldNum" sz="quarter" idx="5"/>
          </p:nvPr>
        </p:nvSpPr>
        <p:spPr/>
        <p:txBody>
          <a:bodyPr/>
          <a:lstStyle/>
          <a:p>
            <a:fld id="{37D01E2C-B751-4C38-A4F8-4A97733E0BA7}" type="slidenum">
              <a:rPr lang="en-US" smtClean="0"/>
              <a:t>50</a:t>
            </a:fld>
            <a:endParaRPr lang="en-US"/>
          </a:p>
        </p:txBody>
      </p:sp>
    </p:spTree>
    <p:extLst>
      <p:ext uri="{BB962C8B-B14F-4D97-AF65-F5344CB8AC3E}">
        <p14:creationId xmlns:p14="http://schemas.microsoft.com/office/powerpoint/2010/main" val="180485212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EC19A-E7CD-FB72-D953-9B1A460B94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201B07-A2C0-FCC4-88BA-E3721CB11B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F0E5E5-3AD0-9A64-A7D0-600C2440C2D9}"/>
              </a:ext>
            </a:extLst>
          </p:cNvPr>
          <p:cNvSpPr>
            <a:spLocks noGrp="1"/>
          </p:cNvSpPr>
          <p:nvPr>
            <p:ph type="body" idx="1"/>
          </p:nvPr>
        </p:nvSpPr>
        <p:spPr/>
        <p:txBody>
          <a:bodyPr/>
          <a:lstStyle/>
          <a:p>
            <a:r>
              <a:rPr lang="vi-VN" b="1" dirty="0">
                <a:highlight>
                  <a:srgbClr val="FFFFFF"/>
                </a:highlight>
              </a:rPr>
              <a:t>Parity bit là gì?</a:t>
            </a:r>
          </a:p>
          <a:p>
            <a:r>
              <a:rPr lang="vi-VN" b="1" dirty="0">
                <a:highlight>
                  <a:srgbClr val="FFFFFF"/>
                </a:highlight>
              </a:rPr>
              <a:t>Parity bit</a:t>
            </a:r>
            <a:r>
              <a:rPr lang="vi-VN" dirty="0">
                <a:highlight>
                  <a:srgbClr val="FFFFFF"/>
                </a:highlight>
              </a:rPr>
              <a:t> là </a:t>
            </a:r>
            <a:r>
              <a:rPr lang="vi-VN" b="1" dirty="0">
                <a:highlight>
                  <a:srgbClr val="FFFFFF"/>
                </a:highlight>
              </a:rPr>
              <a:t>bit kiểm tra lỗi đơn giản</a:t>
            </a:r>
            <a:r>
              <a:rPr lang="vi-VN" dirty="0">
                <a:highlight>
                  <a:srgbClr val="FFFFFF"/>
                </a:highlight>
              </a:rPr>
              <a:t>, được thêm vào </a:t>
            </a:r>
            <a:r>
              <a:rPr lang="vi-VN" b="1" dirty="0">
                <a:highlight>
                  <a:srgbClr val="FFFFFF"/>
                </a:highlight>
              </a:rPr>
              <a:t>sau 8 bit dữ liệu</a:t>
            </a:r>
            <a:r>
              <a:rPr lang="vi-VN" dirty="0">
                <a:highlight>
                  <a:srgbClr val="FFFFFF"/>
                </a:highlight>
              </a:rPr>
              <a:t> (gọi là bit thứ 9).</a:t>
            </a:r>
          </a:p>
          <a:p>
            <a:r>
              <a:rPr lang="vi-VN" dirty="0">
                <a:highlight>
                  <a:srgbClr val="FFFFFF"/>
                </a:highlight>
              </a:rPr>
              <a:t>Mục đích của nó là để giúp </a:t>
            </a:r>
            <a:r>
              <a:rPr lang="vi-VN" b="1" dirty="0">
                <a:highlight>
                  <a:srgbClr val="FFFFFF"/>
                </a:highlight>
              </a:rPr>
              <a:t>phát hiện xem có lỗi xảy ra trong quá trình truyền dữ liệu hay không</a:t>
            </a:r>
            <a:r>
              <a:rPr lang="vi-VN" dirty="0">
                <a:highlight>
                  <a:srgbClr val="FFFFFF"/>
                </a:highlight>
              </a:rPr>
              <a:t> (ví dụ: nhiễu làm lật 1 bit).</a:t>
            </a:r>
          </a:p>
          <a:p>
            <a:r>
              <a:rPr lang="vi-VN" dirty="0">
                <a:highlight>
                  <a:srgbClr val="FFFFFF"/>
                </a:highlight>
              </a:rPr>
              <a:t>👉 Khi gửi dữ liệu, UART sẽ đếm </a:t>
            </a:r>
            <a:r>
              <a:rPr lang="vi-VN" b="1" dirty="0">
                <a:highlight>
                  <a:srgbClr val="FFFFFF"/>
                </a:highlight>
              </a:rPr>
              <a:t>số lượng bit '1'</a:t>
            </a:r>
            <a:r>
              <a:rPr lang="vi-VN" dirty="0">
                <a:highlight>
                  <a:srgbClr val="FFFFFF"/>
                </a:highlight>
              </a:rPr>
              <a:t> trong 8 bit dữ liệu, rồi </a:t>
            </a:r>
            <a:r>
              <a:rPr lang="vi-VN" b="1" dirty="0">
                <a:highlight>
                  <a:srgbClr val="FFFFFF"/>
                </a:highlight>
              </a:rPr>
              <a:t>tính thêm 1 bit parity</a:t>
            </a:r>
            <a:r>
              <a:rPr lang="vi-VN" dirty="0">
                <a:highlight>
                  <a:srgbClr val="FFFFFF"/>
                </a:highlight>
              </a:rPr>
              <a:t> sao cho tổng số bit '1' </a:t>
            </a:r>
            <a:r>
              <a:rPr lang="vi-VN" b="1" dirty="0">
                <a:highlight>
                  <a:srgbClr val="FFFFFF"/>
                </a:highlight>
              </a:rPr>
              <a:t>đúng theo quy tắc Even hoặc Odd</a:t>
            </a:r>
            <a:r>
              <a:rPr lang="vi-VN" dirty="0">
                <a:highlight>
                  <a:srgbClr val="FFFFFF"/>
                </a:highlight>
              </a:rPr>
              <a:t>.</a:t>
            </a:r>
          </a:p>
        </p:txBody>
      </p:sp>
      <p:sp>
        <p:nvSpPr>
          <p:cNvPr id="4" name="Slide Number Placeholder 3">
            <a:extLst>
              <a:ext uri="{FF2B5EF4-FFF2-40B4-BE49-F238E27FC236}">
                <a16:creationId xmlns:a16="http://schemas.microsoft.com/office/drawing/2014/main" id="{F5A7F6A4-949D-E795-0121-2466864F2898}"/>
              </a:ext>
            </a:extLst>
          </p:cNvPr>
          <p:cNvSpPr>
            <a:spLocks noGrp="1"/>
          </p:cNvSpPr>
          <p:nvPr>
            <p:ph type="sldNum" sz="quarter" idx="5"/>
          </p:nvPr>
        </p:nvSpPr>
        <p:spPr/>
        <p:txBody>
          <a:bodyPr/>
          <a:lstStyle/>
          <a:p>
            <a:fld id="{37D01E2C-B751-4C38-A4F8-4A97733E0BA7}" type="slidenum">
              <a:rPr lang="en-US" smtClean="0"/>
              <a:t>51</a:t>
            </a:fld>
            <a:endParaRPr lang="en-US"/>
          </a:p>
        </p:txBody>
      </p:sp>
    </p:spTree>
    <p:extLst>
      <p:ext uri="{BB962C8B-B14F-4D97-AF65-F5344CB8AC3E}">
        <p14:creationId xmlns:p14="http://schemas.microsoft.com/office/powerpoint/2010/main" val="74370321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D3616-A565-0F71-82AB-820FA7F1EB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54D9D3-9786-952A-5411-DF06B89600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292DD1-BB57-3127-517D-9EDA2E9E204B}"/>
              </a:ext>
            </a:extLst>
          </p:cNvPr>
          <p:cNvSpPr>
            <a:spLocks noGrp="1"/>
          </p:cNvSpPr>
          <p:nvPr>
            <p:ph type="body" idx="1"/>
          </p:nvPr>
        </p:nvSpPr>
        <p:spPr/>
        <p:txBody>
          <a:bodyPr/>
          <a:lstStyle/>
          <a:p>
            <a:r>
              <a:rPr lang="en-US" b="1" dirty="0">
                <a:highlight>
                  <a:srgbClr val="FFFFFF"/>
                </a:highlight>
              </a:rPr>
              <a:t>2</a:t>
            </a:r>
            <a:r>
              <a:rPr lang="vi-VN" b="1" dirty="0">
                <a:highlight>
                  <a:srgbClr val="FFFFFF"/>
                </a:highlight>
              </a:rPr>
              <a:t>. Cách hoạt động chi tiết</a:t>
            </a:r>
          </a:p>
          <a:p>
            <a:r>
              <a:rPr lang="vi-VN" b="1" dirty="0">
                <a:highlight>
                  <a:srgbClr val="FFFFFF"/>
                </a:highlight>
              </a:rPr>
              <a:t>🔸 Even Parity (chẵn)</a:t>
            </a:r>
          </a:p>
          <a:p>
            <a:r>
              <a:rPr lang="vi-VN" dirty="0">
                <a:highlight>
                  <a:srgbClr val="FFFFFF"/>
                </a:highlight>
              </a:rPr>
              <a:t>Nếu số lượng bit ‘1’ trong dữ liệu là </a:t>
            </a:r>
            <a:r>
              <a:rPr lang="vi-VN" b="1" dirty="0">
                <a:highlight>
                  <a:srgbClr val="FFFFFF"/>
                </a:highlight>
              </a:rPr>
              <a:t>lẻ</a:t>
            </a:r>
            <a:r>
              <a:rPr lang="vi-VN" dirty="0">
                <a:highlight>
                  <a:srgbClr val="FFFFFF"/>
                </a:highlight>
              </a:rPr>
              <a:t>, thì parity bit được đặt là </a:t>
            </a:r>
            <a:r>
              <a:rPr lang="vi-VN" b="1" dirty="0">
                <a:highlight>
                  <a:srgbClr val="FFFFFF"/>
                </a:highlight>
              </a:rPr>
              <a:t>1</a:t>
            </a:r>
            <a:br>
              <a:rPr lang="vi-VN" dirty="0">
                <a:highlight>
                  <a:srgbClr val="FFFFFF"/>
                </a:highlight>
              </a:rPr>
            </a:br>
            <a:r>
              <a:rPr lang="vi-VN" dirty="0">
                <a:highlight>
                  <a:srgbClr val="FFFFFF"/>
                </a:highlight>
              </a:rPr>
              <a:t>Nếu số lượng bit ‘1’ trong dữ liệu là </a:t>
            </a:r>
            <a:r>
              <a:rPr lang="vi-VN" b="1" dirty="0">
                <a:highlight>
                  <a:srgbClr val="FFFFFF"/>
                </a:highlight>
              </a:rPr>
              <a:t>chẵn</a:t>
            </a:r>
            <a:r>
              <a:rPr lang="vi-VN" dirty="0">
                <a:highlight>
                  <a:srgbClr val="FFFFFF"/>
                </a:highlight>
              </a:rPr>
              <a:t>, thì parity bit được đặt là </a:t>
            </a:r>
            <a:r>
              <a:rPr lang="vi-VN" b="1" dirty="0">
                <a:highlight>
                  <a:srgbClr val="FFFFFF"/>
                </a:highlight>
              </a:rPr>
              <a:t>0</a:t>
            </a:r>
            <a:endParaRPr lang="vi-VN" dirty="0">
              <a:highlight>
                <a:srgbClr val="FFFFFF"/>
              </a:highlight>
            </a:endParaRPr>
          </a:p>
          <a:p>
            <a:r>
              <a:rPr lang="vi-VN" dirty="0">
                <a:highlight>
                  <a:srgbClr val="FFFFFF"/>
                </a:highlight>
              </a:rPr>
              <a:t>→ Mục đích: tổng số bit ‘1’ trong cả 9 bit luôn là </a:t>
            </a:r>
            <a:r>
              <a:rPr lang="vi-VN" b="1" dirty="0">
                <a:highlight>
                  <a:srgbClr val="FFFFFF"/>
                </a:highlight>
              </a:rPr>
              <a:t>chẵn</a:t>
            </a:r>
            <a:r>
              <a:rPr lang="vi-VN" dirty="0">
                <a:highlight>
                  <a:srgbClr val="FFFFFF"/>
                </a:highlight>
              </a:rPr>
              <a:t>.</a:t>
            </a:r>
          </a:p>
        </p:txBody>
      </p:sp>
      <p:sp>
        <p:nvSpPr>
          <p:cNvPr id="4" name="Slide Number Placeholder 3">
            <a:extLst>
              <a:ext uri="{FF2B5EF4-FFF2-40B4-BE49-F238E27FC236}">
                <a16:creationId xmlns:a16="http://schemas.microsoft.com/office/drawing/2014/main" id="{06EB6F0D-AB17-9666-17B5-5857BDB4B171}"/>
              </a:ext>
            </a:extLst>
          </p:cNvPr>
          <p:cNvSpPr>
            <a:spLocks noGrp="1"/>
          </p:cNvSpPr>
          <p:nvPr>
            <p:ph type="sldNum" sz="quarter" idx="5"/>
          </p:nvPr>
        </p:nvSpPr>
        <p:spPr/>
        <p:txBody>
          <a:bodyPr/>
          <a:lstStyle/>
          <a:p>
            <a:fld id="{37D01E2C-B751-4C38-A4F8-4A97733E0BA7}" type="slidenum">
              <a:rPr lang="en-US" smtClean="0"/>
              <a:t>52</a:t>
            </a:fld>
            <a:endParaRPr lang="en-US"/>
          </a:p>
        </p:txBody>
      </p:sp>
    </p:spTree>
    <p:extLst>
      <p:ext uri="{BB962C8B-B14F-4D97-AF65-F5344CB8AC3E}">
        <p14:creationId xmlns:p14="http://schemas.microsoft.com/office/powerpoint/2010/main" val="25849008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2FD43-75E9-2279-D3BD-15142113CC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04AFB1-0FC7-7104-48E1-048B7DFCCA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9C166E-B46D-A39E-F744-9D71D8071FF1}"/>
              </a:ext>
            </a:extLst>
          </p:cNvPr>
          <p:cNvSpPr>
            <a:spLocks noGrp="1"/>
          </p:cNvSpPr>
          <p:nvPr>
            <p:ph type="body" idx="1"/>
          </p:nvPr>
        </p:nvSpPr>
        <p:spPr/>
        <p:txBody>
          <a:bodyPr/>
          <a:lstStyle/>
          <a:p>
            <a:r>
              <a:rPr lang="en-US" b="1" dirty="0">
                <a:highlight>
                  <a:srgbClr val="FFFFFF"/>
                </a:highlight>
              </a:rPr>
              <a:t>2</a:t>
            </a:r>
            <a:r>
              <a:rPr lang="vi-VN" b="1" dirty="0">
                <a:highlight>
                  <a:srgbClr val="FFFFFF"/>
                </a:highlight>
              </a:rPr>
              <a:t>. Cách hoạt động chi tiết</a:t>
            </a:r>
          </a:p>
          <a:p>
            <a:r>
              <a:rPr lang="vi-VN" b="1" dirty="0">
                <a:highlight>
                  <a:srgbClr val="FFFFFF"/>
                </a:highlight>
              </a:rPr>
              <a:t>🔸 Even Parity (chẵn)</a:t>
            </a:r>
          </a:p>
          <a:p>
            <a:r>
              <a:rPr lang="vi-VN" dirty="0">
                <a:highlight>
                  <a:srgbClr val="FFFFFF"/>
                </a:highlight>
              </a:rPr>
              <a:t>Nếu số lượng bit ‘1’ trong dữ liệu là </a:t>
            </a:r>
            <a:r>
              <a:rPr lang="vi-VN" b="1" dirty="0">
                <a:highlight>
                  <a:srgbClr val="FFFFFF"/>
                </a:highlight>
              </a:rPr>
              <a:t>lẻ</a:t>
            </a:r>
            <a:r>
              <a:rPr lang="vi-VN" dirty="0">
                <a:highlight>
                  <a:srgbClr val="FFFFFF"/>
                </a:highlight>
              </a:rPr>
              <a:t>, thì parity bit được đặt là </a:t>
            </a:r>
            <a:r>
              <a:rPr lang="vi-VN" b="1" dirty="0">
                <a:highlight>
                  <a:srgbClr val="FFFFFF"/>
                </a:highlight>
              </a:rPr>
              <a:t>1</a:t>
            </a:r>
            <a:br>
              <a:rPr lang="vi-VN" dirty="0">
                <a:highlight>
                  <a:srgbClr val="FFFFFF"/>
                </a:highlight>
              </a:rPr>
            </a:br>
            <a:r>
              <a:rPr lang="vi-VN" dirty="0">
                <a:highlight>
                  <a:srgbClr val="FFFFFF"/>
                </a:highlight>
              </a:rPr>
              <a:t>Nếu số lượng bit ‘1’ trong dữ liệu là </a:t>
            </a:r>
            <a:r>
              <a:rPr lang="vi-VN" b="1" dirty="0">
                <a:highlight>
                  <a:srgbClr val="FFFFFF"/>
                </a:highlight>
              </a:rPr>
              <a:t>chẵn</a:t>
            </a:r>
            <a:r>
              <a:rPr lang="vi-VN" dirty="0">
                <a:highlight>
                  <a:srgbClr val="FFFFFF"/>
                </a:highlight>
              </a:rPr>
              <a:t>, thì parity bit được đặt là </a:t>
            </a:r>
            <a:r>
              <a:rPr lang="vi-VN" b="1" dirty="0">
                <a:highlight>
                  <a:srgbClr val="FFFFFF"/>
                </a:highlight>
              </a:rPr>
              <a:t>0</a:t>
            </a:r>
            <a:endParaRPr lang="vi-VN" dirty="0">
              <a:highlight>
                <a:srgbClr val="FFFFFF"/>
              </a:highlight>
            </a:endParaRPr>
          </a:p>
          <a:p>
            <a:r>
              <a:rPr lang="vi-VN" dirty="0">
                <a:highlight>
                  <a:srgbClr val="FFFFFF"/>
                </a:highlight>
              </a:rPr>
              <a:t>→ Mục đích: tổng số bit ‘1’ trong cả 9 bit luôn là </a:t>
            </a:r>
            <a:r>
              <a:rPr lang="vi-VN" b="1" dirty="0">
                <a:highlight>
                  <a:srgbClr val="FFFFFF"/>
                </a:highlight>
              </a:rPr>
              <a:t>chẵn</a:t>
            </a:r>
            <a:r>
              <a:rPr lang="vi-VN" dirty="0">
                <a:highlight>
                  <a:srgbClr val="FFFFFF"/>
                </a:highlight>
              </a:rPr>
              <a:t>.</a:t>
            </a:r>
          </a:p>
        </p:txBody>
      </p:sp>
      <p:sp>
        <p:nvSpPr>
          <p:cNvPr id="4" name="Slide Number Placeholder 3">
            <a:extLst>
              <a:ext uri="{FF2B5EF4-FFF2-40B4-BE49-F238E27FC236}">
                <a16:creationId xmlns:a16="http://schemas.microsoft.com/office/drawing/2014/main" id="{51C8B24F-B2FE-FF26-CA98-5D63F05EA1BB}"/>
              </a:ext>
            </a:extLst>
          </p:cNvPr>
          <p:cNvSpPr>
            <a:spLocks noGrp="1"/>
          </p:cNvSpPr>
          <p:nvPr>
            <p:ph type="sldNum" sz="quarter" idx="5"/>
          </p:nvPr>
        </p:nvSpPr>
        <p:spPr/>
        <p:txBody>
          <a:bodyPr/>
          <a:lstStyle/>
          <a:p>
            <a:fld id="{37D01E2C-B751-4C38-A4F8-4A97733E0BA7}" type="slidenum">
              <a:rPr lang="en-US" smtClean="0"/>
              <a:t>53</a:t>
            </a:fld>
            <a:endParaRPr lang="en-US"/>
          </a:p>
        </p:txBody>
      </p:sp>
    </p:spTree>
    <p:extLst>
      <p:ext uri="{BB962C8B-B14F-4D97-AF65-F5344CB8AC3E}">
        <p14:creationId xmlns:p14="http://schemas.microsoft.com/office/powerpoint/2010/main" val="154652439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234BB-B5F4-E757-96F2-2A0D1F3957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E8770A-0E41-C210-ED2D-A4FBAB2793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3CAC4A-DF87-A280-DFE1-49E3D1037158}"/>
              </a:ext>
            </a:extLst>
          </p:cNvPr>
          <p:cNvSpPr>
            <a:spLocks noGrp="1"/>
          </p:cNvSpPr>
          <p:nvPr>
            <p:ph type="body" idx="1"/>
          </p:nvPr>
        </p:nvSpPr>
        <p:spPr/>
        <p:txBody>
          <a:bodyPr/>
          <a:lstStyle/>
          <a:p>
            <a:r>
              <a:rPr lang="vi-VN" b="1" dirty="0">
                <a:highlight>
                  <a:srgbClr val="FFFFFF"/>
                </a:highlight>
              </a:rPr>
              <a:t>🧠 4. Cách phát hiện lỗi</a:t>
            </a:r>
          </a:p>
          <a:p>
            <a:r>
              <a:rPr lang="vi-VN" dirty="0">
                <a:highlight>
                  <a:srgbClr val="FFFFFF"/>
                </a:highlight>
              </a:rPr>
              <a:t>Khi thiết bị </a:t>
            </a:r>
            <a:r>
              <a:rPr lang="vi-VN" b="1" dirty="0">
                <a:highlight>
                  <a:srgbClr val="FFFFFF"/>
                </a:highlight>
              </a:rPr>
              <a:t>nhận (RX)</a:t>
            </a:r>
            <a:r>
              <a:rPr lang="vi-VN" dirty="0">
                <a:highlight>
                  <a:srgbClr val="FFFFFF"/>
                </a:highlight>
              </a:rPr>
              <a:t> nhận được khung dữ liệu (8 bit + 1 parity), nó sẽ:</a:t>
            </a:r>
          </a:p>
          <a:p>
            <a:r>
              <a:rPr lang="vi-VN" b="1" dirty="0">
                <a:highlight>
                  <a:srgbClr val="FFFFFF"/>
                </a:highlight>
              </a:rPr>
              <a:t>Đếm lại số bit ‘1’</a:t>
            </a:r>
            <a:r>
              <a:rPr lang="vi-VN" dirty="0">
                <a:highlight>
                  <a:srgbClr val="FFFFFF"/>
                </a:highlight>
              </a:rPr>
              <a:t> trong cả 9 bit.</a:t>
            </a:r>
          </a:p>
          <a:p>
            <a:r>
              <a:rPr lang="vi-VN" b="1" dirty="0">
                <a:highlight>
                  <a:srgbClr val="FFFFFF"/>
                </a:highlight>
              </a:rPr>
              <a:t>Kiểm tra xem tổng có đúng theo chế độ parity đang dùng không</a:t>
            </a:r>
            <a:r>
              <a:rPr lang="vi-VN" dirty="0">
                <a:highlight>
                  <a:srgbClr val="FFFFFF"/>
                </a:highlight>
              </a:rPr>
              <a:t>:</a:t>
            </a:r>
          </a:p>
          <a:p>
            <a:pPr lvl="1"/>
            <a:r>
              <a:rPr lang="vi-VN" dirty="0">
                <a:highlight>
                  <a:srgbClr val="FFFFFF"/>
                </a:highlight>
              </a:rPr>
              <a:t>Nếu chế độ là </a:t>
            </a:r>
            <a:r>
              <a:rPr lang="vi-VN" b="1" dirty="0">
                <a:highlight>
                  <a:srgbClr val="FFFFFF"/>
                </a:highlight>
              </a:rPr>
              <a:t>Even</a:t>
            </a:r>
            <a:r>
              <a:rPr lang="vi-VN" dirty="0">
                <a:highlight>
                  <a:srgbClr val="FFFFFF"/>
                </a:highlight>
              </a:rPr>
              <a:t>, tổng phải </a:t>
            </a:r>
            <a:r>
              <a:rPr lang="vi-VN" b="1" dirty="0">
                <a:highlight>
                  <a:srgbClr val="FFFFFF"/>
                </a:highlight>
              </a:rPr>
              <a:t>chẵn</a:t>
            </a:r>
            <a:r>
              <a:rPr lang="vi-VN" dirty="0">
                <a:highlight>
                  <a:srgbClr val="FFFFFF"/>
                </a:highlight>
              </a:rPr>
              <a:t>.</a:t>
            </a:r>
          </a:p>
          <a:p>
            <a:pPr lvl="1"/>
            <a:r>
              <a:rPr lang="vi-VN" dirty="0">
                <a:highlight>
                  <a:srgbClr val="FFFFFF"/>
                </a:highlight>
              </a:rPr>
              <a:t>Nếu chế độ là </a:t>
            </a:r>
            <a:r>
              <a:rPr lang="vi-VN" b="1" dirty="0">
                <a:highlight>
                  <a:srgbClr val="FFFFFF"/>
                </a:highlight>
              </a:rPr>
              <a:t>Odd</a:t>
            </a:r>
            <a:r>
              <a:rPr lang="vi-VN" dirty="0">
                <a:highlight>
                  <a:srgbClr val="FFFFFF"/>
                </a:highlight>
              </a:rPr>
              <a:t>, tổng phải </a:t>
            </a:r>
            <a:r>
              <a:rPr lang="vi-VN" b="1" dirty="0">
                <a:highlight>
                  <a:srgbClr val="FFFFFF"/>
                </a:highlight>
              </a:rPr>
              <a:t>lẻ</a:t>
            </a:r>
            <a:r>
              <a:rPr lang="vi-VN" dirty="0">
                <a:highlight>
                  <a:srgbClr val="FFFFFF"/>
                </a:highlight>
              </a:rPr>
              <a:t>.</a:t>
            </a:r>
          </a:p>
          <a:p>
            <a:r>
              <a:rPr lang="vi-VN" dirty="0">
                <a:highlight>
                  <a:srgbClr val="FFFFFF"/>
                </a:highlight>
              </a:rPr>
              <a:t>Nếu tổng </a:t>
            </a:r>
            <a:r>
              <a:rPr lang="vi-VN" b="1" dirty="0">
                <a:highlight>
                  <a:srgbClr val="FFFFFF"/>
                </a:highlight>
              </a:rPr>
              <a:t>không đúng</a:t>
            </a:r>
            <a:r>
              <a:rPr lang="vi-VN" dirty="0">
                <a:highlight>
                  <a:srgbClr val="FFFFFF"/>
                </a:highlight>
              </a:rPr>
              <a:t>, tức là </a:t>
            </a:r>
            <a:r>
              <a:rPr lang="vi-VN" b="1" dirty="0">
                <a:highlight>
                  <a:srgbClr val="FFFFFF"/>
                </a:highlight>
              </a:rPr>
              <a:t>đã có lỗi bit (bit bị lật do nhiễu)</a:t>
            </a:r>
            <a:r>
              <a:rPr lang="vi-VN" dirty="0">
                <a:highlight>
                  <a:srgbClr val="FFFFFF"/>
                </a:highlight>
              </a:rPr>
              <a:t> trong quá trình truyền.</a:t>
            </a:r>
          </a:p>
          <a:p>
            <a:r>
              <a:rPr lang="vi-VN" dirty="0">
                <a:highlight>
                  <a:srgbClr val="FFFFFF"/>
                </a:highlight>
              </a:rPr>
              <a:t>⚠️ Lưu ý:</a:t>
            </a:r>
            <a:br>
              <a:rPr lang="vi-VN" dirty="0">
                <a:highlight>
                  <a:srgbClr val="FFFFFF"/>
                </a:highlight>
              </a:rPr>
            </a:br>
            <a:r>
              <a:rPr lang="vi-VN" dirty="0">
                <a:highlight>
                  <a:srgbClr val="FFFFFF"/>
                </a:highlight>
              </a:rPr>
              <a:t>Parity chỉ </a:t>
            </a:r>
            <a:r>
              <a:rPr lang="vi-VN" b="1" dirty="0">
                <a:highlight>
                  <a:srgbClr val="FFFFFF"/>
                </a:highlight>
              </a:rPr>
              <a:t>phát hiện được lỗi 1 bit</a:t>
            </a:r>
            <a:r>
              <a:rPr lang="vi-VN" dirty="0">
                <a:highlight>
                  <a:srgbClr val="FFFFFF"/>
                </a:highlight>
              </a:rPr>
              <a:t>, nhưng </a:t>
            </a:r>
            <a:r>
              <a:rPr lang="vi-VN" b="1" dirty="0">
                <a:highlight>
                  <a:srgbClr val="FFFFFF"/>
                </a:highlight>
              </a:rPr>
              <a:t>không sửa được lỗi</a:t>
            </a:r>
            <a:r>
              <a:rPr lang="vi-VN" dirty="0">
                <a:highlight>
                  <a:srgbClr val="FFFFFF"/>
                </a:highlight>
              </a:rPr>
              <a:t>.</a:t>
            </a:r>
            <a:br>
              <a:rPr lang="vi-VN" dirty="0">
                <a:highlight>
                  <a:srgbClr val="FFFFFF"/>
                </a:highlight>
              </a:rPr>
            </a:br>
            <a:r>
              <a:rPr lang="vi-VN" dirty="0">
                <a:highlight>
                  <a:srgbClr val="FFFFFF"/>
                </a:highlight>
              </a:rPr>
              <a:t>Nếu có </a:t>
            </a:r>
            <a:r>
              <a:rPr lang="vi-VN" b="1" dirty="0">
                <a:highlight>
                  <a:srgbClr val="FFFFFF"/>
                </a:highlight>
              </a:rPr>
              <a:t>2 bit bị sai</a:t>
            </a:r>
            <a:r>
              <a:rPr lang="vi-VN" dirty="0">
                <a:highlight>
                  <a:srgbClr val="FFFFFF"/>
                </a:highlight>
              </a:rPr>
              <a:t>, tổng parity vẫn đúng ⇒ </a:t>
            </a:r>
            <a:r>
              <a:rPr lang="vi-VN" b="1" dirty="0">
                <a:highlight>
                  <a:srgbClr val="FFFFFF"/>
                </a:highlight>
              </a:rPr>
              <a:t>không phát hiện được lỗi</a:t>
            </a:r>
            <a:r>
              <a:rPr lang="vi-VN" dirty="0">
                <a:highlight>
                  <a:srgbClr val="FFFFFF"/>
                </a:highlight>
              </a:rPr>
              <a:t>.</a:t>
            </a:r>
            <a:endParaRPr lang="en-US" dirty="0">
              <a:highlight>
                <a:srgbClr val="FFFFFF"/>
              </a:highlight>
            </a:endParaRPr>
          </a:p>
          <a:p>
            <a:endParaRPr lang="en-US" dirty="0">
              <a:highlight>
                <a:srgbClr val="FFFFFF"/>
              </a:highlight>
            </a:endParaRPr>
          </a:p>
          <a:p>
            <a:endParaRPr lang="en-US" dirty="0">
              <a:highlight>
                <a:srgbClr val="FFFFFF"/>
              </a:highlight>
            </a:endParaRPr>
          </a:p>
          <a:p>
            <a:r>
              <a:rPr lang="vi-VN" b="1" dirty="0"/>
              <a:t>🔎 Ví dụ minh họa tổng thể (Even parity)</a:t>
            </a:r>
          </a:p>
          <a:p>
            <a:r>
              <a:rPr lang="vi-VN" dirty="0"/>
              <a:t>Giả sử truyền byte </a:t>
            </a:r>
            <a:r>
              <a:rPr lang="vi-VN" sz="1200" kern="1200" dirty="0">
                <a:solidFill>
                  <a:schemeClr val="tx1"/>
                </a:solidFill>
                <a:latin typeface="+mn-lt"/>
                <a:ea typeface="+mn-ea"/>
                <a:cs typeface="+mn-cs"/>
              </a:rPr>
              <a:t>10110000</a:t>
            </a:r>
            <a:r>
              <a:rPr lang="vi-VN" dirty="0"/>
              <a:t> (3 bit ‘1’):</a:t>
            </a:r>
          </a:p>
          <a:p>
            <a:pPr rtl="0"/>
            <a:r>
              <a:rPr lang="vi-VN" sz="1200" kern="1200" dirty="0">
                <a:solidFill>
                  <a:schemeClr val="tx1"/>
                </a:solidFill>
                <a:latin typeface="+mn-lt"/>
                <a:ea typeface="+mn-ea"/>
                <a:cs typeface="+mn-cs"/>
              </a:rPr>
              <a:t>Start | Data bits  | Parity | Stop</a:t>
            </a:r>
          </a:p>
          <a:p>
            <a:pPr rtl="0"/>
            <a:r>
              <a:rPr lang="vi-VN" sz="1200" kern="1200" dirty="0">
                <a:solidFill>
                  <a:schemeClr val="tx1"/>
                </a:solidFill>
                <a:latin typeface="+mn-lt"/>
                <a:ea typeface="+mn-ea"/>
                <a:cs typeface="+mn-cs"/>
              </a:rPr>
              <a:t>  0   | 10110000   |   1    | 1</a:t>
            </a:r>
          </a:p>
          <a:p>
            <a:r>
              <a:rPr lang="vi-VN" dirty="0"/>
              <a:t>Tổng số ‘1’ = 3 + 1 = 4 (chẵn) ✅</a:t>
            </a:r>
            <a:br>
              <a:rPr lang="vi-VN" dirty="0"/>
            </a:br>
            <a:r>
              <a:rPr lang="vi-VN" dirty="0"/>
              <a:t>→ UART gửi thành công 1 khung hợp lệ.</a:t>
            </a:r>
          </a:p>
          <a:p>
            <a:endParaRPr lang="vi-VN" dirty="0">
              <a:highlight>
                <a:srgbClr val="FFFFFF"/>
              </a:highlight>
            </a:endParaRPr>
          </a:p>
        </p:txBody>
      </p:sp>
      <p:sp>
        <p:nvSpPr>
          <p:cNvPr id="4" name="Slide Number Placeholder 3">
            <a:extLst>
              <a:ext uri="{FF2B5EF4-FFF2-40B4-BE49-F238E27FC236}">
                <a16:creationId xmlns:a16="http://schemas.microsoft.com/office/drawing/2014/main" id="{FBCA7E39-D23D-6395-BF32-8E38BDFFB9BE}"/>
              </a:ext>
            </a:extLst>
          </p:cNvPr>
          <p:cNvSpPr>
            <a:spLocks noGrp="1"/>
          </p:cNvSpPr>
          <p:nvPr>
            <p:ph type="sldNum" sz="quarter" idx="5"/>
          </p:nvPr>
        </p:nvSpPr>
        <p:spPr/>
        <p:txBody>
          <a:bodyPr/>
          <a:lstStyle/>
          <a:p>
            <a:fld id="{37D01E2C-B751-4C38-A4F8-4A97733E0BA7}" type="slidenum">
              <a:rPr lang="en-US" smtClean="0"/>
              <a:t>54</a:t>
            </a:fld>
            <a:endParaRPr lang="en-US"/>
          </a:p>
        </p:txBody>
      </p:sp>
    </p:spTree>
    <p:extLst>
      <p:ext uri="{BB962C8B-B14F-4D97-AF65-F5344CB8AC3E}">
        <p14:creationId xmlns:p14="http://schemas.microsoft.com/office/powerpoint/2010/main" val="254418009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26302-605E-0E5A-A117-8C5635FA55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676C99-EBC0-9E73-6AA9-9E04F9174D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C71B74-2BB3-D795-07E3-12A54C8C4C5E}"/>
              </a:ext>
            </a:extLst>
          </p:cNvPr>
          <p:cNvSpPr>
            <a:spLocks noGrp="1"/>
          </p:cNvSpPr>
          <p:nvPr>
            <p:ph type="body" idx="1"/>
          </p:nvPr>
        </p:nvSpPr>
        <p:spPr/>
        <p:txBody>
          <a:bodyPr/>
          <a:lstStyle/>
          <a:p>
            <a:r>
              <a:rPr lang="vi-VN" sz="1200" b="0" i="0" kern="1200" dirty="0">
                <a:solidFill>
                  <a:schemeClr val="tx1"/>
                </a:solidFill>
                <a:effectLst/>
                <a:highlight>
                  <a:srgbClr val="FFFFFF"/>
                </a:highlight>
                <a:latin typeface="+mn-lt"/>
                <a:ea typeface="+mn-ea"/>
                <a:cs typeface="+mn-cs"/>
              </a:rPr>
              <a:t>Một hoặc nhiều bit dừng được gửi sau các bit dữ liệu trong mỗi khung UART. (Các) bit dừng báo hiệu sự kết thúc của byte dữ liệu và dùng để biểu thị kết thúc truyền dữ liệu. Cấu hình phổ biến nhất là sử dụng một bit dừng, nhưng trong những trường hợp cần độ tin cậy cao hơn, có thể sử dụng hai bit dừng.</a:t>
            </a:r>
          </a:p>
          <a:p>
            <a:r>
              <a:rPr lang="vi-VN" sz="1200" b="0" i="0" kern="1200" dirty="0">
                <a:solidFill>
                  <a:schemeClr val="tx1"/>
                </a:solidFill>
                <a:effectLst/>
                <a:highlight>
                  <a:srgbClr val="FFFFFF"/>
                </a:highlight>
                <a:latin typeface="+mn-lt"/>
                <a:ea typeface="+mn-ea"/>
                <a:cs typeface="+mn-cs"/>
              </a:rPr>
              <a:t>Độ phân cực của (các) bit dừng có thể khác nhau, với một số hệ thống sử dụng bit dừng cao và các hệ thống khác sử dụng bit dừng thấp dựa trên cấu hình UART cụ thể.</a:t>
            </a:r>
          </a:p>
        </p:txBody>
      </p:sp>
      <p:sp>
        <p:nvSpPr>
          <p:cNvPr id="4" name="Slide Number Placeholder 3">
            <a:extLst>
              <a:ext uri="{FF2B5EF4-FFF2-40B4-BE49-F238E27FC236}">
                <a16:creationId xmlns:a16="http://schemas.microsoft.com/office/drawing/2014/main" id="{A4CDD1AD-34A1-7475-E0E9-2AE5141D8B70}"/>
              </a:ext>
            </a:extLst>
          </p:cNvPr>
          <p:cNvSpPr>
            <a:spLocks noGrp="1"/>
          </p:cNvSpPr>
          <p:nvPr>
            <p:ph type="sldNum" sz="quarter" idx="5"/>
          </p:nvPr>
        </p:nvSpPr>
        <p:spPr/>
        <p:txBody>
          <a:bodyPr/>
          <a:lstStyle/>
          <a:p>
            <a:fld id="{37D01E2C-B751-4C38-A4F8-4A97733E0BA7}" type="slidenum">
              <a:rPr lang="en-US" smtClean="0"/>
              <a:t>55</a:t>
            </a:fld>
            <a:endParaRPr lang="en-US"/>
          </a:p>
        </p:txBody>
      </p:sp>
    </p:spTree>
    <p:extLst>
      <p:ext uri="{BB962C8B-B14F-4D97-AF65-F5344CB8AC3E}">
        <p14:creationId xmlns:p14="http://schemas.microsoft.com/office/powerpoint/2010/main" val="266074010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ED2AD-54AA-CCBC-F6D8-567315C0CD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01412F-1D55-597F-E1CF-FA8D0627C7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D53518-E317-8DB0-2807-EB58B37F74D6}"/>
              </a:ext>
            </a:extLst>
          </p:cNvPr>
          <p:cNvSpPr>
            <a:spLocks noGrp="1"/>
          </p:cNvSpPr>
          <p:nvPr>
            <p:ph type="body" idx="1"/>
          </p:nvPr>
        </p:nvSpPr>
        <p:spPr/>
        <p:txBody>
          <a:bodyPr/>
          <a:lstStyle/>
          <a:p>
            <a:r>
              <a:rPr lang="vi-VN" b="1" dirty="0">
                <a:highlight>
                  <a:srgbClr val="FFFFFF"/>
                </a:highlight>
              </a:rPr>
              <a:t>Chi tiết chọn stop bit</a:t>
            </a:r>
          </a:p>
          <a:p>
            <a:r>
              <a:rPr lang="vi-VN" b="1" dirty="0">
                <a:highlight>
                  <a:srgbClr val="FFFFFF"/>
                </a:highlight>
              </a:rPr>
              <a:t>1 stop bit</a:t>
            </a:r>
            <a:r>
              <a:rPr lang="vi-VN" dirty="0">
                <a:highlight>
                  <a:srgbClr val="FFFFFF"/>
                </a:highlight>
              </a:rPr>
              <a:t>:</a:t>
            </a:r>
          </a:p>
          <a:p>
            <a:pPr lvl="1"/>
            <a:r>
              <a:rPr lang="vi-VN" dirty="0">
                <a:highlight>
                  <a:srgbClr val="FFFFFF"/>
                </a:highlight>
              </a:rPr>
              <a:t>Khi </a:t>
            </a:r>
            <a:r>
              <a:rPr lang="vi-VN" b="1" dirty="0">
                <a:highlight>
                  <a:srgbClr val="FFFFFF"/>
                </a:highlight>
              </a:rPr>
              <a:t>thiết bị gửi/nhận nhanh</a:t>
            </a:r>
            <a:r>
              <a:rPr lang="vi-VN" dirty="0">
                <a:highlight>
                  <a:srgbClr val="FFFFFF"/>
                </a:highlight>
              </a:rPr>
              <a:t> và môi trường truyền sạch.</a:t>
            </a:r>
          </a:p>
          <a:p>
            <a:pPr lvl="1"/>
            <a:r>
              <a:rPr lang="vi-VN" dirty="0">
                <a:highlight>
                  <a:srgbClr val="FFFFFF"/>
                </a:highlight>
              </a:rPr>
              <a:t>Ví dụ: hầu hết các kết nối Serial PC ↔ Arduino dùng </a:t>
            </a:r>
            <a:r>
              <a:rPr lang="vi-VN" b="1" dirty="0">
                <a:highlight>
                  <a:srgbClr val="FFFFFF"/>
                </a:highlight>
              </a:rPr>
              <a:t>8N1 (8 bit data, No parity, 1 stop bit)</a:t>
            </a:r>
            <a:r>
              <a:rPr lang="vi-VN" dirty="0">
                <a:highlight>
                  <a:srgbClr val="FFFFFF"/>
                </a:highlight>
              </a:rPr>
              <a:t>.</a:t>
            </a:r>
          </a:p>
          <a:p>
            <a:r>
              <a:rPr lang="vi-VN" b="1" dirty="0">
                <a:highlight>
                  <a:srgbClr val="FFFFFF"/>
                </a:highlight>
              </a:rPr>
              <a:t>2 stop bit</a:t>
            </a:r>
            <a:r>
              <a:rPr lang="vi-VN" dirty="0">
                <a:highlight>
                  <a:srgbClr val="FFFFFF"/>
                </a:highlight>
              </a:rPr>
              <a:t>:</a:t>
            </a:r>
          </a:p>
          <a:p>
            <a:pPr lvl="1"/>
            <a:r>
              <a:rPr lang="vi-VN" dirty="0">
                <a:highlight>
                  <a:srgbClr val="FFFFFF"/>
                </a:highlight>
              </a:rPr>
              <a:t>Khi </a:t>
            </a:r>
            <a:r>
              <a:rPr lang="vi-VN" b="1" dirty="0">
                <a:highlight>
                  <a:srgbClr val="FFFFFF"/>
                </a:highlight>
              </a:rPr>
              <a:t>thiết bị chậm hơn so với tốc độ truyền</a:t>
            </a:r>
            <a:r>
              <a:rPr lang="vi-VN" dirty="0">
                <a:highlight>
                  <a:srgbClr val="FFFFFF"/>
                </a:highlight>
              </a:rPr>
              <a:t>, cần thêm thời gian để RX chuẩn bị nhận byte tiếp theo.</a:t>
            </a:r>
          </a:p>
          <a:p>
            <a:pPr lvl="1"/>
            <a:r>
              <a:rPr lang="vi-VN" dirty="0">
                <a:highlight>
                  <a:srgbClr val="FFFFFF"/>
                </a:highlight>
              </a:rPr>
              <a:t>Khi </a:t>
            </a:r>
            <a:r>
              <a:rPr lang="vi-VN" b="1" dirty="0">
                <a:highlight>
                  <a:srgbClr val="FFFFFF"/>
                </a:highlight>
              </a:rPr>
              <a:t>môi trường nhiễu cao</a:t>
            </a:r>
            <a:r>
              <a:rPr lang="vi-VN" dirty="0">
                <a:highlight>
                  <a:srgbClr val="FFFFFF"/>
                </a:highlight>
              </a:rPr>
              <a:t>, tăng stop bit cũng giảm rủi ro lỗi bit.</a:t>
            </a:r>
          </a:p>
          <a:p>
            <a:pPr lvl="1"/>
            <a:r>
              <a:rPr lang="vi-VN" dirty="0">
                <a:highlight>
                  <a:srgbClr val="FFFFFF"/>
                </a:highlight>
              </a:rPr>
              <a:t>Ví dụ: trong một số module công nghiệp cũ hoặc giao tiếp RS-232 tốc độ cao.</a:t>
            </a:r>
          </a:p>
          <a:p>
            <a:r>
              <a:rPr lang="vi-VN" dirty="0">
                <a:highlight>
                  <a:srgbClr val="FFFFFF"/>
                </a:highlight>
              </a:rPr>
              <a:t>💡 </a:t>
            </a:r>
            <a:r>
              <a:rPr lang="vi-VN" b="1" dirty="0">
                <a:highlight>
                  <a:srgbClr val="FFFFFF"/>
                </a:highlight>
              </a:rPr>
              <a:t>Lưu ý:</a:t>
            </a:r>
            <a:endParaRPr lang="vi-VN" dirty="0">
              <a:highlight>
                <a:srgbClr val="FFFFFF"/>
              </a:highlight>
            </a:endParaRPr>
          </a:p>
          <a:p>
            <a:r>
              <a:rPr lang="vi-VN" dirty="0">
                <a:highlight>
                  <a:srgbClr val="FFFFFF"/>
                </a:highlight>
              </a:rPr>
              <a:t>Stop bit </a:t>
            </a:r>
            <a:r>
              <a:rPr lang="vi-VN" b="1" dirty="0">
                <a:highlight>
                  <a:srgbClr val="FFFFFF"/>
                </a:highlight>
              </a:rPr>
              <a:t>không dùng để kiểm tra lỗi</a:t>
            </a:r>
            <a:r>
              <a:rPr lang="vi-VN" dirty="0">
                <a:highlight>
                  <a:srgbClr val="FFFFFF"/>
                </a:highlight>
              </a:rPr>
              <a:t>, chỉ để </a:t>
            </a:r>
            <a:r>
              <a:rPr lang="vi-VN" b="1" dirty="0">
                <a:highlight>
                  <a:srgbClr val="FFFFFF"/>
                </a:highlight>
              </a:rPr>
              <a:t>đồng bộ byte</a:t>
            </a:r>
            <a:r>
              <a:rPr lang="vi-VN" dirty="0">
                <a:highlight>
                  <a:srgbClr val="FFFFFF"/>
                </a:highlight>
              </a:rPr>
              <a:t>.</a:t>
            </a:r>
          </a:p>
          <a:p>
            <a:r>
              <a:rPr lang="vi-VN" b="1" dirty="0">
                <a:highlight>
                  <a:srgbClr val="FFFFFF"/>
                </a:highlight>
              </a:rPr>
              <a:t>Hai thiết bị UART phải cấu hình cùng số stop bit</a:t>
            </a:r>
            <a:r>
              <a:rPr lang="vi-VN" dirty="0">
                <a:highlight>
                  <a:srgbClr val="FFFFFF"/>
                </a:highlight>
              </a:rPr>
              <a:t>, nếu không sẽ </a:t>
            </a:r>
            <a:r>
              <a:rPr lang="vi-VN" b="1" dirty="0">
                <a:highlight>
                  <a:srgbClr val="FFFFFF"/>
                </a:highlight>
              </a:rPr>
              <a:t>nhận sai dữ liệu</a:t>
            </a:r>
            <a:r>
              <a:rPr lang="vi-VN" dirty="0">
                <a:highlight>
                  <a:srgbClr val="FFFFFF"/>
                </a:highlight>
              </a:rPr>
              <a:t>.</a:t>
            </a:r>
          </a:p>
        </p:txBody>
      </p:sp>
      <p:sp>
        <p:nvSpPr>
          <p:cNvPr id="4" name="Slide Number Placeholder 3">
            <a:extLst>
              <a:ext uri="{FF2B5EF4-FFF2-40B4-BE49-F238E27FC236}">
                <a16:creationId xmlns:a16="http://schemas.microsoft.com/office/drawing/2014/main" id="{8D0529A6-13EA-7C6D-7136-AC45C6AF6894}"/>
              </a:ext>
            </a:extLst>
          </p:cNvPr>
          <p:cNvSpPr>
            <a:spLocks noGrp="1"/>
          </p:cNvSpPr>
          <p:nvPr>
            <p:ph type="sldNum" sz="quarter" idx="5"/>
          </p:nvPr>
        </p:nvSpPr>
        <p:spPr/>
        <p:txBody>
          <a:bodyPr/>
          <a:lstStyle/>
          <a:p>
            <a:fld id="{37D01E2C-B751-4C38-A4F8-4A97733E0BA7}" type="slidenum">
              <a:rPr lang="en-US" smtClean="0"/>
              <a:t>56</a:t>
            </a:fld>
            <a:endParaRPr lang="en-US"/>
          </a:p>
        </p:txBody>
      </p:sp>
    </p:spTree>
    <p:extLst>
      <p:ext uri="{BB962C8B-B14F-4D97-AF65-F5344CB8AC3E}">
        <p14:creationId xmlns:p14="http://schemas.microsoft.com/office/powerpoint/2010/main" val="424068417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B6F37-C12D-3CD3-C782-F7A6C9F5F3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6EBD17-0C26-0B63-E194-72D10271CD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3035C1-5B02-338A-CF40-FAD7FB8A3754}"/>
              </a:ext>
            </a:extLst>
          </p:cNvPr>
          <p:cNvSpPr>
            <a:spLocks noGrp="1"/>
          </p:cNvSpPr>
          <p:nvPr>
            <p:ph type="body" idx="1"/>
          </p:nvPr>
        </p:nvSpPr>
        <p:spPr/>
        <p:txBody>
          <a:bodyPr/>
          <a:lstStyle/>
          <a:p>
            <a:r>
              <a:rPr lang="vi-VN" b="1" dirty="0">
                <a:highlight>
                  <a:srgbClr val="FFFFFF"/>
                </a:highlight>
              </a:rPr>
              <a:t>Chi tiết chọn stop bit</a:t>
            </a:r>
          </a:p>
          <a:p>
            <a:r>
              <a:rPr lang="vi-VN" b="1" dirty="0">
                <a:highlight>
                  <a:srgbClr val="FFFFFF"/>
                </a:highlight>
              </a:rPr>
              <a:t>1 stop bit</a:t>
            </a:r>
            <a:r>
              <a:rPr lang="vi-VN" dirty="0">
                <a:highlight>
                  <a:srgbClr val="FFFFFF"/>
                </a:highlight>
              </a:rPr>
              <a:t>:</a:t>
            </a:r>
          </a:p>
          <a:p>
            <a:pPr lvl="1"/>
            <a:r>
              <a:rPr lang="vi-VN" dirty="0">
                <a:highlight>
                  <a:srgbClr val="FFFFFF"/>
                </a:highlight>
              </a:rPr>
              <a:t>Khi </a:t>
            </a:r>
            <a:r>
              <a:rPr lang="vi-VN" b="1" dirty="0">
                <a:highlight>
                  <a:srgbClr val="FFFFFF"/>
                </a:highlight>
              </a:rPr>
              <a:t>thiết bị gửi/nhận nhanh</a:t>
            </a:r>
            <a:r>
              <a:rPr lang="vi-VN" dirty="0">
                <a:highlight>
                  <a:srgbClr val="FFFFFF"/>
                </a:highlight>
              </a:rPr>
              <a:t> và môi trường truyền sạch.</a:t>
            </a:r>
          </a:p>
          <a:p>
            <a:pPr lvl="1"/>
            <a:r>
              <a:rPr lang="vi-VN" dirty="0">
                <a:highlight>
                  <a:srgbClr val="FFFFFF"/>
                </a:highlight>
              </a:rPr>
              <a:t>Ví dụ: hầu hết các kết nối Serial PC ↔ Arduino dùng </a:t>
            </a:r>
            <a:r>
              <a:rPr lang="vi-VN" b="1" dirty="0">
                <a:highlight>
                  <a:srgbClr val="FFFFFF"/>
                </a:highlight>
              </a:rPr>
              <a:t>8N1 (8 bit data, No parity, 1 stop bit)</a:t>
            </a:r>
            <a:r>
              <a:rPr lang="vi-VN" dirty="0">
                <a:highlight>
                  <a:srgbClr val="FFFFFF"/>
                </a:highlight>
              </a:rPr>
              <a:t>.</a:t>
            </a:r>
          </a:p>
          <a:p>
            <a:r>
              <a:rPr lang="vi-VN" b="1" dirty="0">
                <a:highlight>
                  <a:srgbClr val="FFFFFF"/>
                </a:highlight>
              </a:rPr>
              <a:t>2 stop bit</a:t>
            </a:r>
            <a:r>
              <a:rPr lang="vi-VN" dirty="0">
                <a:highlight>
                  <a:srgbClr val="FFFFFF"/>
                </a:highlight>
              </a:rPr>
              <a:t>:</a:t>
            </a:r>
          </a:p>
          <a:p>
            <a:pPr lvl="1"/>
            <a:r>
              <a:rPr lang="vi-VN" dirty="0">
                <a:highlight>
                  <a:srgbClr val="FFFFFF"/>
                </a:highlight>
              </a:rPr>
              <a:t>Khi </a:t>
            </a:r>
            <a:r>
              <a:rPr lang="vi-VN" b="1" dirty="0">
                <a:highlight>
                  <a:srgbClr val="FFFFFF"/>
                </a:highlight>
              </a:rPr>
              <a:t>thiết bị chậm hơn so với tốc độ truyền</a:t>
            </a:r>
            <a:r>
              <a:rPr lang="vi-VN" dirty="0">
                <a:highlight>
                  <a:srgbClr val="FFFFFF"/>
                </a:highlight>
              </a:rPr>
              <a:t>, cần thêm thời gian để RX chuẩn bị nhận byte tiếp theo.</a:t>
            </a:r>
          </a:p>
          <a:p>
            <a:pPr lvl="1"/>
            <a:r>
              <a:rPr lang="vi-VN" dirty="0">
                <a:highlight>
                  <a:srgbClr val="FFFFFF"/>
                </a:highlight>
              </a:rPr>
              <a:t>Khi </a:t>
            </a:r>
            <a:r>
              <a:rPr lang="vi-VN" b="1" dirty="0">
                <a:highlight>
                  <a:srgbClr val="FFFFFF"/>
                </a:highlight>
              </a:rPr>
              <a:t>môi trường nhiễu cao</a:t>
            </a:r>
            <a:r>
              <a:rPr lang="vi-VN" dirty="0">
                <a:highlight>
                  <a:srgbClr val="FFFFFF"/>
                </a:highlight>
              </a:rPr>
              <a:t>, tăng stop bit cũng giảm rủi ro lỗi bit.</a:t>
            </a:r>
          </a:p>
          <a:p>
            <a:pPr lvl="1"/>
            <a:r>
              <a:rPr lang="vi-VN" dirty="0">
                <a:highlight>
                  <a:srgbClr val="FFFFFF"/>
                </a:highlight>
              </a:rPr>
              <a:t>Ví dụ: trong một số module công nghiệp cũ hoặc giao tiếp RS-232 tốc độ cao.</a:t>
            </a:r>
          </a:p>
          <a:p>
            <a:r>
              <a:rPr lang="vi-VN" dirty="0">
                <a:highlight>
                  <a:srgbClr val="FFFFFF"/>
                </a:highlight>
              </a:rPr>
              <a:t>💡 </a:t>
            </a:r>
            <a:r>
              <a:rPr lang="vi-VN" b="1" dirty="0">
                <a:highlight>
                  <a:srgbClr val="FFFFFF"/>
                </a:highlight>
              </a:rPr>
              <a:t>Lưu ý:</a:t>
            </a:r>
            <a:endParaRPr lang="vi-VN" dirty="0">
              <a:highlight>
                <a:srgbClr val="FFFFFF"/>
              </a:highlight>
            </a:endParaRPr>
          </a:p>
          <a:p>
            <a:r>
              <a:rPr lang="vi-VN" dirty="0">
                <a:highlight>
                  <a:srgbClr val="FFFFFF"/>
                </a:highlight>
              </a:rPr>
              <a:t>Stop bit </a:t>
            </a:r>
            <a:r>
              <a:rPr lang="vi-VN" b="1" dirty="0">
                <a:highlight>
                  <a:srgbClr val="FFFFFF"/>
                </a:highlight>
              </a:rPr>
              <a:t>không dùng để kiểm tra lỗi</a:t>
            </a:r>
            <a:r>
              <a:rPr lang="vi-VN" dirty="0">
                <a:highlight>
                  <a:srgbClr val="FFFFFF"/>
                </a:highlight>
              </a:rPr>
              <a:t>, chỉ để </a:t>
            </a:r>
            <a:r>
              <a:rPr lang="vi-VN" b="1" dirty="0">
                <a:highlight>
                  <a:srgbClr val="FFFFFF"/>
                </a:highlight>
              </a:rPr>
              <a:t>đồng bộ byte</a:t>
            </a:r>
            <a:r>
              <a:rPr lang="vi-VN" dirty="0">
                <a:highlight>
                  <a:srgbClr val="FFFFFF"/>
                </a:highlight>
              </a:rPr>
              <a:t>.</a:t>
            </a:r>
          </a:p>
          <a:p>
            <a:r>
              <a:rPr lang="vi-VN" b="1" dirty="0">
                <a:highlight>
                  <a:srgbClr val="FFFFFF"/>
                </a:highlight>
              </a:rPr>
              <a:t>Hai thiết bị UART phải cấu hình cùng số stop bit</a:t>
            </a:r>
            <a:r>
              <a:rPr lang="vi-VN" dirty="0">
                <a:highlight>
                  <a:srgbClr val="FFFFFF"/>
                </a:highlight>
              </a:rPr>
              <a:t>, nếu không sẽ </a:t>
            </a:r>
            <a:r>
              <a:rPr lang="vi-VN" b="1" dirty="0">
                <a:highlight>
                  <a:srgbClr val="FFFFFF"/>
                </a:highlight>
              </a:rPr>
              <a:t>nhận sai dữ liệu</a:t>
            </a:r>
            <a:r>
              <a:rPr lang="vi-VN" dirty="0">
                <a:highlight>
                  <a:srgbClr val="FFFFFF"/>
                </a:highlight>
              </a:rPr>
              <a:t>.</a:t>
            </a:r>
          </a:p>
        </p:txBody>
      </p:sp>
      <p:sp>
        <p:nvSpPr>
          <p:cNvPr id="4" name="Slide Number Placeholder 3">
            <a:extLst>
              <a:ext uri="{FF2B5EF4-FFF2-40B4-BE49-F238E27FC236}">
                <a16:creationId xmlns:a16="http://schemas.microsoft.com/office/drawing/2014/main" id="{62D086A1-82B8-2F4F-CE77-2DF2682B984A}"/>
              </a:ext>
            </a:extLst>
          </p:cNvPr>
          <p:cNvSpPr>
            <a:spLocks noGrp="1"/>
          </p:cNvSpPr>
          <p:nvPr>
            <p:ph type="sldNum" sz="quarter" idx="5"/>
          </p:nvPr>
        </p:nvSpPr>
        <p:spPr/>
        <p:txBody>
          <a:bodyPr/>
          <a:lstStyle/>
          <a:p>
            <a:fld id="{37D01E2C-B751-4C38-A4F8-4A97733E0BA7}" type="slidenum">
              <a:rPr lang="en-US" smtClean="0"/>
              <a:t>57</a:t>
            </a:fld>
            <a:endParaRPr lang="en-US"/>
          </a:p>
        </p:txBody>
      </p:sp>
    </p:spTree>
    <p:extLst>
      <p:ext uri="{BB962C8B-B14F-4D97-AF65-F5344CB8AC3E}">
        <p14:creationId xmlns:p14="http://schemas.microsoft.com/office/powerpoint/2010/main" val="22805475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20.gif"/></Relationships>
</file>

<file path=ppt/slides/_rels/slide33.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FF35D-CD5A-9470-0B97-88DE6D5B2D1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93196E9-97ED-D5D0-9078-451ADFD9AD04}"/>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F7AF2313-E2B2-D6C0-321C-E836DFA6A6BE}"/>
              </a:ext>
            </a:extLst>
          </p:cNvPr>
          <p:cNvSpPr txBox="1"/>
          <p:nvPr/>
        </p:nvSpPr>
        <p:spPr>
          <a:xfrm>
            <a:off x="3581400" y="2887886"/>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2DA57D13-7C0D-D565-6403-6D4210FD7892}"/>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A9F1FEF6-09BB-B186-7AC5-B657FA43B7D0}"/>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8A438D13-3604-EEF0-5A9F-4C9CA02A2FBF}"/>
              </a:ext>
            </a:extLst>
          </p:cNvPr>
          <p:cNvSpPr txBox="1"/>
          <p:nvPr/>
        </p:nvSpPr>
        <p:spPr>
          <a:xfrm>
            <a:off x="228600" y="1209620"/>
            <a:ext cx="70104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What is Protocol? </a:t>
            </a:r>
          </a:p>
        </p:txBody>
      </p:sp>
      <p:sp>
        <p:nvSpPr>
          <p:cNvPr id="4" name="AutoShape 2" descr="Dev-C++ - Tải về">
            <a:extLst>
              <a:ext uri="{FF2B5EF4-FFF2-40B4-BE49-F238E27FC236}">
                <a16:creationId xmlns:a16="http://schemas.microsoft.com/office/drawing/2014/main" id="{47409D4E-9844-3D20-6738-57662BD237C0}"/>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TextBox 12">
            <a:extLst>
              <a:ext uri="{FF2B5EF4-FFF2-40B4-BE49-F238E27FC236}">
                <a16:creationId xmlns:a16="http://schemas.microsoft.com/office/drawing/2014/main" id="{1B3E671C-C777-2E60-A61A-7CC7678EF3F7}"/>
              </a:ext>
            </a:extLst>
          </p:cNvPr>
          <p:cNvSpPr txBox="1"/>
          <p:nvPr/>
        </p:nvSpPr>
        <p:spPr>
          <a:xfrm>
            <a:off x="523874" y="2164139"/>
            <a:ext cx="17535525" cy="3416320"/>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mj-lt"/>
                <a:cs typeface="Arial" panose="020B0604020202020204" pitchFamily="34" charset="0"/>
              </a:rPr>
              <a:t>🧠 1️⃣ What is a protocol?</a:t>
            </a:r>
          </a:p>
          <a:p>
            <a:pPr marL="342900" indent="-342900">
              <a:buFont typeface="Arial" panose="020B0604020202020204" pitchFamily="34" charset="0"/>
              <a:buChar char="•"/>
            </a:pPr>
            <a:endParaRPr lang="en-US" sz="2400" dirty="0">
              <a:latin typeface="+mj-lt"/>
              <a:cs typeface="Arial" panose="020B0604020202020204" pitchFamily="34" charset="0"/>
            </a:endParaRPr>
          </a:p>
          <a:p>
            <a:pPr marL="342900" indent="-342900">
              <a:buFont typeface="Arial" panose="020B0604020202020204" pitchFamily="34" charset="0"/>
              <a:buChar char="•"/>
            </a:pPr>
            <a:r>
              <a:rPr lang="en-US" sz="2400" dirty="0">
                <a:latin typeface="+mj-lt"/>
              </a:rPr>
              <a:t>A protocol is a set of rules that determines how data is sent and received. The protocol is just like a language that device use to talk to each other, ensuring they understand and can respond to each other's messages correctly. Protocols help make sure that data moves smoothly and securely between devices.</a:t>
            </a:r>
          </a:p>
          <a:p>
            <a:pPr marL="342900" indent="-342900">
              <a:buFont typeface="Arial" panose="020B0604020202020204" pitchFamily="34" charset="0"/>
              <a:buChar char="•"/>
            </a:pPr>
            <a:endParaRPr lang="en-US" sz="2400" dirty="0">
              <a:latin typeface="+mj-lt"/>
              <a:cs typeface="Arial" panose="020B0604020202020204" pitchFamily="34" charset="0"/>
            </a:endParaRPr>
          </a:p>
          <a:p>
            <a:pPr marL="342900" indent="-342900">
              <a:buFont typeface="Arial" panose="020B0604020202020204" pitchFamily="34" charset="0"/>
              <a:buChar char="•"/>
            </a:pPr>
            <a:r>
              <a:rPr lang="en-US" sz="2400" dirty="0">
                <a:latin typeface="+mj-lt"/>
                <a:cs typeface="Arial" panose="020B0604020202020204" pitchFamily="34" charset="0"/>
              </a:rPr>
              <a:t>In simple terms:</a:t>
            </a:r>
          </a:p>
          <a:p>
            <a:pPr marL="342900" indent="-342900">
              <a:buFont typeface="Arial" panose="020B0604020202020204" pitchFamily="34" charset="0"/>
              <a:buChar char="•"/>
            </a:pPr>
            <a:endParaRPr lang="en-US" sz="2400" dirty="0">
              <a:latin typeface="+mj-lt"/>
              <a:cs typeface="Arial" panose="020B0604020202020204" pitchFamily="34" charset="0"/>
            </a:endParaRPr>
          </a:p>
          <a:p>
            <a:pPr lvl="5"/>
            <a:r>
              <a:rPr lang="en-US" sz="2400" b="1" dirty="0">
                <a:latin typeface="+mj-lt"/>
                <a:cs typeface="Arial" panose="020B0604020202020204" pitchFamily="34" charset="0"/>
              </a:rPr>
              <a:t>Protocol = “language + communication rules” between two electronic devices.</a:t>
            </a:r>
          </a:p>
        </p:txBody>
      </p:sp>
      <p:pic>
        <p:nvPicPr>
          <p:cNvPr id="8" name="Picture 7">
            <a:extLst>
              <a:ext uri="{FF2B5EF4-FFF2-40B4-BE49-F238E27FC236}">
                <a16:creationId xmlns:a16="http://schemas.microsoft.com/office/drawing/2014/main" id="{D5B35DB9-92A6-1923-6568-8DE8965B02DD}"/>
              </a:ext>
            </a:extLst>
          </p:cNvPr>
          <p:cNvPicPr>
            <a:picLocks noChangeAspect="1"/>
          </p:cNvPicPr>
          <p:nvPr/>
        </p:nvPicPr>
        <p:blipFill>
          <a:blip r:embed="rId3"/>
          <a:stretch>
            <a:fillRect/>
          </a:stretch>
        </p:blipFill>
        <p:spPr>
          <a:xfrm>
            <a:off x="4581525" y="6057900"/>
            <a:ext cx="8820150" cy="3486150"/>
          </a:xfrm>
          <a:prstGeom prst="rect">
            <a:avLst/>
          </a:prstGeom>
        </p:spPr>
      </p:pic>
    </p:spTree>
    <p:extLst>
      <p:ext uri="{BB962C8B-B14F-4D97-AF65-F5344CB8AC3E}">
        <p14:creationId xmlns:p14="http://schemas.microsoft.com/office/powerpoint/2010/main" val="616527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4A3CF-1F72-1B90-B144-05D18B8C2D0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4A20D22-9868-0B91-4B0C-5258BF58F7ED}"/>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50156E38-46FA-75E5-D413-0DFB02BF5A8B}"/>
              </a:ext>
            </a:extLst>
          </p:cNvPr>
          <p:cNvSpPr txBox="1"/>
          <p:nvPr/>
        </p:nvSpPr>
        <p:spPr>
          <a:xfrm>
            <a:off x="3581400" y="2887886"/>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78ADC5BE-9E3A-5C61-25EA-F212BA090262}"/>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C543F28F-C120-A1F8-6BE4-3534023F4744}"/>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D93CF7E0-4C1B-35A8-E7EB-D96EAA0D60DB}"/>
              </a:ext>
            </a:extLst>
          </p:cNvPr>
          <p:cNvSpPr txBox="1"/>
          <p:nvPr/>
        </p:nvSpPr>
        <p:spPr>
          <a:xfrm>
            <a:off x="228600" y="1209620"/>
            <a:ext cx="118110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Why are communication protocols important?</a:t>
            </a:r>
          </a:p>
        </p:txBody>
      </p:sp>
      <p:sp>
        <p:nvSpPr>
          <p:cNvPr id="4" name="AutoShape 2" descr="Dev-C++ - Tải về">
            <a:extLst>
              <a:ext uri="{FF2B5EF4-FFF2-40B4-BE49-F238E27FC236}">
                <a16:creationId xmlns:a16="http://schemas.microsoft.com/office/drawing/2014/main" id="{ABFE1196-9351-4163-44C3-C8C7D520F9C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TextBox 12">
            <a:extLst>
              <a:ext uri="{FF2B5EF4-FFF2-40B4-BE49-F238E27FC236}">
                <a16:creationId xmlns:a16="http://schemas.microsoft.com/office/drawing/2014/main" id="{35993DCB-9387-0127-1C88-726BD08AD372}"/>
              </a:ext>
            </a:extLst>
          </p:cNvPr>
          <p:cNvSpPr txBox="1"/>
          <p:nvPr/>
        </p:nvSpPr>
        <p:spPr>
          <a:xfrm>
            <a:off x="381000" y="2586735"/>
            <a:ext cx="15849600" cy="3416320"/>
          </a:xfrm>
          <a:prstGeom prst="rect">
            <a:avLst/>
          </a:prstGeom>
          <a:noFill/>
        </p:spPr>
        <p:txBody>
          <a:bodyPr wrap="square">
            <a:spAutoFit/>
          </a:bodyPr>
          <a:lstStyle/>
          <a:p>
            <a:pPr marL="342900" indent="-342900" fontAlgn="base">
              <a:buFont typeface="Arial" panose="020B0604020202020204" pitchFamily="34" charset="0"/>
              <a:buChar char="•"/>
            </a:pPr>
            <a:r>
              <a:rPr lang="en-US" sz="2400" dirty="0"/>
              <a:t>Communication protocols play a significant role in allowing different devices to communicate and transmit information to each other.</a:t>
            </a:r>
          </a:p>
          <a:p>
            <a:pPr marL="342900" indent="-342900" fontAlgn="base">
              <a:buFont typeface="Arial" panose="020B0604020202020204" pitchFamily="34" charset="0"/>
              <a:buChar char="•"/>
            </a:pPr>
            <a:endParaRPr lang="en-US" sz="2400" dirty="0"/>
          </a:p>
          <a:p>
            <a:pPr marL="342900" indent="-342900" fontAlgn="base">
              <a:buFont typeface="Arial" panose="020B0604020202020204" pitchFamily="34" charset="0"/>
              <a:buChar char="•"/>
            </a:pPr>
            <a:r>
              <a:rPr lang="en-US" sz="2400" dirty="0"/>
              <a:t>In Embedded Systems, Communication Protocols are vital in the function of devices.  </a:t>
            </a:r>
          </a:p>
          <a:p>
            <a:pPr marL="342900" indent="-342900" fontAlgn="base">
              <a:buFont typeface="Arial" panose="020B0604020202020204" pitchFamily="34" charset="0"/>
              <a:buChar char="•"/>
            </a:pPr>
            <a:endParaRPr lang="en-US" sz="2400" dirty="0"/>
          </a:p>
          <a:p>
            <a:pPr marL="342900" indent="-342900" fontAlgn="base">
              <a:buFont typeface="Arial" panose="020B0604020202020204" pitchFamily="34" charset="0"/>
              <a:buChar char="•"/>
            </a:pPr>
            <a:r>
              <a:rPr lang="en-US" sz="2400" dirty="0"/>
              <a:t>Like wireless devices, embedded devices need to talk to each other in order to share useful data.</a:t>
            </a:r>
          </a:p>
          <a:p>
            <a:pPr marL="342900" indent="-342900" fontAlgn="base">
              <a:buFont typeface="Arial" panose="020B0604020202020204" pitchFamily="34" charset="0"/>
              <a:buChar char="•"/>
            </a:pPr>
            <a:endParaRPr lang="en-US" sz="2400" dirty="0"/>
          </a:p>
          <a:p>
            <a:pPr marL="342900" indent="-342900" fontAlgn="base">
              <a:buFont typeface="Arial" panose="020B0604020202020204" pitchFamily="34" charset="0"/>
              <a:buChar char="•"/>
            </a:pPr>
            <a:r>
              <a:rPr lang="en-US" sz="2400" dirty="0"/>
              <a:t>This communication typically follows a Master-Slave protocol exchange, where Masters (Microprocessors) command data transmission to and from Slaves (Sensors).</a:t>
            </a:r>
          </a:p>
        </p:txBody>
      </p:sp>
    </p:spTree>
    <p:extLst>
      <p:ext uri="{BB962C8B-B14F-4D97-AF65-F5344CB8AC3E}">
        <p14:creationId xmlns:p14="http://schemas.microsoft.com/office/powerpoint/2010/main" val="42514189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1FF52-97F9-0200-B8B7-536BD2E2718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88A7F29-2E0A-DBD2-7A80-BFA29A5D940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E0A678D8-2F6B-A894-40E8-3CCB3374ABA8}"/>
              </a:ext>
            </a:extLst>
          </p:cNvPr>
          <p:cNvSpPr txBox="1"/>
          <p:nvPr/>
        </p:nvSpPr>
        <p:spPr>
          <a:xfrm>
            <a:off x="3581400" y="2887886"/>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4FC3B52-12C8-64AC-48A0-03C608558D6A}"/>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247127B-E0B9-5343-C84A-0C4C5D58D7EC}"/>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C3257E09-C8F9-8EE8-7B88-C946AD6AAA43}"/>
              </a:ext>
            </a:extLst>
          </p:cNvPr>
          <p:cNvSpPr txBox="1"/>
          <p:nvPr/>
        </p:nvSpPr>
        <p:spPr>
          <a:xfrm>
            <a:off x="228600" y="1209620"/>
            <a:ext cx="70104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Types of Communication Protocols</a:t>
            </a:r>
          </a:p>
        </p:txBody>
      </p:sp>
      <p:sp>
        <p:nvSpPr>
          <p:cNvPr id="4" name="AutoShape 2" descr="Dev-C++ - Tải về">
            <a:extLst>
              <a:ext uri="{FF2B5EF4-FFF2-40B4-BE49-F238E27FC236}">
                <a16:creationId xmlns:a16="http://schemas.microsoft.com/office/drawing/2014/main" id="{2EBB86F9-D4D7-3567-48EC-1C3F493B47B9}"/>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7AB501F2-0CD5-1057-9A8F-9064D3E8D585}"/>
              </a:ext>
            </a:extLst>
          </p:cNvPr>
          <p:cNvSpPr txBox="1"/>
          <p:nvPr/>
        </p:nvSpPr>
        <p:spPr>
          <a:xfrm>
            <a:off x="381000" y="2586735"/>
            <a:ext cx="15849600" cy="3416320"/>
          </a:xfrm>
          <a:prstGeom prst="rect">
            <a:avLst/>
          </a:prstGeom>
          <a:noFill/>
        </p:spPr>
        <p:txBody>
          <a:bodyPr wrap="square">
            <a:spAutoFit/>
          </a:bodyPr>
          <a:lstStyle/>
          <a:p>
            <a:pPr marL="342900" indent="-342900" fontAlgn="base">
              <a:buFont typeface="Arial" panose="020B0604020202020204" pitchFamily="34" charset="0"/>
              <a:buChar char="•"/>
            </a:pPr>
            <a:r>
              <a:rPr lang="en-US" sz="2400" b="1" dirty="0"/>
              <a:t>Protocol Classifications</a:t>
            </a:r>
          </a:p>
          <a:p>
            <a:pPr marL="342900" indent="-342900" fontAlgn="base">
              <a:buFont typeface="Arial" panose="020B0604020202020204" pitchFamily="34" charset="0"/>
              <a:buChar char="•"/>
            </a:pPr>
            <a:endParaRPr lang="en-US" sz="2400" dirty="0"/>
          </a:p>
          <a:p>
            <a:pPr marL="914400" lvl="1" indent="-457200" fontAlgn="base">
              <a:buFont typeface="+mj-lt"/>
              <a:buAutoNum type="arabicPeriod"/>
            </a:pPr>
            <a:r>
              <a:rPr lang="en-US" sz="2400" dirty="0"/>
              <a:t>By synchronization mechanism </a:t>
            </a:r>
          </a:p>
          <a:p>
            <a:pPr marL="914400" lvl="1" indent="-457200" fontAlgn="base">
              <a:buFont typeface="+mj-lt"/>
              <a:buAutoNum type="arabicPeriod"/>
            </a:pPr>
            <a:endParaRPr lang="en-US" sz="2400" dirty="0"/>
          </a:p>
          <a:p>
            <a:pPr marL="914400" lvl="1" indent="-457200" fontAlgn="base">
              <a:buFont typeface="+mj-lt"/>
              <a:buAutoNum type="arabicPeriod"/>
            </a:pPr>
            <a:r>
              <a:rPr lang="en-US" sz="2400" dirty="0"/>
              <a:t>By connection structure (Topology) </a:t>
            </a:r>
          </a:p>
          <a:p>
            <a:pPr marL="914400" lvl="1" indent="-457200" fontAlgn="base">
              <a:buFont typeface="+mj-lt"/>
              <a:buAutoNum type="arabicPeriod"/>
            </a:pPr>
            <a:endParaRPr lang="en-US" sz="2400" dirty="0"/>
          </a:p>
          <a:p>
            <a:pPr marL="914400" lvl="1" indent="-457200" fontAlgn="base">
              <a:buFont typeface="+mj-lt"/>
              <a:buAutoNum type="arabicPeriod"/>
            </a:pPr>
            <a:r>
              <a:rPr lang="en-US" sz="2400" dirty="0"/>
              <a:t>By physical layer / number of transmission lines </a:t>
            </a:r>
          </a:p>
          <a:p>
            <a:pPr marL="914400" lvl="1" indent="-457200" fontAlgn="base">
              <a:buFont typeface="+mj-lt"/>
              <a:buAutoNum type="arabicPeriod"/>
            </a:pPr>
            <a:endParaRPr lang="en-US" sz="2400" dirty="0"/>
          </a:p>
          <a:p>
            <a:pPr marL="914400" lvl="1" indent="-457200" fontAlgn="base">
              <a:buFont typeface="+mj-lt"/>
              <a:buAutoNum type="arabicPeriod"/>
            </a:pPr>
            <a:r>
              <a:rPr lang="en-US" sz="2400" dirty="0"/>
              <a:t>By application domain </a:t>
            </a:r>
          </a:p>
        </p:txBody>
      </p:sp>
    </p:spTree>
    <p:extLst>
      <p:ext uri="{BB962C8B-B14F-4D97-AF65-F5344CB8AC3E}">
        <p14:creationId xmlns:p14="http://schemas.microsoft.com/office/powerpoint/2010/main" val="31511874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B3899-06F8-2598-B0D7-3FFC4EC8963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0BBB679-6F5D-1E8D-362B-D4B730A31CC3}"/>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A4056F63-FED4-BD85-226E-29FCC4883959}"/>
              </a:ext>
            </a:extLst>
          </p:cNvPr>
          <p:cNvSpPr txBox="1"/>
          <p:nvPr/>
        </p:nvSpPr>
        <p:spPr>
          <a:xfrm>
            <a:off x="3581400" y="2887886"/>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7DF0DAFA-68E1-2857-59B2-C88D777B32D5}"/>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37903A6-A6AB-F460-ACAE-A31A44C192D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9AF8DDA6-3299-6F82-24DE-25FBD033E84E}"/>
              </a:ext>
            </a:extLst>
          </p:cNvPr>
          <p:cNvSpPr txBox="1"/>
          <p:nvPr/>
        </p:nvSpPr>
        <p:spPr>
          <a:xfrm>
            <a:off x="228600" y="1209620"/>
            <a:ext cx="70104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Types of Communication Protocols</a:t>
            </a:r>
          </a:p>
        </p:txBody>
      </p:sp>
      <p:sp>
        <p:nvSpPr>
          <p:cNvPr id="4" name="AutoShape 2" descr="Dev-C++ - Tải về">
            <a:extLst>
              <a:ext uri="{FF2B5EF4-FFF2-40B4-BE49-F238E27FC236}">
                <a16:creationId xmlns:a16="http://schemas.microsoft.com/office/drawing/2014/main" id="{2B522445-D05B-64BB-5A6C-B3942CD70924}"/>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aphicFrame>
        <p:nvGraphicFramePr>
          <p:cNvPr id="13" name="Table 12">
            <a:extLst>
              <a:ext uri="{FF2B5EF4-FFF2-40B4-BE49-F238E27FC236}">
                <a16:creationId xmlns:a16="http://schemas.microsoft.com/office/drawing/2014/main" id="{DB470F2A-7211-340A-170D-3234A2CB052A}"/>
              </a:ext>
            </a:extLst>
          </p:cNvPr>
          <p:cNvGraphicFramePr>
            <a:graphicFrameLocks noGrp="1"/>
          </p:cNvGraphicFramePr>
          <p:nvPr>
            <p:extLst>
              <p:ext uri="{D42A27DB-BD31-4B8C-83A1-F6EECF244321}">
                <p14:modId xmlns:p14="http://schemas.microsoft.com/office/powerpoint/2010/main" val="1309454874"/>
              </p:ext>
            </p:extLst>
          </p:nvPr>
        </p:nvGraphicFramePr>
        <p:xfrm>
          <a:off x="457200" y="2491581"/>
          <a:ext cx="8229600" cy="1097280"/>
        </p:xfrm>
        <a:graphic>
          <a:graphicData uri="http://schemas.openxmlformats.org/drawingml/2006/table">
            <a:tbl>
              <a:tblPr/>
              <a:tblGrid>
                <a:gridCol w="2743200">
                  <a:extLst>
                    <a:ext uri="{9D8B030D-6E8A-4147-A177-3AD203B41FA5}">
                      <a16:colId xmlns:a16="http://schemas.microsoft.com/office/drawing/2014/main" val="1843109662"/>
                    </a:ext>
                  </a:extLst>
                </a:gridCol>
                <a:gridCol w="2743200">
                  <a:extLst>
                    <a:ext uri="{9D8B030D-6E8A-4147-A177-3AD203B41FA5}">
                      <a16:colId xmlns:a16="http://schemas.microsoft.com/office/drawing/2014/main" val="3088474679"/>
                    </a:ext>
                  </a:extLst>
                </a:gridCol>
                <a:gridCol w="2743200">
                  <a:extLst>
                    <a:ext uri="{9D8B030D-6E8A-4147-A177-3AD203B41FA5}">
                      <a16:colId xmlns:a16="http://schemas.microsoft.com/office/drawing/2014/main" val="2502450631"/>
                    </a:ext>
                  </a:extLst>
                </a:gridCol>
              </a:tblGrid>
              <a:tr h="0">
                <a:tc>
                  <a:txBody>
                    <a:bodyPr/>
                    <a:lstStyle/>
                    <a:p>
                      <a:pPr>
                        <a:buNone/>
                      </a:pPr>
                      <a:endParaRPr lang="vi-VN" dirty="0"/>
                    </a:p>
                  </a:txBody>
                  <a:tcPr anchor="ctr">
                    <a:lnL>
                      <a:noFill/>
                    </a:lnL>
                    <a:lnR>
                      <a:noFill/>
                    </a:lnR>
                    <a:lnT>
                      <a:noFill/>
                    </a:lnT>
                    <a:lnB>
                      <a:noFill/>
                    </a:lnB>
                    <a:noFill/>
                  </a:tcPr>
                </a:tc>
                <a:tc>
                  <a:txBody>
                    <a:bodyPr/>
                    <a:lstStyle/>
                    <a:p>
                      <a:pPr>
                        <a:buNone/>
                      </a:pPr>
                      <a:endParaRPr lang="vi-VN"/>
                    </a:p>
                  </a:txBody>
                  <a:tcPr anchor="ctr">
                    <a:lnL>
                      <a:noFill/>
                    </a:lnL>
                    <a:lnR>
                      <a:noFill/>
                    </a:lnR>
                    <a:lnT>
                      <a:noFill/>
                    </a:lnT>
                    <a:lnB>
                      <a:noFill/>
                    </a:lnB>
                    <a:noFill/>
                  </a:tcPr>
                </a:tc>
                <a:tc>
                  <a:txBody>
                    <a:bodyPr/>
                    <a:lstStyle/>
                    <a:p>
                      <a:pPr>
                        <a:buNone/>
                      </a:pPr>
                      <a:endParaRPr lang="vi-VN"/>
                    </a:p>
                  </a:txBody>
                  <a:tcPr anchor="ctr">
                    <a:lnL>
                      <a:noFill/>
                    </a:lnL>
                    <a:lnR>
                      <a:noFill/>
                    </a:lnR>
                    <a:lnT>
                      <a:noFill/>
                    </a:lnT>
                    <a:lnB>
                      <a:noFill/>
                    </a:lnB>
                    <a:noFill/>
                  </a:tcPr>
                </a:tc>
                <a:extLst>
                  <a:ext uri="{0D108BD9-81ED-4DB2-BD59-A6C34878D82A}">
                    <a16:rowId xmlns:a16="http://schemas.microsoft.com/office/drawing/2014/main" val="2017483725"/>
                  </a:ext>
                </a:extLst>
              </a:tr>
              <a:tr h="0">
                <a:tc>
                  <a:txBody>
                    <a:bodyPr/>
                    <a:lstStyle/>
                    <a:p>
                      <a:pPr>
                        <a:buNone/>
                      </a:pPr>
                      <a:endParaRPr lang="vi-VN"/>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vi-VN"/>
                    </a:p>
                  </a:txBody>
                  <a:tcPr anchor="ctr">
                    <a:lnL>
                      <a:noFill/>
                    </a:lnL>
                    <a:lnR>
                      <a:noFill/>
                    </a:lnR>
                    <a:lnT>
                      <a:noFill/>
                    </a:lnT>
                    <a:lnB>
                      <a:noFill/>
                    </a:lnB>
                    <a:noFill/>
                  </a:tcPr>
                </a:tc>
                <a:extLst>
                  <a:ext uri="{0D108BD9-81ED-4DB2-BD59-A6C34878D82A}">
                    <a16:rowId xmlns:a16="http://schemas.microsoft.com/office/drawing/2014/main" val="988980881"/>
                  </a:ext>
                </a:extLst>
              </a:tr>
              <a:tr h="0">
                <a:tc>
                  <a:txBody>
                    <a:bodyPr/>
                    <a:lstStyle/>
                    <a:p>
                      <a:pPr>
                        <a:buNone/>
                      </a:pPr>
                      <a:endParaRPr lang="vi-VN"/>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vi-VN" dirty="0"/>
                    </a:p>
                  </a:txBody>
                  <a:tcPr anchor="ctr">
                    <a:lnL>
                      <a:noFill/>
                    </a:lnL>
                    <a:lnR>
                      <a:noFill/>
                    </a:lnR>
                    <a:lnT>
                      <a:noFill/>
                    </a:lnT>
                    <a:lnB>
                      <a:noFill/>
                    </a:lnB>
                    <a:noFill/>
                  </a:tcPr>
                </a:tc>
                <a:extLst>
                  <a:ext uri="{0D108BD9-81ED-4DB2-BD59-A6C34878D82A}">
                    <a16:rowId xmlns:a16="http://schemas.microsoft.com/office/drawing/2014/main" val="2136191978"/>
                  </a:ext>
                </a:extLst>
              </a:tr>
            </a:tbl>
          </a:graphicData>
        </a:graphic>
      </p:graphicFrame>
      <p:pic>
        <p:nvPicPr>
          <p:cNvPr id="20" name="Picture 19">
            <a:extLst>
              <a:ext uri="{FF2B5EF4-FFF2-40B4-BE49-F238E27FC236}">
                <a16:creationId xmlns:a16="http://schemas.microsoft.com/office/drawing/2014/main" id="{2AC14C02-E6A9-A2E4-E478-CA1975C57DDC}"/>
              </a:ext>
            </a:extLst>
          </p:cNvPr>
          <p:cNvPicPr>
            <a:picLocks noChangeAspect="1"/>
          </p:cNvPicPr>
          <p:nvPr/>
        </p:nvPicPr>
        <p:blipFill>
          <a:blip r:embed="rId3"/>
          <a:stretch>
            <a:fillRect/>
          </a:stretch>
        </p:blipFill>
        <p:spPr>
          <a:xfrm>
            <a:off x="609600" y="2756707"/>
            <a:ext cx="13883309" cy="5267380"/>
          </a:xfrm>
          <a:prstGeom prst="rect">
            <a:avLst/>
          </a:prstGeom>
        </p:spPr>
      </p:pic>
    </p:spTree>
    <p:extLst>
      <p:ext uri="{BB962C8B-B14F-4D97-AF65-F5344CB8AC3E}">
        <p14:creationId xmlns:p14="http://schemas.microsoft.com/office/powerpoint/2010/main" val="2635509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834011-E60A-A465-7036-61015D56B1E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E3F7B26-D9F0-BA41-B02E-AA2464FD65A4}"/>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94C86290-12F8-8A7A-4AA6-523D9ED9AD52}"/>
              </a:ext>
            </a:extLst>
          </p:cNvPr>
          <p:cNvSpPr txBox="1"/>
          <p:nvPr/>
        </p:nvSpPr>
        <p:spPr>
          <a:xfrm>
            <a:off x="3581400" y="2887886"/>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AB60D24E-67FA-FC64-794D-7A28032F211A}"/>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0D9EFCC-89EA-30FC-55A5-CB41F53F5551}"/>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49DBF26-80BD-C3BC-F8D7-8DC73A5CB1C2}"/>
              </a:ext>
            </a:extLst>
          </p:cNvPr>
          <p:cNvSpPr txBox="1"/>
          <p:nvPr/>
        </p:nvSpPr>
        <p:spPr>
          <a:xfrm>
            <a:off x="228600" y="1209620"/>
            <a:ext cx="70104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Types of Communication Protocols</a:t>
            </a:r>
          </a:p>
        </p:txBody>
      </p:sp>
      <p:sp>
        <p:nvSpPr>
          <p:cNvPr id="4" name="AutoShape 2" descr="Dev-C++ - Tải về">
            <a:extLst>
              <a:ext uri="{FF2B5EF4-FFF2-40B4-BE49-F238E27FC236}">
                <a16:creationId xmlns:a16="http://schemas.microsoft.com/office/drawing/2014/main" id="{15CDAEDD-51F0-D223-552C-9F0039AEFEC4}"/>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a:extLst>
              <a:ext uri="{FF2B5EF4-FFF2-40B4-BE49-F238E27FC236}">
                <a16:creationId xmlns:a16="http://schemas.microsoft.com/office/drawing/2014/main" id="{D1D11B85-6604-B195-524D-F4D8F0CD04B0}"/>
              </a:ext>
            </a:extLst>
          </p:cNvPr>
          <p:cNvPicPr>
            <a:picLocks noChangeAspect="1"/>
          </p:cNvPicPr>
          <p:nvPr/>
        </p:nvPicPr>
        <p:blipFill>
          <a:blip r:embed="rId3"/>
          <a:stretch>
            <a:fillRect/>
          </a:stretch>
        </p:blipFill>
        <p:spPr>
          <a:xfrm>
            <a:off x="285850" y="2787488"/>
            <a:ext cx="13906300" cy="6338245"/>
          </a:xfrm>
          <a:prstGeom prst="rect">
            <a:avLst/>
          </a:prstGeom>
        </p:spPr>
      </p:pic>
    </p:spTree>
    <p:extLst>
      <p:ext uri="{BB962C8B-B14F-4D97-AF65-F5344CB8AC3E}">
        <p14:creationId xmlns:p14="http://schemas.microsoft.com/office/powerpoint/2010/main" val="568849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DE0DF-D4FE-D484-17AA-3E6DCB90A9B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D871600-5752-2C7A-4439-D243181414B7}"/>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9EFFCF94-0B6C-2678-F616-8026C4317C26}"/>
              </a:ext>
            </a:extLst>
          </p:cNvPr>
          <p:cNvSpPr txBox="1"/>
          <p:nvPr/>
        </p:nvSpPr>
        <p:spPr>
          <a:xfrm>
            <a:off x="3581400" y="2887886"/>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CA7CEB9C-9325-76C2-7E92-500768EC4CA2}"/>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288CA258-847C-E0AE-60D1-BCD7C187E4F0}"/>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29F87318-C337-48DD-D927-3C342706634F}"/>
              </a:ext>
            </a:extLst>
          </p:cNvPr>
          <p:cNvSpPr txBox="1"/>
          <p:nvPr/>
        </p:nvSpPr>
        <p:spPr>
          <a:xfrm>
            <a:off x="228600" y="1209620"/>
            <a:ext cx="70104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Types of Communication Protocols</a:t>
            </a:r>
          </a:p>
        </p:txBody>
      </p:sp>
      <p:sp>
        <p:nvSpPr>
          <p:cNvPr id="4" name="AutoShape 2" descr="Dev-C++ - Tải về">
            <a:extLst>
              <a:ext uri="{FF2B5EF4-FFF2-40B4-BE49-F238E27FC236}">
                <a16:creationId xmlns:a16="http://schemas.microsoft.com/office/drawing/2014/main" id="{0A0281FD-56CE-6698-C7F6-CD6E9B4666F4}"/>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9E302C59-DA36-4A10-86CB-A4703B3B25CA}"/>
              </a:ext>
            </a:extLst>
          </p:cNvPr>
          <p:cNvPicPr>
            <a:picLocks noChangeAspect="1"/>
          </p:cNvPicPr>
          <p:nvPr/>
        </p:nvPicPr>
        <p:blipFill>
          <a:blip r:embed="rId3"/>
          <a:stretch>
            <a:fillRect/>
          </a:stretch>
        </p:blipFill>
        <p:spPr>
          <a:xfrm>
            <a:off x="-16042" y="2469508"/>
            <a:ext cx="18108601" cy="6122544"/>
          </a:xfrm>
          <a:prstGeom prst="rect">
            <a:avLst/>
          </a:prstGeom>
        </p:spPr>
      </p:pic>
    </p:spTree>
    <p:extLst>
      <p:ext uri="{BB962C8B-B14F-4D97-AF65-F5344CB8AC3E}">
        <p14:creationId xmlns:p14="http://schemas.microsoft.com/office/powerpoint/2010/main" val="38128133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F3355-4B7E-E554-2E42-80846EA9137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9095D40-AC17-FE77-C03E-26FD40E6CF26}"/>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4CDFE3D5-7A9A-7BC4-057F-96B0B72B87EC}"/>
              </a:ext>
            </a:extLst>
          </p:cNvPr>
          <p:cNvSpPr txBox="1"/>
          <p:nvPr/>
        </p:nvSpPr>
        <p:spPr>
          <a:xfrm>
            <a:off x="3581400" y="2887886"/>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791D44F-1A8E-7A4E-28F9-CE2F70276AC5}"/>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65E5863-F097-1844-563B-CF5E1C8134AA}"/>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23A31693-9120-B33B-CD80-54E30B51AF65}"/>
              </a:ext>
            </a:extLst>
          </p:cNvPr>
          <p:cNvSpPr txBox="1"/>
          <p:nvPr/>
        </p:nvSpPr>
        <p:spPr>
          <a:xfrm>
            <a:off x="228600" y="1209620"/>
            <a:ext cx="70104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Types of Communication Protocols</a:t>
            </a:r>
          </a:p>
        </p:txBody>
      </p:sp>
      <p:sp>
        <p:nvSpPr>
          <p:cNvPr id="4" name="AutoShape 2" descr="Dev-C++ - Tải về">
            <a:extLst>
              <a:ext uri="{FF2B5EF4-FFF2-40B4-BE49-F238E27FC236}">
                <a16:creationId xmlns:a16="http://schemas.microsoft.com/office/drawing/2014/main" id="{F8C602D9-0EFB-C5AB-5379-2EA568E3A6F7}"/>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001152DA-DEFB-9CF4-D705-2C8C386BA0EC}"/>
              </a:ext>
            </a:extLst>
          </p:cNvPr>
          <p:cNvPicPr>
            <a:picLocks noChangeAspect="1"/>
          </p:cNvPicPr>
          <p:nvPr/>
        </p:nvPicPr>
        <p:blipFill>
          <a:blip r:embed="rId3"/>
          <a:stretch>
            <a:fillRect/>
          </a:stretch>
        </p:blipFill>
        <p:spPr>
          <a:xfrm>
            <a:off x="0" y="2074971"/>
            <a:ext cx="16106775" cy="7910669"/>
          </a:xfrm>
          <a:prstGeom prst="rect">
            <a:avLst/>
          </a:prstGeom>
        </p:spPr>
      </p:pic>
    </p:spTree>
    <p:extLst>
      <p:ext uri="{BB962C8B-B14F-4D97-AF65-F5344CB8AC3E}">
        <p14:creationId xmlns:p14="http://schemas.microsoft.com/office/powerpoint/2010/main" val="3721739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F6044-5458-3507-2246-DB0FA29F107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5DA890C-1C66-6F01-513F-6ECCCA07D95D}"/>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AAEAB18C-478C-6BEA-86E5-734F76393E37}"/>
              </a:ext>
            </a:extLst>
          </p:cNvPr>
          <p:cNvSpPr txBox="1"/>
          <p:nvPr/>
        </p:nvSpPr>
        <p:spPr>
          <a:xfrm>
            <a:off x="3581400" y="2887886"/>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7C1289B9-ACA7-2FE7-0B05-F694B1D8FF4C}"/>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BE1517A-7ECB-7128-7F23-501D6D4F86E6}"/>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2D97EBDA-4C52-3376-CE3B-17CB48D26AF6}"/>
              </a:ext>
            </a:extLst>
          </p:cNvPr>
          <p:cNvSpPr txBox="1"/>
          <p:nvPr/>
        </p:nvSpPr>
        <p:spPr>
          <a:xfrm>
            <a:off x="228600" y="1209620"/>
            <a:ext cx="114300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Summary Types of Communication Protocols</a:t>
            </a:r>
          </a:p>
        </p:txBody>
      </p:sp>
      <p:sp>
        <p:nvSpPr>
          <p:cNvPr id="4" name="AutoShape 2" descr="Dev-C++ - Tải về">
            <a:extLst>
              <a:ext uri="{FF2B5EF4-FFF2-40B4-BE49-F238E27FC236}">
                <a16:creationId xmlns:a16="http://schemas.microsoft.com/office/drawing/2014/main" id="{BBA6AB66-586C-A24A-F60C-C8220D2CA14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EA907846-BDE3-BFE8-5485-606CC7C5FF9E}"/>
              </a:ext>
            </a:extLst>
          </p:cNvPr>
          <p:cNvPicPr>
            <a:picLocks noChangeAspect="1"/>
          </p:cNvPicPr>
          <p:nvPr/>
        </p:nvPicPr>
        <p:blipFill>
          <a:blip r:embed="rId3"/>
          <a:stretch>
            <a:fillRect/>
          </a:stretch>
        </p:blipFill>
        <p:spPr>
          <a:xfrm>
            <a:off x="220579" y="2113071"/>
            <a:ext cx="13968412" cy="7815834"/>
          </a:xfrm>
          <a:prstGeom prst="rect">
            <a:avLst/>
          </a:prstGeom>
        </p:spPr>
      </p:pic>
    </p:spTree>
    <p:extLst>
      <p:ext uri="{BB962C8B-B14F-4D97-AF65-F5344CB8AC3E}">
        <p14:creationId xmlns:p14="http://schemas.microsoft.com/office/powerpoint/2010/main" val="806364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7977A-6007-0F87-C79A-482BD19810E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DDF30B4-47BA-942C-5FD6-8DCFCA0F319C}"/>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D9789DB0-2147-C1B2-6D1D-E0D7E3D98515}"/>
              </a:ext>
            </a:extLst>
          </p:cNvPr>
          <p:cNvSpPr txBox="1"/>
          <p:nvPr/>
        </p:nvSpPr>
        <p:spPr>
          <a:xfrm>
            <a:off x="3581400" y="2887886"/>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D2604723-A8C5-F2FC-1955-79BD61093E30}"/>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64C21F2A-5C57-7F6A-0345-04411E345B1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9F7CDFBB-79EF-E692-26DC-A3329FAB3F29}"/>
              </a:ext>
            </a:extLst>
          </p:cNvPr>
          <p:cNvSpPr txBox="1"/>
          <p:nvPr/>
        </p:nvSpPr>
        <p:spPr>
          <a:xfrm>
            <a:off x="228600" y="1209620"/>
            <a:ext cx="70104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Types of Communication Protocols</a:t>
            </a:r>
          </a:p>
        </p:txBody>
      </p:sp>
      <p:sp>
        <p:nvSpPr>
          <p:cNvPr id="4" name="AutoShape 2" descr="Dev-C++ - Tải về">
            <a:extLst>
              <a:ext uri="{FF2B5EF4-FFF2-40B4-BE49-F238E27FC236}">
                <a16:creationId xmlns:a16="http://schemas.microsoft.com/office/drawing/2014/main" id="{CF262E47-5387-646A-FB92-B357D7196DCD}"/>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TextBox 5">
            <a:extLst>
              <a:ext uri="{FF2B5EF4-FFF2-40B4-BE49-F238E27FC236}">
                <a16:creationId xmlns:a16="http://schemas.microsoft.com/office/drawing/2014/main" id="{9A47D72E-18A9-1F84-41E0-C2CB40F7877D}"/>
              </a:ext>
            </a:extLst>
          </p:cNvPr>
          <p:cNvSpPr txBox="1"/>
          <p:nvPr/>
        </p:nvSpPr>
        <p:spPr>
          <a:xfrm>
            <a:off x="381000" y="2552700"/>
            <a:ext cx="15849600" cy="738664"/>
          </a:xfrm>
          <a:prstGeom prst="rect">
            <a:avLst/>
          </a:prstGeom>
          <a:noFill/>
        </p:spPr>
        <p:txBody>
          <a:bodyPr wrap="square">
            <a:spAutoFit/>
          </a:bodyPr>
          <a:lstStyle/>
          <a:p>
            <a:pPr marL="342900" indent="-342900" fontAlgn="base">
              <a:buFont typeface="Arial" panose="020B0604020202020204" pitchFamily="34" charset="0"/>
              <a:buChar char="•"/>
            </a:pPr>
            <a:r>
              <a:rPr lang="vi-VN" b="1" dirty="0"/>
              <a:t>Synchronous and Asynchronous Transmission</a:t>
            </a:r>
          </a:p>
          <a:p>
            <a:pPr marL="342900" indent="-342900" fontAlgn="base">
              <a:buFont typeface="Arial" panose="020B0604020202020204" pitchFamily="34" charset="0"/>
              <a:buChar char="•"/>
            </a:pPr>
            <a:endParaRPr lang="en-US" sz="2400" dirty="0"/>
          </a:p>
        </p:txBody>
      </p:sp>
      <p:sp>
        <p:nvSpPr>
          <p:cNvPr id="8" name="AutoShape 2" descr="What is Synchronous and Asynchronous Programming: Differences &amp; Guide">
            <a:extLst>
              <a:ext uri="{FF2B5EF4-FFF2-40B4-BE49-F238E27FC236}">
                <a16:creationId xmlns:a16="http://schemas.microsoft.com/office/drawing/2014/main" id="{C3EDD5E0-3F22-A794-02DE-B290D423DE8C}"/>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AutoShape 4">
            <a:extLst>
              <a:ext uri="{FF2B5EF4-FFF2-40B4-BE49-F238E27FC236}">
                <a16:creationId xmlns:a16="http://schemas.microsoft.com/office/drawing/2014/main" id="{CB1E501D-1CCE-4D27-C878-5A94BA065C19}"/>
              </a:ext>
            </a:extLst>
          </p:cNvPr>
          <p:cNvSpPr>
            <a:spLocks noChangeAspect="1" noChangeArrowheads="1"/>
          </p:cNvSpPr>
          <p:nvPr/>
        </p:nvSpPr>
        <p:spPr bwMode="auto">
          <a:xfrm>
            <a:off x="9296400" y="52959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4" name="Picture 13">
            <a:extLst>
              <a:ext uri="{FF2B5EF4-FFF2-40B4-BE49-F238E27FC236}">
                <a16:creationId xmlns:a16="http://schemas.microsoft.com/office/drawing/2014/main" id="{8B686232-BB25-B223-193B-7CD807A7E305}"/>
              </a:ext>
            </a:extLst>
          </p:cNvPr>
          <p:cNvPicPr>
            <a:picLocks noChangeAspect="1"/>
          </p:cNvPicPr>
          <p:nvPr/>
        </p:nvPicPr>
        <p:blipFill>
          <a:blip r:embed="rId3"/>
          <a:stretch>
            <a:fillRect/>
          </a:stretch>
        </p:blipFill>
        <p:spPr>
          <a:xfrm>
            <a:off x="2438400" y="3291364"/>
            <a:ext cx="12603956" cy="6428186"/>
          </a:xfrm>
          <a:prstGeom prst="rect">
            <a:avLst/>
          </a:prstGeom>
        </p:spPr>
      </p:pic>
    </p:spTree>
    <p:extLst>
      <p:ext uri="{BB962C8B-B14F-4D97-AF65-F5344CB8AC3E}">
        <p14:creationId xmlns:p14="http://schemas.microsoft.com/office/powerpoint/2010/main" val="1087323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97A78-9EB1-050D-7B04-1F3762AE868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9020D43-D5B3-BC79-2351-9416B264EAE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E932D07C-1B82-E374-CD03-65DDE22D44FB}"/>
              </a:ext>
            </a:extLst>
          </p:cNvPr>
          <p:cNvSpPr txBox="1"/>
          <p:nvPr/>
        </p:nvSpPr>
        <p:spPr>
          <a:xfrm>
            <a:off x="8648968" y="5736467"/>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4FCC43AC-57DE-4DA4-BE63-D979A90DA7D7}"/>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49052DB-DA5B-DA90-4226-3A4F13481E52}"/>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C3E60411-323F-0607-5FB4-674EC691A221}"/>
              </a:ext>
            </a:extLst>
          </p:cNvPr>
          <p:cNvSpPr txBox="1"/>
          <p:nvPr/>
        </p:nvSpPr>
        <p:spPr>
          <a:xfrm>
            <a:off x="228600" y="1209620"/>
            <a:ext cx="70104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What is Synchronous Transmission?</a:t>
            </a:r>
          </a:p>
        </p:txBody>
      </p:sp>
      <p:sp>
        <p:nvSpPr>
          <p:cNvPr id="8" name="TextBox 7">
            <a:extLst>
              <a:ext uri="{FF2B5EF4-FFF2-40B4-BE49-F238E27FC236}">
                <a16:creationId xmlns:a16="http://schemas.microsoft.com/office/drawing/2014/main" id="{4FCD72F8-C1A4-434D-9985-87CAA7759333}"/>
              </a:ext>
            </a:extLst>
          </p:cNvPr>
          <p:cNvSpPr txBox="1"/>
          <p:nvPr/>
        </p:nvSpPr>
        <p:spPr>
          <a:xfrm>
            <a:off x="375834" y="2499587"/>
            <a:ext cx="16424530" cy="6001643"/>
          </a:xfrm>
          <a:prstGeom prst="rect">
            <a:avLst/>
          </a:prstGeom>
          <a:noFill/>
        </p:spPr>
        <p:txBody>
          <a:bodyPr wrap="square">
            <a:spAutoFit/>
          </a:bodyPr>
          <a:lstStyle/>
          <a:p>
            <a:pPr marL="285750" indent="-285750" fontAlgn="base">
              <a:buFont typeface="Arial" panose="020B0604020202020204" pitchFamily="34" charset="0"/>
              <a:buChar char="•"/>
            </a:pPr>
            <a:r>
              <a:rPr lang="en-US" sz="2400" dirty="0"/>
              <a:t>In Synchronous Transmission, data is sent in the form of blocks or frames. This transmission is the full-duplex type. Between sender and receiver, synchronization is compulsory. In Synchronous transmission, There is no time gap present between data. It is more efficient and more reliable than asynchronous transmission to transfer a large amount of data.</a:t>
            </a:r>
          </a:p>
          <a:p>
            <a:pPr marL="285750" indent="-285750" fontAlgn="base">
              <a:buFont typeface="Arial" panose="020B0604020202020204" pitchFamily="34" charset="0"/>
              <a:buChar char="•"/>
            </a:pPr>
            <a:endParaRPr lang="en-US" sz="2400" dirty="0"/>
          </a:p>
          <a:p>
            <a:pPr marL="285750" indent="-285750" fontAlgn="base">
              <a:buFont typeface="Arial" panose="020B0604020202020204" pitchFamily="34" charset="0"/>
              <a:buChar char="•"/>
            </a:pPr>
            <a:endParaRPr lang="en-US" sz="2400" dirty="0"/>
          </a:p>
          <a:p>
            <a:pPr marL="285750" indent="-285750" fontAlgn="base">
              <a:buFont typeface="Arial" panose="020B0604020202020204" pitchFamily="34" charset="0"/>
              <a:buChar char="•"/>
            </a:pPr>
            <a:r>
              <a:rPr lang="en-US" sz="2400" dirty="0"/>
              <a:t>Both the sender and receiver are synchronized with a common clock signal. This means they operate at the same speed and know exactly when to send and receive data. Data is sent in a continuous stream, with each byte or chunk of data following the previous one without any gaps. It's efficient for sending large amounts of data quickly because there's less overhead (extra bits) needed to start and stop the transmission.</a:t>
            </a:r>
          </a:p>
          <a:p>
            <a:pPr marL="285750" indent="-285750" fontAlgn="base">
              <a:buFont typeface="Arial" panose="020B0604020202020204" pitchFamily="34" charset="0"/>
              <a:buChar char="•"/>
            </a:pPr>
            <a:endParaRPr lang="en-US" sz="2400" dirty="0"/>
          </a:p>
          <a:p>
            <a:pPr marL="285750" indent="-285750" fontAlgn="base">
              <a:buFont typeface="Arial" panose="020B0604020202020204" pitchFamily="34" charset="0"/>
              <a:buChar char="•"/>
            </a:pPr>
            <a:endParaRPr lang="en-US" sz="2400" dirty="0"/>
          </a:p>
          <a:p>
            <a:pPr lvl="1" fontAlgn="base"/>
            <a:r>
              <a:rPr lang="en-US" sz="2400" b="1" dirty="0"/>
              <a:t>Example:</a:t>
            </a:r>
            <a:endParaRPr lang="en-US" sz="2400" dirty="0"/>
          </a:p>
          <a:p>
            <a:pPr marL="742950" lvl="1" indent="-285750" fontAlgn="base">
              <a:buFont typeface="Arial" panose="020B0604020202020204" pitchFamily="34" charset="0"/>
              <a:buChar char="•"/>
            </a:pPr>
            <a:r>
              <a:rPr lang="en-US" sz="2400" dirty="0"/>
              <a:t>Chat Rooms</a:t>
            </a:r>
          </a:p>
          <a:p>
            <a:pPr marL="742950" lvl="1" indent="-285750" fontAlgn="base">
              <a:buFont typeface="Arial" panose="020B0604020202020204" pitchFamily="34" charset="0"/>
              <a:buChar char="•"/>
            </a:pPr>
            <a:r>
              <a:rPr lang="en-US" sz="2400" dirty="0"/>
              <a:t>Telephonic Conversations</a:t>
            </a:r>
          </a:p>
          <a:p>
            <a:pPr marL="742950" lvl="1" indent="-285750" fontAlgn="base">
              <a:buFont typeface="Arial" panose="020B0604020202020204" pitchFamily="34" charset="0"/>
              <a:buChar char="•"/>
            </a:pPr>
            <a:r>
              <a:rPr lang="en-US" sz="2400" dirty="0"/>
              <a:t>Video Conferencing</a:t>
            </a:r>
          </a:p>
          <a:p>
            <a:pPr marL="285750" indent="-285750" fontAlgn="base">
              <a:buFont typeface="Arial" panose="020B0604020202020204" pitchFamily="34" charset="0"/>
              <a:buChar char="•"/>
            </a:pPr>
            <a:endParaRPr lang="en-US" sz="2400" dirty="0"/>
          </a:p>
        </p:txBody>
      </p:sp>
      <p:pic>
        <p:nvPicPr>
          <p:cNvPr id="11" name="Picture 10">
            <a:extLst>
              <a:ext uri="{FF2B5EF4-FFF2-40B4-BE49-F238E27FC236}">
                <a16:creationId xmlns:a16="http://schemas.microsoft.com/office/drawing/2014/main" id="{04C09B7A-77E0-EF22-D72E-45171A793C43}"/>
              </a:ext>
            </a:extLst>
          </p:cNvPr>
          <p:cNvPicPr>
            <a:picLocks noChangeAspect="1"/>
          </p:cNvPicPr>
          <p:nvPr/>
        </p:nvPicPr>
        <p:blipFill>
          <a:blip r:embed="rId3"/>
          <a:stretch>
            <a:fillRect/>
          </a:stretch>
        </p:blipFill>
        <p:spPr>
          <a:xfrm>
            <a:off x="5638800" y="6377222"/>
            <a:ext cx="11326069" cy="3002262"/>
          </a:xfrm>
          <a:prstGeom prst="rect">
            <a:avLst/>
          </a:prstGeom>
        </p:spPr>
      </p:pic>
    </p:spTree>
    <p:extLst>
      <p:ext uri="{BB962C8B-B14F-4D97-AF65-F5344CB8AC3E}">
        <p14:creationId xmlns:p14="http://schemas.microsoft.com/office/powerpoint/2010/main" val="851542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DA814-E600-73D9-A221-5351EB2C0FA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F58AF89-9475-BCBB-6496-699CFCEE534E}"/>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D050DFA7-185B-EF11-C3AE-F2920A155704}"/>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953C734-3D0F-C4A9-6D45-8A530606D0C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C338F24-DAC3-7204-3894-2B6467D0145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9557FEA-8B50-EF1A-7296-81571A103D68}"/>
              </a:ext>
            </a:extLst>
          </p:cNvPr>
          <p:cNvSpPr txBox="1"/>
          <p:nvPr/>
        </p:nvSpPr>
        <p:spPr>
          <a:xfrm>
            <a:off x="228600" y="1209620"/>
            <a:ext cx="70104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What is Synchronous Transmission?</a:t>
            </a:r>
          </a:p>
        </p:txBody>
      </p:sp>
      <p:sp>
        <p:nvSpPr>
          <p:cNvPr id="6" name="TextBox 5">
            <a:extLst>
              <a:ext uri="{FF2B5EF4-FFF2-40B4-BE49-F238E27FC236}">
                <a16:creationId xmlns:a16="http://schemas.microsoft.com/office/drawing/2014/main" id="{6F94F2BF-9698-FFF0-3AB7-B2A08767492E}"/>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BF4075BA-8D30-C30F-1507-854C93731DE7}"/>
              </a:ext>
            </a:extLst>
          </p:cNvPr>
          <p:cNvSpPr txBox="1"/>
          <p:nvPr/>
        </p:nvSpPr>
        <p:spPr>
          <a:xfrm>
            <a:off x="396912" y="2470528"/>
            <a:ext cx="16519488" cy="3046988"/>
          </a:xfrm>
          <a:prstGeom prst="rect">
            <a:avLst/>
          </a:prstGeom>
          <a:noFill/>
        </p:spPr>
        <p:txBody>
          <a:bodyPr wrap="square">
            <a:spAutoFit/>
          </a:bodyPr>
          <a:lstStyle/>
          <a:p>
            <a:r>
              <a:rPr lang="en-US" sz="2400" dirty="0"/>
              <a:t>The </a:t>
            </a:r>
            <a:r>
              <a:rPr lang="en-US" sz="2400" b="1" dirty="0"/>
              <a:t>transmitting device (Master)</a:t>
            </a:r>
            <a:r>
              <a:rPr lang="en-US" sz="2400" dirty="0"/>
              <a:t> sends data along with a </a:t>
            </a:r>
            <a:r>
              <a:rPr lang="en-US" sz="2400" b="1" dirty="0"/>
              <a:t>clock signal</a:t>
            </a:r>
            <a:r>
              <a:rPr lang="en-US" sz="2400" dirty="0"/>
              <a:t>, allowing the </a:t>
            </a:r>
            <a:r>
              <a:rPr lang="en-US" sz="2400" b="1" dirty="0"/>
              <a:t>receiving device (Slave)</a:t>
            </a:r>
            <a:r>
              <a:rPr lang="en-US" sz="2400" dirty="0"/>
              <a:t> to know exactly when to read or write each bit of data.</a:t>
            </a:r>
          </a:p>
          <a:p>
            <a:endParaRPr lang="en-US" sz="2400" dirty="0"/>
          </a:p>
          <a:p>
            <a:r>
              <a:rPr lang="en-US" sz="2400" dirty="0"/>
              <a:t>👉 </a:t>
            </a:r>
            <a:r>
              <a:rPr lang="en-US" sz="2400" b="1" dirty="0"/>
              <a:t>Characteristics:</a:t>
            </a:r>
            <a:endParaRPr lang="en-US" sz="2400" dirty="0"/>
          </a:p>
          <a:p>
            <a:pPr marL="457200" indent="-457200">
              <a:buFont typeface="+mj-lt"/>
              <a:buAutoNum type="arabicPeriod"/>
            </a:pPr>
            <a:r>
              <a:rPr lang="en-US" sz="2400" dirty="0"/>
              <a:t>There is a common </a:t>
            </a:r>
            <a:r>
              <a:rPr lang="en-US" sz="2400" b="1" dirty="0"/>
              <a:t>clock signal</a:t>
            </a:r>
            <a:r>
              <a:rPr lang="en-US" sz="2400" dirty="0"/>
              <a:t> shared between the two devices.</a:t>
            </a:r>
          </a:p>
          <a:p>
            <a:pPr marL="457200" indent="-457200">
              <a:buFont typeface="+mj-lt"/>
              <a:buAutoNum type="arabicPeriod"/>
            </a:pPr>
            <a:r>
              <a:rPr lang="en-US" sz="2400" dirty="0"/>
              <a:t>The transmission speed is </a:t>
            </a:r>
            <a:r>
              <a:rPr lang="en-US" sz="2400" b="1" dirty="0"/>
              <a:t>faster and more stable</a:t>
            </a:r>
            <a:r>
              <a:rPr lang="en-US" sz="2400" dirty="0"/>
              <a:t>, since synchronization is ensured by the clock.</a:t>
            </a:r>
          </a:p>
          <a:p>
            <a:pPr marL="457200" indent="-457200">
              <a:buFont typeface="+mj-lt"/>
              <a:buAutoNum type="arabicPeriod"/>
            </a:pPr>
            <a:r>
              <a:rPr lang="en-US" sz="2400" dirty="0"/>
              <a:t>It </a:t>
            </a:r>
            <a:r>
              <a:rPr lang="en-US" sz="2400" b="1" dirty="0"/>
              <a:t>requires more wires</a:t>
            </a:r>
            <a:r>
              <a:rPr lang="en-US" sz="2400" dirty="0"/>
              <a:t> (because the clock line must also be transmitted).</a:t>
            </a:r>
          </a:p>
          <a:p>
            <a:pPr marL="457200" indent="-457200">
              <a:buFont typeface="+mj-lt"/>
              <a:buAutoNum type="arabicPeriod"/>
            </a:pPr>
            <a:r>
              <a:rPr lang="en-US" sz="2400" b="1" dirty="0"/>
              <a:t>Suitable for short-distance communication</a:t>
            </a:r>
            <a:r>
              <a:rPr lang="en-US" sz="2400" dirty="0"/>
              <a:t>, within the same circuit or motherboard.</a:t>
            </a:r>
          </a:p>
        </p:txBody>
      </p:sp>
      <p:pic>
        <p:nvPicPr>
          <p:cNvPr id="1026" name="Picture 2" descr="Serial Peripheral Interface (SPI) - SparkFun Learn">
            <a:extLst>
              <a:ext uri="{FF2B5EF4-FFF2-40B4-BE49-F238E27FC236}">
                <a16:creationId xmlns:a16="http://schemas.microsoft.com/office/drawing/2014/main" id="{DBA3FC50-565E-A772-3B6A-1A98790799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5737640"/>
            <a:ext cx="7391400" cy="4157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5979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DD2CF-5612-DC70-1A68-433AB9BA5B9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6FFA3EE-F6CB-EC1A-FC1B-83D0B16EA797}"/>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FF3CABA4-3E9E-5773-9E0D-7C5EEF5374FA}"/>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16B653FF-2BBA-822F-2177-0DFA395D9748}"/>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43A92922-EB08-BBB6-4F6E-A6A366F387E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08FBCEE5-556C-927C-922C-13B225D99E77}"/>
              </a:ext>
            </a:extLst>
          </p:cNvPr>
          <p:cNvSpPr txBox="1"/>
          <p:nvPr/>
        </p:nvSpPr>
        <p:spPr>
          <a:xfrm>
            <a:off x="228600" y="1209620"/>
            <a:ext cx="9829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Properties of Synchronous Transmission?</a:t>
            </a:r>
          </a:p>
        </p:txBody>
      </p:sp>
      <p:sp>
        <p:nvSpPr>
          <p:cNvPr id="6" name="TextBox 5">
            <a:extLst>
              <a:ext uri="{FF2B5EF4-FFF2-40B4-BE49-F238E27FC236}">
                <a16:creationId xmlns:a16="http://schemas.microsoft.com/office/drawing/2014/main" id="{7DF0A30E-3F35-71B0-BAE3-5E307C1C6E1E}"/>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8" name="Picture 7">
            <a:extLst>
              <a:ext uri="{FF2B5EF4-FFF2-40B4-BE49-F238E27FC236}">
                <a16:creationId xmlns:a16="http://schemas.microsoft.com/office/drawing/2014/main" id="{6021427C-7E65-6FC5-914B-37666E5B7805}"/>
              </a:ext>
            </a:extLst>
          </p:cNvPr>
          <p:cNvPicPr>
            <a:picLocks noChangeAspect="1"/>
          </p:cNvPicPr>
          <p:nvPr/>
        </p:nvPicPr>
        <p:blipFill>
          <a:blip r:embed="rId3"/>
          <a:stretch>
            <a:fillRect/>
          </a:stretch>
        </p:blipFill>
        <p:spPr>
          <a:xfrm>
            <a:off x="2220692" y="3162300"/>
            <a:ext cx="13846615" cy="5381680"/>
          </a:xfrm>
          <a:prstGeom prst="rect">
            <a:avLst/>
          </a:prstGeom>
        </p:spPr>
      </p:pic>
    </p:spTree>
    <p:extLst>
      <p:ext uri="{BB962C8B-B14F-4D97-AF65-F5344CB8AC3E}">
        <p14:creationId xmlns:p14="http://schemas.microsoft.com/office/powerpoint/2010/main" val="37210508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2A30E-8F45-DA9B-EA37-86B4C43F125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F8F0964-40F9-F74A-675A-C53013824299}"/>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09F60716-BD36-FA9E-62BF-0FF3A1B5B759}"/>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4C128C51-C137-B979-621E-31C97FD283CF}"/>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C51B0DB0-0D58-D038-8D28-69681423A374}"/>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31EB2DBF-027C-3086-3A43-DA94B270B0DF}"/>
              </a:ext>
            </a:extLst>
          </p:cNvPr>
          <p:cNvSpPr txBox="1"/>
          <p:nvPr/>
        </p:nvSpPr>
        <p:spPr>
          <a:xfrm>
            <a:off x="228600" y="1209620"/>
            <a:ext cx="9829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Properties of Synchronous Transmission?</a:t>
            </a:r>
          </a:p>
        </p:txBody>
      </p:sp>
      <p:sp>
        <p:nvSpPr>
          <p:cNvPr id="6" name="TextBox 5">
            <a:extLst>
              <a:ext uri="{FF2B5EF4-FFF2-40B4-BE49-F238E27FC236}">
                <a16:creationId xmlns:a16="http://schemas.microsoft.com/office/drawing/2014/main" id="{990D5047-699B-539C-7499-59C8E6204754}"/>
              </a:ext>
            </a:extLst>
          </p:cNvPr>
          <p:cNvSpPr txBox="1"/>
          <p:nvPr/>
        </p:nvSpPr>
        <p:spPr>
          <a:xfrm>
            <a:off x="368085" y="2074889"/>
            <a:ext cx="17497586" cy="7478970"/>
          </a:xfrm>
          <a:prstGeom prst="rect">
            <a:avLst/>
          </a:prstGeom>
          <a:noFill/>
        </p:spPr>
        <p:txBody>
          <a:bodyPr wrap="square">
            <a:spAutoFit/>
          </a:bodyPr>
          <a:lstStyle/>
          <a:p>
            <a:r>
              <a:rPr lang="en-US" sz="2400" dirty="0"/>
              <a:t>🔄 </a:t>
            </a:r>
            <a:r>
              <a:rPr lang="en-US" sz="2400" b="1" dirty="0"/>
              <a:t>Step-by-step Operation Process</a:t>
            </a:r>
            <a:endParaRPr lang="en-US" sz="2400" dirty="0"/>
          </a:p>
          <a:p>
            <a:r>
              <a:rPr lang="en-US" sz="2400" b="1" dirty="0"/>
              <a:t>1️⃣ Master generates the clock signal (SCLK):</a:t>
            </a:r>
            <a:br>
              <a:rPr lang="en-US" sz="2400" dirty="0"/>
            </a:br>
            <a:r>
              <a:rPr lang="en-US" sz="2400" dirty="0"/>
              <a:t>The Master continuously produces clock pulses (0–1–0–1...) through the clock line.</a:t>
            </a:r>
            <a:br>
              <a:rPr lang="en-US" sz="2400" dirty="0"/>
            </a:br>
            <a:r>
              <a:rPr lang="en-US" sz="2400" dirty="0"/>
              <a:t>Each clock edge (rising or falling) tells the Slave, “Read or send one bit of data now.”</a:t>
            </a:r>
            <a:br>
              <a:rPr lang="en-US" sz="2400" dirty="0"/>
            </a:br>
            <a:endParaRPr lang="en-US" sz="2400" dirty="0"/>
          </a:p>
          <a:p>
            <a:r>
              <a:rPr lang="en-US" sz="2400" b="1" dirty="0"/>
              <a:t>2️⃣ Master sends data (Data line):</a:t>
            </a:r>
            <a:br>
              <a:rPr lang="en-US" sz="2400" dirty="0"/>
            </a:br>
            <a:r>
              <a:rPr lang="en-US" sz="2400" dirty="0"/>
              <a:t>At the same time as the clock pulses, the Master transmits data bit-by-bit over the </a:t>
            </a:r>
            <a:r>
              <a:rPr lang="en-US" sz="2400" b="1" dirty="0"/>
              <a:t>MOSI (Master Out Slave In)</a:t>
            </a:r>
            <a:r>
              <a:rPr lang="en-US" sz="2400" dirty="0"/>
              <a:t> line.</a:t>
            </a:r>
            <a:br>
              <a:rPr lang="en-US" sz="2400" dirty="0"/>
            </a:br>
            <a:endParaRPr lang="en-US" sz="2400" dirty="0"/>
          </a:p>
          <a:p>
            <a:r>
              <a:rPr lang="en-US" sz="2400" b="1" dirty="0"/>
              <a:t>3️⃣ Slave reads data according to the clock:</a:t>
            </a:r>
            <a:br>
              <a:rPr lang="en-US" sz="2400" dirty="0"/>
            </a:br>
            <a:r>
              <a:rPr lang="en-US" sz="2400" dirty="0"/>
              <a:t>The Slave doesn’t need to guess timing — it simply waits for each clock edge and immediately reads the bit.</a:t>
            </a:r>
            <a:br>
              <a:rPr lang="en-US" sz="2400" dirty="0"/>
            </a:br>
            <a:r>
              <a:rPr lang="en-US" sz="2400" dirty="0"/>
              <a:t>Because of the shared clock, both sides are precisely synchronized in time.</a:t>
            </a:r>
          </a:p>
          <a:p>
            <a:endParaRPr lang="en-US" sz="2400" dirty="0"/>
          </a:p>
          <a:p>
            <a:r>
              <a:rPr lang="en-US" sz="2400" b="1" dirty="0"/>
              <a:t>4️⃣ Slave can send data back:</a:t>
            </a:r>
            <a:br>
              <a:rPr lang="en-US" sz="2400" dirty="0"/>
            </a:br>
            <a:r>
              <a:rPr lang="en-US" sz="2400" dirty="0"/>
              <a:t>If the protocol allows (e.g., </a:t>
            </a:r>
            <a:r>
              <a:rPr lang="en-US" sz="2400" b="1" dirty="0"/>
              <a:t>SPI</a:t>
            </a:r>
            <a:r>
              <a:rPr lang="en-US" sz="2400" dirty="0"/>
              <a:t>), the Slave sends data back through the </a:t>
            </a:r>
            <a:r>
              <a:rPr lang="en-US" sz="2400" b="1" dirty="0"/>
              <a:t>MISO (Master In Slave Out)</a:t>
            </a:r>
            <a:r>
              <a:rPr lang="en-US" sz="2400" dirty="0"/>
              <a:t> line, which is also controlled by the same clock.</a:t>
            </a:r>
            <a:br>
              <a:rPr lang="en-US" sz="2400" dirty="0"/>
            </a:br>
            <a:endParaRPr lang="en-US" sz="2400" dirty="0"/>
          </a:p>
          <a:p>
            <a:r>
              <a:rPr lang="en-US" sz="2400" b="1" dirty="0"/>
              <a:t>5️⃣ Continuous multi-byte transmission:</a:t>
            </a:r>
            <a:br>
              <a:rPr lang="en-US" sz="2400" dirty="0"/>
            </a:br>
            <a:r>
              <a:rPr lang="en-US" sz="2400" dirty="0"/>
              <a:t>No </a:t>
            </a:r>
            <a:r>
              <a:rPr lang="en-US" sz="2400" b="1" dirty="0"/>
              <a:t>Start</a:t>
            </a:r>
            <a:r>
              <a:rPr lang="en-US" sz="2400" dirty="0"/>
              <a:t> or </a:t>
            </a:r>
            <a:r>
              <a:rPr lang="en-US" sz="2400" b="1" dirty="0"/>
              <a:t>Stop</a:t>
            </a:r>
            <a:r>
              <a:rPr lang="en-US" sz="2400" dirty="0"/>
              <a:t> bits are needed (unlike asynchronous transmission).</a:t>
            </a:r>
            <a:br>
              <a:rPr lang="en-US" sz="2400" dirty="0"/>
            </a:br>
            <a:r>
              <a:rPr lang="en-US" sz="2400" dirty="0"/>
              <a:t>Data can be sent continuously without interruptions, ensuring high speed and efficiency.</a:t>
            </a:r>
          </a:p>
          <a:p>
            <a:endParaRPr lang="en-US" sz="2400" dirty="0"/>
          </a:p>
        </p:txBody>
      </p:sp>
    </p:spTree>
    <p:extLst>
      <p:ext uri="{BB962C8B-B14F-4D97-AF65-F5344CB8AC3E}">
        <p14:creationId xmlns:p14="http://schemas.microsoft.com/office/powerpoint/2010/main" val="39739214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7D623-AC59-418E-BD7B-B86B53748DB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ECA5D47-4FE4-AD6F-7428-3FE16EE2F636}"/>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9C9FE77A-8AC4-B078-5B0E-6B6B04F5A96E}"/>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9AEB25B7-8042-C820-298B-73BD9B366122}"/>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67D57FDD-77EA-AE8A-D8E3-35BE8AA84A94}"/>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5C023833-9EE3-24D5-FABC-1DD4A58C0905}"/>
              </a:ext>
            </a:extLst>
          </p:cNvPr>
          <p:cNvSpPr txBox="1"/>
          <p:nvPr/>
        </p:nvSpPr>
        <p:spPr>
          <a:xfrm>
            <a:off x="228600" y="1209620"/>
            <a:ext cx="70104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What is Synchronous Transmission?</a:t>
            </a:r>
          </a:p>
        </p:txBody>
      </p:sp>
      <p:sp>
        <p:nvSpPr>
          <p:cNvPr id="6" name="TextBox 5">
            <a:extLst>
              <a:ext uri="{FF2B5EF4-FFF2-40B4-BE49-F238E27FC236}">
                <a16:creationId xmlns:a16="http://schemas.microsoft.com/office/drawing/2014/main" id="{C9D5B838-3864-9D02-E1E8-CD54F69F89A2}"/>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8" name="Picture 7">
            <a:extLst>
              <a:ext uri="{FF2B5EF4-FFF2-40B4-BE49-F238E27FC236}">
                <a16:creationId xmlns:a16="http://schemas.microsoft.com/office/drawing/2014/main" id="{54691F01-9736-8637-326D-21CAC72376D8}"/>
              </a:ext>
            </a:extLst>
          </p:cNvPr>
          <p:cNvPicPr>
            <a:picLocks noChangeAspect="1"/>
          </p:cNvPicPr>
          <p:nvPr/>
        </p:nvPicPr>
        <p:blipFill>
          <a:blip r:embed="rId3"/>
          <a:stretch>
            <a:fillRect/>
          </a:stretch>
        </p:blipFill>
        <p:spPr>
          <a:xfrm>
            <a:off x="135505" y="2867748"/>
            <a:ext cx="17784016" cy="5638799"/>
          </a:xfrm>
          <a:prstGeom prst="rect">
            <a:avLst/>
          </a:prstGeom>
        </p:spPr>
      </p:pic>
    </p:spTree>
    <p:extLst>
      <p:ext uri="{BB962C8B-B14F-4D97-AF65-F5344CB8AC3E}">
        <p14:creationId xmlns:p14="http://schemas.microsoft.com/office/powerpoint/2010/main" val="3396867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2D9F6-0A5F-E9C8-09EB-49AB20A3FEA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6858A1C-88DA-2940-7DD7-AA55C1839C10}"/>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571C6088-4B29-C68B-A2A1-744D8BB99CD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DE8914E-2B0E-5921-7F03-F8B693617C15}"/>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2467812E-365A-087F-D2EA-3C0C29879B6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94D115B3-C2FF-F71E-B3C2-A7792DBBBBB7}"/>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Advantages of Synchronous Transmission?</a:t>
            </a:r>
          </a:p>
        </p:txBody>
      </p:sp>
      <p:sp>
        <p:nvSpPr>
          <p:cNvPr id="6" name="TextBox 5">
            <a:extLst>
              <a:ext uri="{FF2B5EF4-FFF2-40B4-BE49-F238E27FC236}">
                <a16:creationId xmlns:a16="http://schemas.microsoft.com/office/drawing/2014/main" id="{63230827-9C4F-50B5-27D6-8F2C2FCD7D0C}"/>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B9ED412E-5F06-66EF-2F49-F4DFB901B311}"/>
              </a:ext>
            </a:extLst>
          </p:cNvPr>
          <p:cNvSpPr txBox="1"/>
          <p:nvPr/>
        </p:nvSpPr>
        <p:spPr>
          <a:xfrm>
            <a:off x="266054" y="2067552"/>
            <a:ext cx="17373600" cy="8217634"/>
          </a:xfrm>
          <a:prstGeom prst="rect">
            <a:avLst/>
          </a:prstGeom>
          <a:noFill/>
        </p:spPr>
        <p:txBody>
          <a:bodyPr wrap="square">
            <a:spAutoFit/>
          </a:bodyPr>
          <a:lstStyle/>
          <a:p>
            <a:pPr>
              <a:buNone/>
            </a:pPr>
            <a:r>
              <a:rPr lang="en-US" sz="2400" b="1" dirty="0"/>
              <a:t>⚙️ Common Advantages of Synchronous Protocols</a:t>
            </a:r>
          </a:p>
          <a:p>
            <a:pPr>
              <a:buNone/>
            </a:pPr>
            <a:r>
              <a:rPr lang="en-US" sz="2400" b="1" dirty="0"/>
              <a:t>🧩 1️⃣ High-Speed Data Transmission</a:t>
            </a:r>
          </a:p>
          <a:p>
            <a:pPr>
              <a:buNone/>
            </a:pPr>
            <a:r>
              <a:rPr lang="en-US" sz="2400" dirty="0"/>
              <a:t>Because there is a shared clock signal, data transmission and reception are synchronized bit by bit according to the clock pulse → resulting in </a:t>
            </a:r>
            <a:r>
              <a:rPr lang="en-US" sz="2400" b="1" dirty="0"/>
              <a:t>high and stable speed</a:t>
            </a:r>
            <a:r>
              <a:rPr lang="en-US" sz="2400" dirty="0"/>
              <a:t>.</a:t>
            </a:r>
          </a:p>
          <a:p>
            <a:pPr>
              <a:buNone/>
            </a:pPr>
            <a:r>
              <a:rPr lang="en-US" sz="2400" dirty="0"/>
              <a:t>No need for additional Start/Stop bits like UART → </a:t>
            </a:r>
            <a:r>
              <a:rPr lang="en-US" sz="2400" b="1" dirty="0"/>
              <a:t>less overhead</a:t>
            </a:r>
            <a:r>
              <a:rPr lang="en-US" sz="2400" dirty="0"/>
              <a:t> and </a:t>
            </a:r>
            <a:r>
              <a:rPr lang="en-US" sz="2400" b="1" dirty="0"/>
              <a:t>higher transmission efficiency</a:t>
            </a:r>
            <a:r>
              <a:rPr lang="en-US" sz="2400" dirty="0"/>
              <a:t>.</a:t>
            </a:r>
          </a:p>
          <a:p>
            <a:pPr>
              <a:buNone/>
            </a:pPr>
            <a:r>
              <a:rPr lang="en-US" sz="2400" dirty="0"/>
              <a:t>🔸 </a:t>
            </a:r>
            <a:r>
              <a:rPr lang="en-US" sz="2400" b="1" dirty="0"/>
              <a:t>Example:</a:t>
            </a:r>
            <a:r>
              <a:rPr lang="en-US" sz="2400" dirty="0"/>
              <a:t> SPI can reach tens of Mbps, while UART is typically limited to a few hundred kbps.</a:t>
            </a:r>
          </a:p>
          <a:p>
            <a:pPr>
              <a:buNone/>
            </a:pPr>
            <a:endParaRPr lang="en-US" sz="2400" dirty="0"/>
          </a:p>
          <a:p>
            <a:pPr>
              <a:buNone/>
            </a:pPr>
            <a:endParaRPr lang="en-US" sz="2400" dirty="0"/>
          </a:p>
          <a:p>
            <a:r>
              <a:rPr lang="en-US" sz="2400" b="1" dirty="0"/>
              <a:t>🧩 2️⃣ High Timing Accuracy</a:t>
            </a:r>
          </a:p>
          <a:p>
            <a:r>
              <a:rPr lang="en-US" sz="2400" dirty="0"/>
              <a:t>Data is sampled exactly according to the master’s clock signal,</a:t>
            </a:r>
            <a:br>
              <a:rPr lang="en-US" sz="2400" dirty="0"/>
            </a:br>
            <a:r>
              <a:rPr lang="en-US" sz="2400" dirty="0"/>
              <a:t>→ preventing phase drift or timing mismatches between devices.</a:t>
            </a:r>
          </a:p>
          <a:p>
            <a:r>
              <a:rPr lang="en-US" sz="2400" dirty="0"/>
              <a:t>Since it does not rely on each device’s internal oscillator, </a:t>
            </a:r>
            <a:r>
              <a:rPr lang="en-US" sz="2400" b="1" dirty="0"/>
              <a:t>bit errors are minimized</a:t>
            </a:r>
            <a:r>
              <a:rPr lang="en-US" sz="2400" dirty="0"/>
              <a:t>.</a:t>
            </a:r>
          </a:p>
          <a:p>
            <a:r>
              <a:rPr lang="en-US" sz="2400" dirty="0"/>
              <a:t>🔸 This is extremely important in </a:t>
            </a:r>
            <a:r>
              <a:rPr lang="en-US" sz="2400" b="1" dirty="0"/>
              <a:t>real-time systems</a:t>
            </a:r>
            <a:r>
              <a:rPr lang="en-US" sz="2400" dirty="0"/>
              <a:t> where precise timing is critical.</a:t>
            </a:r>
          </a:p>
          <a:p>
            <a:endParaRPr lang="en-US" sz="2400" dirty="0"/>
          </a:p>
          <a:p>
            <a:endParaRPr lang="en-US" sz="2400" dirty="0"/>
          </a:p>
          <a:p>
            <a:r>
              <a:rPr lang="en-US" sz="2400" b="1" dirty="0"/>
              <a:t>🧩 3️⃣ Reliable Communication</a:t>
            </a:r>
          </a:p>
          <a:p>
            <a:r>
              <a:rPr lang="en-US" sz="2400" dirty="0"/>
              <a:t>A shared clock ensures full synchronization between transmitter and receiver,</a:t>
            </a:r>
            <a:br>
              <a:rPr lang="en-US" sz="2400" dirty="0"/>
            </a:br>
            <a:r>
              <a:rPr lang="en-US" sz="2400" dirty="0"/>
              <a:t>→ making data transmission </a:t>
            </a:r>
            <a:r>
              <a:rPr lang="en-US" sz="2400" b="1" dirty="0"/>
              <a:t>more stable and less distorted</a:t>
            </a:r>
            <a:r>
              <a:rPr lang="en-US" sz="2400" dirty="0"/>
              <a:t>, even at high speeds.</a:t>
            </a:r>
          </a:p>
          <a:p>
            <a:r>
              <a:rPr lang="en-US" sz="2400" dirty="0"/>
              <a:t>Some protocols (like CAN or I²C) include </a:t>
            </a:r>
            <a:r>
              <a:rPr lang="en-US" sz="2400" b="1" dirty="0"/>
              <a:t>error-checking mechanisms</a:t>
            </a:r>
            <a:r>
              <a:rPr lang="en-US" sz="2400" dirty="0"/>
              <a:t> such as CRC, ACK bits, or parity checks.</a:t>
            </a:r>
          </a:p>
          <a:p>
            <a:r>
              <a:rPr lang="en-US" sz="2400" dirty="0"/>
              <a:t>🔸 </a:t>
            </a:r>
            <a:r>
              <a:rPr lang="en-US" sz="2400" b="1" dirty="0"/>
              <a:t>Example:</a:t>
            </a:r>
            <a:r>
              <a:rPr lang="en-US" sz="2400" dirty="0"/>
              <a:t> The CAN protocol can automatically detect and correct corrupted data frames.</a:t>
            </a:r>
          </a:p>
          <a:p>
            <a:endParaRPr lang="en-US" sz="2400" dirty="0"/>
          </a:p>
          <a:p>
            <a:pPr>
              <a:buNone/>
            </a:pPr>
            <a:endParaRPr lang="en-US" sz="2400" dirty="0"/>
          </a:p>
        </p:txBody>
      </p:sp>
    </p:spTree>
    <p:extLst>
      <p:ext uri="{BB962C8B-B14F-4D97-AF65-F5344CB8AC3E}">
        <p14:creationId xmlns:p14="http://schemas.microsoft.com/office/powerpoint/2010/main" val="16057192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82519-DCB5-0D6B-AD8F-6B7484811E9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69D7617-5072-BD5B-ABBB-0AF1E0FA8EE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6428FBAD-2F7A-B862-7E85-63611B3A696F}"/>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E000CE4F-EC06-286C-3582-63FE50B71D9C}"/>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2282EA3F-4A03-AF84-438D-29630FFDB138}"/>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31050C4-3760-1928-8A33-C110FC53DF54}"/>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Advantages of Synchronous Transmission?</a:t>
            </a:r>
          </a:p>
        </p:txBody>
      </p:sp>
      <p:sp>
        <p:nvSpPr>
          <p:cNvPr id="6" name="TextBox 5">
            <a:extLst>
              <a:ext uri="{FF2B5EF4-FFF2-40B4-BE49-F238E27FC236}">
                <a16:creationId xmlns:a16="http://schemas.microsoft.com/office/drawing/2014/main" id="{20DB3F21-0AD1-A9A2-2F67-DB0BDDE2AAAD}"/>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8ABEC3A4-A7CC-174D-1540-068D95C7E12A}"/>
              </a:ext>
            </a:extLst>
          </p:cNvPr>
          <p:cNvSpPr txBox="1"/>
          <p:nvPr/>
        </p:nvSpPr>
        <p:spPr>
          <a:xfrm>
            <a:off x="228600" y="2131798"/>
            <a:ext cx="17373600" cy="7848302"/>
          </a:xfrm>
          <a:prstGeom prst="rect">
            <a:avLst/>
          </a:prstGeom>
          <a:noFill/>
        </p:spPr>
        <p:txBody>
          <a:bodyPr wrap="square">
            <a:spAutoFit/>
          </a:bodyPr>
          <a:lstStyle/>
          <a:p>
            <a:r>
              <a:rPr lang="en-US" sz="2400" b="1" dirty="0"/>
              <a:t>🧩 4️⃣ Full/Half Duplex Capability</a:t>
            </a:r>
          </a:p>
          <a:p>
            <a:r>
              <a:rPr lang="en-US" sz="2400" dirty="0"/>
              <a:t>Some synchronous protocols like SPI allow </a:t>
            </a:r>
            <a:r>
              <a:rPr lang="en-US" sz="2400" b="1" dirty="0"/>
              <a:t>simultaneous transmission and reception</a:t>
            </a:r>
            <a:r>
              <a:rPr lang="en-US" sz="2400" dirty="0"/>
              <a:t> (full-duplex).</a:t>
            </a:r>
          </a:p>
          <a:p>
            <a:r>
              <a:rPr lang="en-US" sz="2400" dirty="0"/>
              <a:t>This increases the </a:t>
            </a:r>
            <a:r>
              <a:rPr lang="en-US" sz="2400" b="1" dirty="0"/>
              <a:t>effective bandwidth</a:t>
            </a:r>
            <a:r>
              <a:rPr lang="en-US" sz="2400" dirty="0"/>
              <a:t> and reduces </a:t>
            </a:r>
            <a:r>
              <a:rPr lang="en-US" sz="2400" b="1" dirty="0"/>
              <a:t>latency</a:t>
            </a:r>
            <a:r>
              <a:rPr lang="en-US" sz="2400" dirty="0"/>
              <a:t> during two-way data exchange.</a:t>
            </a:r>
          </a:p>
          <a:p>
            <a:endParaRPr lang="en-US" sz="2400" dirty="0"/>
          </a:p>
          <a:p>
            <a:r>
              <a:rPr lang="en-US" sz="2400" b="1" dirty="0"/>
              <a:t>🧩 5️⃣ Multi-Device Support</a:t>
            </a:r>
          </a:p>
          <a:p>
            <a:r>
              <a:rPr lang="en-US" sz="2400" dirty="0"/>
              <a:t>Many synchronous protocols support connecting multiple devices on the same bus:</a:t>
            </a:r>
          </a:p>
          <a:p>
            <a:r>
              <a:rPr lang="en-US" sz="2400" b="1" dirty="0"/>
              <a:t>I²C:</a:t>
            </a:r>
            <a:r>
              <a:rPr lang="en-US" sz="2400" dirty="0"/>
              <a:t> Uses unique device addresses.</a:t>
            </a:r>
          </a:p>
          <a:p>
            <a:r>
              <a:rPr lang="en-US" sz="2400" b="1" dirty="0"/>
              <a:t>CAN:</a:t>
            </a:r>
            <a:r>
              <a:rPr lang="en-US" sz="2400" dirty="0"/>
              <a:t> Allows multiple nodes sharing one bus with automatic message prioritization.</a:t>
            </a:r>
          </a:p>
          <a:p>
            <a:r>
              <a:rPr lang="en-US" sz="2400" dirty="0"/>
              <a:t>🔸 This is very useful in embedded systems with </a:t>
            </a:r>
            <a:r>
              <a:rPr lang="en-US" sz="2400" b="1" dirty="0"/>
              <a:t>multiple sensors or peripheral modules</a:t>
            </a:r>
            <a:r>
              <a:rPr lang="en-US" sz="2400" dirty="0"/>
              <a:t>.</a:t>
            </a:r>
            <a:br>
              <a:rPr lang="en-US" sz="2400" dirty="0"/>
            </a:br>
            <a:endParaRPr lang="en-US" sz="2400" dirty="0"/>
          </a:p>
          <a:p>
            <a:r>
              <a:rPr lang="en-US" sz="2400" b="1" dirty="0"/>
              <a:t>🧩 6️⃣ Low CPU Overhead</a:t>
            </a:r>
          </a:p>
          <a:p>
            <a:r>
              <a:rPr lang="en-US" sz="2400" dirty="0"/>
              <a:t>Because synchronization is handled by hardware (clock line),</a:t>
            </a:r>
            <a:br>
              <a:rPr lang="en-US" sz="2400" dirty="0"/>
            </a:br>
            <a:r>
              <a:rPr lang="en-US" sz="2400" dirty="0"/>
              <a:t>the </a:t>
            </a:r>
            <a:r>
              <a:rPr lang="en-US" sz="2400" b="1" dirty="0"/>
              <a:t>hardware peripheral</a:t>
            </a:r>
            <a:r>
              <a:rPr lang="en-US" sz="2400" dirty="0"/>
              <a:t> manages data transmission/reception automatically.</a:t>
            </a:r>
          </a:p>
          <a:p>
            <a:r>
              <a:rPr lang="en-US" sz="2400" dirty="0"/>
              <a:t>The CPU only needs to read or write data when necessary → </a:t>
            </a:r>
            <a:r>
              <a:rPr lang="en-US" sz="2400" b="1" dirty="0"/>
              <a:t>reducing processing load</a:t>
            </a:r>
            <a:r>
              <a:rPr lang="en-US" sz="2400" dirty="0"/>
              <a:t> and allowing it to run other tasks in parallel.</a:t>
            </a:r>
            <a:br>
              <a:rPr lang="en-US" sz="2400" dirty="0"/>
            </a:br>
            <a:endParaRPr lang="en-US" sz="2400" dirty="0"/>
          </a:p>
          <a:p>
            <a:r>
              <a:rPr lang="en-US" sz="2400" b="1" dirty="0"/>
              <a:t>🧩 7️⃣ Flexible in Distance and Application</a:t>
            </a:r>
          </a:p>
          <a:p>
            <a:r>
              <a:rPr lang="en-US" sz="2400" dirty="0"/>
              <a:t>Different synchronous protocols are optimized for various purposes:</a:t>
            </a:r>
          </a:p>
          <a:p>
            <a:r>
              <a:rPr lang="en-US" sz="2400" b="1" dirty="0"/>
              <a:t>SPI/I²C:</a:t>
            </a:r>
            <a:r>
              <a:rPr lang="en-US" sz="2400" dirty="0"/>
              <a:t> Short-distance, high-speed communication (on PCB).</a:t>
            </a:r>
          </a:p>
          <a:p>
            <a:r>
              <a:rPr lang="en-US" sz="2400" b="1" dirty="0"/>
              <a:t>CAN/LIN:</a:t>
            </a:r>
            <a:r>
              <a:rPr lang="en-US" sz="2400" dirty="0"/>
              <a:t> Long-distance, multi-node, noise-resistant communication.</a:t>
            </a:r>
          </a:p>
          <a:p>
            <a:r>
              <a:rPr lang="en-US" sz="2400" b="1" dirty="0"/>
              <a:t>Ethernet/USB:</a:t>
            </a:r>
            <a:r>
              <a:rPr lang="en-US" sz="2400" dirty="0"/>
              <a:t> Very high-speed, large data transfer.</a:t>
            </a:r>
          </a:p>
          <a:p>
            <a:r>
              <a:rPr lang="en-US" sz="2400" dirty="0"/>
              <a:t>🔸 This allows engineers to </a:t>
            </a:r>
            <a:r>
              <a:rPr lang="en-US" sz="2400" b="1" dirty="0"/>
              <a:t>choose the most suitable protocol</a:t>
            </a:r>
            <a:r>
              <a:rPr lang="en-US" sz="2400" dirty="0"/>
              <a:t> for each embedded application.</a:t>
            </a:r>
          </a:p>
        </p:txBody>
      </p:sp>
    </p:spTree>
    <p:extLst>
      <p:ext uri="{BB962C8B-B14F-4D97-AF65-F5344CB8AC3E}">
        <p14:creationId xmlns:p14="http://schemas.microsoft.com/office/powerpoint/2010/main" val="28513909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97AF9-39FE-9D37-6E3D-02026267AE2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22A2854-0F94-5328-794D-8532D599C8A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3307DAA4-745D-DEA4-91AB-133974281E33}"/>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7964DB02-B61B-B7B8-AADD-2F461DEBC14F}"/>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BD2B18E2-602C-4ECF-F960-68F0C609EC7A}"/>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AD39EC16-79DB-CBF5-0F89-41E0D77E25EB}"/>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Advantages of Synchronous Transmission?</a:t>
            </a:r>
          </a:p>
        </p:txBody>
      </p:sp>
      <p:sp>
        <p:nvSpPr>
          <p:cNvPr id="6" name="TextBox 5">
            <a:extLst>
              <a:ext uri="{FF2B5EF4-FFF2-40B4-BE49-F238E27FC236}">
                <a16:creationId xmlns:a16="http://schemas.microsoft.com/office/drawing/2014/main" id="{7190289C-EBBF-81CC-21A2-24AC0C7EF735}"/>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18" name="Picture 17">
            <a:extLst>
              <a:ext uri="{FF2B5EF4-FFF2-40B4-BE49-F238E27FC236}">
                <a16:creationId xmlns:a16="http://schemas.microsoft.com/office/drawing/2014/main" id="{075D6F80-81D8-E41F-02E4-FB7B0B1DD371}"/>
              </a:ext>
            </a:extLst>
          </p:cNvPr>
          <p:cNvPicPr>
            <a:picLocks noChangeAspect="1"/>
          </p:cNvPicPr>
          <p:nvPr/>
        </p:nvPicPr>
        <p:blipFill>
          <a:blip r:embed="rId3"/>
          <a:stretch>
            <a:fillRect/>
          </a:stretch>
        </p:blipFill>
        <p:spPr>
          <a:xfrm>
            <a:off x="914400" y="2211937"/>
            <a:ext cx="16459200" cy="7629642"/>
          </a:xfrm>
          <a:prstGeom prst="rect">
            <a:avLst/>
          </a:prstGeom>
        </p:spPr>
      </p:pic>
    </p:spTree>
    <p:extLst>
      <p:ext uri="{BB962C8B-B14F-4D97-AF65-F5344CB8AC3E}">
        <p14:creationId xmlns:p14="http://schemas.microsoft.com/office/powerpoint/2010/main" val="8292008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8F762-8BBB-940B-3F9A-DB46AC2EC3E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D4BD936-04C4-AB52-E312-0297574428A3}"/>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356B777D-034C-45C4-31B6-39BC981B568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BB5608B6-A386-EAA2-8912-A9A0F791A818}"/>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79F989B3-5207-483C-06E3-6D2D7C37652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3AB568AD-6B6A-894B-77C7-6C9C053F1B60}"/>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Disadvantages of Synchronous Transmission?</a:t>
            </a:r>
          </a:p>
        </p:txBody>
      </p:sp>
      <p:sp>
        <p:nvSpPr>
          <p:cNvPr id="6" name="TextBox 5">
            <a:extLst>
              <a:ext uri="{FF2B5EF4-FFF2-40B4-BE49-F238E27FC236}">
                <a16:creationId xmlns:a16="http://schemas.microsoft.com/office/drawing/2014/main" id="{1E104740-D450-8326-4633-12EB3DA5C269}"/>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255332DA-3C7C-8A7D-DF94-0D3994D844C7}"/>
              </a:ext>
            </a:extLst>
          </p:cNvPr>
          <p:cNvSpPr txBox="1"/>
          <p:nvPr/>
        </p:nvSpPr>
        <p:spPr>
          <a:xfrm>
            <a:off x="257014" y="2435185"/>
            <a:ext cx="17373600" cy="5632311"/>
          </a:xfrm>
          <a:prstGeom prst="rect">
            <a:avLst/>
          </a:prstGeom>
          <a:noFill/>
        </p:spPr>
        <p:txBody>
          <a:bodyPr wrap="square">
            <a:spAutoFit/>
          </a:bodyPr>
          <a:lstStyle/>
          <a:p>
            <a:r>
              <a:rPr lang="en-US" sz="2400" b="1" dirty="0"/>
              <a:t>🔹 1️⃣ Requires More Signal Wires (Due to Clock Line)</a:t>
            </a:r>
          </a:p>
          <a:p>
            <a:r>
              <a:rPr lang="en-US" sz="2400" dirty="0"/>
              <a:t>Because a clock signal (SCK/SCL) must be transmitted along with data lines, synchronous protocols require </a:t>
            </a:r>
            <a:r>
              <a:rPr lang="en-US" sz="2400" b="1" dirty="0"/>
              <a:t>more wiring</a:t>
            </a:r>
            <a:r>
              <a:rPr lang="en-US" sz="2400" dirty="0"/>
              <a:t> compared to asynchronous protocols (which only need TX/RX).</a:t>
            </a:r>
          </a:p>
          <a:p>
            <a:r>
              <a:rPr lang="en-US" sz="2400" dirty="0"/>
              <a:t>As the number of devices increases, wiring becomes more complex — especially for SPI, where each slave needs a dedicated SS (Slave Select) line.</a:t>
            </a:r>
          </a:p>
          <a:p>
            <a:r>
              <a:rPr lang="en-US" sz="2400" dirty="0"/>
              <a:t>🔸 </a:t>
            </a:r>
            <a:r>
              <a:rPr lang="en-US" sz="2400" b="1" dirty="0"/>
              <a:t>Example:</a:t>
            </a:r>
            <a:br>
              <a:rPr lang="en-US" sz="2400" dirty="0"/>
            </a:br>
            <a:r>
              <a:rPr lang="en-US" sz="2400" dirty="0"/>
              <a:t>An SPI bus with 3 slaves requires at least 3 SS lines + 3 common lines (MOSI, MISO, SCK) = </a:t>
            </a:r>
            <a:r>
              <a:rPr lang="en-US" sz="2400" b="1" dirty="0"/>
              <a:t>6 wires</a:t>
            </a:r>
            <a:r>
              <a:rPr lang="en-US" sz="2400" dirty="0"/>
              <a:t> total.</a:t>
            </a:r>
          </a:p>
          <a:p>
            <a:br>
              <a:rPr lang="en-US" sz="2400" dirty="0"/>
            </a:br>
            <a:endParaRPr lang="en-US" sz="2400" dirty="0"/>
          </a:p>
          <a:p>
            <a:r>
              <a:rPr lang="en-US" sz="2400" b="1" dirty="0"/>
              <a:t>🔹 2️⃣ Short Transmission Distance</a:t>
            </a:r>
          </a:p>
          <a:p>
            <a:r>
              <a:rPr lang="en-US" sz="2400" dirty="0"/>
              <a:t>Since the clock and data signals must remain synchronized in phase and timing, </a:t>
            </a:r>
            <a:r>
              <a:rPr lang="en-US" sz="2400" b="1" dirty="0"/>
              <a:t>long cables</a:t>
            </a:r>
            <a:r>
              <a:rPr lang="en-US" sz="2400" dirty="0"/>
              <a:t> can easily cause </a:t>
            </a:r>
            <a:r>
              <a:rPr lang="en-US" sz="2400" b="1" dirty="0"/>
              <a:t>noise and clock skew</a:t>
            </a:r>
            <a:r>
              <a:rPr lang="en-US" sz="2400" dirty="0"/>
              <a:t>, leading to bit errors.</a:t>
            </a:r>
          </a:p>
          <a:p>
            <a:r>
              <a:rPr lang="en-US" sz="2400" dirty="0"/>
              <a:t>Thus, synchronous communication is more suitable for </a:t>
            </a:r>
            <a:r>
              <a:rPr lang="en-US" sz="2400" b="1" dirty="0"/>
              <a:t>on-board</a:t>
            </a:r>
            <a:r>
              <a:rPr lang="en-US" sz="2400" dirty="0"/>
              <a:t> transmission rather than long-distance links.</a:t>
            </a:r>
          </a:p>
          <a:p>
            <a:r>
              <a:rPr lang="en-US" sz="2400" dirty="0"/>
              <a:t>🔸 </a:t>
            </a:r>
            <a:r>
              <a:rPr lang="en-US" sz="2400" b="1" dirty="0"/>
              <a:t>Example:</a:t>
            </a:r>
            <a:br>
              <a:rPr lang="en-US" sz="2400" dirty="0"/>
            </a:br>
            <a:r>
              <a:rPr lang="en-US" sz="2400" dirty="0"/>
              <a:t>SPI is typically stable only for distances </a:t>
            </a:r>
            <a:r>
              <a:rPr lang="en-US" sz="2400" b="1" dirty="0"/>
              <a:t>under 30 cm</a:t>
            </a:r>
            <a:r>
              <a:rPr lang="en-US" sz="2400" dirty="0"/>
              <a:t>, unless buffering or shielding circuits are used.</a:t>
            </a:r>
          </a:p>
        </p:txBody>
      </p:sp>
    </p:spTree>
    <p:extLst>
      <p:ext uri="{BB962C8B-B14F-4D97-AF65-F5344CB8AC3E}">
        <p14:creationId xmlns:p14="http://schemas.microsoft.com/office/powerpoint/2010/main" val="34506978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5D95A-5DD6-600F-E3F2-9A1C89A6359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695FBC8-76FB-AFB3-4F27-C9D5462A87B6}"/>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E64CE57B-9356-5E65-B88E-5B7A0476228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F0C80E07-B7D4-AF39-7FBA-A6345007AAA0}"/>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3A595CFE-A7D6-0116-C05A-1325623404A9}"/>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6B816153-8312-3C6F-76F6-E1AF278848B8}"/>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Disadvantages of Synchronous Transmission?</a:t>
            </a:r>
          </a:p>
        </p:txBody>
      </p:sp>
      <p:sp>
        <p:nvSpPr>
          <p:cNvPr id="6" name="TextBox 5">
            <a:extLst>
              <a:ext uri="{FF2B5EF4-FFF2-40B4-BE49-F238E27FC236}">
                <a16:creationId xmlns:a16="http://schemas.microsoft.com/office/drawing/2014/main" id="{96671B47-EA01-7AE0-66EA-C717BB1DFAA8}"/>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75D15AED-D78E-FA29-F425-58DF69638D5B}"/>
              </a:ext>
            </a:extLst>
          </p:cNvPr>
          <p:cNvSpPr txBox="1"/>
          <p:nvPr/>
        </p:nvSpPr>
        <p:spPr>
          <a:xfrm>
            <a:off x="257014" y="2435185"/>
            <a:ext cx="17373600" cy="6370975"/>
          </a:xfrm>
          <a:prstGeom prst="rect">
            <a:avLst/>
          </a:prstGeom>
          <a:noFill/>
        </p:spPr>
        <p:txBody>
          <a:bodyPr wrap="square">
            <a:spAutoFit/>
          </a:bodyPr>
          <a:lstStyle/>
          <a:p>
            <a:r>
              <a:rPr lang="en-US" sz="2400" b="1" dirty="0"/>
              <a:t>🔹 3️⃣ Limited Scalability</a:t>
            </a:r>
          </a:p>
          <a:p>
            <a:r>
              <a:rPr lang="en-US" sz="2400" dirty="0"/>
              <a:t>Some synchronous protocols have inherent limits on how many devices can be connected:</a:t>
            </a:r>
          </a:p>
          <a:p>
            <a:r>
              <a:rPr lang="en-US" sz="2400" b="1" dirty="0"/>
              <a:t>SPI:</a:t>
            </a:r>
            <a:r>
              <a:rPr lang="en-US" sz="2400" dirty="0"/>
              <a:t> Each slave requires a dedicated CS (Chip Select) pin → limited by the number of GPIO pins on the microcontroller.</a:t>
            </a:r>
          </a:p>
          <a:p>
            <a:r>
              <a:rPr lang="en-US" sz="2400" b="1" dirty="0"/>
              <a:t>I²C:</a:t>
            </a:r>
            <a:r>
              <a:rPr lang="en-US" sz="2400" dirty="0"/>
              <a:t> Device addresses are 7 or 10 bits → limiting the maximum number of addressable devices.</a:t>
            </a:r>
          </a:p>
          <a:p>
            <a:br>
              <a:rPr lang="en-US" sz="2400" dirty="0"/>
            </a:br>
            <a:endParaRPr lang="en-US" sz="2400" dirty="0"/>
          </a:p>
          <a:p>
            <a:r>
              <a:rPr lang="en-US" sz="2400" b="1" dirty="0"/>
              <a:t>🔹 4️⃣ More Complex Hardware Design</a:t>
            </a:r>
          </a:p>
          <a:p>
            <a:r>
              <a:rPr lang="en-US" sz="2400" dirty="0"/>
              <a:t>Because both clock and data must remain synchronized, PCB layout and wiring must be carefully designed to maintain proper timing.</a:t>
            </a:r>
          </a:p>
          <a:p>
            <a:r>
              <a:rPr lang="en-US" sz="2400" dirty="0"/>
              <a:t>At high speeds (e.g., SPI at tens of MHz), even a few centimeters of trace length difference can cause </a:t>
            </a:r>
            <a:r>
              <a:rPr lang="en-US" sz="2400" b="1" dirty="0"/>
              <a:t>phase delay</a:t>
            </a:r>
            <a:r>
              <a:rPr lang="en-US" sz="2400" dirty="0"/>
              <a:t> and transmission errors.</a:t>
            </a:r>
          </a:p>
          <a:p>
            <a:endParaRPr lang="en-US" sz="2400" dirty="0"/>
          </a:p>
          <a:p>
            <a:r>
              <a:rPr lang="en-US" sz="2400" b="1" dirty="0"/>
              <a:t>🔹 5️⃣ Higher Power Consumption</a:t>
            </a:r>
          </a:p>
          <a:p>
            <a:r>
              <a:rPr lang="en-US" sz="2400" dirty="0"/>
              <a:t>The presence of a continuous clock signal increases </a:t>
            </a:r>
            <a:r>
              <a:rPr lang="en-US" sz="2400" b="1" dirty="0"/>
              <a:t>switching activity</a:t>
            </a:r>
            <a:r>
              <a:rPr lang="en-US" sz="2400" dirty="0"/>
              <a:t>, leading to higher power usage compared to asynchronous protocols.</a:t>
            </a:r>
          </a:p>
          <a:p>
            <a:r>
              <a:rPr lang="en-US" sz="2400" dirty="0"/>
              <a:t>🔸 </a:t>
            </a:r>
            <a:r>
              <a:rPr lang="en-US" sz="2400" b="1" dirty="0"/>
              <a:t>Example:</a:t>
            </a:r>
            <a:br>
              <a:rPr lang="en-US" sz="2400" dirty="0"/>
            </a:br>
            <a:r>
              <a:rPr lang="en-US" sz="2400" dirty="0"/>
              <a:t>In battery-powered sensor systems, continuously active I²C or SPI buses consume </a:t>
            </a:r>
            <a:r>
              <a:rPr lang="en-US" sz="2400" b="1" dirty="0"/>
              <a:t>more energy</a:t>
            </a:r>
            <a:r>
              <a:rPr lang="en-US" sz="2400" dirty="0"/>
              <a:t> than UART (which transmits only when needed).</a:t>
            </a:r>
          </a:p>
          <a:p>
            <a:endParaRPr lang="en-US" sz="2400" dirty="0"/>
          </a:p>
        </p:txBody>
      </p:sp>
    </p:spTree>
    <p:extLst>
      <p:ext uri="{BB962C8B-B14F-4D97-AF65-F5344CB8AC3E}">
        <p14:creationId xmlns:p14="http://schemas.microsoft.com/office/powerpoint/2010/main" val="39407879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51F6E-C294-5D18-1A95-452C0561257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55623BA-3CD1-DB57-7EFD-7C8EDA6A20FA}"/>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507E479E-1DF9-FB3C-FECB-991809764577}"/>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C766DAC6-4960-5610-6181-F30178295ECC}"/>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DAD2F6E-99E2-71C7-63AF-07D6C283B495}"/>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2D361AF5-DD95-A5EF-2CE0-657334495512}"/>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Disadvantages of Synchronous Transmission?</a:t>
            </a:r>
          </a:p>
        </p:txBody>
      </p:sp>
      <p:sp>
        <p:nvSpPr>
          <p:cNvPr id="6" name="TextBox 5">
            <a:extLst>
              <a:ext uri="{FF2B5EF4-FFF2-40B4-BE49-F238E27FC236}">
                <a16:creationId xmlns:a16="http://schemas.microsoft.com/office/drawing/2014/main" id="{AB84F824-36CA-D966-6941-25F1FC961A3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1712A103-A9BC-A4CE-D7D2-1A43C78ACA9D}"/>
              </a:ext>
            </a:extLst>
          </p:cNvPr>
          <p:cNvSpPr txBox="1"/>
          <p:nvPr/>
        </p:nvSpPr>
        <p:spPr>
          <a:xfrm>
            <a:off x="257014" y="2435185"/>
            <a:ext cx="17373600" cy="4524315"/>
          </a:xfrm>
          <a:prstGeom prst="rect">
            <a:avLst/>
          </a:prstGeom>
          <a:noFill/>
        </p:spPr>
        <p:txBody>
          <a:bodyPr wrap="square">
            <a:spAutoFit/>
          </a:bodyPr>
          <a:lstStyle/>
          <a:p>
            <a:r>
              <a:rPr lang="en-US" sz="2400" b="1" dirty="0"/>
              <a:t>🔹 6️⃣ Requires a Stable Common Clock</a:t>
            </a:r>
          </a:p>
          <a:p>
            <a:r>
              <a:rPr lang="en-US" sz="2400" dirty="0"/>
              <a:t>The system must ensure that the clock signal remains </a:t>
            </a:r>
            <a:r>
              <a:rPr lang="en-US" sz="2400" b="1" dirty="0"/>
              <a:t>clean and stable</a:t>
            </a:r>
            <a:r>
              <a:rPr lang="en-US" sz="2400" dirty="0"/>
              <a:t>.</a:t>
            </a:r>
          </a:p>
          <a:p>
            <a:r>
              <a:rPr lang="en-US" sz="2400" dirty="0"/>
              <a:t>If the clock becomes distorted or unstable in frequency or amplitude → the entire data transmission fails.</a:t>
            </a:r>
          </a:p>
          <a:p>
            <a:r>
              <a:rPr lang="en-US" sz="2400" dirty="0"/>
              <a:t>This is a common issue in systems with </a:t>
            </a:r>
            <a:r>
              <a:rPr lang="en-US" sz="2400" b="1" dirty="0"/>
              <a:t>multiple interconnected modules</a:t>
            </a:r>
            <a:r>
              <a:rPr lang="en-US" sz="2400" dirty="0"/>
              <a:t>, where clock noise can be problematic.</a:t>
            </a:r>
          </a:p>
          <a:p>
            <a:br>
              <a:rPr lang="en-US" sz="2400" dirty="0"/>
            </a:br>
            <a:endParaRPr lang="en-US" sz="2400" dirty="0"/>
          </a:p>
          <a:p>
            <a:r>
              <a:rPr lang="en-US" sz="2400" b="1" dirty="0"/>
              <a:t>🔹 7️⃣ Complex Implementation and Debugging</a:t>
            </a:r>
          </a:p>
          <a:p>
            <a:r>
              <a:rPr lang="en-US" sz="2400" dirty="0"/>
              <a:t>Some advanced synchronous protocols (I²C, CAN, USB, Ethernet) have </a:t>
            </a:r>
            <a:r>
              <a:rPr lang="en-US" sz="2400" b="1" dirty="0"/>
              <a:t>complex frame structures</a:t>
            </a:r>
            <a:r>
              <a:rPr lang="en-US" sz="2400" dirty="0"/>
              <a:t>, including start conditions, addressing, error checking, ACK/NACK, and stop sequences.</a:t>
            </a:r>
          </a:p>
          <a:p>
            <a:r>
              <a:rPr lang="en-US" sz="2400" dirty="0"/>
              <a:t>This makes programming and debugging more challenging.</a:t>
            </a:r>
          </a:p>
          <a:p>
            <a:r>
              <a:rPr lang="en-US" sz="2400" dirty="0"/>
              <a:t>🔸 </a:t>
            </a:r>
            <a:r>
              <a:rPr lang="en-US" sz="2400" b="1" dirty="0"/>
              <a:t>Example:</a:t>
            </a:r>
            <a:br>
              <a:rPr lang="en-US" sz="2400" dirty="0"/>
            </a:br>
            <a:r>
              <a:rPr lang="en-US" sz="2400" dirty="0"/>
              <a:t>Implementing CAN requires understanding </a:t>
            </a:r>
            <a:r>
              <a:rPr lang="en-US" sz="2400" b="1" dirty="0"/>
              <a:t>bit stuffing, arbitration, and CRC fields</a:t>
            </a:r>
            <a:r>
              <a:rPr lang="en-US" sz="2400" dirty="0"/>
              <a:t>, which can be quite complicated for beginners.</a:t>
            </a:r>
          </a:p>
        </p:txBody>
      </p:sp>
    </p:spTree>
    <p:extLst>
      <p:ext uri="{BB962C8B-B14F-4D97-AF65-F5344CB8AC3E}">
        <p14:creationId xmlns:p14="http://schemas.microsoft.com/office/powerpoint/2010/main" val="37566807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2B07E-0BA4-83DC-2454-1029153B231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A654BD9-438E-590B-472F-46279FBB53E7}"/>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247B3A58-30D6-5D68-3B0A-A5D035B2FD9B}"/>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CA52D752-8FEB-A45B-EFC4-ECD20C8B9CA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47F18D7-97EE-E929-8649-1CB03D80BF1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3E0E4EAD-7BC4-2CDA-E9EB-8B6E1CB50E01}"/>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Summary of Synchronous Transmission?</a:t>
            </a:r>
          </a:p>
        </p:txBody>
      </p:sp>
      <p:sp>
        <p:nvSpPr>
          <p:cNvPr id="6" name="TextBox 5">
            <a:extLst>
              <a:ext uri="{FF2B5EF4-FFF2-40B4-BE49-F238E27FC236}">
                <a16:creationId xmlns:a16="http://schemas.microsoft.com/office/drawing/2014/main" id="{A3E96A6A-05BD-B0DE-110F-201BE4E42975}"/>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8" name="Picture 7">
            <a:extLst>
              <a:ext uri="{FF2B5EF4-FFF2-40B4-BE49-F238E27FC236}">
                <a16:creationId xmlns:a16="http://schemas.microsoft.com/office/drawing/2014/main" id="{0070171A-899F-61C3-1839-8743C37AF02B}"/>
              </a:ext>
            </a:extLst>
          </p:cNvPr>
          <p:cNvPicPr>
            <a:picLocks noChangeAspect="1"/>
          </p:cNvPicPr>
          <p:nvPr/>
        </p:nvPicPr>
        <p:blipFill>
          <a:blip r:embed="rId3"/>
          <a:stretch>
            <a:fillRect/>
          </a:stretch>
        </p:blipFill>
        <p:spPr>
          <a:xfrm>
            <a:off x="1848271" y="2247900"/>
            <a:ext cx="14935200" cy="7391457"/>
          </a:xfrm>
          <a:prstGeom prst="rect">
            <a:avLst/>
          </a:prstGeom>
        </p:spPr>
      </p:pic>
    </p:spTree>
    <p:extLst>
      <p:ext uri="{BB962C8B-B14F-4D97-AF65-F5344CB8AC3E}">
        <p14:creationId xmlns:p14="http://schemas.microsoft.com/office/powerpoint/2010/main" val="10198565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804CD-801A-0AC1-65F5-8A5BFD3B5ED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81194D3-E9FA-2C1F-AC2F-071A9F0A5797}"/>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4243BBE9-3159-F11D-1C9E-FBBE1E3D98BA}"/>
              </a:ext>
            </a:extLst>
          </p:cNvPr>
          <p:cNvSpPr txBox="1"/>
          <p:nvPr/>
        </p:nvSpPr>
        <p:spPr>
          <a:xfrm>
            <a:off x="8648968" y="5736467"/>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1982CA20-12A5-5CA2-1FC3-0D1BC33273CA}"/>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E0AD8DA6-4551-D2B8-CD09-976D6B50A600}"/>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23985A05-54E4-5262-0FD5-F2D758512CCE}"/>
              </a:ext>
            </a:extLst>
          </p:cNvPr>
          <p:cNvSpPr txBox="1"/>
          <p:nvPr/>
        </p:nvSpPr>
        <p:spPr>
          <a:xfrm>
            <a:off x="228599" y="1209620"/>
            <a:ext cx="11972925"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What is Asynchronous Transmission?</a:t>
            </a:r>
          </a:p>
        </p:txBody>
      </p:sp>
      <p:sp>
        <p:nvSpPr>
          <p:cNvPr id="18" name="TextBox 17">
            <a:extLst>
              <a:ext uri="{FF2B5EF4-FFF2-40B4-BE49-F238E27FC236}">
                <a16:creationId xmlns:a16="http://schemas.microsoft.com/office/drawing/2014/main" id="{053E5863-DEC7-A7BB-ACF2-E73ECC47A8C0}"/>
              </a:ext>
            </a:extLst>
          </p:cNvPr>
          <p:cNvSpPr txBox="1"/>
          <p:nvPr/>
        </p:nvSpPr>
        <p:spPr>
          <a:xfrm>
            <a:off x="237640" y="2196424"/>
            <a:ext cx="16078200" cy="2677656"/>
          </a:xfrm>
          <a:prstGeom prst="rect">
            <a:avLst/>
          </a:prstGeom>
          <a:noFill/>
        </p:spPr>
        <p:txBody>
          <a:bodyPr wrap="square">
            <a:spAutoFit/>
          </a:bodyPr>
          <a:lstStyle/>
          <a:p>
            <a:pPr>
              <a:buNone/>
            </a:pPr>
            <a:r>
              <a:rPr lang="en-US" sz="2400" b="1" dirty="0"/>
              <a:t>🧩  Operating Principle</a:t>
            </a:r>
          </a:p>
          <a:p>
            <a:pPr>
              <a:buNone/>
            </a:pPr>
            <a:r>
              <a:rPr lang="en-US" sz="2400" dirty="0"/>
              <a:t>Because there is </a:t>
            </a:r>
            <a:r>
              <a:rPr lang="en-US" sz="2400" b="1" dirty="0"/>
              <a:t>no shared clock signal</a:t>
            </a:r>
            <a:r>
              <a:rPr lang="en-US" sz="2400" dirty="0"/>
              <a:t>, data is transmitted </a:t>
            </a:r>
            <a:r>
              <a:rPr lang="en-US" sz="2400" b="1" dirty="0"/>
              <a:t>byte by byte (or character by character)</a:t>
            </a:r>
            <a:r>
              <a:rPr lang="en-US" sz="2400" dirty="0"/>
              <a:t>.</a:t>
            </a:r>
            <a:br>
              <a:rPr lang="en-US" sz="2400" dirty="0"/>
            </a:br>
            <a:r>
              <a:rPr lang="en-US" sz="2400" dirty="0"/>
              <a:t>Each byte contains </a:t>
            </a:r>
            <a:r>
              <a:rPr lang="en-US" sz="2400" b="1" dirty="0"/>
              <a:t>special bits</a:t>
            </a:r>
            <a:r>
              <a:rPr lang="en-US" sz="2400" dirty="0"/>
              <a:t> that indicate the start and end of the transmission:</a:t>
            </a:r>
          </a:p>
          <a:p>
            <a:pPr lvl="6"/>
            <a:endParaRPr lang="en-US" sz="2400" dirty="0"/>
          </a:p>
          <a:p>
            <a:pPr lvl="6"/>
            <a:endParaRPr lang="en-US" sz="2400" dirty="0"/>
          </a:p>
          <a:p>
            <a:pPr lvl="6"/>
            <a:endParaRPr lang="en-US" sz="2400" dirty="0"/>
          </a:p>
          <a:p>
            <a:pPr lvl="6"/>
            <a:r>
              <a:rPr lang="en-US" sz="2400" b="1" dirty="0"/>
              <a:t>         [Start bit]    [Data bits]     [Optional Parity bit]     [Stop bit(s)]</a:t>
            </a:r>
          </a:p>
        </p:txBody>
      </p:sp>
      <p:pic>
        <p:nvPicPr>
          <p:cNvPr id="20" name="Picture 19">
            <a:extLst>
              <a:ext uri="{FF2B5EF4-FFF2-40B4-BE49-F238E27FC236}">
                <a16:creationId xmlns:a16="http://schemas.microsoft.com/office/drawing/2014/main" id="{7F29FC5E-5450-B6E0-F65B-6C8A44174511}"/>
              </a:ext>
            </a:extLst>
          </p:cNvPr>
          <p:cNvPicPr>
            <a:picLocks noChangeAspect="1"/>
          </p:cNvPicPr>
          <p:nvPr/>
        </p:nvPicPr>
        <p:blipFill>
          <a:blip r:embed="rId3"/>
          <a:stretch>
            <a:fillRect/>
          </a:stretch>
        </p:blipFill>
        <p:spPr>
          <a:xfrm>
            <a:off x="925279" y="5163409"/>
            <a:ext cx="14702921" cy="1552251"/>
          </a:xfrm>
          <a:prstGeom prst="rect">
            <a:avLst/>
          </a:prstGeom>
        </p:spPr>
      </p:pic>
      <p:sp>
        <p:nvSpPr>
          <p:cNvPr id="22" name="TextBox 21">
            <a:extLst>
              <a:ext uri="{FF2B5EF4-FFF2-40B4-BE49-F238E27FC236}">
                <a16:creationId xmlns:a16="http://schemas.microsoft.com/office/drawing/2014/main" id="{7AD33877-242D-632A-E74B-12F217868EC8}"/>
              </a:ext>
            </a:extLst>
          </p:cNvPr>
          <p:cNvSpPr txBox="1"/>
          <p:nvPr/>
        </p:nvSpPr>
        <p:spPr>
          <a:xfrm>
            <a:off x="381000" y="7628911"/>
            <a:ext cx="17678400" cy="830997"/>
          </a:xfrm>
          <a:prstGeom prst="rect">
            <a:avLst/>
          </a:prstGeom>
          <a:noFill/>
        </p:spPr>
        <p:txBody>
          <a:bodyPr wrap="square">
            <a:spAutoFit/>
          </a:bodyPr>
          <a:lstStyle/>
          <a:p>
            <a:r>
              <a:rPr lang="en-US" sz="2400" dirty="0"/>
              <a:t>👉 The receiving device detects the </a:t>
            </a:r>
            <a:r>
              <a:rPr lang="en-US" sz="2400" b="1" dirty="0"/>
              <a:t>Start bit (logic 0)</a:t>
            </a:r>
            <a:r>
              <a:rPr lang="en-US" sz="2400" dirty="0"/>
              <a:t> to recognize that </a:t>
            </a:r>
            <a:r>
              <a:rPr lang="en-US" sz="2400" i="1" dirty="0"/>
              <a:t>“a new byte is starting.”</a:t>
            </a:r>
            <a:br>
              <a:rPr lang="en-US" sz="2400" dirty="0"/>
            </a:br>
            <a:r>
              <a:rPr lang="en-US" sz="2400" dirty="0"/>
              <a:t>Then, it measures time intervals based on the </a:t>
            </a:r>
            <a:r>
              <a:rPr lang="en-US" sz="2400" b="1" dirty="0"/>
              <a:t>agreed baud rate</a:t>
            </a:r>
            <a:r>
              <a:rPr lang="en-US" sz="2400" dirty="0"/>
              <a:t> to sample and read each subsequent bit correctly.</a:t>
            </a:r>
            <a:endParaRPr lang="vi-VN" sz="2400" dirty="0"/>
          </a:p>
        </p:txBody>
      </p:sp>
    </p:spTree>
    <p:extLst>
      <p:ext uri="{BB962C8B-B14F-4D97-AF65-F5344CB8AC3E}">
        <p14:creationId xmlns:p14="http://schemas.microsoft.com/office/powerpoint/2010/main" val="34567248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AD940-3815-D708-356D-328639A8091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0BD294C-69A3-BE4D-C3C9-51670587913C}"/>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25B4BCF2-1964-F452-FD51-ABEBE2F847E7}"/>
              </a:ext>
            </a:extLst>
          </p:cNvPr>
          <p:cNvSpPr txBox="1"/>
          <p:nvPr/>
        </p:nvSpPr>
        <p:spPr>
          <a:xfrm>
            <a:off x="8648968" y="5736467"/>
            <a:ext cx="9151256" cy="406137"/>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1384738C-76EE-3EA8-AFA7-2C5EB5662E89}"/>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E0AA7609-AFB3-4F03-F5ED-35FC0EC0010A}"/>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4A33E40D-D3CD-3575-29FB-D38AA0197903}"/>
              </a:ext>
            </a:extLst>
          </p:cNvPr>
          <p:cNvSpPr txBox="1"/>
          <p:nvPr/>
        </p:nvSpPr>
        <p:spPr>
          <a:xfrm>
            <a:off x="228599" y="1209620"/>
            <a:ext cx="11972925"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What is Asynchronous Transmission?</a:t>
            </a:r>
          </a:p>
        </p:txBody>
      </p:sp>
      <p:pic>
        <p:nvPicPr>
          <p:cNvPr id="6" name="Picture 5">
            <a:extLst>
              <a:ext uri="{FF2B5EF4-FFF2-40B4-BE49-F238E27FC236}">
                <a16:creationId xmlns:a16="http://schemas.microsoft.com/office/drawing/2014/main" id="{C1992214-03F1-BB02-5D84-C18AAA6B8410}"/>
              </a:ext>
            </a:extLst>
          </p:cNvPr>
          <p:cNvPicPr>
            <a:picLocks noChangeAspect="1"/>
          </p:cNvPicPr>
          <p:nvPr/>
        </p:nvPicPr>
        <p:blipFill>
          <a:blip r:embed="rId3"/>
          <a:stretch>
            <a:fillRect/>
          </a:stretch>
        </p:blipFill>
        <p:spPr>
          <a:xfrm>
            <a:off x="685800" y="3129732"/>
            <a:ext cx="16614540" cy="5926338"/>
          </a:xfrm>
          <a:prstGeom prst="rect">
            <a:avLst/>
          </a:prstGeom>
        </p:spPr>
      </p:pic>
    </p:spTree>
    <p:extLst>
      <p:ext uri="{BB962C8B-B14F-4D97-AF65-F5344CB8AC3E}">
        <p14:creationId xmlns:p14="http://schemas.microsoft.com/office/powerpoint/2010/main" val="36305081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D7F8D-68F6-9189-4F5C-B3BA1B4E5C1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09B7B5F-8BA0-B89A-FA00-56FB88E40F5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5DC702CD-CCD7-8B71-64EC-BEC4FDE158D5}"/>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BD3F797-9C04-50AB-095E-40953F345B65}"/>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481DC5B0-B9A8-2307-EA97-4A0BE9EABF24}"/>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2457522A-77EA-B1E8-FBE7-6F14DF79571B}"/>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Properties of Asynchronous Transmission?</a:t>
            </a:r>
          </a:p>
        </p:txBody>
      </p:sp>
      <p:sp>
        <p:nvSpPr>
          <p:cNvPr id="6" name="TextBox 5">
            <a:extLst>
              <a:ext uri="{FF2B5EF4-FFF2-40B4-BE49-F238E27FC236}">
                <a16:creationId xmlns:a16="http://schemas.microsoft.com/office/drawing/2014/main" id="{132FEDF2-5767-B582-FEC6-8E576C744239}"/>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B95A87F5-E351-83F3-39DA-0DCDFD3A34A3}"/>
              </a:ext>
            </a:extLst>
          </p:cNvPr>
          <p:cNvSpPr txBox="1"/>
          <p:nvPr/>
        </p:nvSpPr>
        <p:spPr>
          <a:xfrm>
            <a:off x="236349" y="2499587"/>
            <a:ext cx="17373600" cy="5632311"/>
          </a:xfrm>
          <a:prstGeom prst="rect">
            <a:avLst/>
          </a:prstGeom>
          <a:noFill/>
        </p:spPr>
        <p:txBody>
          <a:bodyPr wrap="square">
            <a:spAutoFit/>
          </a:bodyPr>
          <a:lstStyle/>
          <a:p>
            <a:r>
              <a:rPr lang="en-US" sz="2400" b="1" dirty="0"/>
              <a:t>🧩 1️⃣ No Shared Clock</a:t>
            </a:r>
          </a:p>
          <a:p>
            <a:r>
              <a:rPr lang="en-US" sz="2400" dirty="0"/>
              <a:t>In </a:t>
            </a:r>
            <a:r>
              <a:rPr lang="en-US" sz="2400" b="1" dirty="0"/>
              <a:t>asynchronous communication</a:t>
            </a:r>
            <a:r>
              <a:rPr lang="en-US" sz="2400" dirty="0"/>
              <a:t>, the transmitter and receiver </a:t>
            </a:r>
            <a:r>
              <a:rPr lang="en-US" sz="2400" b="1" dirty="0"/>
              <a:t>do not share a common clock signal</a:t>
            </a:r>
            <a:r>
              <a:rPr lang="en-US" sz="2400" dirty="0"/>
              <a:t>.</a:t>
            </a:r>
          </a:p>
          <a:p>
            <a:r>
              <a:rPr lang="en-US" sz="2400" dirty="0"/>
              <a:t>Each device generates its </a:t>
            </a:r>
            <a:r>
              <a:rPr lang="en-US" sz="2400" b="1" dirty="0"/>
              <a:t>own internal clock</a:t>
            </a:r>
            <a:r>
              <a:rPr lang="en-US" sz="2400" dirty="0"/>
              <a:t> to send or read data bits independently.</a:t>
            </a:r>
          </a:p>
          <a:p>
            <a:r>
              <a:rPr lang="en-US" sz="2400" dirty="0"/>
              <a:t>Therefore, both sides must </a:t>
            </a:r>
            <a:r>
              <a:rPr lang="en-US" sz="2400" b="1" dirty="0"/>
              <a:t>agree on the same transmission speed (baud rate)</a:t>
            </a:r>
            <a:r>
              <a:rPr lang="en-US" sz="2400" dirty="0"/>
              <a:t> beforehand.</a:t>
            </a:r>
          </a:p>
          <a:p>
            <a:br>
              <a:rPr lang="en-US" sz="2400" dirty="0"/>
            </a:br>
            <a:endParaRPr lang="en-US" sz="2400" dirty="0"/>
          </a:p>
          <a:p>
            <a:r>
              <a:rPr lang="en-US" sz="2400" b="1" dirty="0"/>
              <a:t>Example:</a:t>
            </a:r>
          </a:p>
          <a:p>
            <a:r>
              <a:rPr lang="en-US" sz="2400" dirty="0"/>
              <a:t>If both devices are set to </a:t>
            </a:r>
            <a:r>
              <a:rPr lang="en-US" sz="2400" b="1" dirty="0"/>
              <a:t>9600 baud</a:t>
            </a:r>
            <a:r>
              <a:rPr lang="en-US" sz="2400" dirty="0"/>
              <a:t>,</a:t>
            </a:r>
            <a:br>
              <a:rPr lang="en-US" sz="2400" dirty="0"/>
            </a:br>
            <a:r>
              <a:rPr lang="en-US" sz="2400" dirty="0"/>
              <a:t>→ every </a:t>
            </a:r>
            <a:r>
              <a:rPr lang="en-US" sz="2400" b="1" dirty="0"/>
              <a:t>1/9600 second</a:t>
            </a:r>
            <a:r>
              <a:rPr lang="en-US" sz="2400" dirty="0"/>
              <a:t>, the receiver samples (reads) one data bit.</a:t>
            </a:r>
          </a:p>
          <a:p>
            <a:r>
              <a:rPr lang="en-US" sz="2400" dirty="0"/>
              <a:t>If one side uses a different baud rate (e.g., 9600 vs. 115200),</a:t>
            </a:r>
            <a:br>
              <a:rPr lang="en-US" sz="2400" dirty="0"/>
            </a:br>
            <a:r>
              <a:rPr lang="en-US" sz="2400" dirty="0"/>
              <a:t>→ the data will become </a:t>
            </a:r>
            <a:r>
              <a:rPr lang="en-US" sz="2400" b="1" dirty="0"/>
              <a:t>corrupted or unreadable</a:t>
            </a:r>
            <a:r>
              <a:rPr lang="en-US" sz="2400" dirty="0"/>
              <a:t>, resulting in </a:t>
            </a:r>
            <a:r>
              <a:rPr lang="en-US" sz="2400" b="1" dirty="0"/>
              <a:t>character errors</a:t>
            </a:r>
            <a:r>
              <a:rPr lang="en-US" sz="2400" dirty="0"/>
              <a:t>.</a:t>
            </a:r>
          </a:p>
          <a:p>
            <a:br>
              <a:rPr lang="en-US" sz="2400" dirty="0"/>
            </a:br>
            <a:endParaRPr lang="en-US" sz="2400" dirty="0"/>
          </a:p>
          <a:p>
            <a:r>
              <a:rPr lang="en-US" sz="2400" dirty="0"/>
              <a:t>📍 </a:t>
            </a:r>
            <a:r>
              <a:rPr lang="en-US" sz="2400" b="1" dirty="0"/>
              <a:t>Applications:</a:t>
            </a:r>
            <a:br>
              <a:rPr lang="en-US" sz="2400" dirty="0"/>
            </a:br>
            <a:r>
              <a:rPr lang="en-US" sz="2400" dirty="0"/>
              <a:t>Protocols such as </a:t>
            </a:r>
            <a:r>
              <a:rPr lang="en-US" sz="2400" b="1" dirty="0"/>
              <a:t>UART, RS-232, and TTL Serial (used in Arduino)</a:t>
            </a:r>
            <a:r>
              <a:rPr lang="en-US" sz="2400" dirty="0"/>
              <a:t> all operate using asynchronous communication.</a:t>
            </a:r>
          </a:p>
        </p:txBody>
      </p:sp>
    </p:spTree>
    <p:extLst>
      <p:ext uri="{BB962C8B-B14F-4D97-AF65-F5344CB8AC3E}">
        <p14:creationId xmlns:p14="http://schemas.microsoft.com/office/powerpoint/2010/main" val="9563296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43C9D-AB53-9E11-A294-B081F5C85EE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4F81180-A048-4237-325F-789898F63131}"/>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9DE21306-4BC3-A8F6-DE5D-9D3598E98DC5}"/>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501EFFF9-280E-DDF3-58C1-A66287A32DF6}"/>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A2C2183A-0654-B409-8FED-23843A306255}"/>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A5D4E065-3436-2135-A7CB-19C271CE78D3}"/>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Properties of Asynchronous Transmission?</a:t>
            </a:r>
          </a:p>
        </p:txBody>
      </p:sp>
      <p:sp>
        <p:nvSpPr>
          <p:cNvPr id="6" name="TextBox 5">
            <a:extLst>
              <a:ext uri="{FF2B5EF4-FFF2-40B4-BE49-F238E27FC236}">
                <a16:creationId xmlns:a16="http://schemas.microsoft.com/office/drawing/2014/main" id="{E6107D78-858B-8F01-ED11-1C4A6A014324}"/>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3A2E2684-AF8A-3C2B-1FF2-50E26C05C206}"/>
              </a:ext>
            </a:extLst>
          </p:cNvPr>
          <p:cNvSpPr txBox="1"/>
          <p:nvPr/>
        </p:nvSpPr>
        <p:spPr>
          <a:xfrm>
            <a:off x="236349" y="2499587"/>
            <a:ext cx="17373600" cy="4801314"/>
          </a:xfrm>
          <a:prstGeom prst="rect">
            <a:avLst/>
          </a:prstGeom>
          <a:noFill/>
        </p:spPr>
        <p:txBody>
          <a:bodyPr wrap="square">
            <a:spAutoFit/>
          </a:bodyPr>
          <a:lstStyle/>
          <a:p>
            <a:r>
              <a:rPr lang="en-US" sz="2400" b="1" dirty="0"/>
              <a:t>📦 2️⃣ Data Transmitted Character by Character</a:t>
            </a:r>
          </a:p>
          <a:p>
            <a:r>
              <a:rPr lang="en-US" sz="2400" dirty="0"/>
              <a:t>In asynchronous communication, data is </a:t>
            </a:r>
            <a:r>
              <a:rPr lang="en-US" sz="2400" b="1" dirty="0"/>
              <a:t>not transmitted continuously</a:t>
            </a:r>
            <a:r>
              <a:rPr lang="en-US" sz="2400" dirty="0"/>
              <a:t> like in synchronous protocols (e.g., SPI or I²C).</a:t>
            </a:r>
          </a:p>
          <a:p>
            <a:r>
              <a:rPr lang="en-US" sz="2400" dirty="0"/>
              <a:t>Instead, </a:t>
            </a:r>
            <a:r>
              <a:rPr lang="en-US" sz="2400" b="1" dirty="0"/>
              <a:t>each character (or byte)</a:t>
            </a:r>
            <a:r>
              <a:rPr lang="en-US" sz="2400" dirty="0"/>
              <a:t> is sent </a:t>
            </a:r>
            <a:r>
              <a:rPr lang="en-US" sz="2400" b="1" dirty="0"/>
              <a:t>individually</a:t>
            </a:r>
            <a:r>
              <a:rPr lang="en-US" sz="2400" dirty="0"/>
              <a:t> with the following structure:</a:t>
            </a:r>
          </a:p>
          <a:p>
            <a:r>
              <a:rPr lang="en-US" dirty="0"/>
              <a:t>Start bit – Data bits – (Optional Parity bit) – Stop bit(s)</a:t>
            </a:r>
          </a:p>
          <a:p>
            <a:r>
              <a:rPr lang="en-US" sz="2400" dirty="0"/>
              <a:t>After sending one character, the system may </a:t>
            </a:r>
            <a:r>
              <a:rPr lang="en-US" sz="2400" b="1" dirty="0"/>
              <a:t>pause before sending the next one</a:t>
            </a:r>
            <a:r>
              <a:rPr lang="en-US" sz="2400" dirty="0"/>
              <a:t>,</a:t>
            </a:r>
            <a:br>
              <a:rPr lang="en-US" sz="2400" dirty="0"/>
            </a:br>
            <a:r>
              <a:rPr lang="en-US" sz="2400" dirty="0"/>
              <a:t>since </a:t>
            </a:r>
            <a:r>
              <a:rPr lang="en-US" sz="2400" b="1" dirty="0"/>
              <a:t>strict time synchronization is not required</a:t>
            </a:r>
            <a:r>
              <a:rPr lang="en-US" sz="2400" dirty="0"/>
              <a:t>.</a:t>
            </a:r>
          </a:p>
          <a:p>
            <a:br>
              <a:rPr lang="en-US" sz="2400" dirty="0"/>
            </a:br>
            <a:endParaRPr lang="en-US" sz="2400" dirty="0"/>
          </a:p>
          <a:p>
            <a:r>
              <a:rPr lang="en-US" sz="2400" dirty="0"/>
              <a:t>📍 </a:t>
            </a:r>
            <a:r>
              <a:rPr lang="en-US" sz="2400" b="1" dirty="0"/>
              <a:t>Advantage:</a:t>
            </a:r>
            <a:br>
              <a:rPr lang="en-US" sz="2400" dirty="0"/>
            </a:br>
            <a:r>
              <a:rPr lang="en-US" sz="2400" dirty="0"/>
              <a:t>Flexible transmission — no need for a constant data rate, suitable for </a:t>
            </a:r>
            <a:r>
              <a:rPr lang="en-US" sz="2400" b="1" dirty="0"/>
              <a:t>intermittent or command-based communication</a:t>
            </a:r>
            <a:r>
              <a:rPr lang="en-US" sz="2400" dirty="0"/>
              <a:t> (e.g., sending AT commands, serial character transmission).</a:t>
            </a:r>
          </a:p>
          <a:p>
            <a:r>
              <a:rPr lang="en-US" sz="2400" dirty="0"/>
              <a:t>📍 </a:t>
            </a:r>
            <a:r>
              <a:rPr lang="en-US" sz="2400" b="1" dirty="0"/>
              <a:t>Disadvantage:</a:t>
            </a:r>
            <a:br>
              <a:rPr lang="en-US" sz="2400" dirty="0"/>
            </a:br>
            <a:r>
              <a:rPr lang="en-US" sz="2400" dirty="0"/>
              <a:t>There can be </a:t>
            </a:r>
            <a:r>
              <a:rPr lang="en-US" sz="2400" b="1" dirty="0"/>
              <a:t>delays between characters</a:t>
            </a:r>
            <a:r>
              <a:rPr lang="en-US" sz="2400" dirty="0"/>
              <a:t>, resulting in </a:t>
            </a:r>
            <a:r>
              <a:rPr lang="en-US" sz="2400" b="1" dirty="0"/>
              <a:t>lower overall throughput</a:t>
            </a:r>
            <a:r>
              <a:rPr lang="en-US" sz="2400" dirty="0"/>
              <a:t> compared to synchronous communication.</a:t>
            </a:r>
          </a:p>
        </p:txBody>
      </p:sp>
    </p:spTree>
    <p:extLst>
      <p:ext uri="{BB962C8B-B14F-4D97-AF65-F5344CB8AC3E}">
        <p14:creationId xmlns:p14="http://schemas.microsoft.com/office/powerpoint/2010/main" val="21328427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6070A-81F1-33EC-49EA-56E8E928E38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23A37CB-0FE6-1DCF-B628-3D87246412A3}"/>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166B7C5D-A75A-4BBD-018D-32E22013BF1A}"/>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B7008BFB-14DF-CAB7-C8E7-FDE1166CA3F7}"/>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228D4848-76FB-74C9-9A13-2480B73AF71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24A142AE-E006-6B6F-3C23-13F0ACE4A202}"/>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Properties of Asynchronous Transmission?</a:t>
            </a:r>
          </a:p>
        </p:txBody>
      </p:sp>
      <p:sp>
        <p:nvSpPr>
          <p:cNvPr id="6" name="TextBox 5">
            <a:extLst>
              <a:ext uri="{FF2B5EF4-FFF2-40B4-BE49-F238E27FC236}">
                <a16:creationId xmlns:a16="http://schemas.microsoft.com/office/drawing/2014/main" id="{36E84900-5DC9-2915-8054-A519460167C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AADC0B48-BAD7-DFE6-2620-BF0CA4182C20}"/>
              </a:ext>
            </a:extLst>
          </p:cNvPr>
          <p:cNvSpPr txBox="1"/>
          <p:nvPr/>
        </p:nvSpPr>
        <p:spPr>
          <a:xfrm>
            <a:off x="236349" y="2499587"/>
            <a:ext cx="17373600" cy="4154984"/>
          </a:xfrm>
          <a:prstGeom prst="rect">
            <a:avLst/>
          </a:prstGeom>
          <a:noFill/>
        </p:spPr>
        <p:txBody>
          <a:bodyPr wrap="square">
            <a:spAutoFit/>
          </a:bodyPr>
          <a:lstStyle/>
          <a:p>
            <a:r>
              <a:rPr lang="en-US" sz="2400" b="1" dirty="0"/>
              <a:t>⏱️ 3️⃣ Start and Stop Bits Are Required to Synchronize Each Character</a:t>
            </a:r>
          </a:p>
          <a:p>
            <a:r>
              <a:rPr lang="en-US" sz="2400" dirty="0"/>
              <a:t>Because there is </a:t>
            </a:r>
            <a:r>
              <a:rPr lang="en-US" sz="2400" b="1" dirty="0"/>
              <a:t>no shared clock</a:t>
            </a:r>
            <a:r>
              <a:rPr lang="en-US" sz="2400" dirty="0"/>
              <a:t>, the receiving device must know </a:t>
            </a:r>
            <a:r>
              <a:rPr lang="en-US" sz="2400" b="1" dirty="0"/>
              <a:t>when the data starts and ends</a:t>
            </a:r>
            <a:r>
              <a:rPr lang="en-US" sz="2400" dirty="0"/>
              <a:t>.</a:t>
            </a:r>
          </a:p>
          <a:p>
            <a:r>
              <a:rPr lang="en-US" sz="2400" dirty="0"/>
              <a:t>Therefore, each data byte contains:</a:t>
            </a:r>
          </a:p>
          <a:p>
            <a:r>
              <a:rPr lang="en-US" sz="2400" b="1" dirty="0"/>
              <a:t>Start bit (logic 0):</a:t>
            </a:r>
            <a:r>
              <a:rPr lang="en-US" sz="2400" dirty="0"/>
              <a:t> Indicates </a:t>
            </a:r>
            <a:r>
              <a:rPr lang="en-US" sz="2400" i="1" dirty="0"/>
              <a:t>“the beginning of transmission.”</a:t>
            </a:r>
            <a:endParaRPr lang="en-US" sz="2400" dirty="0"/>
          </a:p>
          <a:p>
            <a:r>
              <a:rPr lang="en-US" sz="2400" b="1" dirty="0"/>
              <a:t>Stop bit (logic 1):</a:t>
            </a:r>
            <a:r>
              <a:rPr lang="en-US" sz="2400" dirty="0"/>
              <a:t> Indicates </a:t>
            </a:r>
            <a:r>
              <a:rPr lang="en-US" sz="2400" i="1" dirty="0"/>
              <a:t>“the end of transmission.”</a:t>
            </a:r>
            <a:endParaRPr lang="en-US" sz="2400" dirty="0"/>
          </a:p>
          <a:p>
            <a:r>
              <a:rPr lang="en-US" sz="2400" dirty="0"/>
              <a:t>Thanks to these bits, the receiver can </a:t>
            </a:r>
            <a:r>
              <a:rPr lang="en-US" sz="2400" b="1" dirty="0"/>
              <a:t>align its timing</a:t>
            </a:r>
            <a:r>
              <a:rPr lang="en-US" sz="2400" dirty="0"/>
              <a:t> to correctly sample the </a:t>
            </a:r>
            <a:r>
              <a:rPr lang="en-US" sz="2400" b="1" dirty="0"/>
              <a:t>8 data bits in between</a:t>
            </a:r>
            <a:r>
              <a:rPr lang="en-US" sz="2400" dirty="0"/>
              <a:t>.</a:t>
            </a:r>
          </a:p>
          <a:p>
            <a:br>
              <a:rPr lang="en-US" sz="2400" dirty="0"/>
            </a:br>
            <a:endParaRPr lang="en-US" sz="2400" dirty="0"/>
          </a:p>
          <a:p>
            <a:r>
              <a:rPr lang="en-US" sz="2400" dirty="0"/>
              <a:t>📍 </a:t>
            </a:r>
            <a:r>
              <a:rPr lang="en-US" sz="2400" b="1" dirty="0"/>
              <a:t>Example:</a:t>
            </a:r>
            <a:br>
              <a:rPr lang="en-US" sz="2400" dirty="0"/>
            </a:br>
            <a:r>
              <a:rPr lang="en-US" sz="2400" dirty="0"/>
              <a:t>When an Arduino sends the character </a:t>
            </a:r>
            <a:r>
              <a:rPr lang="en-US" dirty="0"/>
              <a:t>'A'</a:t>
            </a:r>
            <a:r>
              <a:rPr lang="en-US" sz="2400" dirty="0"/>
              <a:t> (binary code </a:t>
            </a:r>
            <a:r>
              <a:rPr lang="en-US" dirty="0"/>
              <a:t>01000001</a:t>
            </a:r>
            <a:r>
              <a:rPr lang="en-US" sz="2400" dirty="0"/>
              <a:t>),</a:t>
            </a:r>
            <a:br>
              <a:rPr lang="en-US" sz="2400" dirty="0"/>
            </a:br>
            <a:r>
              <a:rPr lang="en-US" sz="2400" dirty="0"/>
              <a:t>the actual transmitted frame will be:</a:t>
            </a:r>
          </a:p>
        </p:txBody>
      </p:sp>
      <p:pic>
        <p:nvPicPr>
          <p:cNvPr id="8" name="Picture 7">
            <a:extLst>
              <a:ext uri="{FF2B5EF4-FFF2-40B4-BE49-F238E27FC236}">
                <a16:creationId xmlns:a16="http://schemas.microsoft.com/office/drawing/2014/main" id="{6F926690-F0E8-2752-8EE6-B1C375CBC125}"/>
              </a:ext>
            </a:extLst>
          </p:cNvPr>
          <p:cNvPicPr>
            <a:picLocks noChangeAspect="1"/>
          </p:cNvPicPr>
          <p:nvPr/>
        </p:nvPicPr>
        <p:blipFill>
          <a:blip r:embed="rId3"/>
          <a:stretch>
            <a:fillRect/>
          </a:stretch>
        </p:blipFill>
        <p:spPr>
          <a:xfrm>
            <a:off x="4336861" y="7508440"/>
            <a:ext cx="9172575" cy="1850607"/>
          </a:xfrm>
          <a:prstGeom prst="rect">
            <a:avLst/>
          </a:prstGeom>
        </p:spPr>
      </p:pic>
    </p:spTree>
    <p:extLst>
      <p:ext uri="{BB962C8B-B14F-4D97-AF65-F5344CB8AC3E}">
        <p14:creationId xmlns:p14="http://schemas.microsoft.com/office/powerpoint/2010/main" val="37920325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F94C7-2BBD-E34B-E630-50691DFA348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BB3ECB8-F3CA-D8DD-2273-42A36B05B9A1}"/>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F7DDA06C-D5EC-ECBD-F26A-D054D93438A6}"/>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A463AF2-0B8E-F560-F124-8EB5212B5020}"/>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3ED03ACB-0D9E-2E3B-358E-51616ACD7E7D}"/>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862B07FD-CF6B-3718-A319-2FF7367006A8}"/>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Properties of Asynchronous Transmission?</a:t>
            </a:r>
          </a:p>
        </p:txBody>
      </p:sp>
      <p:sp>
        <p:nvSpPr>
          <p:cNvPr id="6" name="TextBox 5">
            <a:extLst>
              <a:ext uri="{FF2B5EF4-FFF2-40B4-BE49-F238E27FC236}">
                <a16:creationId xmlns:a16="http://schemas.microsoft.com/office/drawing/2014/main" id="{F571B2DF-D4D4-AC68-849F-D15394263B8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7BA1C954-E8C2-AE20-5A9A-23F6D8042E66}"/>
              </a:ext>
            </a:extLst>
          </p:cNvPr>
          <p:cNvSpPr txBox="1"/>
          <p:nvPr/>
        </p:nvSpPr>
        <p:spPr>
          <a:xfrm>
            <a:off x="236349" y="2499587"/>
            <a:ext cx="17373600" cy="4524315"/>
          </a:xfrm>
          <a:prstGeom prst="rect">
            <a:avLst/>
          </a:prstGeom>
          <a:noFill/>
        </p:spPr>
        <p:txBody>
          <a:bodyPr wrap="square">
            <a:spAutoFit/>
          </a:bodyPr>
          <a:lstStyle/>
          <a:p>
            <a:r>
              <a:rPr lang="vi-VN" sz="2400" b="1" dirty="0"/>
              <a:t>⚡ 4️⃣ Fewer Connection Wires Required</a:t>
            </a:r>
          </a:p>
          <a:p>
            <a:r>
              <a:rPr lang="vi-VN" sz="2400" dirty="0"/>
              <a:t>An </a:t>
            </a:r>
            <a:r>
              <a:rPr lang="vi-VN" sz="2400" b="1" dirty="0"/>
              <a:t>asynchronous communication line</a:t>
            </a:r>
            <a:r>
              <a:rPr lang="vi-VN" sz="2400" dirty="0"/>
              <a:t> only requires </a:t>
            </a:r>
            <a:r>
              <a:rPr lang="vi-VN" sz="2400" b="1" dirty="0"/>
              <a:t>two main signal wires</a:t>
            </a:r>
            <a:r>
              <a:rPr lang="vi-VN" sz="2400" dirty="0"/>
              <a:t>:</a:t>
            </a:r>
          </a:p>
          <a:p>
            <a:r>
              <a:rPr lang="vi-VN" sz="2400" b="1" dirty="0"/>
              <a:t>TX (Transmit):</a:t>
            </a:r>
            <a:r>
              <a:rPr lang="vi-VN" sz="2400" dirty="0"/>
              <a:t> Sends data.</a:t>
            </a:r>
          </a:p>
          <a:p>
            <a:r>
              <a:rPr lang="vi-VN" sz="2400" b="1" dirty="0"/>
              <a:t>RX (Receive):</a:t>
            </a:r>
            <a:r>
              <a:rPr lang="vi-VN" sz="2400" dirty="0"/>
              <a:t> Receives data.</a:t>
            </a:r>
          </a:p>
          <a:p>
            <a:r>
              <a:rPr lang="vi-VN" sz="2400" dirty="0"/>
              <a:t>No clock line or complex control signals are needed.</a:t>
            </a:r>
          </a:p>
          <a:p>
            <a:br>
              <a:rPr lang="vi-VN" sz="2400" dirty="0"/>
            </a:br>
            <a:endParaRPr lang="vi-VN" sz="2400" dirty="0"/>
          </a:p>
          <a:p>
            <a:r>
              <a:rPr lang="vi-VN" sz="2400" dirty="0"/>
              <a:t>📍 </a:t>
            </a:r>
            <a:r>
              <a:rPr lang="vi-VN" sz="2400" b="1" dirty="0"/>
              <a:t>Advantages:</a:t>
            </a:r>
            <a:br>
              <a:rPr lang="vi-VN" sz="2400" dirty="0"/>
            </a:br>
            <a:r>
              <a:rPr lang="vi-VN" sz="2400" dirty="0"/>
              <a:t>Saves microcontroller pins, simplifies circuit design, and makes wiring easy.</a:t>
            </a:r>
          </a:p>
          <a:p>
            <a:r>
              <a:rPr lang="vi-VN" sz="2400" dirty="0"/>
              <a:t>📍 </a:t>
            </a:r>
            <a:r>
              <a:rPr lang="vi-VN" sz="2400" b="1" dirty="0"/>
              <a:t>Example:</a:t>
            </a:r>
            <a:br>
              <a:rPr lang="vi-VN" sz="2400" dirty="0"/>
            </a:br>
            <a:r>
              <a:rPr lang="vi-VN" sz="2400" dirty="0"/>
              <a:t>An </a:t>
            </a:r>
            <a:r>
              <a:rPr lang="vi-VN" sz="2400" b="1" dirty="0"/>
              <a:t>Arduino Uno</a:t>
            </a:r>
            <a:r>
              <a:rPr lang="vi-VN" sz="2400" dirty="0"/>
              <a:t> communicates with a computer via the </a:t>
            </a:r>
            <a:r>
              <a:rPr lang="vi-VN" sz="2400" b="1" dirty="0"/>
              <a:t>USB serial port</a:t>
            </a:r>
            <a:r>
              <a:rPr lang="vi-VN" sz="2400" dirty="0"/>
              <a:t>,</a:t>
            </a:r>
            <a:br>
              <a:rPr lang="vi-VN" sz="2400" dirty="0"/>
            </a:br>
            <a:r>
              <a:rPr lang="vi-VN" sz="2400" dirty="0"/>
              <a:t>where </a:t>
            </a:r>
            <a:r>
              <a:rPr lang="vi-VN" sz="2400" b="1" dirty="0"/>
              <a:t>TX</a:t>
            </a:r>
            <a:r>
              <a:rPr lang="vi-VN" sz="2400" dirty="0"/>
              <a:t> and </a:t>
            </a:r>
            <a:r>
              <a:rPr lang="vi-VN" sz="2400" b="1" dirty="0"/>
              <a:t>RX</a:t>
            </a:r>
            <a:r>
              <a:rPr lang="vi-VN" sz="2400" dirty="0"/>
              <a:t> correspond to the two UART pins.</a:t>
            </a:r>
          </a:p>
        </p:txBody>
      </p:sp>
    </p:spTree>
    <p:extLst>
      <p:ext uri="{BB962C8B-B14F-4D97-AF65-F5344CB8AC3E}">
        <p14:creationId xmlns:p14="http://schemas.microsoft.com/office/powerpoint/2010/main" val="17875634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C258A-9CAE-F9F1-24D7-00CEB454676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561D4AD-B62B-E7C0-007B-64B8FD9E83A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934B65E9-F813-3801-E45E-D7A76318BB9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1DC7204C-6ED0-0D57-F546-97182D6E7C6E}"/>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CDD4104-8B30-C35C-5000-32F93727BA0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F0D52490-0EFC-4683-1B22-0725F7983594}"/>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Properties of Asynchronous Transmission?</a:t>
            </a:r>
          </a:p>
        </p:txBody>
      </p:sp>
      <p:sp>
        <p:nvSpPr>
          <p:cNvPr id="6" name="TextBox 5">
            <a:extLst>
              <a:ext uri="{FF2B5EF4-FFF2-40B4-BE49-F238E27FC236}">
                <a16:creationId xmlns:a16="http://schemas.microsoft.com/office/drawing/2014/main" id="{2E1E502D-39C2-EF46-8C75-22F11B8C897B}"/>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D3C600F9-0420-1D26-EDDA-719389215DE7}"/>
              </a:ext>
            </a:extLst>
          </p:cNvPr>
          <p:cNvSpPr txBox="1"/>
          <p:nvPr/>
        </p:nvSpPr>
        <p:spPr>
          <a:xfrm>
            <a:off x="236349" y="2499587"/>
            <a:ext cx="17373600" cy="3046988"/>
          </a:xfrm>
          <a:prstGeom prst="rect">
            <a:avLst/>
          </a:prstGeom>
          <a:noFill/>
        </p:spPr>
        <p:txBody>
          <a:bodyPr wrap="square">
            <a:spAutoFit/>
          </a:bodyPr>
          <a:lstStyle/>
          <a:p>
            <a:r>
              <a:rPr lang="en-US" sz="2400" dirty="0"/>
              <a:t>📉 </a:t>
            </a:r>
            <a:r>
              <a:rPr lang="en-US" sz="2400" b="1" dirty="0"/>
              <a:t>5️⃣ Lower Transmission Efficiency than Synchronous Protocols</a:t>
            </a:r>
            <a:endParaRPr lang="en-US" sz="2400" dirty="0"/>
          </a:p>
          <a:p>
            <a:r>
              <a:rPr lang="en-US" sz="2400" dirty="0"/>
              <a:t>Each character is accompanied by a </a:t>
            </a:r>
            <a:r>
              <a:rPr lang="en-US" sz="2400" b="1" dirty="0"/>
              <a:t>Start bit</a:t>
            </a:r>
            <a:r>
              <a:rPr lang="en-US" sz="2400" dirty="0"/>
              <a:t> and a </a:t>
            </a:r>
            <a:r>
              <a:rPr lang="en-US" sz="2400" b="1" dirty="0"/>
              <a:t>Stop bit</a:t>
            </a:r>
            <a:r>
              <a:rPr lang="en-US" sz="2400" dirty="0"/>
              <a:t>, adding 2 extra bits for every 8 bits of data.</a:t>
            </a:r>
          </a:p>
          <a:p>
            <a:r>
              <a:rPr lang="en-US" sz="2400" dirty="0"/>
              <a:t>That means each byte actually requires </a:t>
            </a:r>
            <a:r>
              <a:rPr lang="en-US" sz="2400" b="1" dirty="0"/>
              <a:t>10 bits</a:t>
            </a:r>
            <a:r>
              <a:rPr lang="en-US" sz="2400" dirty="0"/>
              <a:t> to be transmitted.</a:t>
            </a:r>
            <a:br>
              <a:rPr lang="en-US" sz="2400" dirty="0"/>
            </a:br>
            <a:r>
              <a:rPr lang="en-US" sz="2400" dirty="0"/>
              <a:t>→ The efficiency is only about </a:t>
            </a:r>
            <a:r>
              <a:rPr lang="en-US" sz="2400" b="1" dirty="0"/>
              <a:t>80%</a:t>
            </a:r>
            <a:r>
              <a:rPr lang="en-US" sz="2400" dirty="0"/>
              <a:t> compared to pure data transmission.</a:t>
            </a:r>
          </a:p>
          <a:p>
            <a:r>
              <a:rPr lang="en-US" sz="2400" b="1" dirty="0"/>
              <a:t>Example:</a:t>
            </a:r>
            <a:endParaRPr lang="en-US" sz="2400" dirty="0"/>
          </a:p>
          <a:p>
            <a:r>
              <a:rPr lang="en-US" sz="2400" dirty="0"/>
              <a:t>Transmission rate: </a:t>
            </a:r>
            <a:r>
              <a:rPr lang="en-US" sz="2400" b="1" dirty="0"/>
              <a:t>9600 baud → 9600 bits/s</a:t>
            </a:r>
            <a:br>
              <a:rPr lang="en-US" sz="2400" dirty="0"/>
            </a:br>
            <a:r>
              <a:rPr lang="en-US" sz="2400" dirty="0"/>
              <a:t>Each byte requires 10 bits → effectively only </a:t>
            </a:r>
            <a:r>
              <a:rPr lang="en-US" sz="2400" b="1" dirty="0"/>
              <a:t>960 bytes/s</a:t>
            </a:r>
            <a:r>
              <a:rPr lang="en-US" sz="2400" dirty="0"/>
              <a:t> can be sent.</a:t>
            </a:r>
          </a:p>
          <a:p>
            <a:r>
              <a:rPr lang="en-US" sz="2400" dirty="0"/>
              <a:t>📍 </a:t>
            </a:r>
            <a:r>
              <a:rPr lang="en-US" sz="2400" b="1" dirty="0"/>
              <a:t>Disadvantage:</a:t>
            </a:r>
            <a:r>
              <a:rPr lang="en-US" sz="2400" dirty="0"/>
              <a:t> Not suitable for </a:t>
            </a:r>
            <a:r>
              <a:rPr lang="en-US" sz="2400" b="1" dirty="0"/>
              <a:t>high-speed data transmission</a:t>
            </a:r>
            <a:r>
              <a:rPr lang="en-US" sz="2400" dirty="0"/>
              <a:t> (e.g., video or audio), as the extra bits reduce efficiency.</a:t>
            </a:r>
          </a:p>
        </p:txBody>
      </p:sp>
    </p:spTree>
    <p:extLst>
      <p:ext uri="{BB962C8B-B14F-4D97-AF65-F5344CB8AC3E}">
        <p14:creationId xmlns:p14="http://schemas.microsoft.com/office/powerpoint/2010/main" val="38184479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40E5D-6062-89AB-28C6-B38B31A90F9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27EC809-5F06-2444-4C86-A409B165F5B7}"/>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9D3C51CA-C8BC-9AE7-4B76-A3ED6DF5E302}"/>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BC7B1AA1-5885-3284-A177-474862334121}"/>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3537A855-6107-0D4E-52FD-D8323F5B102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FD04D0F8-9D92-EAAF-3249-FFDCD69A2641}"/>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Properties of Asynchronous Transmission?</a:t>
            </a:r>
          </a:p>
        </p:txBody>
      </p:sp>
      <p:sp>
        <p:nvSpPr>
          <p:cNvPr id="6" name="TextBox 5">
            <a:extLst>
              <a:ext uri="{FF2B5EF4-FFF2-40B4-BE49-F238E27FC236}">
                <a16:creationId xmlns:a16="http://schemas.microsoft.com/office/drawing/2014/main" id="{30873B48-AEF8-39C6-FB90-F9F29D8109F1}"/>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9" name="TextBox 8">
            <a:extLst>
              <a:ext uri="{FF2B5EF4-FFF2-40B4-BE49-F238E27FC236}">
                <a16:creationId xmlns:a16="http://schemas.microsoft.com/office/drawing/2014/main" id="{C52A6A96-115C-899F-89E5-56C4B1FDF31C}"/>
              </a:ext>
            </a:extLst>
          </p:cNvPr>
          <p:cNvSpPr txBox="1"/>
          <p:nvPr/>
        </p:nvSpPr>
        <p:spPr>
          <a:xfrm>
            <a:off x="236349" y="2499587"/>
            <a:ext cx="17373600" cy="3785652"/>
          </a:xfrm>
          <a:prstGeom prst="rect">
            <a:avLst/>
          </a:prstGeom>
          <a:noFill/>
        </p:spPr>
        <p:txBody>
          <a:bodyPr wrap="square">
            <a:spAutoFit/>
          </a:bodyPr>
          <a:lstStyle/>
          <a:p>
            <a:r>
              <a:rPr lang="en-US" sz="2400" dirty="0"/>
              <a:t>🧠 </a:t>
            </a:r>
            <a:r>
              <a:rPr lang="en-US" sz="2400" b="1" dirty="0"/>
              <a:t>6️⃣ Easy to Implement, Common, and Reliable</a:t>
            </a:r>
            <a:endParaRPr lang="en-US" sz="2400" dirty="0"/>
          </a:p>
          <a:p>
            <a:r>
              <a:rPr lang="en-US" sz="2400" dirty="0"/>
              <a:t>Thanks to its simple structure and the fact that it doesn’t require a clock signal, </a:t>
            </a:r>
            <a:r>
              <a:rPr lang="en-US" sz="2400" b="1" dirty="0"/>
              <a:t>asynchronous UART</a:t>
            </a:r>
            <a:r>
              <a:rPr lang="en-US" sz="2400" dirty="0"/>
              <a:t> is one of the easiest communication protocols to use in embedded systems.</a:t>
            </a:r>
          </a:p>
          <a:p>
            <a:r>
              <a:rPr lang="en-US" sz="2400" dirty="0"/>
              <a:t>Most microcontrollers (Arduino, STM32, ESP32, PIC, AVR, etc.) come with a built-in </a:t>
            </a:r>
            <a:r>
              <a:rPr lang="en-US" sz="2400" b="1" dirty="0"/>
              <a:t>UART module</a:t>
            </a:r>
            <a:r>
              <a:rPr lang="en-US" sz="2400" dirty="0"/>
              <a:t> to support this type of transmission.</a:t>
            </a:r>
          </a:p>
          <a:p>
            <a:r>
              <a:rPr lang="en-US" sz="2400" dirty="0"/>
              <a:t>If the signal is weak, you can use physical standards like </a:t>
            </a:r>
            <a:r>
              <a:rPr lang="en-US" sz="2400" b="1" dirty="0"/>
              <a:t>RS-232</a:t>
            </a:r>
            <a:r>
              <a:rPr lang="en-US" sz="2400" dirty="0"/>
              <a:t> or </a:t>
            </a:r>
            <a:r>
              <a:rPr lang="en-US" sz="2400" b="1" dirty="0"/>
              <a:t>RS-485</a:t>
            </a:r>
            <a:r>
              <a:rPr lang="en-US" sz="2400" dirty="0"/>
              <a:t> to transmit data over longer distances (from tens to hundreds of meters).</a:t>
            </a:r>
          </a:p>
          <a:p>
            <a:r>
              <a:rPr lang="en-US" sz="2400" dirty="0"/>
              <a:t>📍 </a:t>
            </a:r>
            <a:r>
              <a:rPr lang="en-US" sz="2400" b="1" dirty="0"/>
              <a:t>Practical Applications:</a:t>
            </a:r>
            <a:endParaRPr lang="en-US" sz="2400" dirty="0"/>
          </a:p>
          <a:p>
            <a:r>
              <a:rPr lang="en-US" sz="2400" dirty="0"/>
              <a:t>Sending data from an Arduino to a computer (via </a:t>
            </a:r>
            <a:r>
              <a:rPr lang="en-US" sz="2400" b="1" dirty="0"/>
              <a:t>Serial Monitor</a:t>
            </a:r>
            <a:r>
              <a:rPr lang="en-US" sz="2400" dirty="0"/>
              <a:t>)</a:t>
            </a:r>
          </a:p>
          <a:p>
            <a:r>
              <a:rPr lang="en-US" sz="2400" dirty="0"/>
              <a:t>Sending </a:t>
            </a:r>
            <a:r>
              <a:rPr lang="en-US" sz="2400" b="1" dirty="0"/>
              <a:t>AT commands</a:t>
            </a:r>
            <a:r>
              <a:rPr lang="en-US" sz="2400" dirty="0"/>
              <a:t> to GSM, Wi-Fi, GPS, or LoRa modules</a:t>
            </a:r>
          </a:p>
          <a:p>
            <a:r>
              <a:rPr lang="en-US" sz="2400" dirty="0"/>
              <a:t>Communication between two independent microcontrollers</a:t>
            </a:r>
          </a:p>
        </p:txBody>
      </p:sp>
    </p:spTree>
    <p:extLst>
      <p:ext uri="{BB962C8B-B14F-4D97-AF65-F5344CB8AC3E}">
        <p14:creationId xmlns:p14="http://schemas.microsoft.com/office/powerpoint/2010/main" val="39548251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17AB1-A41C-A391-AC2D-4725AD286E7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816988D-7304-4650-0B87-1146BD037675}"/>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63095C67-A511-C7E5-99A8-30601B4F613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0E193883-5638-117A-243E-16B8E71AF537}"/>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764C8DD1-0FD4-A48B-1389-7196E0895040}"/>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45370A42-3D10-17DD-2527-955A031A7B0B}"/>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Advantages of Asynchronous Transmission?</a:t>
            </a:r>
          </a:p>
        </p:txBody>
      </p:sp>
      <p:sp>
        <p:nvSpPr>
          <p:cNvPr id="6" name="TextBox 5">
            <a:extLst>
              <a:ext uri="{FF2B5EF4-FFF2-40B4-BE49-F238E27FC236}">
                <a16:creationId xmlns:a16="http://schemas.microsoft.com/office/drawing/2014/main" id="{83CD47B7-046D-A89C-D82F-05CC1E157F7B}"/>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8" name="Picture 7">
            <a:extLst>
              <a:ext uri="{FF2B5EF4-FFF2-40B4-BE49-F238E27FC236}">
                <a16:creationId xmlns:a16="http://schemas.microsoft.com/office/drawing/2014/main" id="{F2F4C98F-FD64-ECA2-5EFC-2297F2B01BBC}"/>
              </a:ext>
            </a:extLst>
          </p:cNvPr>
          <p:cNvPicPr>
            <a:picLocks noChangeAspect="1"/>
          </p:cNvPicPr>
          <p:nvPr/>
        </p:nvPicPr>
        <p:blipFill>
          <a:blip r:embed="rId3"/>
          <a:stretch>
            <a:fillRect/>
          </a:stretch>
        </p:blipFill>
        <p:spPr>
          <a:xfrm>
            <a:off x="2800955" y="2324100"/>
            <a:ext cx="12591445" cy="7739454"/>
          </a:xfrm>
          <a:prstGeom prst="rect">
            <a:avLst/>
          </a:prstGeom>
        </p:spPr>
      </p:pic>
    </p:spTree>
    <p:extLst>
      <p:ext uri="{BB962C8B-B14F-4D97-AF65-F5344CB8AC3E}">
        <p14:creationId xmlns:p14="http://schemas.microsoft.com/office/powerpoint/2010/main" val="20494047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DF9A1-9273-B778-7154-DE6C594B291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7BE2520-A3ED-8951-73BF-45AE2CCA7AC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B4A9A601-9BCE-BF7F-001C-FBB6E1202374}"/>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772A7292-E7A7-2130-080F-F3E14DA7681E}"/>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B5B1894-101D-00DE-F726-ED89D3527C41}"/>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9A6B5A65-4F36-015A-6703-C3A98AC979FB}"/>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Disadvantages of Asynchronous Transmission?</a:t>
            </a:r>
          </a:p>
        </p:txBody>
      </p:sp>
      <p:sp>
        <p:nvSpPr>
          <p:cNvPr id="6" name="TextBox 5">
            <a:extLst>
              <a:ext uri="{FF2B5EF4-FFF2-40B4-BE49-F238E27FC236}">
                <a16:creationId xmlns:a16="http://schemas.microsoft.com/office/drawing/2014/main" id="{7158DC4D-E084-761F-90C0-2F5396A9F195}"/>
              </a:ext>
            </a:extLst>
          </p:cNvPr>
          <p:cNvSpPr txBox="1"/>
          <p:nvPr/>
        </p:nvSpPr>
        <p:spPr>
          <a:xfrm>
            <a:off x="4560758" y="4882009"/>
            <a:ext cx="9151494" cy="369332"/>
          </a:xfrm>
          <a:prstGeom prst="rect">
            <a:avLst/>
          </a:prstGeom>
          <a:noFill/>
        </p:spPr>
        <p:txBody>
          <a:bodyPr wrap="square">
            <a:spAutoFit/>
          </a:bodyPr>
          <a:lstStyle/>
          <a:p>
            <a:endParaRPr lang="vi-VN" dirty="0"/>
          </a:p>
        </p:txBody>
      </p:sp>
      <p:pic>
        <p:nvPicPr>
          <p:cNvPr id="9" name="Picture 8">
            <a:extLst>
              <a:ext uri="{FF2B5EF4-FFF2-40B4-BE49-F238E27FC236}">
                <a16:creationId xmlns:a16="http://schemas.microsoft.com/office/drawing/2014/main" id="{23D9D186-BA0F-FF80-979F-61106BCD0B6E}"/>
              </a:ext>
            </a:extLst>
          </p:cNvPr>
          <p:cNvPicPr>
            <a:picLocks noChangeAspect="1"/>
          </p:cNvPicPr>
          <p:nvPr/>
        </p:nvPicPr>
        <p:blipFill>
          <a:blip r:embed="rId3"/>
          <a:stretch>
            <a:fillRect/>
          </a:stretch>
        </p:blipFill>
        <p:spPr>
          <a:xfrm>
            <a:off x="2057400" y="2113071"/>
            <a:ext cx="13563600" cy="7898644"/>
          </a:xfrm>
          <a:prstGeom prst="rect">
            <a:avLst/>
          </a:prstGeom>
        </p:spPr>
      </p:pic>
    </p:spTree>
    <p:extLst>
      <p:ext uri="{BB962C8B-B14F-4D97-AF65-F5344CB8AC3E}">
        <p14:creationId xmlns:p14="http://schemas.microsoft.com/office/powerpoint/2010/main" val="32311832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CB077-821F-685B-7382-AC3DF7FE566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38F1E53-065E-E433-89F4-54C1BBA987F9}"/>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51E8792D-4D99-9AE0-E4BD-487141015770}"/>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BC61EFDD-5348-CE62-9AC2-9B832B1319D8}"/>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3EE8A1EE-9523-D2A2-598A-F50A11F6DBC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A6855E6A-B4C3-0780-87F8-CFEC8152BB43}"/>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What is UART ?</a:t>
            </a:r>
          </a:p>
        </p:txBody>
      </p:sp>
      <p:sp>
        <p:nvSpPr>
          <p:cNvPr id="6" name="TextBox 5">
            <a:extLst>
              <a:ext uri="{FF2B5EF4-FFF2-40B4-BE49-F238E27FC236}">
                <a16:creationId xmlns:a16="http://schemas.microsoft.com/office/drawing/2014/main" id="{70CAAD62-7513-5F31-6155-487A5A5E48E1}"/>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12B2EA8F-89CE-3919-00B9-F3C34F2BF13F}"/>
              </a:ext>
            </a:extLst>
          </p:cNvPr>
          <p:cNvSpPr txBox="1"/>
          <p:nvPr/>
        </p:nvSpPr>
        <p:spPr>
          <a:xfrm>
            <a:off x="293915" y="2298775"/>
            <a:ext cx="17678400" cy="3046988"/>
          </a:xfrm>
          <a:prstGeom prst="rect">
            <a:avLst/>
          </a:prstGeom>
          <a:noFill/>
        </p:spPr>
        <p:txBody>
          <a:bodyPr wrap="square">
            <a:spAutoFit/>
          </a:bodyPr>
          <a:lstStyle/>
          <a:p>
            <a:pPr marL="342900" indent="-342900" algn="l" fontAlgn="base">
              <a:buFont typeface="Arial" panose="020B0604020202020204" pitchFamily="34" charset="0"/>
              <a:buChar char="•"/>
            </a:pPr>
            <a:r>
              <a:rPr lang="en-US" sz="2400" b="0" i="0" dirty="0">
                <a:solidFill>
                  <a:srgbClr val="000000"/>
                </a:solidFill>
                <a:effectLst/>
              </a:rPr>
              <a:t>UART is a hardware communication protocol used for serial communication between devices. Here, Asynchronous refers that there is no clock signal involved in communication. It is commonly used in microcontrollers, embedded systems, and various other devices for transmitting and receiving data.</a:t>
            </a:r>
          </a:p>
          <a:p>
            <a:pPr marL="342900" indent="-342900" algn="l" fontAlgn="base">
              <a:buFont typeface="Arial" panose="020B0604020202020204" pitchFamily="34" charset="0"/>
              <a:buChar char="•"/>
            </a:pPr>
            <a:endParaRPr lang="en-US" sz="2400" b="0" i="0" dirty="0">
              <a:solidFill>
                <a:srgbClr val="000000"/>
              </a:solidFill>
              <a:effectLst/>
            </a:endParaRPr>
          </a:p>
          <a:p>
            <a:pPr marL="342900" indent="-342900" fontAlgn="base">
              <a:buFont typeface="Arial" panose="020B0604020202020204" pitchFamily="34" charset="0"/>
              <a:buChar char="•"/>
            </a:pPr>
            <a:r>
              <a:rPr lang="en-US" sz="2400" b="0" i="0" dirty="0">
                <a:solidFill>
                  <a:srgbClr val="000000"/>
                </a:solidFill>
                <a:effectLst/>
              </a:rPr>
              <a:t>Typically, UART uses two pins for communication, one for </a:t>
            </a:r>
            <a:r>
              <a:rPr lang="en-US" sz="2400" b="1" i="0" dirty="0">
                <a:solidFill>
                  <a:srgbClr val="000000"/>
                </a:solidFill>
                <a:effectLst/>
              </a:rPr>
              <a:t>transmitting (TX)</a:t>
            </a:r>
            <a:r>
              <a:rPr lang="en-US" sz="2400" b="0" i="0" dirty="0">
                <a:solidFill>
                  <a:srgbClr val="000000"/>
                </a:solidFill>
                <a:effectLst/>
              </a:rPr>
              <a:t> and one for </a:t>
            </a:r>
            <a:r>
              <a:rPr lang="en-US" sz="2400" b="1" i="0" dirty="0">
                <a:solidFill>
                  <a:srgbClr val="000000"/>
                </a:solidFill>
                <a:effectLst/>
              </a:rPr>
              <a:t>receiving (RX).</a:t>
            </a:r>
            <a:r>
              <a:rPr lang="en-US" sz="2400" dirty="0"/>
              <a:t> Both ends also have a ground connection</a:t>
            </a:r>
            <a:r>
              <a:rPr lang="en-US" sz="2400" b="0" i="0" dirty="0">
                <a:solidFill>
                  <a:srgbClr val="000000"/>
                </a:solidFill>
                <a:effectLst/>
              </a:rPr>
              <a:t>. When one device wants to send data to another, it sends a series of bits (0s and 1s) serially through the TX pin.</a:t>
            </a:r>
          </a:p>
          <a:p>
            <a:pPr marL="342900" indent="-342900" fontAlgn="base">
              <a:buFont typeface="Arial" panose="020B0604020202020204" pitchFamily="34" charset="0"/>
              <a:buChar char="•"/>
            </a:pPr>
            <a:endParaRPr lang="en-US" sz="2400" dirty="0">
              <a:solidFill>
                <a:srgbClr val="000000"/>
              </a:solidFill>
            </a:endParaRPr>
          </a:p>
          <a:p>
            <a:pPr marL="342900" indent="-342900" fontAlgn="base">
              <a:buFont typeface="Arial" panose="020B0604020202020204" pitchFamily="34" charset="0"/>
              <a:buChar char="•"/>
            </a:pPr>
            <a:r>
              <a:rPr lang="en-US" sz="2400" dirty="0"/>
              <a:t>Data in UART is transmitted in the form of frames.</a:t>
            </a:r>
            <a:endParaRPr lang="en-US" sz="2400" b="0" i="0" dirty="0">
              <a:solidFill>
                <a:srgbClr val="000000"/>
              </a:solidFill>
              <a:effectLst/>
            </a:endParaRPr>
          </a:p>
        </p:txBody>
      </p:sp>
      <p:pic>
        <p:nvPicPr>
          <p:cNvPr id="11" name="Picture 10">
            <a:extLst>
              <a:ext uri="{FF2B5EF4-FFF2-40B4-BE49-F238E27FC236}">
                <a16:creationId xmlns:a16="http://schemas.microsoft.com/office/drawing/2014/main" id="{B2AB428F-E332-00E2-96D6-43C1C4BDB56F}"/>
              </a:ext>
            </a:extLst>
          </p:cNvPr>
          <p:cNvPicPr>
            <a:picLocks noChangeAspect="1"/>
          </p:cNvPicPr>
          <p:nvPr/>
        </p:nvPicPr>
        <p:blipFill>
          <a:blip r:embed="rId3"/>
          <a:stretch>
            <a:fillRect/>
          </a:stretch>
        </p:blipFill>
        <p:spPr>
          <a:xfrm>
            <a:off x="762000" y="5701440"/>
            <a:ext cx="7177088" cy="4235192"/>
          </a:xfrm>
          <a:prstGeom prst="rect">
            <a:avLst/>
          </a:prstGeom>
        </p:spPr>
      </p:pic>
      <p:pic>
        <p:nvPicPr>
          <p:cNvPr id="10242" name="Picture 2" descr="Full Duplex Serial UART Communication">
            <a:extLst>
              <a:ext uri="{FF2B5EF4-FFF2-40B4-BE49-F238E27FC236}">
                <a16:creationId xmlns:a16="http://schemas.microsoft.com/office/drawing/2014/main" id="{FAD0133C-C51A-E7F9-57BB-D1D8001867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39200" y="5147010"/>
            <a:ext cx="8534400" cy="480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2169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0CAF6-5F87-84ED-FCB5-0082412EF20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D7F176F-A8D5-5F95-CF97-1046B2AC3EAC}"/>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9DD90DD7-3E7A-99BD-E369-6301732892F3}"/>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59B22161-0C9E-8B0B-FCC4-4A9E7606009F}"/>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775C90C-7D0B-287C-65E3-5A9C5C1E6E4A}"/>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5FBB3ACE-E723-7E8F-DFD9-52F93D14E6B9}"/>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What is UART ?</a:t>
            </a:r>
          </a:p>
        </p:txBody>
      </p:sp>
      <p:sp>
        <p:nvSpPr>
          <p:cNvPr id="6" name="TextBox 5">
            <a:extLst>
              <a:ext uri="{FF2B5EF4-FFF2-40B4-BE49-F238E27FC236}">
                <a16:creationId xmlns:a16="http://schemas.microsoft.com/office/drawing/2014/main" id="{4A48CC1A-411F-537C-5651-79BB349BB29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8E0A6F3D-DDB9-9DCF-523A-F0EF554AF891}"/>
              </a:ext>
            </a:extLst>
          </p:cNvPr>
          <p:cNvSpPr txBox="1"/>
          <p:nvPr/>
        </p:nvSpPr>
        <p:spPr>
          <a:xfrm>
            <a:off x="293915" y="2298775"/>
            <a:ext cx="17678400" cy="830997"/>
          </a:xfrm>
          <a:prstGeom prst="rect">
            <a:avLst/>
          </a:prstGeom>
          <a:noFill/>
        </p:spPr>
        <p:txBody>
          <a:bodyPr wrap="square">
            <a:spAutoFit/>
          </a:bodyPr>
          <a:lstStyle/>
          <a:p>
            <a:pPr marL="342900" indent="-342900" fontAlgn="base">
              <a:buFont typeface="Arial" panose="020B0604020202020204" pitchFamily="34" charset="0"/>
              <a:buChar char="•"/>
            </a:pPr>
            <a:r>
              <a:rPr lang="en-US" sz="2400" dirty="0"/>
              <a:t>Communication in UART can be </a:t>
            </a:r>
            <a:r>
              <a:rPr lang="en-US" sz="2400" b="1" dirty="0"/>
              <a:t>simplex</a:t>
            </a:r>
            <a:r>
              <a:rPr lang="en-US" sz="2400" dirty="0"/>
              <a:t> (data is sent in one direction only), </a:t>
            </a:r>
            <a:r>
              <a:rPr lang="en-US" sz="2400" b="1" dirty="0"/>
              <a:t>half-duplex</a:t>
            </a:r>
            <a:r>
              <a:rPr lang="en-US" sz="2400" dirty="0"/>
              <a:t> (each side speaks but only one at a time), or </a:t>
            </a:r>
            <a:r>
              <a:rPr lang="en-US" sz="2400" b="1" dirty="0"/>
              <a:t>full-duplex</a:t>
            </a:r>
            <a:r>
              <a:rPr lang="en-US" sz="2400" dirty="0"/>
              <a:t> (both sides can transmit simultaneously). Data in UART is transmitted in the form of frames. </a:t>
            </a:r>
            <a:endParaRPr lang="en-US" sz="2400" b="0" i="0" dirty="0">
              <a:solidFill>
                <a:srgbClr val="000000"/>
              </a:solidFill>
              <a:effectLst/>
            </a:endParaRPr>
          </a:p>
        </p:txBody>
      </p:sp>
      <p:pic>
        <p:nvPicPr>
          <p:cNvPr id="23554" name="Picture 2" descr="Data Transmission Modes">
            <a:extLst>
              <a:ext uri="{FF2B5EF4-FFF2-40B4-BE49-F238E27FC236}">
                <a16:creationId xmlns:a16="http://schemas.microsoft.com/office/drawing/2014/main" id="{FD0D7601-D5E9-8CB3-CB28-FCD6E136A6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3162185"/>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054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96B17-7885-C2F8-F477-CE748CB115D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930A3C5-DCD9-78E8-9EB6-8A43BBF9DE78}"/>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098EA1DC-5C9B-AF6C-F44A-DAD0D8663E23}"/>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43B4409-504B-1E0F-FD09-2B903E6ACA29}"/>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58B50A5-2893-54FF-B653-929020D8DF61}"/>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F65E59A1-4310-C70B-BA3C-EBC2F09F6B71}"/>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Where is UART used?</a:t>
            </a:r>
          </a:p>
        </p:txBody>
      </p:sp>
      <p:sp>
        <p:nvSpPr>
          <p:cNvPr id="6" name="TextBox 5">
            <a:extLst>
              <a:ext uri="{FF2B5EF4-FFF2-40B4-BE49-F238E27FC236}">
                <a16:creationId xmlns:a16="http://schemas.microsoft.com/office/drawing/2014/main" id="{94FBEDA3-8909-2F9E-7E4D-657573C8EC16}"/>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62E640E1-ED1A-C613-384D-C497AFD929EB}"/>
              </a:ext>
            </a:extLst>
          </p:cNvPr>
          <p:cNvSpPr txBox="1"/>
          <p:nvPr/>
        </p:nvSpPr>
        <p:spPr>
          <a:xfrm>
            <a:off x="293915" y="2298775"/>
            <a:ext cx="17678400" cy="3416320"/>
          </a:xfrm>
          <a:prstGeom prst="rect">
            <a:avLst/>
          </a:prstGeom>
          <a:noFill/>
        </p:spPr>
        <p:txBody>
          <a:bodyPr wrap="square">
            <a:spAutoFit/>
          </a:bodyPr>
          <a:lstStyle/>
          <a:p>
            <a:pPr marL="285750" indent="-285750" fontAlgn="base">
              <a:buFont typeface="Arial" panose="020B0604020202020204" pitchFamily="34" charset="0"/>
              <a:buChar char="•"/>
            </a:pPr>
            <a:r>
              <a:rPr lang="en-US" sz="2400" dirty="0"/>
              <a:t>UART was one of the earliest serial protocols. The once ubiquitous serial ports are almost always UART-based, and devices using RS-232 interfaces, external modems, etc. are common examples of where UART is used.</a:t>
            </a:r>
          </a:p>
          <a:p>
            <a:pPr marL="342900" indent="-342900" fontAlgn="base">
              <a:buFont typeface="Arial" panose="020B0604020202020204" pitchFamily="34" charset="0"/>
              <a:buChar char="•"/>
            </a:pPr>
            <a:endParaRPr lang="en-US" sz="2400" dirty="0"/>
          </a:p>
          <a:p>
            <a:pPr marL="342900" indent="-342900" fontAlgn="base">
              <a:buFont typeface="Arial" panose="020B0604020202020204" pitchFamily="34" charset="0"/>
              <a:buChar char="•"/>
            </a:pPr>
            <a:br>
              <a:rPr lang="en-US" sz="2400" dirty="0"/>
            </a:br>
            <a:r>
              <a:rPr lang="en-US" sz="2400" dirty="0"/>
              <a:t>In recent years, the popularity of UART has decreased: protocols like SPI and I2C have been replacing UART between chips and components. Instead of communicating over a serial port, most modern computers and peripherals now use technologies like Ethernet and USB. </a:t>
            </a:r>
          </a:p>
          <a:p>
            <a:pPr fontAlgn="base"/>
            <a:endParaRPr lang="en-US" sz="2400" dirty="0"/>
          </a:p>
          <a:p>
            <a:pPr marL="285750" indent="-285750" fontAlgn="base">
              <a:buFont typeface="Arial" panose="020B0604020202020204" pitchFamily="34" charset="0"/>
              <a:buChar char="•"/>
            </a:pPr>
            <a:r>
              <a:rPr lang="en-US" sz="2400" dirty="0"/>
              <a:t>However, UART is still used for lower-speed and lower-throughput applications, because it is very simple, low-cost and easy to implement.</a:t>
            </a:r>
            <a:endParaRPr lang="en-US" sz="2400" b="0" i="0" dirty="0">
              <a:solidFill>
                <a:srgbClr val="000000"/>
              </a:solidFill>
              <a:effectLst/>
            </a:endParaRPr>
          </a:p>
        </p:txBody>
      </p:sp>
    </p:spTree>
    <p:extLst>
      <p:ext uri="{BB962C8B-B14F-4D97-AF65-F5344CB8AC3E}">
        <p14:creationId xmlns:p14="http://schemas.microsoft.com/office/powerpoint/2010/main" val="95096465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EC4E6-31B5-08FC-0BD1-0B0C672009C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66EA04F-03C5-1EBE-0020-609C1441FBB5}"/>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9A0E82CB-710C-E818-DC8E-9F437D58B385}"/>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90DD5D8F-6A33-FA68-F47B-8B2F301C4CEF}"/>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DB8555E0-77A3-47E6-9D8E-6BE0D267CACB}"/>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302C63B1-3A2C-D674-FB6D-946D9D865114}"/>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How UART  work?</a:t>
            </a:r>
          </a:p>
        </p:txBody>
      </p:sp>
      <p:sp>
        <p:nvSpPr>
          <p:cNvPr id="6" name="TextBox 5">
            <a:extLst>
              <a:ext uri="{FF2B5EF4-FFF2-40B4-BE49-F238E27FC236}">
                <a16:creationId xmlns:a16="http://schemas.microsoft.com/office/drawing/2014/main" id="{4EA6B6E8-245D-4090-72F8-4544AB96377A}"/>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FCB2C188-09CA-1655-2DEA-C71110594AE8}"/>
              </a:ext>
            </a:extLst>
          </p:cNvPr>
          <p:cNvSpPr txBox="1"/>
          <p:nvPr/>
        </p:nvSpPr>
        <p:spPr>
          <a:xfrm>
            <a:off x="293915" y="2298775"/>
            <a:ext cx="17678400" cy="3416320"/>
          </a:xfrm>
          <a:prstGeom prst="rect">
            <a:avLst/>
          </a:prstGeom>
          <a:noFill/>
        </p:spPr>
        <p:txBody>
          <a:bodyPr wrap="square">
            <a:spAutoFit/>
          </a:bodyPr>
          <a:lstStyle/>
          <a:p>
            <a:r>
              <a:rPr lang="en-US" sz="2400" dirty="0"/>
              <a:t>⚙️ </a:t>
            </a:r>
            <a:r>
              <a:rPr lang="en-US" sz="2400" b="1" dirty="0"/>
              <a:t>1. Basic Principle</a:t>
            </a:r>
            <a:endParaRPr lang="en-US" sz="2400" dirty="0"/>
          </a:p>
          <a:p>
            <a:r>
              <a:rPr lang="en-US" sz="2400" b="1" dirty="0"/>
              <a:t>UART</a:t>
            </a:r>
            <a:r>
              <a:rPr lang="en-US" sz="2400" dirty="0"/>
              <a:t> (Universal Asynchronous Receiver–Transmitter) is an </a:t>
            </a:r>
            <a:r>
              <a:rPr lang="en-US" sz="2400" b="1" dirty="0"/>
              <a:t>asynchronous serial communication</a:t>
            </a:r>
            <a:r>
              <a:rPr lang="en-US" sz="2400" dirty="0"/>
              <a:t> interface, meaning:</a:t>
            </a:r>
          </a:p>
          <a:p>
            <a:r>
              <a:rPr lang="en-US" sz="2400" dirty="0"/>
              <a:t>It </a:t>
            </a:r>
            <a:r>
              <a:rPr lang="en-US" sz="2400" b="1" dirty="0"/>
              <a:t>does not use a shared clock</a:t>
            </a:r>
            <a:r>
              <a:rPr lang="en-US" sz="2400" dirty="0"/>
              <a:t> signal to synchronize data transmission and reception.</a:t>
            </a:r>
          </a:p>
          <a:p>
            <a:r>
              <a:rPr lang="en-US" sz="2400" dirty="0"/>
              <a:t>Instead, </a:t>
            </a:r>
            <a:r>
              <a:rPr lang="en-US" sz="2400" b="1" dirty="0"/>
              <a:t>both devices must agree on a common baud rate</a:t>
            </a:r>
            <a:r>
              <a:rPr lang="en-US" sz="2400" dirty="0"/>
              <a:t> (data rate) beforehand — for example, </a:t>
            </a:r>
            <a:r>
              <a:rPr lang="en-US" sz="2400" b="1" dirty="0"/>
              <a:t>9600 bps</a:t>
            </a:r>
            <a:r>
              <a:rPr lang="en-US" sz="2400" dirty="0"/>
              <a:t>, </a:t>
            </a:r>
            <a:r>
              <a:rPr lang="en-US" sz="2400" b="1" dirty="0"/>
              <a:t>115200 bps</a:t>
            </a:r>
            <a:r>
              <a:rPr lang="en-US" sz="2400" dirty="0"/>
              <a:t>, etc.</a:t>
            </a:r>
          </a:p>
          <a:p>
            <a:endParaRPr lang="en-US" sz="2400" dirty="0"/>
          </a:p>
          <a:p>
            <a:r>
              <a:rPr lang="en-US" sz="2400" dirty="0"/>
              <a:t>🧩 </a:t>
            </a:r>
            <a:r>
              <a:rPr lang="en-US" sz="2400" b="1" dirty="0"/>
              <a:t>2. Data Transmission Process</a:t>
            </a:r>
            <a:endParaRPr lang="en-US" sz="2400" dirty="0"/>
          </a:p>
          <a:p>
            <a:r>
              <a:rPr lang="en-US" sz="2400" dirty="0"/>
              <a:t>Let’s say you want to send </a:t>
            </a:r>
            <a:r>
              <a:rPr lang="en-US" sz="2400" b="1" dirty="0"/>
              <a:t>one byte of data</a:t>
            </a:r>
            <a:r>
              <a:rPr lang="en-US" sz="2400" dirty="0"/>
              <a:t> </a:t>
            </a:r>
            <a:r>
              <a:rPr lang="en-US" dirty="0"/>
              <a:t>0x53</a:t>
            </a:r>
            <a:r>
              <a:rPr lang="en-US" sz="2400" dirty="0"/>
              <a:t> (</a:t>
            </a:r>
            <a:r>
              <a:rPr lang="en-US" dirty="0"/>
              <a:t>0101 0011</a:t>
            </a:r>
            <a:r>
              <a:rPr lang="en-US" sz="2400" dirty="0"/>
              <a:t> in binary) from </a:t>
            </a:r>
            <a:r>
              <a:rPr lang="en-US" sz="2400" b="1" dirty="0"/>
              <a:t>Device A (TX)</a:t>
            </a:r>
            <a:r>
              <a:rPr lang="en-US" sz="2400" dirty="0"/>
              <a:t> to </a:t>
            </a:r>
            <a:r>
              <a:rPr lang="en-US" sz="2400" b="1" dirty="0"/>
              <a:t>Device B (RX)</a:t>
            </a:r>
            <a:r>
              <a:rPr lang="en-US" sz="2400" dirty="0"/>
              <a:t>.</a:t>
            </a:r>
          </a:p>
          <a:p>
            <a:r>
              <a:rPr lang="en-US" sz="2400" dirty="0"/>
              <a:t>UART transmits this byte in a </a:t>
            </a:r>
            <a:r>
              <a:rPr lang="en-US" sz="2400" b="1" dirty="0"/>
              <a:t>frame format</a:t>
            </a:r>
            <a:r>
              <a:rPr lang="en-US" sz="2400" dirty="0"/>
              <a:t> as follows:</a:t>
            </a:r>
          </a:p>
          <a:p>
            <a:endParaRPr lang="en-US" sz="2400" dirty="0"/>
          </a:p>
        </p:txBody>
      </p:sp>
      <p:pic>
        <p:nvPicPr>
          <p:cNvPr id="9" name="Picture 8">
            <a:extLst>
              <a:ext uri="{FF2B5EF4-FFF2-40B4-BE49-F238E27FC236}">
                <a16:creationId xmlns:a16="http://schemas.microsoft.com/office/drawing/2014/main" id="{E34EC876-8736-5E33-FD3F-824D9739703E}"/>
              </a:ext>
            </a:extLst>
          </p:cNvPr>
          <p:cNvPicPr>
            <a:picLocks noChangeAspect="1"/>
          </p:cNvPicPr>
          <p:nvPr/>
        </p:nvPicPr>
        <p:blipFill>
          <a:blip r:embed="rId3"/>
          <a:stretch>
            <a:fillRect/>
          </a:stretch>
        </p:blipFill>
        <p:spPr>
          <a:xfrm>
            <a:off x="4876800" y="5427362"/>
            <a:ext cx="7483565" cy="1225379"/>
          </a:xfrm>
          <a:prstGeom prst="rect">
            <a:avLst/>
          </a:prstGeom>
        </p:spPr>
      </p:pic>
      <p:sp>
        <p:nvSpPr>
          <p:cNvPr id="11" name="TextBox 10">
            <a:extLst>
              <a:ext uri="{FF2B5EF4-FFF2-40B4-BE49-F238E27FC236}">
                <a16:creationId xmlns:a16="http://schemas.microsoft.com/office/drawing/2014/main" id="{F9FC5961-583A-ECB7-4CED-C153C119C150}"/>
              </a:ext>
            </a:extLst>
          </p:cNvPr>
          <p:cNvSpPr txBox="1"/>
          <p:nvPr/>
        </p:nvSpPr>
        <p:spPr>
          <a:xfrm>
            <a:off x="381000" y="6652741"/>
            <a:ext cx="16078200" cy="830997"/>
          </a:xfrm>
          <a:prstGeom prst="rect">
            <a:avLst/>
          </a:prstGeom>
          <a:noFill/>
        </p:spPr>
        <p:txBody>
          <a:bodyPr wrap="square">
            <a:spAutoFit/>
          </a:bodyPr>
          <a:lstStyle/>
          <a:p>
            <a:pPr>
              <a:buNone/>
            </a:pPr>
            <a:r>
              <a:rPr lang="en-US" sz="2400" b="1" dirty="0"/>
              <a:t>Example:</a:t>
            </a:r>
          </a:p>
          <a:p>
            <a:pPr>
              <a:buNone/>
            </a:pPr>
            <a:r>
              <a:rPr lang="en-US" sz="2400" dirty="0"/>
              <a:t>For a typical UART frame configuration (</a:t>
            </a:r>
            <a:r>
              <a:rPr lang="en-US" sz="2400" b="1" dirty="0"/>
              <a:t>1 start bit, 8 data bits, no parity, 1 stop bit</a:t>
            </a:r>
            <a:r>
              <a:rPr lang="en-US" sz="2400" dirty="0"/>
              <a:t>):</a:t>
            </a:r>
          </a:p>
        </p:txBody>
      </p:sp>
      <p:pic>
        <p:nvPicPr>
          <p:cNvPr id="14" name="Picture 13">
            <a:extLst>
              <a:ext uri="{FF2B5EF4-FFF2-40B4-BE49-F238E27FC236}">
                <a16:creationId xmlns:a16="http://schemas.microsoft.com/office/drawing/2014/main" id="{432A25B2-7073-5ECB-1C16-48B740906762}"/>
              </a:ext>
            </a:extLst>
          </p:cNvPr>
          <p:cNvPicPr>
            <a:picLocks noChangeAspect="1"/>
          </p:cNvPicPr>
          <p:nvPr/>
        </p:nvPicPr>
        <p:blipFill>
          <a:blip r:embed="rId4"/>
          <a:stretch>
            <a:fillRect/>
          </a:stretch>
        </p:blipFill>
        <p:spPr>
          <a:xfrm>
            <a:off x="5029200" y="7965623"/>
            <a:ext cx="6477000" cy="2013333"/>
          </a:xfrm>
          <a:prstGeom prst="rect">
            <a:avLst/>
          </a:prstGeom>
        </p:spPr>
      </p:pic>
    </p:spTree>
    <p:extLst>
      <p:ext uri="{BB962C8B-B14F-4D97-AF65-F5344CB8AC3E}">
        <p14:creationId xmlns:p14="http://schemas.microsoft.com/office/powerpoint/2010/main" val="9202351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BF0ED-6E58-A761-E0F3-CFBF3BC8C1F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4B1AACC-4EF1-573B-A06A-18AC8DE87C1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3988FF9B-9626-4342-D3C0-06022DB84167}"/>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DBBFB1C-4236-888A-DE21-4C5816902D55}"/>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C8C3469D-B398-E0FF-8510-22CD488E237A}"/>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D4E0D56-C208-A9CE-2718-CFC982AE95B7}"/>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How UART  work?</a:t>
            </a:r>
          </a:p>
        </p:txBody>
      </p:sp>
      <p:sp>
        <p:nvSpPr>
          <p:cNvPr id="6" name="TextBox 5">
            <a:extLst>
              <a:ext uri="{FF2B5EF4-FFF2-40B4-BE49-F238E27FC236}">
                <a16:creationId xmlns:a16="http://schemas.microsoft.com/office/drawing/2014/main" id="{E4CBE557-922E-EE06-6A79-BE0F82DEDCA3}"/>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974F6716-F932-1FBD-C9E0-0079121ED2FB}"/>
              </a:ext>
            </a:extLst>
          </p:cNvPr>
          <p:cNvSpPr txBox="1"/>
          <p:nvPr/>
        </p:nvSpPr>
        <p:spPr>
          <a:xfrm>
            <a:off x="315871" y="2298775"/>
            <a:ext cx="17678400" cy="830997"/>
          </a:xfrm>
          <a:prstGeom prst="rect">
            <a:avLst/>
          </a:prstGeom>
          <a:noFill/>
        </p:spPr>
        <p:txBody>
          <a:bodyPr wrap="square">
            <a:spAutoFit/>
          </a:bodyPr>
          <a:lstStyle/>
          <a:p>
            <a:pPr marL="285750" indent="-285750" fontAlgn="base">
              <a:buFont typeface="Arial" panose="020B0604020202020204" pitchFamily="34" charset="0"/>
              <a:buChar char="•"/>
            </a:pPr>
            <a:r>
              <a:rPr lang="en-US" sz="2400" dirty="0"/>
              <a:t>UART transmitted data is organized into </a:t>
            </a:r>
            <a:r>
              <a:rPr lang="en-US" sz="2400" i="1" dirty="0"/>
              <a:t>packets</a:t>
            </a:r>
            <a:r>
              <a:rPr lang="en-US" sz="2400" dirty="0"/>
              <a:t>. Each packet contains 1 start bit, 5 to 9 data bits (depending on the UART), an optional </a:t>
            </a:r>
            <a:r>
              <a:rPr lang="en-US" sz="2400" i="1" dirty="0"/>
              <a:t>parity</a:t>
            </a:r>
            <a:r>
              <a:rPr lang="en-US" sz="2400" dirty="0"/>
              <a:t> bit, and 1 or 2 stop bits:</a:t>
            </a:r>
            <a:endParaRPr lang="en-US" sz="2400" b="0" i="0" dirty="0">
              <a:solidFill>
                <a:srgbClr val="000000"/>
              </a:solidFill>
              <a:effectLst/>
            </a:endParaRPr>
          </a:p>
        </p:txBody>
      </p:sp>
      <p:sp>
        <p:nvSpPr>
          <p:cNvPr id="4" name="AutoShape 4" descr="Figure 3. UART packet.">
            <a:extLst>
              <a:ext uri="{FF2B5EF4-FFF2-40B4-BE49-F238E27FC236}">
                <a16:creationId xmlns:a16="http://schemas.microsoft.com/office/drawing/2014/main" id="{23E02498-7F94-C608-2F18-C56B847D4545}"/>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D4B3E750-9E5B-EAC4-C61C-A768A638FDBD}"/>
              </a:ext>
            </a:extLst>
          </p:cNvPr>
          <p:cNvPicPr>
            <a:picLocks noChangeAspect="1"/>
          </p:cNvPicPr>
          <p:nvPr/>
        </p:nvPicPr>
        <p:blipFill>
          <a:blip r:embed="rId3"/>
          <a:stretch>
            <a:fillRect/>
          </a:stretch>
        </p:blipFill>
        <p:spPr>
          <a:xfrm>
            <a:off x="1752600" y="4871031"/>
            <a:ext cx="12858105" cy="2147888"/>
          </a:xfrm>
          <a:prstGeom prst="rect">
            <a:avLst/>
          </a:prstGeom>
        </p:spPr>
      </p:pic>
    </p:spTree>
    <p:extLst>
      <p:ext uri="{BB962C8B-B14F-4D97-AF65-F5344CB8AC3E}">
        <p14:creationId xmlns:p14="http://schemas.microsoft.com/office/powerpoint/2010/main" val="40439069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BF4BA-6486-BC34-DE77-E1E27A86AA9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DA19347-ED43-F549-B155-54B0FCDA0091}"/>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39B6F3C8-FC92-D319-2CF2-8D9746DA6ACC}"/>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BCE2A7A7-9BB8-FE26-CB16-A60CA5E1CB8C}"/>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2549A621-6DB2-5665-856C-74B234B2D7D1}"/>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A5C09D1-8B47-5DD7-A665-5674229EC388}"/>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How UART  work?</a:t>
            </a:r>
          </a:p>
        </p:txBody>
      </p:sp>
      <p:sp>
        <p:nvSpPr>
          <p:cNvPr id="6" name="TextBox 5">
            <a:extLst>
              <a:ext uri="{FF2B5EF4-FFF2-40B4-BE49-F238E27FC236}">
                <a16:creationId xmlns:a16="http://schemas.microsoft.com/office/drawing/2014/main" id="{A118B31C-4466-2D68-DD5F-69CEE70E078E}"/>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59352E1C-21DF-960A-6DB8-0EAAD4953918}"/>
              </a:ext>
            </a:extLst>
          </p:cNvPr>
          <p:cNvSpPr txBox="1"/>
          <p:nvPr/>
        </p:nvSpPr>
        <p:spPr>
          <a:xfrm>
            <a:off x="315871" y="2298775"/>
            <a:ext cx="17678400" cy="3046988"/>
          </a:xfrm>
          <a:prstGeom prst="rect">
            <a:avLst/>
          </a:prstGeom>
          <a:noFill/>
        </p:spPr>
        <p:txBody>
          <a:bodyPr wrap="square">
            <a:spAutoFit/>
          </a:bodyPr>
          <a:lstStyle/>
          <a:p>
            <a:r>
              <a:rPr lang="en-US" sz="2400" dirty="0"/>
              <a:t>🕒 </a:t>
            </a:r>
            <a:r>
              <a:rPr lang="en-US" sz="2400" b="1" dirty="0"/>
              <a:t>3. Timing Synchronization</a:t>
            </a:r>
            <a:endParaRPr lang="en-US" sz="2400" dirty="0"/>
          </a:p>
          <a:p>
            <a:r>
              <a:rPr lang="en-US" sz="2400" dirty="0"/>
              <a:t>Since UART does not have a clock signal, synchronization is achieved as follows:</a:t>
            </a:r>
          </a:p>
          <a:p>
            <a:r>
              <a:rPr lang="en-US" sz="2400" dirty="0"/>
              <a:t>When the receiver (RX) detects the </a:t>
            </a:r>
            <a:r>
              <a:rPr lang="en-US" sz="2400" b="1" dirty="0"/>
              <a:t>start bit</a:t>
            </a:r>
            <a:r>
              <a:rPr lang="en-US" sz="2400" dirty="0"/>
              <a:t> (logic low), it starts its </a:t>
            </a:r>
            <a:r>
              <a:rPr lang="en-US" sz="2400" b="1" dirty="0"/>
              <a:t>internal clock</a:t>
            </a:r>
            <a:r>
              <a:rPr lang="en-US" sz="2400" dirty="0"/>
              <a:t>.</a:t>
            </a:r>
          </a:p>
          <a:p>
            <a:r>
              <a:rPr lang="en-US" sz="2400" dirty="0"/>
              <a:t>The RX device then performs </a:t>
            </a:r>
            <a:r>
              <a:rPr lang="en-US" sz="2400" b="1" dirty="0"/>
              <a:t>sampling</a:t>
            </a:r>
            <a:r>
              <a:rPr lang="en-US" sz="2400" dirty="0"/>
              <a:t> at the </a:t>
            </a:r>
            <a:r>
              <a:rPr lang="en-US" sz="2400" b="1" dirty="0"/>
              <a:t>middle of each bit period</a:t>
            </a:r>
            <a:r>
              <a:rPr lang="en-US" sz="2400" dirty="0"/>
              <a:t> (the most stable point).</a:t>
            </a:r>
          </a:p>
          <a:p>
            <a:r>
              <a:rPr lang="en-US" sz="2400" dirty="0"/>
              <a:t>Based on the preconfigured </a:t>
            </a:r>
            <a:r>
              <a:rPr lang="en-US" sz="2400" b="1" dirty="0"/>
              <a:t>baud rate</a:t>
            </a:r>
            <a:r>
              <a:rPr lang="en-US" sz="2400" dirty="0"/>
              <a:t>, RX knows exactly when to read each subsequent bit.</a:t>
            </a:r>
          </a:p>
          <a:p>
            <a:r>
              <a:rPr lang="en-US" sz="2400" dirty="0"/>
              <a:t>👉 </a:t>
            </a:r>
            <a:r>
              <a:rPr lang="en-US" sz="2400" b="1" dirty="0"/>
              <a:t>Example:</a:t>
            </a:r>
            <a:br>
              <a:rPr lang="en-US" sz="2400" dirty="0"/>
            </a:br>
            <a:r>
              <a:rPr lang="en-US" sz="2400" dirty="0"/>
              <a:t>Baud rate = 9600 bps → each bit lasts </a:t>
            </a:r>
            <a:r>
              <a:rPr lang="en-US" sz="2400" b="1" dirty="0"/>
              <a:t>1 / 9600 ≈ 104 µs</a:t>
            </a:r>
            <a:r>
              <a:rPr lang="en-US" sz="2400" dirty="0"/>
              <a:t>.</a:t>
            </a:r>
            <a:br>
              <a:rPr lang="en-US" sz="2400" dirty="0"/>
            </a:br>
            <a:r>
              <a:rPr lang="en-US" sz="2400" dirty="0"/>
              <a:t>The receiver measures this exact time interval to sample each bit accurately.</a:t>
            </a:r>
          </a:p>
        </p:txBody>
      </p:sp>
      <p:sp>
        <p:nvSpPr>
          <p:cNvPr id="4" name="AutoShape 4" descr="Figure 3. UART packet.">
            <a:extLst>
              <a:ext uri="{FF2B5EF4-FFF2-40B4-BE49-F238E27FC236}">
                <a16:creationId xmlns:a16="http://schemas.microsoft.com/office/drawing/2014/main" id="{F213F479-83BB-5CC3-E256-1F645A17E4BF}"/>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extLst>
      <p:ext uri="{BB962C8B-B14F-4D97-AF65-F5344CB8AC3E}">
        <p14:creationId xmlns:p14="http://schemas.microsoft.com/office/powerpoint/2010/main" val="31936764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B2250-FC75-2B00-28D1-916187BB87B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85EA9F6-9A6F-63CD-F1AD-4A0ABA52E47F}"/>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AF0B8A34-A91A-9CFF-FE5F-292881CD1DFF}"/>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6FC3C021-5D91-1E87-C08B-A3593A990B48}"/>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B317AA9D-87A4-9BBB-E0B9-91F3895D4956}"/>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2BA0E75F-85E9-BFC7-B0A0-0EE8D8171649}"/>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How UART  work?</a:t>
            </a:r>
          </a:p>
        </p:txBody>
      </p:sp>
      <p:sp>
        <p:nvSpPr>
          <p:cNvPr id="6" name="TextBox 5">
            <a:extLst>
              <a:ext uri="{FF2B5EF4-FFF2-40B4-BE49-F238E27FC236}">
                <a16:creationId xmlns:a16="http://schemas.microsoft.com/office/drawing/2014/main" id="{0888DE3A-E9B8-CA02-0551-7F62EAD6835A}"/>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C4F1E65B-D43D-7111-0124-1F0066AA6FD4}"/>
              </a:ext>
            </a:extLst>
          </p:cNvPr>
          <p:cNvSpPr txBox="1"/>
          <p:nvPr/>
        </p:nvSpPr>
        <p:spPr>
          <a:xfrm>
            <a:off x="315871" y="2298775"/>
            <a:ext cx="17678400" cy="2677656"/>
          </a:xfrm>
          <a:prstGeom prst="rect">
            <a:avLst/>
          </a:prstGeom>
          <a:noFill/>
        </p:spPr>
        <p:txBody>
          <a:bodyPr wrap="square">
            <a:spAutoFit/>
          </a:bodyPr>
          <a:lstStyle/>
          <a:p>
            <a:r>
              <a:rPr lang="en-US" sz="2400" dirty="0"/>
              <a:t>🔄 </a:t>
            </a:r>
            <a:r>
              <a:rPr lang="en-US" sz="2400" b="1" dirty="0"/>
              <a:t>4. Data Receiving Process</a:t>
            </a:r>
            <a:endParaRPr lang="en-US" sz="2400" dirty="0"/>
          </a:p>
          <a:p>
            <a:r>
              <a:rPr lang="en-US" sz="2400" dirty="0"/>
              <a:t>When the RX pin receives a signal:</a:t>
            </a:r>
          </a:p>
          <a:p>
            <a:r>
              <a:rPr lang="en-US" sz="2400" b="1" dirty="0"/>
              <a:t>Detects the Start bit (logic 0)</a:t>
            </a:r>
            <a:r>
              <a:rPr lang="en-US" sz="2400" dirty="0"/>
              <a:t> → begins the reading process.</a:t>
            </a:r>
          </a:p>
          <a:p>
            <a:r>
              <a:rPr lang="en-US" sz="2400" b="1" dirty="0"/>
              <a:t>Samples each data bit</a:t>
            </a:r>
            <a:r>
              <a:rPr lang="en-US" sz="2400" dirty="0"/>
              <a:t> at the middle of its bit period.</a:t>
            </a:r>
          </a:p>
          <a:p>
            <a:r>
              <a:rPr lang="en-US" sz="2400" b="1" dirty="0"/>
              <a:t>Checks the Parity bit</a:t>
            </a:r>
            <a:r>
              <a:rPr lang="en-US" sz="2400" dirty="0"/>
              <a:t> (if used) to detect transmission errors.</a:t>
            </a:r>
          </a:p>
          <a:p>
            <a:r>
              <a:rPr lang="en-US" sz="2400" b="1" dirty="0"/>
              <a:t>Waits for the Stop bit (logic 1)</a:t>
            </a:r>
            <a:r>
              <a:rPr lang="en-US" sz="2400" dirty="0"/>
              <a:t> → marks the end of the frame.</a:t>
            </a:r>
          </a:p>
          <a:p>
            <a:r>
              <a:rPr lang="en-US" sz="2400" b="1" dirty="0"/>
              <a:t>Combines the 8 data bits</a:t>
            </a:r>
            <a:r>
              <a:rPr lang="en-US" sz="2400" dirty="0"/>
              <a:t> into one complete byte → passes it to the software (e.g., Serial Monitor or input buffer).</a:t>
            </a:r>
          </a:p>
        </p:txBody>
      </p:sp>
      <p:sp>
        <p:nvSpPr>
          <p:cNvPr id="4" name="AutoShape 4" descr="Figure 3. UART packet.">
            <a:extLst>
              <a:ext uri="{FF2B5EF4-FFF2-40B4-BE49-F238E27FC236}">
                <a16:creationId xmlns:a16="http://schemas.microsoft.com/office/drawing/2014/main" id="{54561C9A-E881-E351-280B-623E8B115CB4}"/>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extLst>
      <p:ext uri="{BB962C8B-B14F-4D97-AF65-F5344CB8AC3E}">
        <p14:creationId xmlns:p14="http://schemas.microsoft.com/office/powerpoint/2010/main" val="30579115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39378-B0E9-F44B-D1DA-E0DBBCD9F8C6}"/>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BA2148D4-B5B8-E250-A351-C4D44BC770A3}"/>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6C38B0F6-BFE8-0138-93B7-0CB1B8AD04A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2A9C3428-4ED9-EA69-4BF1-BF9BAE2BBA44}"/>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B4643BBD-DF5C-389B-ADA2-DEF87CD4FFE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7B8B1CB5-5E2C-E25E-4FA8-F5DA844DE2E9}"/>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How UART  work?</a:t>
            </a:r>
          </a:p>
        </p:txBody>
      </p:sp>
      <p:sp>
        <p:nvSpPr>
          <p:cNvPr id="6" name="TextBox 5">
            <a:extLst>
              <a:ext uri="{FF2B5EF4-FFF2-40B4-BE49-F238E27FC236}">
                <a16:creationId xmlns:a16="http://schemas.microsoft.com/office/drawing/2014/main" id="{3F74FFC8-785D-BEBE-3BFD-BC0C11E35489}"/>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08FDE952-E108-749D-B23C-E79FA7B30499}"/>
              </a:ext>
            </a:extLst>
          </p:cNvPr>
          <p:cNvSpPr txBox="1"/>
          <p:nvPr/>
        </p:nvSpPr>
        <p:spPr>
          <a:xfrm>
            <a:off x="315871" y="2298775"/>
            <a:ext cx="17678400" cy="1938992"/>
          </a:xfrm>
          <a:prstGeom prst="rect">
            <a:avLst/>
          </a:prstGeom>
          <a:noFill/>
        </p:spPr>
        <p:txBody>
          <a:bodyPr wrap="square">
            <a:spAutoFit/>
          </a:bodyPr>
          <a:lstStyle/>
          <a:p>
            <a:r>
              <a:rPr lang="en-US" sz="2400" dirty="0"/>
              <a:t>🔁 </a:t>
            </a:r>
            <a:r>
              <a:rPr lang="en-US" sz="2400" b="1" dirty="0"/>
              <a:t>5. Full-Duplex Communication</a:t>
            </a:r>
            <a:endParaRPr lang="en-US" sz="2400" dirty="0"/>
          </a:p>
          <a:p>
            <a:r>
              <a:rPr lang="en-US" sz="2400" dirty="0"/>
              <a:t>UART uses two independent lines:</a:t>
            </a:r>
          </a:p>
          <a:p>
            <a:r>
              <a:rPr lang="en-US" sz="2400" b="1" dirty="0"/>
              <a:t>TX (Transmit)</a:t>
            </a:r>
            <a:r>
              <a:rPr lang="en-US" sz="2400" dirty="0"/>
              <a:t> → sends data</a:t>
            </a:r>
          </a:p>
          <a:p>
            <a:r>
              <a:rPr lang="en-US" sz="2400" b="1" dirty="0"/>
              <a:t>RX (Receive)</a:t>
            </a:r>
            <a:r>
              <a:rPr lang="en-US" sz="2400" dirty="0"/>
              <a:t> → receives data</a:t>
            </a:r>
          </a:p>
          <a:p>
            <a:r>
              <a:rPr lang="en-US" sz="2400" dirty="0"/>
              <a:t>Therefore, two devices can </a:t>
            </a:r>
            <a:r>
              <a:rPr lang="en-US" sz="2400" b="1" dirty="0"/>
              <a:t>send and receive simultaneously</a:t>
            </a:r>
            <a:r>
              <a:rPr lang="en-US" sz="2400" dirty="0"/>
              <a:t>, for example:</a:t>
            </a:r>
          </a:p>
        </p:txBody>
      </p:sp>
      <p:sp>
        <p:nvSpPr>
          <p:cNvPr id="4" name="AutoShape 4" descr="Figure 3. UART packet.">
            <a:extLst>
              <a:ext uri="{FF2B5EF4-FFF2-40B4-BE49-F238E27FC236}">
                <a16:creationId xmlns:a16="http://schemas.microsoft.com/office/drawing/2014/main" id="{17FDDB6E-2714-AFFB-7C46-58F2CCA30ECA}"/>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3" name="Picture 12">
            <a:extLst>
              <a:ext uri="{FF2B5EF4-FFF2-40B4-BE49-F238E27FC236}">
                <a16:creationId xmlns:a16="http://schemas.microsoft.com/office/drawing/2014/main" id="{2B153064-BDD9-BFBA-AC59-B04A077182E8}"/>
              </a:ext>
            </a:extLst>
          </p:cNvPr>
          <p:cNvPicPr>
            <a:picLocks noChangeAspect="1"/>
          </p:cNvPicPr>
          <p:nvPr/>
        </p:nvPicPr>
        <p:blipFill>
          <a:blip r:embed="rId3"/>
          <a:stretch>
            <a:fillRect/>
          </a:stretch>
        </p:blipFill>
        <p:spPr>
          <a:xfrm>
            <a:off x="1676400" y="4568004"/>
            <a:ext cx="12382787" cy="1455791"/>
          </a:xfrm>
          <a:prstGeom prst="rect">
            <a:avLst/>
          </a:prstGeom>
        </p:spPr>
      </p:pic>
      <p:sp>
        <p:nvSpPr>
          <p:cNvPr id="15" name="TextBox 14">
            <a:extLst>
              <a:ext uri="{FF2B5EF4-FFF2-40B4-BE49-F238E27FC236}">
                <a16:creationId xmlns:a16="http://schemas.microsoft.com/office/drawing/2014/main" id="{F42BBFF8-407C-B069-3A85-7D412379AFCC}"/>
              </a:ext>
            </a:extLst>
          </p:cNvPr>
          <p:cNvSpPr txBox="1"/>
          <p:nvPr/>
        </p:nvSpPr>
        <p:spPr>
          <a:xfrm>
            <a:off x="381000" y="6354032"/>
            <a:ext cx="9918914" cy="1200329"/>
          </a:xfrm>
          <a:prstGeom prst="rect">
            <a:avLst/>
          </a:prstGeom>
          <a:noFill/>
        </p:spPr>
        <p:txBody>
          <a:bodyPr wrap="square">
            <a:spAutoFit/>
          </a:bodyPr>
          <a:lstStyle/>
          <a:p>
            <a:pPr>
              <a:buNone/>
            </a:pPr>
            <a:r>
              <a:rPr lang="en-US" sz="2400" dirty="0"/>
              <a:t>Both devices must be configured with the </a:t>
            </a:r>
            <a:r>
              <a:rPr lang="en-US" sz="2400" b="1" dirty="0"/>
              <a:t>same communication parameters</a:t>
            </a:r>
            <a:r>
              <a:rPr lang="en-US" sz="2400" dirty="0"/>
              <a:t>:</a:t>
            </a:r>
          </a:p>
          <a:p>
            <a:pPr>
              <a:buFont typeface="Arial" panose="020B0604020202020204" pitchFamily="34" charset="0"/>
              <a:buChar char="•"/>
            </a:pPr>
            <a:r>
              <a:rPr lang="en-US" sz="2400" dirty="0"/>
              <a:t>Same </a:t>
            </a:r>
            <a:r>
              <a:rPr lang="en-US" sz="2400" b="1" dirty="0"/>
              <a:t>baud rate</a:t>
            </a:r>
            <a:endParaRPr lang="en-US" sz="2400" dirty="0"/>
          </a:p>
          <a:p>
            <a:pPr>
              <a:buFont typeface="Arial" panose="020B0604020202020204" pitchFamily="34" charset="0"/>
              <a:buChar char="•"/>
            </a:pPr>
            <a:r>
              <a:rPr lang="en-US" sz="2400" dirty="0"/>
              <a:t>Same </a:t>
            </a:r>
            <a:r>
              <a:rPr lang="en-US" sz="2400" b="1" dirty="0"/>
              <a:t>number of data bits</a:t>
            </a:r>
            <a:r>
              <a:rPr lang="en-US" sz="2400" dirty="0"/>
              <a:t>, </a:t>
            </a:r>
            <a:r>
              <a:rPr lang="en-US" sz="2400" b="1" dirty="0"/>
              <a:t>parity</a:t>
            </a:r>
            <a:r>
              <a:rPr lang="en-US" sz="2400" dirty="0"/>
              <a:t>, and </a:t>
            </a:r>
            <a:r>
              <a:rPr lang="en-US" sz="2400" b="1" dirty="0"/>
              <a:t>stop bits</a:t>
            </a:r>
            <a:endParaRPr lang="en-US" sz="2400" dirty="0"/>
          </a:p>
        </p:txBody>
      </p:sp>
    </p:spTree>
    <p:extLst>
      <p:ext uri="{BB962C8B-B14F-4D97-AF65-F5344CB8AC3E}">
        <p14:creationId xmlns:p14="http://schemas.microsoft.com/office/powerpoint/2010/main" val="21066479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F5D3B-8FD6-C830-EF51-81FE61B2D65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F354779-C62D-DDAE-8D62-C861145619A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93599D0B-80CB-C9E6-6178-A2B631AD523B}"/>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CEB57393-1DF2-7FBA-8336-71EF8C61FA56}"/>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99AFF019-592B-82F3-05E5-5692FFC5F941}"/>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BFD007B7-01BD-3CEF-8F8E-D78346010A58}"/>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a:t>
            </a:r>
          </a:p>
        </p:txBody>
      </p:sp>
      <p:sp>
        <p:nvSpPr>
          <p:cNvPr id="6" name="TextBox 5">
            <a:extLst>
              <a:ext uri="{FF2B5EF4-FFF2-40B4-BE49-F238E27FC236}">
                <a16:creationId xmlns:a16="http://schemas.microsoft.com/office/drawing/2014/main" id="{F41AB4C9-6B43-4825-6928-60833989251C}"/>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F45783A3-71C5-501F-100C-5F6E80DFCE2C}"/>
              </a:ext>
            </a:extLst>
          </p:cNvPr>
          <p:cNvSpPr txBox="1"/>
          <p:nvPr/>
        </p:nvSpPr>
        <p:spPr>
          <a:xfrm>
            <a:off x="315871" y="2298775"/>
            <a:ext cx="17678400" cy="4893647"/>
          </a:xfrm>
          <a:prstGeom prst="rect">
            <a:avLst/>
          </a:prstGeom>
          <a:noFill/>
        </p:spPr>
        <p:txBody>
          <a:bodyPr wrap="square">
            <a:spAutoFit/>
          </a:bodyPr>
          <a:lstStyle/>
          <a:p>
            <a:pPr fontAlgn="base"/>
            <a:r>
              <a:rPr lang="en-US" sz="2600" b="1" dirty="0"/>
              <a:t>Pros of UART Protocol</a:t>
            </a:r>
          </a:p>
          <a:p>
            <a:pPr marL="342900" indent="-342900" fontAlgn="base">
              <a:buFont typeface="Arial" panose="020B0604020202020204" pitchFamily="34" charset="0"/>
              <a:buChar char="•"/>
            </a:pPr>
            <a:r>
              <a:rPr lang="en-US" sz="2600" dirty="0"/>
              <a:t>It is having less physical interfacing based on only two lines.  </a:t>
            </a:r>
          </a:p>
          <a:p>
            <a:pPr marL="342900" indent="-342900" fontAlgn="base">
              <a:buFont typeface="Arial" panose="020B0604020202020204" pitchFamily="34" charset="0"/>
              <a:buChar char="•"/>
            </a:pPr>
            <a:r>
              <a:rPr lang="en-US" sz="2600" dirty="0"/>
              <a:t>Simple to configure data and data size. Speed is also configurable. </a:t>
            </a:r>
          </a:p>
          <a:p>
            <a:pPr marL="342900" indent="-342900" fontAlgn="base">
              <a:buFont typeface="Arial" panose="020B0604020202020204" pitchFamily="34" charset="0"/>
              <a:buChar char="•"/>
            </a:pPr>
            <a:r>
              <a:rPr lang="en-US" sz="2600" dirty="0"/>
              <a:t>In the majority of cases, this baud rate is 9600 for the UART protocol. Full duplex mode configuration is possible by using two wires so that is the major advantage of UART. </a:t>
            </a:r>
          </a:p>
          <a:p>
            <a:pPr marL="342900" indent="-342900" fontAlgn="base">
              <a:buFont typeface="Arial" panose="020B0604020202020204" pitchFamily="34" charset="0"/>
              <a:buChar char="•"/>
            </a:pPr>
            <a:endParaRPr lang="en-US" sz="2600" dirty="0"/>
          </a:p>
          <a:p>
            <a:pPr fontAlgn="base"/>
            <a:endParaRPr lang="en-US" sz="2600" dirty="0"/>
          </a:p>
          <a:p>
            <a:pPr fontAlgn="base"/>
            <a:r>
              <a:rPr lang="en-US" sz="2600" b="1" dirty="0"/>
              <a:t>Cons of UART Protocol</a:t>
            </a:r>
          </a:p>
          <a:p>
            <a:pPr marL="342900" indent="-342900" fontAlgn="base">
              <a:buFont typeface="Arial" panose="020B0604020202020204" pitchFamily="34" charset="0"/>
              <a:buChar char="•"/>
            </a:pPr>
            <a:r>
              <a:rPr lang="en-US" sz="2600" dirty="0"/>
              <a:t>UART is having serial communication, therefore, it has less speed.</a:t>
            </a:r>
          </a:p>
          <a:p>
            <a:pPr marL="342900" indent="-342900" fontAlgn="base">
              <a:buFont typeface="Arial" panose="020B0604020202020204" pitchFamily="34" charset="0"/>
              <a:buChar char="•"/>
            </a:pPr>
            <a:r>
              <a:rPr lang="en-US" sz="2600" dirty="0"/>
              <a:t>Start bit, stop bit, and the parity bit is other overhead.  </a:t>
            </a:r>
          </a:p>
          <a:p>
            <a:pPr marL="342900" indent="-342900" fontAlgn="base">
              <a:buFont typeface="Arial" panose="020B0604020202020204" pitchFamily="34" charset="0"/>
              <a:buChar char="•"/>
            </a:pPr>
            <a:r>
              <a:rPr lang="en-US" sz="2600" dirty="0"/>
              <a:t>Since this is asynchronous communication so here there are many things that we need to do in configuration, for instance, we should configure both devices at the same speed because the clock signal is absent.</a:t>
            </a:r>
          </a:p>
        </p:txBody>
      </p:sp>
      <p:sp>
        <p:nvSpPr>
          <p:cNvPr id="4" name="AutoShape 4" descr="Figure 3. UART packet.">
            <a:extLst>
              <a:ext uri="{FF2B5EF4-FFF2-40B4-BE49-F238E27FC236}">
                <a16:creationId xmlns:a16="http://schemas.microsoft.com/office/drawing/2014/main" id="{C6012B36-5C07-AF92-FB1B-5321A3F1044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extLst>
      <p:ext uri="{BB962C8B-B14F-4D97-AF65-F5344CB8AC3E}">
        <p14:creationId xmlns:p14="http://schemas.microsoft.com/office/powerpoint/2010/main" val="25011761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D8822-D6EF-EF81-3F15-17A417ECC3F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033902A-2809-6326-A28D-1941A43C890D}"/>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A1461B10-50C4-CD43-2494-D118360F0A90}"/>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4AC80E76-8E2E-9181-9DE4-9CE5B7CA402F}"/>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24CDA6A4-B909-3173-DCE9-7F988114F18B}"/>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39C8FBF6-925E-1DA0-1601-889C74432C97}"/>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How UART  work?</a:t>
            </a:r>
          </a:p>
        </p:txBody>
      </p:sp>
      <p:sp>
        <p:nvSpPr>
          <p:cNvPr id="6" name="TextBox 5">
            <a:extLst>
              <a:ext uri="{FF2B5EF4-FFF2-40B4-BE49-F238E27FC236}">
                <a16:creationId xmlns:a16="http://schemas.microsoft.com/office/drawing/2014/main" id="{86380E03-2B3F-A036-DE7A-A2C0A7EC7873}"/>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31F3755B-3E25-5DDC-B96F-445D1755C52D}"/>
              </a:ext>
            </a:extLst>
          </p:cNvPr>
          <p:cNvSpPr txBox="1"/>
          <p:nvPr/>
        </p:nvSpPr>
        <p:spPr>
          <a:xfrm>
            <a:off x="315871" y="2298775"/>
            <a:ext cx="17678400" cy="5262979"/>
          </a:xfrm>
          <a:prstGeom prst="rect">
            <a:avLst/>
          </a:prstGeom>
          <a:noFill/>
        </p:spPr>
        <p:txBody>
          <a:bodyPr wrap="square">
            <a:spAutoFit/>
          </a:bodyPr>
          <a:lstStyle/>
          <a:p>
            <a:pPr fontAlgn="base"/>
            <a:r>
              <a:rPr lang="en-US" sz="2400" b="1" dirty="0"/>
              <a:t>Configuring the UART Communication Parameters</a:t>
            </a:r>
          </a:p>
          <a:p>
            <a:pPr fontAlgn="base"/>
            <a:r>
              <a:rPr lang="en-US" sz="2400" dirty="0"/>
              <a:t>In UART communication, both the transmitter and receiver must be configured with the same set of parameters; otherwise, data will be misread or lost. These parameters define the exact </a:t>
            </a:r>
            <a:r>
              <a:rPr lang="en-US" sz="2400" b="1" dirty="0"/>
              <a:t>format and timing</a:t>
            </a:r>
            <a:r>
              <a:rPr lang="en-US" sz="2400" dirty="0"/>
              <a:t> of the data exchange and are essential for reliable communication. The key parameters are:</a:t>
            </a:r>
          </a:p>
          <a:p>
            <a:pPr fontAlgn="base"/>
            <a:endParaRPr lang="en-US" sz="2400" dirty="0"/>
          </a:p>
          <a:p>
            <a:pPr fontAlgn="base"/>
            <a:r>
              <a:rPr lang="en-US" sz="2400" b="1" dirty="0"/>
              <a:t>Baud Rate</a:t>
            </a:r>
          </a:p>
          <a:p>
            <a:pPr fontAlgn="base"/>
            <a:r>
              <a:rPr lang="en-US" sz="2400" dirty="0"/>
              <a:t>The baud rate is a measure of how many bits per second a communication channel can transmit. It determines the speed at which data is sent or received in serial communication.</a:t>
            </a:r>
          </a:p>
          <a:p>
            <a:pPr fontAlgn="base"/>
            <a:r>
              <a:rPr lang="en-US" sz="2400" dirty="0"/>
              <a:t>Common baud rate values include 2400, 4800, 9600, 115200 and more. The choice of baud rate depends on the requirements of your specific project and the capabilities of the external device. Both the transmitting and receiving devices need to operate at the same baud rate to ensure data is properly sent and received.</a:t>
            </a:r>
          </a:p>
          <a:p>
            <a:pPr fontAlgn="base"/>
            <a:r>
              <a:rPr lang="en-US" sz="2400" dirty="0"/>
              <a:t>If you set a UART communication channel to a baud rate of 115200, it means that the channel can transmit data at a rate of 115200 bits per second.</a:t>
            </a:r>
          </a:p>
          <a:p>
            <a:pPr fontAlgn="base"/>
            <a:endParaRPr lang="en-US" sz="2400" dirty="0"/>
          </a:p>
        </p:txBody>
      </p:sp>
      <p:sp>
        <p:nvSpPr>
          <p:cNvPr id="4" name="AutoShape 4" descr="Figure 3. UART packet.">
            <a:extLst>
              <a:ext uri="{FF2B5EF4-FFF2-40B4-BE49-F238E27FC236}">
                <a16:creationId xmlns:a16="http://schemas.microsoft.com/office/drawing/2014/main" id="{1A10A739-EACA-50A6-4C20-93B998E39A9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extLst>
      <p:ext uri="{BB962C8B-B14F-4D97-AF65-F5344CB8AC3E}">
        <p14:creationId xmlns:p14="http://schemas.microsoft.com/office/powerpoint/2010/main" val="31193109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DEEDB-4B61-E705-4A57-185695BCB710}"/>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91B3DB4F-8ABD-A3BB-6762-7BE01BECD0F4}"/>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89B76DBF-BE2A-4E77-F3A5-BA6CC8D0DAD2}"/>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C27EFC0F-5CA1-6EB1-F43C-70E2C2CBD369}"/>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67E301D5-2735-5BA6-6357-2D0ADC844765}"/>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CB13F49F-9A80-9666-A2A5-D6C876F152AC}"/>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Flow Control in UART</a:t>
            </a:r>
          </a:p>
        </p:txBody>
      </p:sp>
      <p:sp>
        <p:nvSpPr>
          <p:cNvPr id="6" name="TextBox 5">
            <a:extLst>
              <a:ext uri="{FF2B5EF4-FFF2-40B4-BE49-F238E27FC236}">
                <a16:creationId xmlns:a16="http://schemas.microsoft.com/office/drawing/2014/main" id="{EED6011D-B950-1F0F-0DF2-BCE8CB582495}"/>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73FE7F34-0BF6-7EBE-7173-7B219E9D6DE8}"/>
              </a:ext>
            </a:extLst>
          </p:cNvPr>
          <p:cNvSpPr txBox="1"/>
          <p:nvPr/>
        </p:nvSpPr>
        <p:spPr>
          <a:xfrm>
            <a:off x="315871" y="2298775"/>
            <a:ext cx="17678400" cy="4524315"/>
          </a:xfrm>
          <a:prstGeom prst="rect">
            <a:avLst/>
          </a:prstGeom>
          <a:noFill/>
        </p:spPr>
        <p:txBody>
          <a:bodyPr wrap="square">
            <a:spAutoFit/>
          </a:bodyPr>
          <a:lstStyle/>
          <a:p>
            <a:pPr marL="342900" indent="-342900">
              <a:buFont typeface="Arial" panose="020B0604020202020204" pitchFamily="34" charset="0"/>
              <a:buChar char="•"/>
            </a:pPr>
            <a:r>
              <a:rPr lang="en-US" sz="2400" dirty="0"/>
              <a:t>UART Flow Control is a method for slow and fast devices to communicate with each other over UART without the risk of losing data. Consider the case where two units are communicating over UART.</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A transmitter T is sending a long stream of bytes to a receiver R. R is a slower device than T, and R cannot keep up. It needs to either do some processing on the data or empty some buffers before it can keep receiving data.</a:t>
            </a:r>
          </a:p>
          <a:p>
            <a:pPr marL="342900" indent="-342900">
              <a:buFont typeface="Arial" panose="020B0604020202020204" pitchFamily="34" charset="0"/>
              <a:buChar char="•"/>
            </a:pPr>
            <a:r>
              <a:rPr lang="en-US" sz="2400" dirty="0"/>
              <a:t>R needs to tell T to stop transmitting for a while. This is where flow control comes in.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Flow control provides extra signaling to inform the transmitter that it should stop (pause) or start (resume) the transmission.</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Several forms of flow control exist. For example, hardware flow control uses extra wires, where the logic level on these wires define whether the transmitter should keep sending data or stop. With software flow control, special characters are sent over the normal data lines to start or stop the transmission.</a:t>
            </a:r>
          </a:p>
        </p:txBody>
      </p:sp>
      <p:sp>
        <p:nvSpPr>
          <p:cNvPr id="4" name="AutoShape 4" descr="Figure 3. UART packet.">
            <a:extLst>
              <a:ext uri="{FF2B5EF4-FFF2-40B4-BE49-F238E27FC236}">
                <a16:creationId xmlns:a16="http://schemas.microsoft.com/office/drawing/2014/main" id="{970FA36E-0C4E-60ED-0CEB-FF5B7B1E1177}"/>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extLst>
      <p:ext uri="{BB962C8B-B14F-4D97-AF65-F5344CB8AC3E}">
        <p14:creationId xmlns:p14="http://schemas.microsoft.com/office/powerpoint/2010/main" val="4424881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25901-C012-7E7B-B3AA-A60637BC03E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9253E5D-43CF-ABC1-F33B-E432E648C1D9}"/>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84157919-AB03-1230-A47B-34922A49CC21}"/>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C837BF7C-A830-8ACB-5B9E-54791447630E}"/>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8ABDD418-C5FF-0B20-1A01-D2FD57E75D43}"/>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1112E300-ACCF-C647-DF46-FE899837A8BE}"/>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C392E9BE-745B-599C-8109-1B407EBB2C21}"/>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FFFD1F8C-E1E7-B34E-B224-108CB1FB2D0A}"/>
              </a:ext>
            </a:extLst>
          </p:cNvPr>
          <p:cNvSpPr txBox="1"/>
          <p:nvPr/>
        </p:nvSpPr>
        <p:spPr>
          <a:xfrm>
            <a:off x="315871" y="2298775"/>
            <a:ext cx="17678400" cy="1477328"/>
          </a:xfrm>
          <a:prstGeom prst="rect">
            <a:avLst/>
          </a:prstGeom>
          <a:noFill/>
        </p:spPr>
        <p:txBody>
          <a:bodyPr wrap="square">
            <a:spAutoFit/>
          </a:bodyPr>
          <a:lstStyle/>
          <a:p>
            <a:pPr marL="342900" indent="-342900">
              <a:buFont typeface="Arial" panose="020B0604020202020204" pitchFamily="34" charset="0"/>
              <a:buChar char="•"/>
            </a:pPr>
            <a:r>
              <a:rPr lang="en-US" sz="2400" dirty="0"/>
              <a:t>In UART communication, each data frame is encapsulated by start and stop bits. These bits serve a vital role in establishing the boundaries of data transmission and ensuring synchronization between the sender and receiver</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vi-VN" b="1" dirty="0"/>
              <a:t>Frame Format</a:t>
            </a:r>
            <a:endParaRPr lang="en-US" sz="2400" dirty="0"/>
          </a:p>
        </p:txBody>
      </p:sp>
      <p:sp>
        <p:nvSpPr>
          <p:cNvPr id="4" name="AutoShape 4" descr="Figure 3. UART packet.">
            <a:extLst>
              <a:ext uri="{FF2B5EF4-FFF2-40B4-BE49-F238E27FC236}">
                <a16:creationId xmlns:a16="http://schemas.microsoft.com/office/drawing/2014/main" id="{2ACC930A-C353-22FF-3FEE-E9ACA33F2AC3}"/>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4" name="Picture 13">
            <a:extLst>
              <a:ext uri="{FF2B5EF4-FFF2-40B4-BE49-F238E27FC236}">
                <a16:creationId xmlns:a16="http://schemas.microsoft.com/office/drawing/2014/main" id="{B59EFA95-0DDB-8E97-AEF6-A3BAE67E30FC}"/>
              </a:ext>
            </a:extLst>
          </p:cNvPr>
          <p:cNvPicPr>
            <a:picLocks noChangeAspect="1"/>
          </p:cNvPicPr>
          <p:nvPr/>
        </p:nvPicPr>
        <p:blipFill>
          <a:blip r:embed="rId3"/>
          <a:stretch>
            <a:fillRect/>
          </a:stretch>
        </p:blipFill>
        <p:spPr>
          <a:xfrm>
            <a:off x="2206738" y="3776103"/>
            <a:ext cx="14179323" cy="6243135"/>
          </a:xfrm>
          <a:prstGeom prst="rect">
            <a:avLst/>
          </a:prstGeom>
        </p:spPr>
      </p:pic>
    </p:spTree>
    <p:extLst>
      <p:ext uri="{BB962C8B-B14F-4D97-AF65-F5344CB8AC3E}">
        <p14:creationId xmlns:p14="http://schemas.microsoft.com/office/powerpoint/2010/main" val="9942680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44407-B550-5106-89BA-6D622972019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8D21E60-D14F-B6B1-E9E6-2F7F51135431}"/>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851880DB-D9EA-D42A-0FE4-9132CB022272}"/>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ACB9A264-B8D9-7234-9550-B754D4444D02}"/>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D3EF3FAD-F03D-F9F2-0A95-1F0A3B18C21B}"/>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8803567A-4A82-5568-29DB-B0EFCE3A18B2}"/>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B1057D55-1CB3-B476-C382-EDD3E453FEC3}"/>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99AAFEBF-2423-4071-FCA8-B6AFCF584035}"/>
              </a:ext>
            </a:extLst>
          </p:cNvPr>
          <p:cNvSpPr txBox="1"/>
          <p:nvPr/>
        </p:nvSpPr>
        <p:spPr>
          <a:xfrm>
            <a:off x="304800" y="2113071"/>
            <a:ext cx="17678400" cy="3877985"/>
          </a:xfrm>
          <a:prstGeom prst="rect">
            <a:avLst/>
          </a:prstGeom>
          <a:noFill/>
        </p:spPr>
        <p:txBody>
          <a:bodyPr wrap="square">
            <a:spAutoFit/>
          </a:bodyPr>
          <a:lstStyle/>
          <a:p>
            <a:pPr marL="457200" indent="-457200">
              <a:buFont typeface="Wingdings" panose="05000000000000000000" pitchFamily="2" charset="2"/>
              <a:buChar char="q"/>
            </a:pPr>
            <a:r>
              <a:rPr lang="en-US" sz="3000" b="1" dirty="0"/>
              <a:t>Start Bit</a:t>
            </a:r>
          </a:p>
          <a:p>
            <a:pPr marL="342900" indent="-342900">
              <a:buFont typeface="Arial" panose="020B0604020202020204" pitchFamily="34" charset="0"/>
              <a:buChar char="•"/>
            </a:pPr>
            <a:endParaRPr lang="en-US" sz="2400" b="1" dirty="0"/>
          </a:p>
          <a:p>
            <a:pPr marL="342900" indent="-342900">
              <a:buFont typeface="Arial" panose="020B0604020202020204" pitchFamily="34" charset="0"/>
              <a:buChar char="•"/>
            </a:pPr>
            <a:r>
              <a:rPr lang="en-US" sz="2400" dirty="0"/>
              <a:t>A single start bit is transmitted at the beginning of each UART frame. The primary purpose of the start bit is to indicate the start of the data transmission and prepare the receiver for data reception.</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start bit is always logic low (0) for UART communication. This means that the start bit is transmitted as a voltage level that is lower than the logic high threshold, typically at the receiver's end.</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When the receiver detects a start bit, it knows that a new data frame is beginning, and it prepares to receive the incoming bits.</a:t>
            </a:r>
          </a:p>
          <a:p>
            <a:pPr marL="342900" indent="-342900">
              <a:buFont typeface="Arial" panose="020B0604020202020204" pitchFamily="34" charset="0"/>
              <a:buChar char="•"/>
            </a:pPr>
            <a:endParaRPr lang="en-US" sz="2400" b="1" dirty="0"/>
          </a:p>
        </p:txBody>
      </p:sp>
      <p:sp>
        <p:nvSpPr>
          <p:cNvPr id="4" name="AutoShape 4" descr="Figure 3. UART packet.">
            <a:extLst>
              <a:ext uri="{FF2B5EF4-FFF2-40B4-BE49-F238E27FC236}">
                <a16:creationId xmlns:a16="http://schemas.microsoft.com/office/drawing/2014/main" id="{0B1675E4-BE13-E93E-7B8E-6668C9301D0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8434" name="Picture 2" descr="img">
            <a:extLst>
              <a:ext uri="{FF2B5EF4-FFF2-40B4-BE49-F238E27FC236}">
                <a16:creationId xmlns:a16="http://schemas.microsoft.com/office/drawing/2014/main" id="{F71BF99B-B6F4-C368-FDCF-76C4654C4B4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63341" y="5709791"/>
            <a:ext cx="7924800" cy="4457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54330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285C6-6A3D-E100-C1D2-1703A1CF92F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2E77751-E189-2B35-3CC2-6FF3AB59815C}"/>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5F2E1A9F-A5F4-A6E4-8502-75D7AD3EFBD4}"/>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F7FD9572-35CA-C850-2AB6-E9B8E9794D3B}"/>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DCF77D4B-FC7A-0DF2-3403-342FC23E129E}"/>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386A20E6-659D-4652-E0B7-90FC742FEE9C}"/>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09F1E1D6-C727-5A83-A5F5-1D09C78C6BF1}"/>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331F3AC5-D93E-78B9-721B-59F0F145CEE6}"/>
              </a:ext>
            </a:extLst>
          </p:cNvPr>
          <p:cNvSpPr txBox="1"/>
          <p:nvPr/>
        </p:nvSpPr>
        <p:spPr>
          <a:xfrm>
            <a:off x="304800" y="2113071"/>
            <a:ext cx="17678400" cy="2031325"/>
          </a:xfrm>
          <a:prstGeom prst="rect">
            <a:avLst/>
          </a:prstGeom>
          <a:noFill/>
        </p:spPr>
        <p:txBody>
          <a:bodyPr wrap="square">
            <a:spAutoFit/>
          </a:bodyPr>
          <a:lstStyle/>
          <a:p>
            <a:pPr marL="457200" indent="-457200">
              <a:buFont typeface="Wingdings" panose="05000000000000000000" pitchFamily="2" charset="2"/>
              <a:buChar char="q"/>
            </a:pPr>
            <a:r>
              <a:rPr lang="en-US" sz="3000" b="1" dirty="0"/>
              <a:t>Data Bits</a:t>
            </a:r>
          </a:p>
          <a:p>
            <a:pPr marL="342900" indent="-342900">
              <a:buFont typeface="Arial" panose="020B0604020202020204" pitchFamily="34" charset="0"/>
              <a:buChar char="•"/>
            </a:pPr>
            <a:endParaRPr lang="en-US" sz="2400" b="1" dirty="0"/>
          </a:p>
          <a:p>
            <a:pPr marL="342900" indent="-342900">
              <a:buFont typeface="Arial" panose="020B0604020202020204" pitchFamily="34" charset="0"/>
              <a:buChar char="•"/>
            </a:pPr>
            <a:r>
              <a:rPr lang="en-US" sz="2400" dirty="0"/>
              <a:t>Data bits are a fundamental component of UART communication as they carry the actual information to be transmitted. The number of data bits in a UART frame can vary, but a common and widely used configuration is 8 bits. However, UART supports various character sizes, including 7-bit and 6-bit configurations, depending on the specific application requirements.</a:t>
            </a:r>
            <a:endParaRPr lang="en-US" sz="2400" b="1" dirty="0"/>
          </a:p>
        </p:txBody>
      </p:sp>
      <p:sp>
        <p:nvSpPr>
          <p:cNvPr id="4" name="AutoShape 4" descr="Figure 3. UART packet.">
            <a:extLst>
              <a:ext uri="{FF2B5EF4-FFF2-40B4-BE49-F238E27FC236}">
                <a16:creationId xmlns:a16="http://schemas.microsoft.com/office/drawing/2014/main" id="{A59E4866-61E5-DB40-CAB1-D48B85AF486E}"/>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9458" name="Picture 2" descr="Data Bits">
            <a:extLst>
              <a:ext uri="{FF2B5EF4-FFF2-40B4-BE49-F238E27FC236}">
                <a16:creationId xmlns:a16="http://schemas.microsoft.com/office/drawing/2014/main" id="{76178898-D03F-51CF-65AD-89783DD2E0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8600" y="4314368"/>
            <a:ext cx="9319955" cy="5247851"/>
          </a:xfrm>
          <a:prstGeom prst="rect">
            <a:avLst/>
          </a:prstGeom>
          <a:noFill/>
          <a:extLst>
            <a:ext uri="{909E8E84-426E-40DD-AFC4-6F175D3DCCD1}">
              <a14:hiddenFill xmlns:a14="http://schemas.microsoft.com/office/drawing/2010/main">
                <a:solidFill>
                  <a:srgbClr val="FFFFFF"/>
                </a:solidFill>
              </a14:hiddenFill>
            </a:ext>
          </a:extLst>
        </p:spPr>
      </p:pic>
      <p:pic>
        <p:nvPicPr>
          <p:cNvPr id="19460" name="Picture 4">
            <a:extLst>
              <a:ext uri="{FF2B5EF4-FFF2-40B4-BE49-F238E27FC236}">
                <a16:creationId xmlns:a16="http://schemas.microsoft.com/office/drawing/2014/main" id="{6E884D32-DD18-40FA-AD0A-0C6A6244D5A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5327" y="8112941"/>
            <a:ext cx="6286500" cy="1619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05568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4EF5B-F6D6-D8AA-3591-4990C59CADD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924393A-1F11-4BD8-E5F7-9626D6F94D37}"/>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5E827361-DB25-18D4-7B09-F9B2F9977E06}"/>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D1A3DBA6-3B67-BB8E-04BF-9DE12D9D2A31}"/>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A3AA4FC8-48B1-0C06-3815-D936F7D56C4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523191CE-3502-0B4B-DFDD-28FF165D111D}"/>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31B13CFD-8BB7-1B82-DA48-9A4184CF22F9}"/>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363CCE6B-EBCC-E3A8-2DE9-9BA291620C89}"/>
              </a:ext>
            </a:extLst>
          </p:cNvPr>
          <p:cNvSpPr txBox="1"/>
          <p:nvPr/>
        </p:nvSpPr>
        <p:spPr>
          <a:xfrm>
            <a:off x="304800" y="2113071"/>
            <a:ext cx="17678400" cy="5447645"/>
          </a:xfrm>
          <a:prstGeom prst="rect">
            <a:avLst/>
          </a:prstGeom>
          <a:noFill/>
        </p:spPr>
        <p:txBody>
          <a:bodyPr wrap="square">
            <a:spAutoFit/>
          </a:bodyPr>
          <a:lstStyle/>
          <a:p>
            <a:pPr marL="457200" indent="-457200">
              <a:buFont typeface="Wingdings" panose="05000000000000000000" pitchFamily="2" charset="2"/>
              <a:buChar char="q"/>
            </a:pPr>
            <a:r>
              <a:rPr lang="vi-VN" sz="3000" b="1" dirty="0"/>
              <a:t>Character Size</a:t>
            </a:r>
            <a:endParaRPr lang="en-US" sz="3000" b="1" dirty="0"/>
          </a:p>
          <a:p>
            <a:endParaRPr lang="en-US" sz="3000" b="1" dirty="0"/>
          </a:p>
          <a:p>
            <a:r>
              <a:rPr lang="en-US" sz="2400" dirty="0"/>
              <a:t>The character size in UART communication is defined by the number of data bits within a frame. It's essential to choose the appropriate character size to match the requirements of the data being transmitted. Here are some common character size configurations:</a:t>
            </a:r>
          </a:p>
          <a:p>
            <a:endParaRPr lang="en-US" sz="2400" dirty="0"/>
          </a:p>
          <a:p>
            <a:pPr marL="342900" indent="-342900">
              <a:buFont typeface="Arial" panose="020B0604020202020204" pitchFamily="34" charset="0"/>
              <a:buChar char="•"/>
            </a:pPr>
            <a:r>
              <a:rPr lang="en-US" sz="2400" dirty="0"/>
              <a:t>8-Bit: This is the most prevalent character size in UART communication. It allows for the transmission of a byte of data, which can represent a wide range of values, including ASCII characters, numerical values, and more.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7-Bit: In cases where data size needs to be smaller, 7-bit character size is utilized. It's suitable for applications that require less data overhead and can represent 128 different values.</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6-Bit: For even more compact data representation, 6-bit character size can be used. This configuration provides the ability to represent 64 different values.</a:t>
            </a:r>
          </a:p>
          <a:p>
            <a:pPr marL="342900" indent="-342900">
              <a:buFont typeface="Arial" panose="020B0604020202020204" pitchFamily="34" charset="0"/>
              <a:buChar char="•"/>
            </a:pPr>
            <a:endParaRPr lang="en-US" sz="2400" b="1" dirty="0"/>
          </a:p>
        </p:txBody>
      </p:sp>
      <p:sp>
        <p:nvSpPr>
          <p:cNvPr id="4" name="AutoShape 4" descr="Figure 3. UART packet.">
            <a:extLst>
              <a:ext uri="{FF2B5EF4-FFF2-40B4-BE49-F238E27FC236}">
                <a16:creationId xmlns:a16="http://schemas.microsoft.com/office/drawing/2014/main" id="{267224A0-CA79-6A32-6523-8041E7229E77}"/>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Tree>
    <p:extLst>
      <p:ext uri="{BB962C8B-B14F-4D97-AF65-F5344CB8AC3E}">
        <p14:creationId xmlns:p14="http://schemas.microsoft.com/office/powerpoint/2010/main" val="24072588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FF79E-5F5B-FA8A-263E-38F143427BE2}"/>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2952A673-9754-A212-86BC-EA3B694202CB}"/>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0BA91F19-0A24-0E42-9397-840F572C1D4E}"/>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5C30F22-64A4-5C6B-06E4-A9D6897E63B9}"/>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EE160F2-E5F3-1F50-D0BE-938EA79FD8D7}"/>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CFD08FB3-0CA2-504E-A71D-D2AC22963B54}"/>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38568FC0-68AB-DA81-C613-468785FFB8C0}"/>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0989EF75-F302-7B7D-A44F-AF24AC576F18}"/>
              </a:ext>
            </a:extLst>
          </p:cNvPr>
          <p:cNvSpPr txBox="1"/>
          <p:nvPr/>
        </p:nvSpPr>
        <p:spPr>
          <a:xfrm>
            <a:off x="304800" y="2113071"/>
            <a:ext cx="17678400" cy="1754326"/>
          </a:xfrm>
          <a:prstGeom prst="rect">
            <a:avLst/>
          </a:prstGeom>
          <a:noFill/>
        </p:spPr>
        <p:txBody>
          <a:bodyPr wrap="square">
            <a:spAutoFit/>
          </a:bodyPr>
          <a:lstStyle/>
          <a:p>
            <a:pPr marL="457200" indent="-457200">
              <a:buFont typeface="Wingdings" panose="05000000000000000000" pitchFamily="2" charset="2"/>
              <a:buChar char="q"/>
            </a:pPr>
            <a:r>
              <a:rPr lang="en-US" sz="3000" b="1" dirty="0"/>
              <a:t>Data Bits</a:t>
            </a:r>
          </a:p>
          <a:p>
            <a:endParaRPr lang="en-US" sz="3000" b="1" dirty="0"/>
          </a:p>
          <a:p>
            <a:r>
              <a:rPr lang="en-US" sz="2400" dirty="0"/>
              <a:t>Data bits represent the number of bits in each data byte. Common values are 5, 6, 7, 8 or 9. The most common configuration is 8 data bits, which allows for 256 different values (2^8) in each byte.</a:t>
            </a:r>
            <a:endParaRPr lang="en-US" sz="2400" b="1" dirty="0"/>
          </a:p>
        </p:txBody>
      </p:sp>
      <p:sp>
        <p:nvSpPr>
          <p:cNvPr id="4" name="AutoShape 4" descr="Figure 3. UART packet.">
            <a:extLst>
              <a:ext uri="{FF2B5EF4-FFF2-40B4-BE49-F238E27FC236}">
                <a16:creationId xmlns:a16="http://schemas.microsoft.com/office/drawing/2014/main" id="{E4B43089-23A6-3BE0-B0B8-0361CF8D1EEA}"/>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22530" name="Picture 2" descr="Various Possible UART Transmission Packet">
            <a:extLst>
              <a:ext uri="{FF2B5EF4-FFF2-40B4-BE49-F238E27FC236}">
                <a16:creationId xmlns:a16="http://schemas.microsoft.com/office/drawing/2014/main" id="{E07EA9A7-13E3-A1D5-3C00-156B0190BA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4113539"/>
            <a:ext cx="10058400" cy="5657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45714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4F25D-2036-31A4-5870-DFC1E852349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389B5C1-6F4A-EFC2-84D6-97AFB2F7CD45}"/>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9B09543D-FA58-1D64-7ACF-819B7EEBB778}"/>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CFD085D7-675A-51BF-CB5D-76A9015E27BE}"/>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0565F67E-81D7-E07B-EBFB-16DEB4A552DF}"/>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09BAEAF5-14AE-9936-7DCF-527EBA08076C}"/>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5F39AB2B-58DB-7673-50BE-DA6F8FC6A0E1}"/>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CB1E8B77-5FB8-2164-0790-0163EA08BB82}"/>
              </a:ext>
            </a:extLst>
          </p:cNvPr>
          <p:cNvSpPr txBox="1"/>
          <p:nvPr/>
        </p:nvSpPr>
        <p:spPr>
          <a:xfrm>
            <a:off x="304800" y="2467415"/>
            <a:ext cx="17678400" cy="3508653"/>
          </a:xfrm>
          <a:prstGeom prst="rect">
            <a:avLst/>
          </a:prstGeom>
          <a:noFill/>
        </p:spPr>
        <p:txBody>
          <a:bodyPr wrap="square">
            <a:spAutoFit/>
          </a:bodyPr>
          <a:lstStyle/>
          <a:p>
            <a:pPr marL="457200" indent="-457200">
              <a:buFont typeface="Wingdings" panose="05000000000000000000" pitchFamily="2" charset="2"/>
              <a:buChar char="q"/>
            </a:pPr>
            <a:r>
              <a:rPr lang="en-US" sz="3000" b="1" dirty="0"/>
              <a:t>Data Encoding</a:t>
            </a:r>
          </a:p>
          <a:p>
            <a:endParaRPr lang="en-US" sz="2400" b="1" dirty="0"/>
          </a:p>
          <a:p>
            <a:pPr marL="342900" indent="-342900">
              <a:buFont typeface="Arial" panose="020B0604020202020204" pitchFamily="34" charset="0"/>
              <a:buChar char="•"/>
            </a:pPr>
            <a:r>
              <a:rPr lang="en-US" sz="2400" dirty="0"/>
              <a:t>Data bits represent the characters or data using binary encoding, where each bit corresponds to a power of 2.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Each bit within the data byte holds a specific position and weight in the binary representation.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This encoding allows for the transmission of a wide range of information, making UART versatile for various data types, from simple text characters to complex binary data.</a:t>
            </a:r>
          </a:p>
          <a:p>
            <a:endParaRPr lang="en-US" sz="2400" b="1" dirty="0"/>
          </a:p>
        </p:txBody>
      </p:sp>
      <p:sp>
        <p:nvSpPr>
          <p:cNvPr id="4" name="AutoShape 4" descr="Figure 3. UART packet.">
            <a:extLst>
              <a:ext uri="{FF2B5EF4-FFF2-40B4-BE49-F238E27FC236}">
                <a16:creationId xmlns:a16="http://schemas.microsoft.com/office/drawing/2014/main" id="{FCE93C97-2DBB-0DEB-4435-2903299455FA}"/>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sp>
        <p:nvSpPr>
          <p:cNvPr id="9" name="TextBox 8">
            <a:extLst>
              <a:ext uri="{FF2B5EF4-FFF2-40B4-BE49-F238E27FC236}">
                <a16:creationId xmlns:a16="http://schemas.microsoft.com/office/drawing/2014/main" id="{B5DDA825-24FE-28FF-ACF5-1A0E8D6DD17C}"/>
              </a:ext>
            </a:extLst>
          </p:cNvPr>
          <p:cNvSpPr txBox="1"/>
          <p:nvPr/>
        </p:nvSpPr>
        <p:spPr>
          <a:xfrm>
            <a:off x="304800" y="5880592"/>
            <a:ext cx="17678400" cy="3877985"/>
          </a:xfrm>
          <a:prstGeom prst="rect">
            <a:avLst/>
          </a:prstGeom>
          <a:noFill/>
        </p:spPr>
        <p:txBody>
          <a:bodyPr wrap="square">
            <a:spAutoFit/>
          </a:bodyPr>
          <a:lstStyle/>
          <a:p>
            <a:pPr marL="457200" indent="-457200">
              <a:buFont typeface="Wingdings" panose="05000000000000000000" pitchFamily="2" charset="2"/>
              <a:buChar char="q"/>
            </a:pPr>
            <a:r>
              <a:rPr lang="vi-VN" sz="3000" b="1" dirty="0"/>
              <a:t>Data Integrity</a:t>
            </a:r>
            <a:endParaRPr lang="en-US" sz="3000" b="1" dirty="0"/>
          </a:p>
          <a:p>
            <a:pPr marL="457200" indent="-457200">
              <a:buFont typeface="Wingdings" panose="05000000000000000000" pitchFamily="2" charset="2"/>
              <a:buChar char="q"/>
            </a:pPr>
            <a:endParaRPr lang="en-US" sz="2400" b="1" dirty="0"/>
          </a:p>
          <a:p>
            <a:pPr marL="342900" indent="-342900">
              <a:buFont typeface="Arial" panose="020B0604020202020204" pitchFamily="34" charset="0"/>
              <a:buChar char="•"/>
            </a:pPr>
            <a:r>
              <a:rPr lang="en-US" sz="2400" dirty="0"/>
              <a:t>The accuracy of data transmission in UART communication relies on the proper configuration of data bits.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It's essential that both the transmitter and receiver agree on the number of data bits and their encoding.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If the configuration is incorrect, data corruption can occur.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For example, if the transmitter sends data as 8-bit characters, but the receiver is configured to expect 7-bit characters, data may be misinterpreted, leading to errors in the received information.</a:t>
            </a:r>
            <a:endParaRPr lang="en-US" sz="2400" b="1" dirty="0"/>
          </a:p>
        </p:txBody>
      </p:sp>
    </p:spTree>
    <p:extLst>
      <p:ext uri="{BB962C8B-B14F-4D97-AF65-F5344CB8AC3E}">
        <p14:creationId xmlns:p14="http://schemas.microsoft.com/office/powerpoint/2010/main" val="8771014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D9144-5895-0FEC-66A9-876B7F2B81A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2341AE8-AF61-0457-6850-3247C55EC8AA}"/>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DA1048CC-F884-56BB-B7B0-F345E79D0DEB}"/>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1F249A94-D60C-5067-9AE9-48A84EEB5821}"/>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DF2C0864-5258-734C-6F18-A6A5D9254686}"/>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3582734F-B5C8-AB53-C17F-7BD58F0FB5B0}"/>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6D84E017-FC56-7F9C-319E-586CC2020FDB}"/>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D1B24B40-97B8-D2AB-3F3A-53CD40371219}"/>
              </a:ext>
            </a:extLst>
          </p:cNvPr>
          <p:cNvSpPr txBox="1"/>
          <p:nvPr/>
        </p:nvSpPr>
        <p:spPr>
          <a:xfrm>
            <a:off x="304800" y="2137208"/>
            <a:ext cx="17678400" cy="3785652"/>
          </a:xfrm>
          <a:prstGeom prst="rect">
            <a:avLst/>
          </a:prstGeom>
          <a:noFill/>
        </p:spPr>
        <p:txBody>
          <a:bodyPr wrap="square">
            <a:spAutoFit/>
          </a:bodyPr>
          <a:lstStyle/>
          <a:p>
            <a:pPr marL="457200" indent="-457200">
              <a:buFont typeface="Wingdings" panose="05000000000000000000" pitchFamily="2" charset="2"/>
              <a:buChar char="q"/>
            </a:pPr>
            <a:r>
              <a:rPr lang="en-US" sz="3000" b="1" dirty="0"/>
              <a:t>Parity</a:t>
            </a:r>
          </a:p>
          <a:p>
            <a:endParaRPr lang="en-US" sz="2400" b="1" dirty="0"/>
          </a:p>
          <a:p>
            <a:pPr marL="285750" indent="-285750">
              <a:buFont typeface="Arial" panose="020B0604020202020204" pitchFamily="34" charset="0"/>
              <a:buChar char="•"/>
            </a:pPr>
            <a:r>
              <a:rPr lang="en-US" sz="2400" dirty="0"/>
              <a:t>In addition to data bits, UART communication may include a parity bit as part of the data frame. Parity is an error-checking mechanism that can help detect data transmission errors.</a:t>
            </a:r>
          </a:p>
          <a:p>
            <a:pPr marL="285750" indent="-285750">
              <a:buFont typeface="Arial" panose="020B0604020202020204" pitchFamily="34" charset="0"/>
              <a:buChar char="•"/>
            </a:pPr>
            <a:r>
              <a:rPr lang="en-US" sz="2400" dirty="0"/>
              <a:t> Parity can be set to "odd" or "even," and it ensures that the total number of bits set to logic "1" in a character is either even or odd, depending on the chosen parity type. </a:t>
            </a:r>
          </a:p>
          <a:p>
            <a:pPr marL="285750" indent="-285750">
              <a:buFont typeface="Arial" panose="020B0604020202020204" pitchFamily="34" charset="0"/>
              <a:buChar char="•"/>
            </a:pPr>
            <a:r>
              <a:rPr lang="en-US" sz="2400" dirty="0"/>
              <a:t>The presence of a parity bit allows the receiver to verify the integrity of the received data.</a:t>
            </a:r>
          </a:p>
          <a:p>
            <a:pPr marL="285750" indent="-285750">
              <a:buFont typeface="Arial" panose="020B0604020202020204" pitchFamily="34" charset="0"/>
              <a:buChar char="•"/>
            </a:pPr>
            <a:r>
              <a:rPr lang="en-US" sz="2400" dirty="0"/>
              <a:t> If the number of "1" bits don't match the expected parity, an error is detected.</a:t>
            </a:r>
          </a:p>
          <a:p>
            <a:br>
              <a:rPr lang="en-US" dirty="0"/>
            </a:br>
            <a:endParaRPr lang="en-US" sz="2400" b="1" dirty="0"/>
          </a:p>
        </p:txBody>
      </p:sp>
      <p:sp>
        <p:nvSpPr>
          <p:cNvPr id="4" name="AutoShape 4" descr="Figure 3. UART packet.">
            <a:extLst>
              <a:ext uri="{FF2B5EF4-FFF2-40B4-BE49-F238E27FC236}">
                <a16:creationId xmlns:a16="http://schemas.microsoft.com/office/drawing/2014/main" id="{A13E861B-2184-4B79-43D4-60AB13BB6D4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20482" name="Picture 2" descr="Parity Bit">
            <a:extLst>
              <a:ext uri="{FF2B5EF4-FFF2-40B4-BE49-F238E27FC236}">
                <a16:creationId xmlns:a16="http://schemas.microsoft.com/office/drawing/2014/main" id="{C417D7C4-2DCD-7A0E-742D-7BA1848067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4566" y="5404991"/>
            <a:ext cx="7983667" cy="4495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13933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9277B4-0496-27C9-3053-BFE52116B70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CEB3CD3-8359-057D-551B-14C9916B0282}"/>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5A2191EE-A30B-B80A-AD44-A975FA433A86}"/>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C91519B7-4D35-8868-0F5A-FF7FD27A425F}"/>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1D72A109-C57E-DAB5-D88F-3A126255F760}"/>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F28B4311-47C2-344E-CF8A-64143A81E807}"/>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AF4C0D22-8595-F111-1BF1-023AC438F07F}"/>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E9CDB7C7-E38B-056C-6E5D-DA48A978DD18}"/>
              </a:ext>
            </a:extLst>
          </p:cNvPr>
          <p:cNvSpPr txBox="1"/>
          <p:nvPr/>
        </p:nvSpPr>
        <p:spPr>
          <a:xfrm>
            <a:off x="304800" y="2137208"/>
            <a:ext cx="17678400" cy="3785652"/>
          </a:xfrm>
          <a:prstGeom prst="rect">
            <a:avLst/>
          </a:prstGeom>
          <a:noFill/>
        </p:spPr>
        <p:txBody>
          <a:bodyPr wrap="square">
            <a:spAutoFit/>
          </a:bodyPr>
          <a:lstStyle/>
          <a:p>
            <a:pPr marL="457200" indent="-457200">
              <a:buFont typeface="Wingdings" panose="05000000000000000000" pitchFamily="2" charset="2"/>
              <a:buChar char="q"/>
            </a:pPr>
            <a:r>
              <a:rPr lang="en-US" sz="3000" b="1" dirty="0"/>
              <a:t>Parity</a:t>
            </a:r>
          </a:p>
          <a:p>
            <a:endParaRPr lang="en-US" sz="2400" b="1" dirty="0"/>
          </a:p>
          <a:p>
            <a:pPr marL="285750" indent="-285750">
              <a:buFont typeface="Arial" panose="020B0604020202020204" pitchFamily="34" charset="0"/>
              <a:buChar char="•"/>
            </a:pPr>
            <a:r>
              <a:rPr lang="en-US" sz="2400" dirty="0"/>
              <a:t>In addition to data bits, UART communication may include a parity bit as part of the data frame. Parity is an error-checking mechanism that can help detect data transmission errors.</a:t>
            </a:r>
          </a:p>
          <a:p>
            <a:pPr marL="285750" indent="-285750">
              <a:buFont typeface="Arial" panose="020B0604020202020204" pitchFamily="34" charset="0"/>
              <a:buChar char="•"/>
            </a:pPr>
            <a:r>
              <a:rPr lang="en-US" sz="2400" dirty="0"/>
              <a:t> Parity can be set to "odd" or "even," and it ensures that the total number of bits set to logic "1" in a character is either even or odd, depending on the chosen parity type. </a:t>
            </a:r>
          </a:p>
          <a:p>
            <a:pPr marL="285750" indent="-285750">
              <a:buFont typeface="Arial" panose="020B0604020202020204" pitchFamily="34" charset="0"/>
              <a:buChar char="•"/>
            </a:pPr>
            <a:r>
              <a:rPr lang="en-US" sz="2400" dirty="0"/>
              <a:t>The presence of a parity bit allows the receiver to verify the integrity of the received data.</a:t>
            </a:r>
          </a:p>
          <a:p>
            <a:pPr marL="285750" indent="-285750">
              <a:buFont typeface="Arial" panose="020B0604020202020204" pitchFamily="34" charset="0"/>
              <a:buChar char="•"/>
            </a:pPr>
            <a:r>
              <a:rPr lang="en-US" sz="2400" dirty="0"/>
              <a:t> If the number of "1" bits don't match the expected parity, an error is detected.</a:t>
            </a:r>
          </a:p>
          <a:p>
            <a:br>
              <a:rPr lang="en-US" dirty="0"/>
            </a:br>
            <a:endParaRPr lang="en-US" sz="2400" b="1" dirty="0"/>
          </a:p>
        </p:txBody>
      </p:sp>
      <p:sp>
        <p:nvSpPr>
          <p:cNvPr id="4" name="AutoShape 4" descr="Figure 3. UART packet.">
            <a:extLst>
              <a:ext uri="{FF2B5EF4-FFF2-40B4-BE49-F238E27FC236}">
                <a16:creationId xmlns:a16="http://schemas.microsoft.com/office/drawing/2014/main" id="{47D48901-F945-FB72-B132-A5BE5C45E1B2}"/>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20482" name="Picture 2" descr="Parity Bit">
            <a:extLst>
              <a:ext uri="{FF2B5EF4-FFF2-40B4-BE49-F238E27FC236}">
                <a16:creationId xmlns:a16="http://schemas.microsoft.com/office/drawing/2014/main" id="{553516BF-91A7-A2DC-76EE-A58567D589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4566" y="5404991"/>
            <a:ext cx="7983667" cy="4495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25210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C93EE-AE18-59BA-5CFA-3D0509EC3BD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1FEF4D29-69A8-F892-86D0-F4F176A7EE46}"/>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5D116C3F-C819-0B8F-C954-17369223FAA4}"/>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3B359C10-5984-A296-212D-F6BCD1912976}"/>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2A907062-E0D7-9682-8A62-EBDDECE506E3}"/>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A99A8BCF-3464-C500-6D77-49F845E6E2A9}"/>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FD1038FB-44C3-15EB-655E-66F2E35AF379}"/>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1CC72226-DBB0-8A25-22E7-DCC5E6156133}"/>
              </a:ext>
            </a:extLst>
          </p:cNvPr>
          <p:cNvSpPr txBox="1"/>
          <p:nvPr/>
        </p:nvSpPr>
        <p:spPr>
          <a:xfrm>
            <a:off x="304800" y="2137208"/>
            <a:ext cx="17678400" cy="2769989"/>
          </a:xfrm>
          <a:prstGeom prst="rect">
            <a:avLst/>
          </a:prstGeom>
          <a:noFill/>
        </p:spPr>
        <p:txBody>
          <a:bodyPr wrap="square">
            <a:spAutoFit/>
          </a:bodyPr>
          <a:lstStyle/>
          <a:p>
            <a:r>
              <a:rPr lang="en-US" sz="3000" b="1" dirty="0"/>
              <a:t>1. What is a Parity Bit?</a:t>
            </a:r>
            <a:endParaRPr lang="en-US" sz="3000" dirty="0"/>
          </a:p>
          <a:p>
            <a:r>
              <a:rPr lang="en-US" sz="2400" dirty="0"/>
              <a:t>A </a:t>
            </a:r>
            <a:r>
              <a:rPr lang="en-US" sz="2400" b="1" dirty="0"/>
              <a:t>parity bit</a:t>
            </a:r>
            <a:r>
              <a:rPr lang="en-US" sz="2400" dirty="0"/>
              <a:t> is a simple </a:t>
            </a:r>
            <a:r>
              <a:rPr lang="en-US" sz="2400" b="1" dirty="0"/>
              <a:t>error-checking bit</a:t>
            </a:r>
            <a:r>
              <a:rPr lang="en-US" sz="2400" dirty="0"/>
              <a:t> added after the 8 data bits (making it the 9th bit).</a:t>
            </a:r>
          </a:p>
          <a:p>
            <a:r>
              <a:rPr lang="en-US" sz="2400" dirty="0"/>
              <a:t>Its purpose is to </a:t>
            </a:r>
            <a:r>
              <a:rPr lang="en-US" sz="2400" b="1" dirty="0"/>
              <a:t>detect transmission errors</a:t>
            </a:r>
            <a:r>
              <a:rPr lang="en-US" sz="2400" dirty="0"/>
              <a:t> — for example, if noise flips one of the bits during data transfer.</a:t>
            </a:r>
          </a:p>
          <a:p>
            <a:r>
              <a:rPr lang="en-US" sz="2400" dirty="0"/>
              <a:t>👉 When sending data, the UART counts the number of ‘1’ bits in the 8-bit data and then adds one </a:t>
            </a:r>
            <a:r>
              <a:rPr lang="en-US" sz="2400" b="1" dirty="0"/>
              <a:t>parity bit</a:t>
            </a:r>
            <a:r>
              <a:rPr lang="en-US" sz="2400" dirty="0"/>
              <a:t> so that the total number of ‘1’s follows a specific rule:</a:t>
            </a:r>
          </a:p>
          <a:p>
            <a:r>
              <a:rPr lang="en-US" sz="2400" b="1" dirty="0"/>
              <a:t>Even Parity:</a:t>
            </a:r>
            <a:r>
              <a:rPr lang="en-US" sz="2400" dirty="0"/>
              <a:t> total number of ‘1’s (including the parity bit) is even.</a:t>
            </a:r>
          </a:p>
          <a:p>
            <a:r>
              <a:rPr lang="en-US" sz="2400" b="1" dirty="0"/>
              <a:t>Odd Parity:</a:t>
            </a:r>
            <a:r>
              <a:rPr lang="en-US" sz="2400" dirty="0"/>
              <a:t> total number of ‘1’s (including the parity bit) is odd</a:t>
            </a:r>
          </a:p>
        </p:txBody>
      </p:sp>
      <p:sp>
        <p:nvSpPr>
          <p:cNvPr id="4" name="AutoShape 4" descr="Figure 3. UART packet.">
            <a:extLst>
              <a:ext uri="{FF2B5EF4-FFF2-40B4-BE49-F238E27FC236}">
                <a16:creationId xmlns:a16="http://schemas.microsoft.com/office/drawing/2014/main" id="{CFD8C1BC-4077-B5BE-0A1C-4CE72C3913CD}"/>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9C6C4513-9D3E-8474-9C83-D626440F1365}"/>
              </a:ext>
            </a:extLst>
          </p:cNvPr>
          <p:cNvPicPr>
            <a:picLocks noChangeAspect="1"/>
          </p:cNvPicPr>
          <p:nvPr/>
        </p:nvPicPr>
        <p:blipFill>
          <a:blip r:embed="rId3"/>
          <a:stretch>
            <a:fillRect/>
          </a:stretch>
        </p:blipFill>
        <p:spPr>
          <a:xfrm>
            <a:off x="1066800" y="5516341"/>
            <a:ext cx="14453517" cy="4089483"/>
          </a:xfrm>
          <a:prstGeom prst="rect">
            <a:avLst/>
          </a:prstGeom>
        </p:spPr>
      </p:pic>
    </p:spTree>
    <p:extLst>
      <p:ext uri="{BB962C8B-B14F-4D97-AF65-F5344CB8AC3E}">
        <p14:creationId xmlns:p14="http://schemas.microsoft.com/office/powerpoint/2010/main" val="29753941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0CBF6-A7B4-5945-5CAB-A17556DB5EE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6364453-F81D-3243-0B7D-8E2885DC08E7}"/>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60A6B8B2-BC59-9349-007A-E8610D4F0033}"/>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BE2743F6-5CB0-9CBF-A3DE-4B282AFDE91A}"/>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4EF892DE-7A45-46AB-D6E2-1A115D01114C}"/>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3B893BDE-FDD7-76F4-DA54-315C2884FDE5}"/>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CA694882-F916-45D0-3F1E-7EEB2E1B5E9C}"/>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C4A56624-3012-EB7D-9BB2-812B80C3B4CF}"/>
              </a:ext>
            </a:extLst>
          </p:cNvPr>
          <p:cNvSpPr txBox="1"/>
          <p:nvPr/>
        </p:nvSpPr>
        <p:spPr>
          <a:xfrm>
            <a:off x="304800" y="2137208"/>
            <a:ext cx="17678400" cy="2554545"/>
          </a:xfrm>
          <a:prstGeom prst="rect">
            <a:avLst/>
          </a:prstGeom>
          <a:noFill/>
        </p:spPr>
        <p:txBody>
          <a:bodyPr wrap="square">
            <a:spAutoFit/>
          </a:bodyPr>
          <a:lstStyle/>
          <a:p>
            <a:r>
              <a:rPr lang="en-US" sz="3200" b="1" dirty="0"/>
              <a:t>2. Detailed Operation</a:t>
            </a:r>
          </a:p>
          <a:p>
            <a:r>
              <a:rPr lang="en-US" sz="3200" b="1" dirty="0"/>
              <a:t>🔸 Even Parity</a:t>
            </a:r>
            <a:endParaRPr lang="en-US" sz="3200" dirty="0"/>
          </a:p>
          <a:p>
            <a:r>
              <a:rPr lang="en-US" sz="3200" dirty="0"/>
              <a:t>If the number of ‘1’ bits in the data is </a:t>
            </a:r>
            <a:r>
              <a:rPr lang="en-US" sz="3200" b="1" dirty="0"/>
              <a:t>odd</a:t>
            </a:r>
            <a:r>
              <a:rPr lang="en-US" sz="3200" dirty="0"/>
              <a:t>, the </a:t>
            </a:r>
            <a:r>
              <a:rPr lang="en-US" sz="3200" b="1" dirty="0"/>
              <a:t>parity bit is set to 1</a:t>
            </a:r>
            <a:r>
              <a:rPr lang="en-US" sz="3200" dirty="0"/>
              <a:t>.</a:t>
            </a:r>
          </a:p>
          <a:p>
            <a:r>
              <a:rPr lang="en-US" sz="3200" dirty="0"/>
              <a:t>If the number of ‘1’ bits in the data is </a:t>
            </a:r>
            <a:r>
              <a:rPr lang="en-US" sz="3200" b="1" dirty="0"/>
              <a:t>even</a:t>
            </a:r>
            <a:r>
              <a:rPr lang="en-US" sz="3200" dirty="0"/>
              <a:t>, the </a:t>
            </a:r>
            <a:r>
              <a:rPr lang="en-US" sz="3200" b="1" dirty="0"/>
              <a:t>parity bit is set to 0</a:t>
            </a:r>
            <a:r>
              <a:rPr lang="en-US" sz="3200" dirty="0"/>
              <a:t>.</a:t>
            </a:r>
          </a:p>
          <a:p>
            <a:r>
              <a:rPr lang="en-US" sz="3200" dirty="0"/>
              <a:t>✅ </a:t>
            </a:r>
            <a:r>
              <a:rPr lang="en-US" sz="3200" b="1" dirty="0"/>
              <a:t>Purpose:</a:t>
            </a:r>
            <a:r>
              <a:rPr lang="en-US" sz="3200" dirty="0"/>
              <a:t> Ensures that the total number of ‘1’ bits in all 9 bits (8 data + 1 parity) is always </a:t>
            </a:r>
            <a:r>
              <a:rPr lang="en-US" sz="3200" b="1" dirty="0"/>
              <a:t>even</a:t>
            </a:r>
            <a:r>
              <a:rPr lang="en-US" sz="3200" dirty="0"/>
              <a:t>.</a:t>
            </a:r>
          </a:p>
        </p:txBody>
      </p:sp>
      <p:sp>
        <p:nvSpPr>
          <p:cNvPr id="4" name="AutoShape 4" descr="Figure 3. UART packet.">
            <a:extLst>
              <a:ext uri="{FF2B5EF4-FFF2-40B4-BE49-F238E27FC236}">
                <a16:creationId xmlns:a16="http://schemas.microsoft.com/office/drawing/2014/main" id="{8D47DEF9-0077-B400-9ABB-1CE6BC795E8F}"/>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1" name="Picture 10">
            <a:extLst>
              <a:ext uri="{FF2B5EF4-FFF2-40B4-BE49-F238E27FC236}">
                <a16:creationId xmlns:a16="http://schemas.microsoft.com/office/drawing/2014/main" id="{01DD3072-AD59-1515-134B-B815607E5EF3}"/>
              </a:ext>
            </a:extLst>
          </p:cNvPr>
          <p:cNvPicPr>
            <a:picLocks noChangeAspect="1"/>
          </p:cNvPicPr>
          <p:nvPr/>
        </p:nvPicPr>
        <p:blipFill>
          <a:blip r:embed="rId3"/>
          <a:stretch>
            <a:fillRect/>
          </a:stretch>
        </p:blipFill>
        <p:spPr>
          <a:xfrm>
            <a:off x="1600200" y="5117305"/>
            <a:ext cx="13323888" cy="4568190"/>
          </a:xfrm>
          <a:prstGeom prst="rect">
            <a:avLst/>
          </a:prstGeom>
        </p:spPr>
      </p:pic>
    </p:spTree>
    <p:extLst>
      <p:ext uri="{BB962C8B-B14F-4D97-AF65-F5344CB8AC3E}">
        <p14:creationId xmlns:p14="http://schemas.microsoft.com/office/powerpoint/2010/main" val="18891407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5572A-6DD9-A5E6-1421-04AE896E26D7}"/>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60FF3910-0BC7-A571-3C0B-94D8E02138DA}"/>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E2CD3428-6171-8311-21F4-7DEB47B9EF2B}"/>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4DA2CEE-1320-B092-C4D3-499B7D3CCB69}"/>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BB6C7765-DC07-CD42-6498-422A81DFAC80}"/>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4249BEF5-C91E-7826-9AB0-BB2F77CA2922}"/>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ED771D18-46E6-564B-DA1E-FF116160F069}"/>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E61D9D78-4333-C6A6-730F-3FFE153F88D9}"/>
              </a:ext>
            </a:extLst>
          </p:cNvPr>
          <p:cNvSpPr txBox="1"/>
          <p:nvPr/>
        </p:nvSpPr>
        <p:spPr>
          <a:xfrm>
            <a:off x="304800" y="2137208"/>
            <a:ext cx="17678400" cy="2554545"/>
          </a:xfrm>
          <a:prstGeom prst="rect">
            <a:avLst/>
          </a:prstGeom>
          <a:noFill/>
        </p:spPr>
        <p:txBody>
          <a:bodyPr wrap="square">
            <a:spAutoFit/>
          </a:bodyPr>
          <a:lstStyle/>
          <a:p>
            <a:r>
              <a:rPr lang="en-US" sz="3200" b="1" dirty="0"/>
              <a:t>2. Detailed Operation</a:t>
            </a:r>
          </a:p>
          <a:p>
            <a:r>
              <a:rPr lang="en-US" sz="3200" b="1" dirty="0"/>
              <a:t>🔸 Odd Parity</a:t>
            </a:r>
          </a:p>
          <a:p>
            <a:r>
              <a:rPr lang="en-US" sz="3200" dirty="0"/>
              <a:t>If the number of ‘1’ bits in the data is </a:t>
            </a:r>
            <a:r>
              <a:rPr lang="en-US" sz="3200" b="1" dirty="0"/>
              <a:t>odd</a:t>
            </a:r>
            <a:r>
              <a:rPr lang="en-US" sz="3200" dirty="0"/>
              <a:t>, the </a:t>
            </a:r>
            <a:r>
              <a:rPr lang="en-US" sz="3200" b="1" dirty="0"/>
              <a:t>parity bit is set to 0</a:t>
            </a:r>
            <a:r>
              <a:rPr lang="en-US" sz="3200" dirty="0"/>
              <a:t>.</a:t>
            </a:r>
          </a:p>
          <a:p>
            <a:r>
              <a:rPr lang="en-US" sz="3200" dirty="0"/>
              <a:t>If the number of ‘1’ bits in the data is </a:t>
            </a:r>
            <a:r>
              <a:rPr lang="en-US" sz="3200" b="1" dirty="0"/>
              <a:t>even</a:t>
            </a:r>
            <a:r>
              <a:rPr lang="en-US" sz="3200" dirty="0"/>
              <a:t>, the </a:t>
            </a:r>
            <a:r>
              <a:rPr lang="en-US" sz="3200" b="1" dirty="0"/>
              <a:t>parity bit is set to 1</a:t>
            </a:r>
            <a:r>
              <a:rPr lang="en-US" sz="3200" dirty="0"/>
              <a:t>.</a:t>
            </a:r>
          </a:p>
          <a:p>
            <a:r>
              <a:rPr lang="en-US" sz="3200" dirty="0"/>
              <a:t>✅ </a:t>
            </a:r>
            <a:r>
              <a:rPr lang="en-US" sz="3200" b="1" dirty="0"/>
              <a:t>Purpose:</a:t>
            </a:r>
            <a:r>
              <a:rPr lang="en-US" sz="3200" dirty="0"/>
              <a:t> Ensures that the total number of ‘1’ bits in all 9 bits (8 data + 1 parity) is always </a:t>
            </a:r>
            <a:r>
              <a:rPr lang="en-US" sz="3200" b="1" dirty="0"/>
              <a:t>odd</a:t>
            </a:r>
            <a:r>
              <a:rPr lang="en-US" sz="3200" dirty="0"/>
              <a:t>.</a:t>
            </a:r>
          </a:p>
        </p:txBody>
      </p:sp>
      <p:sp>
        <p:nvSpPr>
          <p:cNvPr id="4" name="AutoShape 4" descr="Figure 3. UART packet.">
            <a:extLst>
              <a:ext uri="{FF2B5EF4-FFF2-40B4-BE49-F238E27FC236}">
                <a16:creationId xmlns:a16="http://schemas.microsoft.com/office/drawing/2014/main" id="{1D4B25E5-62CC-2ED4-24E6-5524CA6F811C}"/>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33323903-5905-0D05-54B3-AB28537018D7}"/>
              </a:ext>
            </a:extLst>
          </p:cNvPr>
          <p:cNvPicPr>
            <a:picLocks noChangeAspect="1"/>
          </p:cNvPicPr>
          <p:nvPr/>
        </p:nvPicPr>
        <p:blipFill>
          <a:blip r:embed="rId3"/>
          <a:stretch>
            <a:fillRect/>
          </a:stretch>
        </p:blipFill>
        <p:spPr>
          <a:xfrm>
            <a:off x="1557770" y="4936202"/>
            <a:ext cx="14867659" cy="4810125"/>
          </a:xfrm>
          <a:prstGeom prst="rect">
            <a:avLst/>
          </a:prstGeom>
        </p:spPr>
      </p:pic>
    </p:spTree>
    <p:extLst>
      <p:ext uri="{BB962C8B-B14F-4D97-AF65-F5344CB8AC3E}">
        <p14:creationId xmlns:p14="http://schemas.microsoft.com/office/powerpoint/2010/main" val="14836045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692D2-5298-8559-A148-19C6BAE0D65D}"/>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15EA6AA-4E69-020A-59B1-7206FDA59F2F}"/>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B51B76E7-68B9-CBCE-6D44-BB03A3A1BF6D}"/>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137F27CE-B8BD-CDAE-5E6C-9426A1113814}"/>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DDD23E33-98CF-8206-0FB8-84F7D297CAF4}"/>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33BE0E6C-E28D-F31C-99E9-18E1F502CB47}"/>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54D31E83-FCD1-792A-4A99-09081B132AC1}"/>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675EE00B-29DC-506D-159F-E669F0DA170B}"/>
              </a:ext>
            </a:extLst>
          </p:cNvPr>
          <p:cNvSpPr txBox="1"/>
          <p:nvPr/>
        </p:nvSpPr>
        <p:spPr>
          <a:xfrm>
            <a:off x="304800" y="2137208"/>
            <a:ext cx="17678400" cy="3785652"/>
          </a:xfrm>
          <a:prstGeom prst="rect">
            <a:avLst/>
          </a:prstGeom>
          <a:noFill/>
        </p:spPr>
        <p:txBody>
          <a:bodyPr wrap="square">
            <a:spAutoFit/>
          </a:bodyPr>
          <a:lstStyle/>
          <a:p>
            <a:r>
              <a:rPr lang="en-US" sz="2400" b="1" dirty="0"/>
              <a:t>🧠 4. Error Detection</a:t>
            </a:r>
          </a:p>
          <a:p>
            <a:r>
              <a:rPr lang="en-US" sz="2400" dirty="0"/>
              <a:t>When the receiver (RX) gets a data frame (8 data bits + 1 parity bit), it will:</a:t>
            </a:r>
          </a:p>
          <a:p>
            <a:r>
              <a:rPr lang="en-US" sz="2400" b="1" dirty="0"/>
              <a:t>Count the number of ‘1’ bits</a:t>
            </a:r>
            <a:r>
              <a:rPr lang="en-US" sz="2400" dirty="0"/>
              <a:t> in all 9 bits.</a:t>
            </a:r>
          </a:p>
          <a:p>
            <a:r>
              <a:rPr lang="en-US" sz="2400" b="1" dirty="0"/>
              <a:t>Check whether the total matches the configured parity mode</a:t>
            </a:r>
            <a:r>
              <a:rPr lang="en-US" sz="2400" dirty="0"/>
              <a:t>:</a:t>
            </a:r>
          </a:p>
          <a:p>
            <a:pPr lvl="1"/>
            <a:r>
              <a:rPr lang="en-US" sz="2400" b="1" dirty="0"/>
              <a:t>Even parity:</a:t>
            </a:r>
            <a:r>
              <a:rPr lang="en-US" sz="2400" dirty="0"/>
              <a:t> total must be even</a:t>
            </a:r>
          </a:p>
          <a:p>
            <a:pPr lvl="1"/>
            <a:r>
              <a:rPr lang="en-US" sz="2400" b="1" dirty="0"/>
              <a:t>Odd parity:</a:t>
            </a:r>
            <a:r>
              <a:rPr lang="en-US" sz="2400" dirty="0"/>
              <a:t> total must be odd</a:t>
            </a:r>
          </a:p>
          <a:p>
            <a:r>
              <a:rPr lang="en-US" sz="2400" b="1" dirty="0"/>
              <a:t>If the total is incorrect</a:t>
            </a:r>
            <a:r>
              <a:rPr lang="en-US" sz="2400" dirty="0"/>
              <a:t>, a </a:t>
            </a:r>
            <a:r>
              <a:rPr lang="en-US" sz="2400" b="1" dirty="0"/>
              <a:t>bit error</a:t>
            </a:r>
            <a:r>
              <a:rPr lang="en-US" sz="2400" dirty="0"/>
              <a:t> occurred during transmission (e.g., due to noise).</a:t>
            </a:r>
          </a:p>
          <a:p>
            <a:r>
              <a:rPr lang="en-US" sz="2400" dirty="0"/>
              <a:t>⚠️ </a:t>
            </a:r>
            <a:r>
              <a:rPr lang="en-US" sz="2400" b="1" dirty="0"/>
              <a:t>Note:</a:t>
            </a:r>
            <a:endParaRPr lang="en-US" sz="2400" dirty="0"/>
          </a:p>
          <a:p>
            <a:r>
              <a:rPr lang="en-US" sz="2400" dirty="0"/>
              <a:t>Parity can </a:t>
            </a:r>
            <a:r>
              <a:rPr lang="en-US" sz="2400" b="1" dirty="0"/>
              <a:t>only detect single-bit errors</a:t>
            </a:r>
            <a:r>
              <a:rPr lang="en-US" sz="2400" dirty="0"/>
              <a:t>, it </a:t>
            </a:r>
            <a:r>
              <a:rPr lang="en-US" sz="2400" b="1" dirty="0"/>
              <a:t>cannot correct</a:t>
            </a:r>
            <a:r>
              <a:rPr lang="en-US" sz="2400" dirty="0"/>
              <a:t> errors.</a:t>
            </a:r>
          </a:p>
          <a:p>
            <a:r>
              <a:rPr lang="en-US" sz="2400" dirty="0"/>
              <a:t>If </a:t>
            </a:r>
            <a:r>
              <a:rPr lang="en-US" sz="2400" b="1" dirty="0"/>
              <a:t>two bits are flipped</a:t>
            </a:r>
            <a:r>
              <a:rPr lang="en-US" sz="2400" dirty="0"/>
              <a:t>, the total parity may still appear correct → error goes undetected.</a:t>
            </a:r>
          </a:p>
        </p:txBody>
      </p:sp>
      <p:sp>
        <p:nvSpPr>
          <p:cNvPr id="4" name="AutoShape 4" descr="Figure 3. UART packet.">
            <a:extLst>
              <a:ext uri="{FF2B5EF4-FFF2-40B4-BE49-F238E27FC236}">
                <a16:creationId xmlns:a16="http://schemas.microsoft.com/office/drawing/2014/main" id="{567618B9-73CC-8B50-04F0-65D7738715F8}"/>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1" name="Picture 10">
            <a:extLst>
              <a:ext uri="{FF2B5EF4-FFF2-40B4-BE49-F238E27FC236}">
                <a16:creationId xmlns:a16="http://schemas.microsoft.com/office/drawing/2014/main" id="{0B1913D7-1CB6-77A1-0818-7859B9D36418}"/>
              </a:ext>
            </a:extLst>
          </p:cNvPr>
          <p:cNvPicPr>
            <a:picLocks noChangeAspect="1"/>
          </p:cNvPicPr>
          <p:nvPr/>
        </p:nvPicPr>
        <p:blipFill>
          <a:blip r:embed="rId3"/>
          <a:stretch>
            <a:fillRect/>
          </a:stretch>
        </p:blipFill>
        <p:spPr>
          <a:xfrm>
            <a:off x="3165910" y="6213803"/>
            <a:ext cx="12260979" cy="3429760"/>
          </a:xfrm>
          <a:prstGeom prst="rect">
            <a:avLst/>
          </a:prstGeom>
        </p:spPr>
      </p:pic>
    </p:spTree>
    <p:extLst>
      <p:ext uri="{BB962C8B-B14F-4D97-AF65-F5344CB8AC3E}">
        <p14:creationId xmlns:p14="http://schemas.microsoft.com/office/powerpoint/2010/main" val="22605061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7EFCC-AA55-EEC0-BD17-D18691D3EA73}"/>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41680535-8F2A-0905-D1F0-7C98B975215A}"/>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57E992AE-5255-61A9-13A5-886AB502E600}"/>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7284EFF4-188C-B1B5-2CC4-5890153A2712}"/>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57598C2D-5560-7B41-869A-99CEA72576EC}"/>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940FB29D-52F6-A6EE-7AB6-018F7D4822EF}"/>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0994ADAB-5DB3-E9C3-873F-8B36B282FC1B}"/>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188F4541-72D1-20CF-81C0-6919B71F1163}"/>
              </a:ext>
            </a:extLst>
          </p:cNvPr>
          <p:cNvSpPr txBox="1"/>
          <p:nvPr/>
        </p:nvSpPr>
        <p:spPr>
          <a:xfrm>
            <a:off x="304800" y="2137208"/>
            <a:ext cx="17678400" cy="3785652"/>
          </a:xfrm>
          <a:prstGeom prst="rect">
            <a:avLst/>
          </a:prstGeom>
          <a:noFill/>
        </p:spPr>
        <p:txBody>
          <a:bodyPr wrap="square">
            <a:spAutoFit/>
          </a:bodyPr>
          <a:lstStyle/>
          <a:p>
            <a:pPr marL="457200" indent="-457200">
              <a:buFont typeface="Wingdings" panose="05000000000000000000" pitchFamily="2" charset="2"/>
              <a:buChar char="q"/>
            </a:pPr>
            <a:r>
              <a:rPr lang="en-US" sz="3000" b="1" dirty="0"/>
              <a:t>Stop Bits</a:t>
            </a:r>
          </a:p>
          <a:p>
            <a:endParaRPr lang="en-US" sz="2400" b="1" dirty="0"/>
          </a:p>
          <a:p>
            <a:pPr marL="342900" indent="-342900">
              <a:buFont typeface="Arial" panose="020B0604020202020204" pitchFamily="34" charset="0"/>
              <a:buChar char="•"/>
            </a:pPr>
            <a:r>
              <a:rPr lang="en-US" sz="2400" dirty="0"/>
              <a:t>One or more stop bits are sent after the data bits within each UART frame.</a:t>
            </a:r>
          </a:p>
          <a:p>
            <a:pPr marL="342900" indent="-342900">
              <a:buFont typeface="Arial" panose="020B0604020202020204" pitchFamily="34" charset="0"/>
              <a:buChar char="•"/>
            </a:pPr>
            <a:r>
              <a:rPr lang="en-US" sz="2400" dirty="0"/>
              <a:t> The stop bit(s) signal the end of the data byte and serve to indicate the conclusion of data transmission.</a:t>
            </a:r>
          </a:p>
          <a:p>
            <a:pPr marL="342900" indent="-342900">
              <a:buFont typeface="Arial" panose="020B0604020202020204" pitchFamily="34" charset="0"/>
              <a:buChar char="•"/>
            </a:pPr>
            <a:r>
              <a:rPr lang="en-US" sz="2400" dirty="0"/>
              <a:t> The most common configuration is to use one stop bit, but in situations where added reliability is required, two stop bits can be employed.</a:t>
            </a:r>
          </a:p>
          <a:p>
            <a:pPr marL="342900" indent="-342900">
              <a:buFont typeface="Arial" panose="020B0604020202020204" pitchFamily="34" charset="0"/>
              <a:buChar char="•"/>
            </a:pPr>
            <a:r>
              <a:rPr lang="en-US" sz="2400" dirty="0"/>
              <a:t>The polarity of the stop bit(s) can vary, with some systems using a high stop bit and others using a low stop bit based on the specific UART configuration.</a:t>
            </a:r>
          </a:p>
          <a:p>
            <a:br>
              <a:rPr lang="en-US" dirty="0"/>
            </a:br>
            <a:endParaRPr lang="en-US" sz="2400" b="1" dirty="0"/>
          </a:p>
        </p:txBody>
      </p:sp>
      <p:sp>
        <p:nvSpPr>
          <p:cNvPr id="4" name="AutoShape 4" descr="Figure 3. UART packet.">
            <a:extLst>
              <a:ext uri="{FF2B5EF4-FFF2-40B4-BE49-F238E27FC236}">
                <a16:creationId xmlns:a16="http://schemas.microsoft.com/office/drawing/2014/main" id="{232420FD-4765-1017-7324-F73558ED915F}"/>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21506" name="Picture 2" descr="Stop Bits">
            <a:extLst>
              <a:ext uri="{FF2B5EF4-FFF2-40B4-BE49-F238E27FC236}">
                <a16:creationId xmlns:a16="http://schemas.microsoft.com/office/drawing/2014/main" id="{9A2EFBF4-8BEA-6F28-0887-FA7721259D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9132" y="5143500"/>
            <a:ext cx="8670234" cy="48820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951743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287C9-8BCA-8856-4E1F-229FFD1628E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AF4AD68-6CE1-EC10-2B1C-BA8039663AC0}"/>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354095F8-3A3D-3425-E6DA-2062E39B524F}"/>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8192DE54-E779-3AE2-9A46-40447CBFF014}"/>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FF025E7F-469B-11F7-5BDA-EFD098045506}"/>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0E059241-F657-3C32-3DF7-5A5E866E6FCC}"/>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UART Message</a:t>
            </a:r>
          </a:p>
        </p:txBody>
      </p:sp>
      <p:sp>
        <p:nvSpPr>
          <p:cNvPr id="6" name="TextBox 5">
            <a:extLst>
              <a:ext uri="{FF2B5EF4-FFF2-40B4-BE49-F238E27FC236}">
                <a16:creationId xmlns:a16="http://schemas.microsoft.com/office/drawing/2014/main" id="{076B3867-9B98-64AA-1D5E-4310E92A6CD6}"/>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BDE6DB0F-A8B8-7694-2BE0-0E8BD4C50743}"/>
              </a:ext>
            </a:extLst>
          </p:cNvPr>
          <p:cNvSpPr txBox="1"/>
          <p:nvPr/>
        </p:nvSpPr>
        <p:spPr>
          <a:xfrm>
            <a:off x="304800" y="2137208"/>
            <a:ext cx="17983200" cy="6370975"/>
          </a:xfrm>
          <a:prstGeom prst="rect">
            <a:avLst/>
          </a:prstGeom>
          <a:noFill/>
        </p:spPr>
        <p:txBody>
          <a:bodyPr wrap="square">
            <a:spAutoFit/>
          </a:bodyPr>
          <a:lstStyle/>
          <a:p>
            <a:pPr marL="457200" indent="-457200">
              <a:buFont typeface="Wingdings" panose="05000000000000000000" pitchFamily="2" charset="2"/>
              <a:buChar char="q"/>
            </a:pPr>
            <a:r>
              <a:rPr lang="en-US" sz="3000" b="1" dirty="0"/>
              <a:t>Stop Bits</a:t>
            </a:r>
          </a:p>
          <a:p>
            <a:endParaRPr lang="en-US" sz="2400" b="1" dirty="0"/>
          </a:p>
          <a:p>
            <a:r>
              <a:rPr lang="en-US" sz="2400" b="1" dirty="0"/>
              <a:t>Choosing Stop Bits in UART</a:t>
            </a:r>
          </a:p>
          <a:p>
            <a:r>
              <a:rPr lang="en-US" sz="2400" b="1" dirty="0"/>
              <a:t>1 Stop Bit:</a:t>
            </a:r>
            <a:endParaRPr lang="en-US" sz="2400" dirty="0"/>
          </a:p>
          <a:p>
            <a:pPr marL="342900" indent="-342900">
              <a:buFont typeface="Arial" panose="020B0604020202020204" pitchFamily="34" charset="0"/>
              <a:buChar char="•"/>
            </a:pPr>
            <a:r>
              <a:rPr lang="en-US" sz="2400" dirty="0"/>
              <a:t>Used when the transmitter and receiver are fast and the transmission environment is clean.</a:t>
            </a:r>
          </a:p>
          <a:p>
            <a:pPr marL="342900" indent="-342900">
              <a:buFont typeface="Arial" panose="020B0604020202020204" pitchFamily="34" charset="0"/>
              <a:buChar char="•"/>
            </a:pPr>
            <a:r>
              <a:rPr lang="en-US" sz="2400" dirty="0"/>
              <a:t>Example: Most PC ↔ Arduino Serial connections use </a:t>
            </a:r>
            <a:r>
              <a:rPr lang="en-US" sz="2400" b="1" dirty="0"/>
              <a:t>8N1</a:t>
            </a:r>
            <a:r>
              <a:rPr lang="en-US" sz="2400" dirty="0"/>
              <a:t> (8 data bits, No parity, 1 stop bit).</a:t>
            </a:r>
          </a:p>
          <a:p>
            <a:endParaRPr lang="en-US" sz="2400" dirty="0"/>
          </a:p>
          <a:p>
            <a:r>
              <a:rPr lang="en-US" sz="2400" b="1" dirty="0"/>
              <a:t>2 Stop Bits:</a:t>
            </a:r>
            <a:endParaRPr lang="en-US" sz="2400" dirty="0"/>
          </a:p>
          <a:p>
            <a:pPr marL="342900" indent="-342900">
              <a:buFont typeface="Arial" panose="020B0604020202020204" pitchFamily="34" charset="0"/>
              <a:buChar char="•"/>
            </a:pPr>
            <a:r>
              <a:rPr lang="en-US" sz="2400" dirty="0"/>
              <a:t>Used when the receiver is slower and needs extra time to prepare for the next byte.</a:t>
            </a:r>
          </a:p>
          <a:p>
            <a:pPr marL="342900" indent="-342900">
              <a:buFont typeface="Arial" panose="020B0604020202020204" pitchFamily="34" charset="0"/>
              <a:buChar char="•"/>
            </a:pPr>
            <a:r>
              <a:rPr lang="en-US" sz="2400" dirty="0"/>
              <a:t>In noisy environments, increasing stop bits reduces the risk of framing errors.</a:t>
            </a:r>
          </a:p>
          <a:p>
            <a:pPr marL="342900" indent="-342900">
              <a:buFont typeface="Arial" panose="020B0604020202020204" pitchFamily="34" charset="0"/>
              <a:buChar char="•"/>
            </a:pPr>
            <a:r>
              <a:rPr lang="en-US" sz="2400" dirty="0"/>
              <a:t>Example: Some older industrial modules or high-speed RS-232 communication.</a:t>
            </a:r>
          </a:p>
          <a:p>
            <a:endParaRPr lang="en-US" sz="2400" dirty="0"/>
          </a:p>
          <a:p>
            <a:r>
              <a:rPr lang="en-US" sz="2400" dirty="0"/>
              <a:t>💡 </a:t>
            </a:r>
            <a:r>
              <a:rPr lang="en-US" sz="2400" b="1" dirty="0"/>
              <a:t>Note:</a:t>
            </a:r>
            <a:endParaRPr lang="en-US" sz="2400" dirty="0"/>
          </a:p>
          <a:p>
            <a:pPr marL="342900" indent="-342900">
              <a:buFont typeface="Arial" panose="020B0604020202020204" pitchFamily="34" charset="0"/>
              <a:buChar char="•"/>
            </a:pPr>
            <a:r>
              <a:rPr lang="en-US" sz="2400" dirty="0"/>
              <a:t>Stop bits </a:t>
            </a:r>
            <a:r>
              <a:rPr lang="en-US" sz="2400" b="1" dirty="0"/>
              <a:t>do not detect errors</a:t>
            </a:r>
            <a:r>
              <a:rPr lang="en-US" sz="2400" dirty="0"/>
              <a:t>; they only help </a:t>
            </a:r>
            <a:r>
              <a:rPr lang="en-US" sz="2400" b="1" dirty="0"/>
              <a:t>synchronize bytes</a:t>
            </a:r>
            <a:r>
              <a:rPr lang="en-US" sz="2400" dirty="0"/>
              <a:t>.</a:t>
            </a:r>
          </a:p>
          <a:p>
            <a:pPr marL="342900" indent="-342900">
              <a:buFont typeface="Arial" panose="020B0604020202020204" pitchFamily="34" charset="0"/>
              <a:buChar char="•"/>
            </a:pPr>
            <a:r>
              <a:rPr lang="en-US" sz="2400" dirty="0"/>
              <a:t>Both UART devices must be configured with the </a:t>
            </a:r>
            <a:r>
              <a:rPr lang="en-US" sz="2400" b="1" dirty="0"/>
              <a:t>same number of stop bits</a:t>
            </a:r>
            <a:r>
              <a:rPr lang="en-US" sz="2400" dirty="0"/>
              <a:t>, otherwise data will be misread.</a:t>
            </a:r>
          </a:p>
          <a:p>
            <a:br>
              <a:rPr lang="en-US" dirty="0"/>
            </a:br>
            <a:endParaRPr lang="en-US" sz="2400" b="1" dirty="0"/>
          </a:p>
        </p:txBody>
      </p:sp>
      <p:sp>
        <p:nvSpPr>
          <p:cNvPr id="4" name="AutoShape 4" descr="Figure 3. UART packet.">
            <a:extLst>
              <a:ext uri="{FF2B5EF4-FFF2-40B4-BE49-F238E27FC236}">
                <a16:creationId xmlns:a16="http://schemas.microsoft.com/office/drawing/2014/main" id="{9E47698D-F577-9CF8-B2BA-0B72CC7B1B0A}"/>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21506" name="Picture 2" descr="Stop Bits">
            <a:extLst>
              <a:ext uri="{FF2B5EF4-FFF2-40B4-BE49-F238E27FC236}">
                <a16:creationId xmlns:a16="http://schemas.microsoft.com/office/drawing/2014/main" id="{62B39595-8CE8-58F1-E4CA-C4D55C1A79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28541" y="3771900"/>
            <a:ext cx="6036212" cy="3398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05799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552CB-1C1D-771B-C3C4-5AB12F71FD5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C1757681-BCFE-00F2-F8A3-45B923C7AC41}"/>
              </a:ext>
            </a:extLst>
          </p:cNvPr>
          <p:cNvSpPr txBox="1">
            <a:spLocks/>
          </p:cNvSpPr>
          <p:nvPr/>
        </p:nvSpPr>
        <p:spPr>
          <a:xfrm>
            <a:off x="-21771" y="1814"/>
            <a:ext cx="18309772" cy="950686"/>
          </a:xfrm>
          <a:prstGeom prst="rect">
            <a:avLst/>
          </a:prstGeom>
          <a:solidFill>
            <a:srgbClr val="C00000"/>
          </a:solidFill>
        </p:spPr>
        <p:txBody>
          <a:bodyPr rtlCol="0">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defRPr/>
            </a:pPr>
            <a:r>
              <a:rPr lang="en-US" sz="4800" b="1" dirty="0">
                <a:solidFill>
                  <a:schemeClr val="bg1"/>
                </a:solidFill>
                <a:effectLst>
                  <a:outerShdw blurRad="38100" dist="38100" dir="2700000" algn="tl">
                    <a:srgbClr val="000000">
                      <a:alpha val="43137"/>
                    </a:srgbClr>
                  </a:outerShdw>
                </a:effectLst>
              </a:rPr>
              <a:t>What is Protocol?</a:t>
            </a:r>
          </a:p>
        </p:txBody>
      </p:sp>
      <p:sp>
        <p:nvSpPr>
          <p:cNvPr id="7" name="TextBox 6">
            <a:extLst>
              <a:ext uri="{FF2B5EF4-FFF2-40B4-BE49-F238E27FC236}">
                <a16:creationId xmlns:a16="http://schemas.microsoft.com/office/drawing/2014/main" id="{F629DC3E-ACBD-978B-CF6F-D9CC0B89A050}"/>
              </a:ext>
            </a:extLst>
          </p:cNvPr>
          <p:cNvSpPr txBox="1"/>
          <p:nvPr/>
        </p:nvSpPr>
        <p:spPr>
          <a:xfrm>
            <a:off x="13747420" y="5134741"/>
            <a:ext cx="6072103" cy="213045"/>
          </a:xfrm>
          <a:prstGeom prst="rect">
            <a:avLst/>
          </a:prstGeom>
          <a:noFill/>
        </p:spPr>
        <p:txBody>
          <a:bodyPr wrap="square">
            <a:spAutoFit/>
          </a:bodyPr>
          <a:lstStyle/>
          <a:p>
            <a:pPr algn="just">
              <a:lnSpc>
                <a:spcPct val="125000"/>
              </a:lnSpc>
            </a:pPr>
            <a:endParaRPr lang="vi-VN" sz="1800" dirty="0">
              <a:effectLst/>
              <a:latin typeface="Times New Roman" panose="02020603050405020304" pitchFamily="18" charset="0"/>
              <a:ea typeface="Times New Roman" panose="02020603050405020304" pitchFamily="18" charset="0"/>
            </a:endParaRPr>
          </a:p>
        </p:txBody>
      </p:sp>
      <p:sp>
        <p:nvSpPr>
          <p:cNvPr id="12" name="AutoShape 27">
            <a:extLst>
              <a:ext uri="{FF2B5EF4-FFF2-40B4-BE49-F238E27FC236}">
                <a16:creationId xmlns:a16="http://schemas.microsoft.com/office/drawing/2014/main" id="{A41D5E72-B4D2-9AFB-EF9B-2600DC60BD7D}"/>
              </a:ext>
            </a:extLst>
          </p:cNvPr>
          <p:cNvSpPr/>
          <p:nvPr/>
        </p:nvSpPr>
        <p:spPr>
          <a:xfrm>
            <a:off x="381000" y="1853256"/>
            <a:ext cx="17678400" cy="89843"/>
          </a:xfrm>
          <a:prstGeom prst="rect">
            <a:avLst/>
          </a:prstGeom>
          <a:solidFill>
            <a:srgbClr val="C00000"/>
          </a:solidFill>
        </p:spPr>
        <p:txBody>
          <a:bodyPr/>
          <a:lstStyle/>
          <a:p>
            <a:endParaRPr lang="vi-VN" dirty="0">
              <a:solidFill>
                <a:srgbClr val="FF0000"/>
              </a:solidFill>
            </a:endParaRPr>
          </a:p>
        </p:txBody>
      </p:sp>
      <p:sp>
        <p:nvSpPr>
          <p:cNvPr id="2" name="Rectangle 12">
            <a:extLst>
              <a:ext uri="{FF2B5EF4-FFF2-40B4-BE49-F238E27FC236}">
                <a16:creationId xmlns:a16="http://schemas.microsoft.com/office/drawing/2014/main" id="{67AC1E75-BBDB-8BC0-B53D-DBF7FBA3F0B6}"/>
              </a:ext>
            </a:extLst>
          </p:cNvPr>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vi-VN"/>
          </a:p>
        </p:txBody>
      </p:sp>
      <p:sp>
        <p:nvSpPr>
          <p:cNvPr id="3" name="TextBox 2">
            <a:extLst>
              <a:ext uri="{FF2B5EF4-FFF2-40B4-BE49-F238E27FC236}">
                <a16:creationId xmlns:a16="http://schemas.microsoft.com/office/drawing/2014/main" id="{91F0B5F0-1A33-CAB2-E1F3-F9F7BBE8BB90}"/>
              </a:ext>
            </a:extLst>
          </p:cNvPr>
          <p:cNvSpPr txBox="1"/>
          <p:nvPr/>
        </p:nvSpPr>
        <p:spPr>
          <a:xfrm>
            <a:off x="228600" y="1209620"/>
            <a:ext cx="12496800" cy="646331"/>
          </a:xfrm>
          <a:prstGeom prst="rect">
            <a:avLst/>
          </a:prstGeom>
          <a:noFill/>
        </p:spPr>
        <p:txBody>
          <a:bodyPr wrap="square" rtlCol="0">
            <a:spAutoFit/>
          </a:bodyPr>
          <a:lstStyle/>
          <a:p>
            <a:pPr>
              <a:defRPr/>
            </a:pPr>
            <a:r>
              <a:rPr lang="en-US" sz="3600" b="1" dirty="0">
                <a:effectLst>
                  <a:outerShdw blurRad="38100" dist="38100" dir="2700000" algn="tl">
                    <a:srgbClr val="000000">
                      <a:alpha val="43137"/>
                    </a:srgbClr>
                  </a:outerShdw>
                </a:effectLst>
              </a:rPr>
              <a:t>Arduino UART Pins</a:t>
            </a:r>
          </a:p>
        </p:txBody>
      </p:sp>
      <p:sp>
        <p:nvSpPr>
          <p:cNvPr id="6" name="TextBox 5">
            <a:extLst>
              <a:ext uri="{FF2B5EF4-FFF2-40B4-BE49-F238E27FC236}">
                <a16:creationId xmlns:a16="http://schemas.microsoft.com/office/drawing/2014/main" id="{13FC8DC5-7F2D-466E-1F7D-4DA226E496E0}"/>
              </a:ext>
            </a:extLst>
          </p:cNvPr>
          <p:cNvSpPr txBox="1"/>
          <p:nvPr/>
        </p:nvSpPr>
        <p:spPr>
          <a:xfrm>
            <a:off x="4560758" y="4882009"/>
            <a:ext cx="9151494" cy="369332"/>
          </a:xfrm>
          <a:prstGeom prst="rect">
            <a:avLst/>
          </a:prstGeom>
          <a:noFill/>
        </p:spPr>
        <p:txBody>
          <a:bodyPr wrap="square">
            <a:spAutoFit/>
          </a:bodyPr>
          <a:lstStyle/>
          <a:p>
            <a:endParaRPr lang="vi-VN" dirty="0"/>
          </a:p>
        </p:txBody>
      </p:sp>
      <p:sp>
        <p:nvSpPr>
          <p:cNvPr id="8" name="TextBox 7">
            <a:extLst>
              <a:ext uri="{FF2B5EF4-FFF2-40B4-BE49-F238E27FC236}">
                <a16:creationId xmlns:a16="http://schemas.microsoft.com/office/drawing/2014/main" id="{2E1E7B60-DA57-ACD3-2016-D2E8EC4A98EB}"/>
              </a:ext>
            </a:extLst>
          </p:cNvPr>
          <p:cNvSpPr txBox="1"/>
          <p:nvPr/>
        </p:nvSpPr>
        <p:spPr>
          <a:xfrm>
            <a:off x="304800" y="2137208"/>
            <a:ext cx="17983200" cy="830997"/>
          </a:xfrm>
          <a:prstGeom prst="rect">
            <a:avLst/>
          </a:prstGeom>
          <a:noFill/>
        </p:spPr>
        <p:txBody>
          <a:bodyPr wrap="square">
            <a:spAutoFit/>
          </a:bodyPr>
          <a:lstStyle/>
          <a:p>
            <a:endParaRPr lang="en-US" sz="2400" b="1" dirty="0"/>
          </a:p>
          <a:p>
            <a:r>
              <a:rPr lang="en-US" sz="2400" dirty="0"/>
              <a:t>The default TX/RX pins on an Arduino board are the D0(RX) and D1(TX) pins. Some boards have additional serial ports, see table below:</a:t>
            </a:r>
            <a:endParaRPr lang="en-US" sz="2400" b="1" dirty="0"/>
          </a:p>
        </p:txBody>
      </p:sp>
      <p:sp>
        <p:nvSpPr>
          <p:cNvPr id="4" name="AutoShape 4" descr="Figure 3. UART packet.">
            <a:extLst>
              <a:ext uri="{FF2B5EF4-FFF2-40B4-BE49-F238E27FC236}">
                <a16:creationId xmlns:a16="http://schemas.microsoft.com/office/drawing/2014/main" id="{18E5EA88-17C4-1CC8-6C41-337CA25F3F2D}"/>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vi-VN"/>
          </a:p>
        </p:txBody>
      </p:sp>
      <p:pic>
        <p:nvPicPr>
          <p:cNvPr id="10" name="Picture 9">
            <a:extLst>
              <a:ext uri="{FF2B5EF4-FFF2-40B4-BE49-F238E27FC236}">
                <a16:creationId xmlns:a16="http://schemas.microsoft.com/office/drawing/2014/main" id="{FBC37824-0610-C09C-DE1A-93D5D503EE18}"/>
              </a:ext>
            </a:extLst>
          </p:cNvPr>
          <p:cNvPicPr>
            <a:picLocks noChangeAspect="1"/>
          </p:cNvPicPr>
          <p:nvPr/>
        </p:nvPicPr>
        <p:blipFill>
          <a:blip r:embed="rId3"/>
          <a:stretch>
            <a:fillRect/>
          </a:stretch>
        </p:blipFill>
        <p:spPr>
          <a:xfrm>
            <a:off x="2289775" y="4686300"/>
            <a:ext cx="13708449" cy="3214688"/>
          </a:xfrm>
          <a:prstGeom prst="rect">
            <a:avLst/>
          </a:prstGeom>
        </p:spPr>
      </p:pic>
    </p:spTree>
    <p:extLst>
      <p:ext uri="{BB962C8B-B14F-4D97-AF65-F5344CB8AC3E}">
        <p14:creationId xmlns:p14="http://schemas.microsoft.com/office/powerpoint/2010/main" val="30338664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15850</TotalTime>
  <Words>13351</Words>
  <Application>Microsoft Office PowerPoint</Application>
  <PresentationFormat>Custom</PresentationFormat>
  <Paragraphs>849</Paragraphs>
  <Slides>57</Slides>
  <Notes>57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57</vt:i4>
      </vt:variant>
    </vt:vector>
  </HeadingPairs>
  <TitlesOfParts>
    <vt:vector size="62" baseType="lpstr">
      <vt:lpstr>Times New Roman</vt:lpstr>
      <vt:lpstr>Wingdings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Xanh dương và Trắng Bản đồ tư duy Bài thuyết trình</dc:title>
  <dc:creator>Minh Hoang Tran</dc:creator>
  <cp:lastModifiedBy>Minh Hoang Tran</cp:lastModifiedBy>
  <cp:revision>1039</cp:revision>
  <dcterms:created xsi:type="dcterms:W3CDTF">2006-08-16T00:00:00Z</dcterms:created>
  <dcterms:modified xsi:type="dcterms:W3CDTF">2025-10-12T10:19:31Z</dcterms:modified>
  <dc:identifier>DAFizwE0log</dc:identifier>
</cp:coreProperties>
</file>