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6">
  <p:sldMasterIdLst>
    <p:sldMasterId id="2147483648" r:id="rId1"/>
  </p:sldMasterIdLst>
  <p:notesMasterIdLst>
    <p:notesMasterId r:id="rId72"/>
  </p:notesMasterIdLst>
  <p:sldIdLst>
    <p:sldId id="390" r:id="rId2"/>
    <p:sldId id="406" r:id="rId3"/>
    <p:sldId id="463" r:id="rId4"/>
    <p:sldId id="408" r:id="rId5"/>
    <p:sldId id="457" r:id="rId6"/>
    <p:sldId id="458" r:id="rId7"/>
    <p:sldId id="516" r:id="rId8"/>
    <p:sldId id="456" r:id="rId9"/>
    <p:sldId id="404" r:id="rId10"/>
    <p:sldId id="459" r:id="rId11"/>
    <p:sldId id="460" r:id="rId12"/>
    <p:sldId id="465" r:id="rId13"/>
    <p:sldId id="455" r:id="rId14"/>
    <p:sldId id="466" r:id="rId15"/>
    <p:sldId id="407" r:id="rId16"/>
    <p:sldId id="469" r:id="rId17"/>
    <p:sldId id="461" r:id="rId18"/>
    <p:sldId id="462" r:id="rId19"/>
    <p:sldId id="517" r:id="rId20"/>
    <p:sldId id="464" r:id="rId21"/>
    <p:sldId id="518" r:id="rId22"/>
    <p:sldId id="519" r:id="rId23"/>
    <p:sldId id="470" r:id="rId24"/>
    <p:sldId id="522" r:id="rId25"/>
    <p:sldId id="520" r:id="rId26"/>
    <p:sldId id="471" r:id="rId27"/>
    <p:sldId id="473" r:id="rId28"/>
    <p:sldId id="476" r:id="rId29"/>
    <p:sldId id="474" r:id="rId30"/>
    <p:sldId id="475" r:id="rId31"/>
    <p:sldId id="478" r:id="rId32"/>
    <p:sldId id="477" r:id="rId33"/>
    <p:sldId id="523" r:id="rId34"/>
    <p:sldId id="524" r:id="rId35"/>
    <p:sldId id="525" r:id="rId36"/>
    <p:sldId id="410" r:id="rId37"/>
    <p:sldId id="500" r:id="rId38"/>
    <p:sldId id="501" r:id="rId39"/>
    <p:sldId id="527" r:id="rId40"/>
    <p:sldId id="526" r:id="rId41"/>
    <p:sldId id="502" r:id="rId42"/>
    <p:sldId id="503" r:id="rId43"/>
    <p:sldId id="504" r:id="rId44"/>
    <p:sldId id="528" r:id="rId45"/>
    <p:sldId id="529" r:id="rId46"/>
    <p:sldId id="505" r:id="rId47"/>
    <p:sldId id="482" r:id="rId48"/>
    <p:sldId id="483" r:id="rId49"/>
    <p:sldId id="506" r:id="rId50"/>
    <p:sldId id="507" r:id="rId51"/>
    <p:sldId id="508" r:id="rId52"/>
    <p:sldId id="509" r:id="rId53"/>
    <p:sldId id="510" r:id="rId54"/>
    <p:sldId id="512" r:id="rId55"/>
    <p:sldId id="513" r:id="rId56"/>
    <p:sldId id="514" r:id="rId57"/>
    <p:sldId id="515" r:id="rId58"/>
    <p:sldId id="486" r:id="rId59"/>
    <p:sldId id="484" r:id="rId60"/>
    <p:sldId id="411" r:id="rId61"/>
    <p:sldId id="485" r:id="rId62"/>
    <p:sldId id="479" r:id="rId63"/>
    <p:sldId id="488" r:id="rId64"/>
    <p:sldId id="495" r:id="rId65"/>
    <p:sldId id="496" r:id="rId66"/>
    <p:sldId id="497" r:id="rId67"/>
    <p:sldId id="498" r:id="rId68"/>
    <p:sldId id="499" r:id="rId69"/>
    <p:sldId id="409" r:id="rId70"/>
    <p:sldId id="472" r:id="rId71"/>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93" autoAdjust="0"/>
    <p:restoredTop sz="96247" autoAdjust="0"/>
  </p:normalViewPr>
  <p:slideViewPr>
    <p:cSldViewPr>
      <p:cViewPr varScale="1">
        <p:scale>
          <a:sx n="82" d="100"/>
          <a:sy n="82" d="100"/>
        </p:scale>
        <p:origin x="66" y="126"/>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4FDD0A-8E9A-403A-8A26-3515633FB2A5}" type="datetimeFigureOut">
              <a:rPr lang="en-US" smtClean="0"/>
              <a:t>6/14/2026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01E2C-B751-4C38-A4F8-4A97733E0BA7}" type="slidenum">
              <a:rPr lang="en-US" smtClean="0"/>
              <a:t>‹#›</a:t>
            </a:fld>
            <a:endParaRPr lang="en-US"/>
          </a:p>
        </p:txBody>
      </p:sp>
    </p:spTree>
    <p:extLst>
      <p:ext uri="{BB962C8B-B14F-4D97-AF65-F5344CB8AC3E}">
        <p14:creationId xmlns:p14="http://schemas.microsoft.com/office/powerpoint/2010/main" val="362049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BC093-C3B0-855C-A37D-2EAEF4360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D578A-F261-FDEF-B7B0-7959C11A1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698F0-A07F-F02A-6F6B-A0CCB5F05C6E}"/>
              </a:ext>
            </a:extLst>
          </p:cNvPr>
          <p:cNvSpPr>
            <a:spLocks noGrp="1"/>
          </p:cNvSpPr>
          <p:nvPr>
            <p:ph type="body" idx="1"/>
          </p:nvPr>
        </p:nvSpPr>
        <p:spPr/>
        <p:txBody>
          <a:bodyPr/>
          <a:lstStyle/>
          <a:p>
            <a:pPr>
              <a:buFont typeface="Arial" panose="020B0604020202020204" pitchFamily="34" charset="0"/>
              <a:buNone/>
            </a:pPr>
            <a:endParaRPr lang="vi-VN"/>
          </a:p>
        </p:txBody>
      </p:sp>
      <p:sp>
        <p:nvSpPr>
          <p:cNvPr id="4" name="Slide Number Placeholder 3">
            <a:extLst>
              <a:ext uri="{FF2B5EF4-FFF2-40B4-BE49-F238E27FC236}">
                <a16:creationId xmlns:a16="http://schemas.microsoft.com/office/drawing/2014/main" id="{BA6C292D-0043-A932-22F6-F74D4569FDDF}"/>
              </a:ext>
            </a:extLst>
          </p:cNvPr>
          <p:cNvSpPr>
            <a:spLocks noGrp="1"/>
          </p:cNvSpPr>
          <p:nvPr>
            <p:ph type="sldNum" sz="quarter" idx="5"/>
          </p:nvPr>
        </p:nvSpPr>
        <p:spPr/>
        <p:txBody>
          <a:bodyPr/>
          <a:lstStyle/>
          <a:p>
            <a:fld id="{37D01E2C-B751-4C38-A4F8-4A97733E0BA7}" type="slidenum">
              <a:rPr lang="en-US" smtClean="0"/>
              <a:t>1</a:t>
            </a:fld>
            <a:endParaRPr lang="en-US"/>
          </a:p>
        </p:txBody>
      </p:sp>
    </p:spTree>
    <p:extLst>
      <p:ext uri="{BB962C8B-B14F-4D97-AF65-F5344CB8AC3E}">
        <p14:creationId xmlns:p14="http://schemas.microsoft.com/office/powerpoint/2010/main" val="1440008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28FD1-E901-7DEC-C340-C491C11EF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0FE47-2FBB-7263-E59D-CD40645B2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464A3B-3E3B-484A-F0DB-96A74945110F}"/>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4338DD81-1E56-9C3A-2951-6CD6FA80AF5B}"/>
              </a:ext>
            </a:extLst>
          </p:cNvPr>
          <p:cNvSpPr>
            <a:spLocks noGrp="1"/>
          </p:cNvSpPr>
          <p:nvPr>
            <p:ph type="sldNum" sz="quarter" idx="5"/>
          </p:nvPr>
        </p:nvSpPr>
        <p:spPr/>
        <p:txBody>
          <a:bodyPr/>
          <a:lstStyle/>
          <a:p>
            <a:fld id="{37D01E2C-B751-4C38-A4F8-4A97733E0BA7}" type="slidenum">
              <a:rPr lang="en-US" smtClean="0"/>
              <a:t>2</a:t>
            </a:fld>
            <a:endParaRPr lang="en-US"/>
          </a:p>
        </p:txBody>
      </p:sp>
    </p:spTree>
    <p:extLst>
      <p:ext uri="{BB962C8B-B14F-4D97-AF65-F5344CB8AC3E}">
        <p14:creationId xmlns:p14="http://schemas.microsoft.com/office/powerpoint/2010/main" val="3169225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https://www.wired.com/2012/03/getting-blinky-with-it/</a:t>
            </a:r>
          </a:p>
          <a:p>
            <a:pPr fontAlgn="base"/>
            <a:endParaRPr lang="en-US" sz="1200" b="0" i="0" kern="1200" dirty="0">
              <a:solidFill>
                <a:schemeClr val="tx1"/>
              </a:solidFill>
              <a:effectLst/>
              <a:highlight>
                <a:srgbClr val="FFFFFF"/>
              </a:highlight>
              <a:latin typeface="+mn-lt"/>
              <a:ea typeface="+mn-ea"/>
              <a:cs typeface="+mn-cs"/>
            </a:endParaRPr>
          </a:p>
          <a:p>
            <a:r>
              <a:rPr lang="vi-VN" b="1" dirty="0"/>
              <a:t>Ý nghĩa các đèn LED</a:t>
            </a:r>
          </a:p>
          <a:p>
            <a:r>
              <a:rPr lang="vi-VN" b="1" dirty="0"/>
              <a:t>LED "ON" (hoặc "PWR")</a:t>
            </a:r>
            <a:r>
              <a:rPr lang="vi-VN" dirty="0"/>
              <a:t>: Đèn LED này sáng lên khi bo mạch được cấp nguồn, bất kể nguồn đó là từ USB hay từ jack cắm nguồn ngoài. Nó báo hiệu rằng bo mạch đang hoạt động.</a:t>
            </a:r>
          </a:p>
          <a:p>
            <a:r>
              <a:rPr lang="vi-VN" b="1" dirty="0"/>
              <a:t>LED "L"</a:t>
            </a:r>
            <a:r>
              <a:rPr lang="vi-VN" dirty="0"/>
              <a:t>: Đèn LED này được nối với chân digital số 13. Nó thường được sử dụng để kiểm tra, debug chương trình hoặc chạy các ví dụ cơ bản (như chương trình nhấp nháy đèn LED - "Blink"). Khi bạn lập trình cho chân số 13 ở trạng thái HIGH, đèn LED này sẽ sáng.</a:t>
            </a:r>
          </a:p>
          <a:p>
            <a:r>
              <a:rPr lang="vi-VN" b="1" dirty="0"/>
              <a:t>LED "TX" và "RX"</a:t>
            </a:r>
            <a:r>
              <a:rPr lang="vi-VN" dirty="0"/>
              <a:t>: Đây là hai đèn LED rất quan trọng, báo hiệu trạng thái truyền nhận dữ liệu qua cổng Serial (giao tiếp nối tiếp).</a:t>
            </a:r>
          </a:p>
          <a:p>
            <a:pPr lvl="1"/>
            <a:r>
              <a:rPr lang="vi-VN" b="1" dirty="0"/>
              <a:t>TX (Transmit)</a:t>
            </a:r>
            <a:r>
              <a:rPr lang="vi-VN" dirty="0"/>
              <a:t>: Đèn LED này nhấp nháy khi bo mạch đang </a:t>
            </a:r>
            <a:r>
              <a:rPr lang="vi-VN" b="1" dirty="0"/>
              <a:t>gửi</a:t>
            </a:r>
            <a:r>
              <a:rPr lang="vi-VN" dirty="0"/>
              <a:t> dữ liệu đi.</a:t>
            </a:r>
          </a:p>
          <a:p>
            <a:pPr lvl="1"/>
            <a:r>
              <a:rPr lang="vi-VN" b="1" dirty="0"/>
              <a:t>RX (Receive)</a:t>
            </a:r>
            <a:r>
              <a:rPr lang="vi-VN" dirty="0"/>
              <a:t>: Đèn LED này nhấp nháy khi bo mạch đang </a:t>
            </a:r>
            <a:r>
              <a:rPr lang="vi-VN" b="1" dirty="0"/>
              <a:t>nhận</a:t>
            </a:r>
            <a:r>
              <a:rPr lang="vi-VN" dirty="0"/>
              <a:t> dữ liệu.</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3</a:t>
            </a:fld>
            <a:endParaRPr lang="en-US"/>
          </a:p>
        </p:txBody>
      </p:sp>
    </p:spTree>
    <p:extLst>
      <p:ext uri="{BB962C8B-B14F-4D97-AF65-F5344CB8AC3E}">
        <p14:creationId xmlns:p14="http://schemas.microsoft.com/office/powerpoint/2010/main" val="3935791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https://www.wired.com/2012/03/getting-blinky-with-it/</a:t>
            </a:r>
          </a:p>
          <a:p>
            <a:pPr fontAlgn="base"/>
            <a:endParaRPr lang="en-US" sz="1200" b="0" i="0" kern="1200" dirty="0">
              <a:solidFill>
                <a:schemeClr val="tx1"/>
              </a:solidFill>
              <a:effectLst/>
              <a:highlight>
                <a:srgbClr val="FFFFFF"/>
              </a:highlight>
              <a:latin typeface="+mn-lt"/>
              <a:ea typeface="+mn-ea"/>
              <a:cs typeface="+mn-cs"/>
            </a:endParaRPr>
          </a:p>
          <a:p>
            <a:r>
              <a:rPr lang="vi-VN" b="1" dirty="0"/>
              <a:t>Ý nghĩa các đèn LED</a:t>
            </a:r>
          </a:p>
          <a:p>
            <a:r>
              <a:rPr lang="vi-VN" b="1" dirty="0"/>
              <a:t>LED "ON" (hoặc "PWR")</a:t>
            </a:r>
            <a:r>
              <a:rPr lang="vi-VN" dirty="0"/>
              <a:t>: Đèn LED này sáng lên khi bo mạch được cấp nguồn, bất kể nguồn đó là từ USB hay từ jack cắm nguồn ngoài. Nó báo hiệu rằng bo mạch đang hoạt động.</a:t>
            </a:r>
          </a:p>
          <a:p>
            <a:r>
              <a:rPr lang="vi-VN" b="1" dirty="0"/>
              <a:t>LED "L"</a:t>
            </a:r>
            <a:r>
              <a:rPr lang="vi-VN" dirty="0"/>
              <a:t>: Đèn LED này được nối với chân digital số 13. Nó thường được sử dụng để kiểm tra, debug chương trình hoặc chạy các ví dụ cơ bản (như chương trình nhấp nháy đèn LED - "Blink"). Khi bạn lập trình cho chân số 13 ở trạng thái HIGH, đèn LED này sẽ sáng.</a:t>
            </a:r>
          </a:p>
          <a:p>
            <a:r>
              <a:rPr lang="vi-VN" b="1" dirty="0"/>
              <a:t>LED "TX" và "RX"</a:t>
            </a:r>
            <a:r>
              <a:rPr lang="vi-VN" dirty="0"/>
              <a:t>: Đây là hai đèn LED rất quan trọng, báo hiệu trạng thái truyền nhận dữ liệu qua cổng Serial (giao tiếp nối tiếp).</a:t>
            </a:r>
          </a:p>
          <a:p>
            <a:pPr lvl="1"/>
            <a:r>
              <a:rPr lang="vi-VN" b="1" dirty="0"/>
              <a:t>TX (Transmit)</a:t>
            </a:r>
            <a:r>
              <a:rPr lang="vi-VN" dirty="0"/>
              <a:t>: Đèn LED này nhấp nháy khi bo mạch đang </a:t>
            </a:r>
            <a:r>
              <a:rPr lang="vi-VN" b="1" dirty="0"/>
              <a:t>gửi</a:t>
            </a:r>
            <a:r>
              <a:rPr lang="vi-VN" dirty="0"/>
              <a:t> dữ liệu đi.</a:t>
            </a:r>
          </a:p>
          <a:p>
            <a:pPr lvl="1"/>
            <a:r>
              <a:rPr lang="vi-VN" b="1" dirty="0"/>
              <a:t>RX (Receive)</a:t>
            </a:r>
            <a:r>
              <a:rPr lang="vi-VN" dirty="0"/>
              <a:t>: Đèn LED này nhấp nháy khi bo mạch đang </a:t>
            </a:r>
            <a:r>
              <a:rPr lang="vi-VN" b="1" dirty="0"/>
              <a:t>nhận</a:t>
            </a:r>
            <a:r>
              <a:rPr lang="vi-VN" dirty="0"/>
              <a:t> dữ liệu.</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4</a:t>
            </a:fld>
            <a:endParaRPr lang="en-US"/>
          </a:p>
        </p:txBody>
      </p:sp>
    </p:spTree>
    <p:extLst>
      <p:ext uri="{BB962C8B-B14F-4D97-AF65-F5344CB8AC3E}">
        <p14:creationId xmlns:p14="http://schemas.microsoft.com/office/powerpoint/2010/main" val="3195461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https://www.wired.com/2012/03/getting-blinky-with-it/</a:t>
            </a:r>
          </a:p>
          <a:p>
            <a:pPr fontAlgn="base"/>
            <a:endParaRPr lang="en-US" sz="1200" b="0" i="0" kern="1200" dirty="0">
              <a:solidFill>
                <a:schemeClr val="tx1"/>
              </a:solidFill>
              <a:effectLst/>
              <a:highlight>
                <a:srgbClr val="FFFFFF"/>
              </a:highlight>
              <a:latin typeface="+mn-lt"/>
              <a:ea typeface="+mn-ea"/>
              <a:cs typeface="+mn-cs"/>
            </a:endParaRPr>
          </a:p>
          <a:p>
            <a:r>
              <a:rPr lang="vi-VN" b="1" dirty="0"/>
              <a:t>Ý nghĩa các đèn LED</a:t>
            </a:r>
          </a:p>
          <a:p>
            <a:r>
              <a:rPr lang="vi-VN" b="1" dirty="0"/>
              <a:t>LED "ON" (hoặc "PWR")</a:t>
            </a:r>
            <a:r>
              <a:rPr lang="vi-VN" dirty="0"/>
              <a:t>: Đèn LED này sáng lên khi bo mạch được cấp nguồn, bất kể nguồn đó là từ USB hay từ jack cắm nguồn ngoài. Nó báo hiệu rằng bo mạch đang hoạt động.</a:t>
            </a:r>
          </a:p>
          <a:p>
            <a:r>
              <a:rPr lang="vi-VN" b="1" dirty="0"/>
              <a:t>LED "L"</a:t>
            </a:r>
            <a:r>
              <a:rPr lang="vi-VN" dirty="0"/>
              <a:t>: Đèn LED này được nối với chân digital số 13. Nó thường được sử dụng để kiểm tra, debug chương trình hoặc chạy các ví dụ cơ bản (như chương trình nhấp nháy đèn LED - "Blink"). Khi bạn lập trình cho chân số 13 ở trạng thái HIGH, đèn LED này sẽ sáng.</a:t>
            </a:r>
          </a:p>
          <a:p>
            <a:r>
              <a:rPr lang="vi-VN" b="1" dirty="0"/>
              <a:t>LED "TX" và "RX"</a:t>
            </a:r>
            <a:r>
              <a:rPr lang="vi-VN" dirty="0"/>
              <a:t>: Đây là hai đèn LED rất quan trọng, báo hiệu trạng thái truyền nhận dữ liệu qua cổng Serial (giao tiếp nối tiếp).</a:t>
            </a:r>
          </a:p>
          <a:p>
            <a:pPr lvl="1"/>
            <a:r>
              <a:rPr lang="vi-VN" b="1" dirty="0"/>
              <a:t>TX (Transmit)</a:t>
            </a:r>
            <a:r>
              <a:rPr lang="vi-VN" dirty="0"/>
              <a:t>: Đèn LED này nhấp nháy khi bo mạch đang </a:t>
            </a:r>
            <a:r>
              <a:rPr lang="vi-VN" b="1" dirty="0"/>
              <a:t>gửi</a:t>
            </a:r>
            <a:r>
              <a:rPr lang="vi-VN" dirty="0"/>
              <a:t> dữ liệu đi.</a:t>
            </a:r>
          </a:p>
          <a:p>
            <a:pPr lvl="1"/>
            <a:r>
              <a:rPr lang="vi-VN" b="1" dirty="0"/>
              <a:t>RX (Receive)</a:t>
            </a:r>
            <a:r>
              <a:rPr lang="vi-VN" dirty="0"/>
              <a:t>: Đèn LED này nhấp nháy khi bo mạch đang </a:t>
            </a:r>
            <a:r>
              <a:rPr lang="vi-VN" b="1" dirty="0"/>
              <a:t>nhận</a:t>
            </a:r>
            <a:r>
              <a:rPr lang="vi-VN" dirty="0"/>
              <a:t> dữ liệu.</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5</a:t>
            </a:fld>
            <a:endParaRPr lang="en-US"/>
          </a:p>
        </p:txBody>
      </p:sp>
    </p:spTree>
    <p:extLst>
      <p:ext uri="{BB962C8B-B14F-4D97-AF65-F5344CB8AC3E}">
        <p14:creationId xmlns:p14="http://schemas.microsoft.com/office/powerpoint/2010/main" val="2840255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https://www.wired.com/2012/03/getting-blinky-with-it/</a:t>
            </a:r>
          </a:p>
          <a:p>
            <a:pPr fontAlgn="base"/>
            <a:endParaRPr lang="en-US" sz="1200" b="0" i="0" kern="1200" dirty="0">
              <a:solidFill>
                <a:schemeClr val="tx1"/>
              </a:solidFill>
              <a:effectLst/>
              <a:highlight>
                <a:srgbClr val="FFFFFF"/>
              </a:highlight>
              <a:latin typeface="+mn-lt"/>
              <a:ea typeface="+mn-ea"/>
              <a:cs typeface="+mn-cs"/>
            </a:endParaRPr>
          </a:p>
          <a:p>
            <a:r>
              <a:rPr lang="vi-VN" b="1" dirty="0"/>
              <a:t>Ý nghĩa các đèn LED</a:t>
            </a:r>
          </a:p>
          <a:p>
            <a:r>
              <a:rPr lang="vi-VN" b="1" dirty="0"/>
              <a:t>LED "ON" (hoặc "PWR")</a:t>
            </a:r>
            <a:r>
              <a:rPr lang="vi-VN" dirty="0"/>
              <a:t>: Đèn LED này sáng lên khi bo mạch được cấp nguồn, bất kể nguồn đó là từ USB hay từ jack cắm nguồn ngoài. Nó báo hiệu rằng bo mạch đang hoạt động.</a:t>
            </a:r>
          </a:p>
          <a:p>
            <a:r>
              <a:rPr lang="vi-VN" b="1" dirty="0"/>
              <a:t>LED "L"</a:t>
            </a:r>
            <a:r>
              <a:rPr lang="vi-VN" dirty="0"/>
              <a:t>: Đèn LED này được nối với chân digital số 13. Nó thường được sử dụng để kiểm tra, debug chương trình hoặc chạy các ví dụ cơ bản (như chương trình nhấp nháy đèn LED - "Blink"). Khi bạn lập trình cho chân số 13 ở trạng thái HIGH, đèn LED này sẽ sáng.</a:t>
            </a:r>
          </a:p>
          <a:p>
            <a:r>
              <a:rPr lang="vi-VN" b="1" dirty="0"/>
              <a:t>LED "TX" và "RX"</a:t>
            </a:r>
            <a:r>
              <a:rPr lang="vi-VN" dirty="0"/>
              <a:t>: Đây là hai đèn LED rất quan trọng, báo hiệu trạng thái truyền nhận dữ liệu qua cổng Serial (giao tiếp nối tiếp).</a:t>
            </a:r>
          </a:p>
          <a:p>
            <a:pPr lvl="1"/>
            <a:r>
              <a:rPr lang="vi-VN" b="1" dirty="0"/>
              <a:t>TX (Transmit)</a:t>
            </a:r>
            <a:r>
              <a:rPr lang="vi-VN" dirty="0"/>
              <a:t>: Đèn LED này nhấp nháy khi bo mạch đang </a:t>
            </a:r>
            <a:r>
              <a:rPr lang="vi-VN" b="1" dirty="0"/>
              <a:t>gửi</a:t>
            </a:r>
            <a:r>
              <a:rPr lang="vi-VN" dirty="0"/>
              <a:t> dữ liệu đi.</a:t>
            </a:r>
          </a:p>
          <a:p>
            <a:pPr lvl="1"/>
            <a:r>
              <a:rPr lang="vi-VN" b="1" dirty="0"/>
              <a:t>RX (Receive)</a:t>
            </a:r>
            <a:r>
              <a:rPr lang="vi-VN" dirty="0"/>
              <a:t>: Đèn LED này nhấp nháy khi bo mạch đang </a:t>
            </a:r>
            <a:r>
              <a:rPr lang="vi-VN" b="1" dirty="0"/>
              <a:t>nhận</a:t>
            </a:r>
            <a:r>
              <a:rPr lang="vi-VN" dirty="0"/>
              <a:t> dữ liệu.</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6</a:t>
            </a:fld>
            <a:endParaRPr lang="en-US"/>
          </a:p>
        </p:txBody>
      </p:sp>
    </p:spTree>
    <p:extLst>
      <p:ext uri="{BB962C8B-B14F-4D97-AF65-F5344CB8AC3E}">
        <p14:creationId xmlns:p14="http://schemas.microsoft.com/office/powerpoint/2010/main" val="1344607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https://www.wired.com/2012/03/getting-blinky-with-it/</a:t>
            </a:r>
          </a:p>
          <a:p>
            <a:pPr fontAlgn="base"/>
            <a:endParaRPr lang="en-US" sz="1200" b="0" i="0" kern="1200" dirty="0">
              <a:solidFill>
                <a:schemeClr val="tx1"/>
              </a:solidFill>
              <a:effectLst/>
              <a:highlight>
                <a:srgbClr val="FFFFFF"/>
              </a:highlight>
              <a:latin typeface="+mn-lt"/>
              <a:ea typeface="+mn-ea"/>
              <a:cs typeface="+mn-cs"/>
            </a:endParaRPr>
          </a:p>
          <a:p>
            <a:r>
              <a:rPr lang="vi-VN" b="1" dirty="0"/>
              <a:t>Ý nghĩa các đèn LED</a:t>
            </a:r>
          </a:p>
          <a:p>
            <a:r>
              <a:rPr lang="vi-VN" b="1" dirty="0"/>
              <a:t>LED "ON" (hoặc "PWR")</a:t>
            </a:r>
            <a:r>
              <a:rPr lang="vi-VN" dirty="0"/>
              <a:t>: Đèn LED này sáng lên khi bo mạch được cấp nguồn, bất kể nguồn đó là từ USB hay từ jack cắm nguồn ngoài. Nó báo hiệu rằng bo mạch đang hoạt động.</a:t>
            </a:r>
          </a:p>
          <a:p>
            <a:r>
              <a:rPr lang="vi-VN" b="1" dirty="0"/>
              <a:t>LED "L"</a:t>
            </a:r>
            <a:r>
              <a:rPr lang="vi-VN" dirty="0"/>
              <a:t>: Đèn LED này được nối với chân digital số 13. Nó thường được sử dụng để kiểm tra, debug chương trình hoặc chạy các ví dụ cơ bản (như chương trình nhấp nháy đèn LED - "Blink"). Khi bạn lập trình cho chân số 13 ở trạng thái HIGH, đèn LED này sẽ sáng.</a:t>
            </a:r>
          </a:p>
          <a:p>
            <a:r>
              <a:rPr lang="vi-VN" b="1" dirty="0"/>
              <a:t>LED "TX" và "RX"</a:t>
            </a:r>
            <a:r>
              <a:rPr lang="vi-VN" dirty="0"/>
              <a:t>: Đây là hai đèn LED rất quan trọng, báo hiệu trạng thái truyền nhận dữ liệu qua cổng Serial (giao tiếp nối tiếp).</a:t>
            </a:r>
          </a:p>
          <a:p>
            <a:pPr lvl="1"/>
            <a:r>
              <a:rPr lang="vi-VN" b="1" dirty="0"/>
              <a:t>TX (Transmit)</a:t>
            </a:r>
            <a:r>
              <a:rPr lang="vi-VN" dirty="0"/>
              <a:t>: Đèn LED này nhấp nháy khi bo mạch đang </a:t>
            </a:r>
            <a:r>
              <a:rPr lang="vi-VN" b="1" dirty="0"/>
              <a:t>gửi</a:t>
            </a:r>
            <a:r>
              <a:rPr lang="vi-VN" dirty="0"/>
              <a:t> dữ liệu đi.</a:t>
            </a:r>
          </a:p>
          <a:p>
            <a:pPr lvl="1"/>
            <a:r>
              <a:rPr lang="vi-VN" b="1" dirty="0"/>
              <a:t>RX (Receive)</a:t>
            </a:r>
            <a:r>
              <a:rPr lang="vi-VN" dirty="0"/>
              <a:t>: Đèn LED này nhấp nháy khi bo mạch đang </a:t>
            </a:r>
            <a:r>
              <a:rPr lang="vi-VN" b="1" dirty="0"/>
              <a:t>nhận</a:t>
            </a:r>
            <a:r>
              <a:rPr lang="vi-VN" dirty="0"/>
              <a:t> dữ liệu.</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7</a:t>
            </a:fld>
            <a:endParaRPr lang="en-US"/>
          </a:p>
        </p:txBody>
      </p:sp>
    </p:spTree>
    <p:extLst>
      <p:ext uri="{BB962C8B-B14F-4D97-AF65-F5344CB8AC3E}">
        <p14:creationId xmlns:p14="http://schemas.microsoft.com/office/powerpoint/2010/main" val="3554992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F148-7118-B7D0-D3C2-9FE47B782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8A5E5-B9EF-1E25-9099-DE129746D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3B11B-B89F-A64B-5896-D212F5127F5F}"/>
              </a:ext>
            </a:extLst>
          </p:cNvPr>
          <p:cNvSpPr>
            <a:spLocks noGrp="1"/>
          </p:cNvSpPr>
          <p:nvPr>
            <p:ph type="body" idx="1"/>
          </p:nvPr>
        </p:nvSpPr>
        <p:spPr/>
        <p:txBody>
          <a:bodyPr/>
          <a:lstStyle/>
          <a:p>
            <a:pPr algn="l"/>
            <a:endParaRPr lang="vi-VN" b="0" i="0">
              <a:solidFill>
                <a:srgbClr val="0F1115"/>
              </a:solidFill>
              <a:effectLst/>
              <a:latin typeface="quote-cjk-patch"/>
            </a:endParaRPr>
          </a:p>
        </p:txBody>
      </p:sp>
      <p:sp>
        <p:nvSpPr>
          <p:cNvPr id="4" name="Slide Number Placeholder 3">
            <a:extLst>
              <a:ext uri="{FF2B5EF4-FFF2-40B4-BE49-F238E27FC236}">
                <a16:creationId xmlns:a16="http://schemas.microsoft.com/office/drawing/2014/main" id="{BFA5CD2F-182C-1A55-3207-BBC796A0BA86}"/>
              </a:ext>
            </a:extLst>
          </p:cNvPr>
          <p:cNvSpPr>
            <a:spLocks noGrp="1"/>
          </p:cNvSpPr>
          <p:nvPr>
            <p:ph type="sldNum" sz="quarter" idx="5"/>
          </p:nvPr>
        </p:nvSpPr>
        <p:spPr/>
        <p:txBody>
          <a:bodyPr/>
          <a:lstStyle/>
          <a:p>
            <a:fld id="{37D01E2C-B751-4C38-A4F8-4A97733E0BA7}" type="slidenum">
              <a:rPr lang="en-US" smtClean="0"/>
              <a:t>8</a:t>
            </a:fld>
            <a:endParaRPr lang="en-US"/>
          </a:p>
        </p:txBody>
      </p:sp>
    </p:spTree>
    <p:extLst>
      <p:ext uri="{BB962C8B-B14F-4D97-AF65-F5344CB8AC3E}">
        <p14:creationId xmlns:p14="http://schemas.microsoft.com/office/powerpoint/2010/main" val="608048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F148-7118-B7D0-D3C2-9FE47B782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8A5E5-B9EF-1E25-9099-DE129746D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3B11B-B89F-A64B-5896-D212F5127F5F}"/>
              </a:ext>
            </a:extLst>
          </p:cNvPr>
          <p:cNvSpPr>
            <a:spLocks noGrp="1"/>
          </p:cNvSpPr>
          <p:nvPr>
            <p:ph type="body" idx="1"/>
          </p:nvPr>
        </p:nvSpPr>
        <p:spPr/>
        <p:txBody>
          <a:bodyPr/>
          <a:lstStyle/>
          <a:p>
            <a:pPr algn="l"/>
            <a:endParaRPr lang="vi-VN" b="0" i="0">
              <a:solidFill>
                <a:srgbClr val="0F1115"/>
              </a:solidFill>
              <a:effectLst/>
              <a:latin typeface="quote-cjk-patch"/>
            </a:endParaRPr>
          </a:p>
        </p:txBody>
      </p:sp>
      <p:sp>
        <p:nvSpPr>
          <p:cNvPr id="4" name="Slide Number Placeholder 3">
            <a:extLst>
              <a:ext uri="{FF2B5EF4-FFF2-40B4-BE49-F238E27FC236}">
                <a16:creationId xmlns:a16="http://schemas.microsoft.com/office/drawing/2014/main" id="{BFA5CD2F-182C-1A55-3207-BBC796A0BA86}"/>
              </a:ext>
            </a:extLst>
          </p:cNvPr>
          <p:cNvSpPr>
            <a:spLocks noGrp="1"/>
          </p:cNvSpPr>
          <p:nvPr>
            <p:ph type="sldNum" sz="quarter" idx="5"/>
          </p:nvPr>
        </p:nvSpPr>
        <p:spPr/>
        <p:txBody>
          <a:bodyPr/>
          <a:lstStyle/>
          <a:p>
            <a:fld id="{37D01E2C-B751-4C38-A4F8-4A97733E0BA7}" type="slidenum">
              <a:rPr lang="en-US" smtClean="0"/>
              <a:t>9</a:t>
            </a:fld>
            <a:endParaRPr lang="en-US"/>
          </a:p>
        </p:txBody>
      </p:sp>
    </p:spTree>
    <p:extLst>
      <p:ext uri="{BB962C8B-B14F-4D97-AF65-F5344CB8AC3E}">
        <p14:creationId xmlns:p14="http://schemas.microsoft.com/office/powerpoint/2010/main" val="2237840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https://www.wired.com/2012/03/getting-blinky-with-it/</a:t>
            </a:r>
          </a:p>
          <a:p>
            <a:pPr fontAlgn="base"/>
            <a:endParaRPr lang="en-US" sz="1200" b="0" i="0" kern="1200" dirty="0">
              <a:solidFill>
                <a:schemeClr val="tx1"/>
              </a:solidFill>
              <a:effectLst/>
              <a:highlight>
                <a:srgbClr val="FFFFFF"/>
              </a:highlight>
              <a:latin typeface="+mn-lt"/>
              <a:ea typeface="+mn-ea"/>
              <a:cs typeface="+mn-cs"/>
            </a:endParaRPr>
          </a:p>
          <a:p>
            <a:r>
              <a:rPr lang="vi-VN" b="1" dirty="0"/>
              <a:t>Ý nghĩa các đèn LED</a:t>
            </a:r>
          </a:p>
          <a:p>
            <a:r>
              <a:rPr lang="vi-VN" b="1" dirty="0"/>
              <a:t>LED "ON" (hoặc "PWR")</a:t>
            </a:r>
            <a:r>
              <a:rPr lang="vi-VN" dirty="0"/>
              <a:t>: Đèn LED này sáng lên khi bo mạch được cấp nguồn, bất kể nguồn đó là từ USB hay từ jack cắm nguồn ngoài. Nó báo hiệu rằng bo mạch đang hoạt động.</a:t>
            </a:r>
          </a:p>
          <a:p>
            <a:r>
              <a:rPr lang="vi-VN" b="1" dirty="0"/>
              <a:t>LED "L"</a:t>
            </a:r>
            <a:r>
              <a:rPr lang="vi-VN" dirty="0"/>
              <a:t>: Đèn LED này được nối với chân digital số 13. Nó thường được sử dụng để kiểm tra, debug chương trình hoặc chạy các ví dụ cơ bản (như chương trình nhấp nháy đèn LED - "Blink"). Khi bạn lập trình cho chân số 13 ở trạng thái HIGH, đèn LED này sẽ sáng.</a:t>
            </a:r>
          </a:p>
          <a:p>
            <a:r>
              <a:rPr lang="vi-VN" b="1" dirty="0"/>
              <a:t>LED "TX" và "RX"</a:t>
            </a:r>
            <a:r>
              <a:rPr lang="vi-VN" dirty="0"/>
              <a:t>: Đây là hai đèn LED rất quan trọng, báo hiệu trạng thái truyền nhận dữ liệu qua cổng Serial (giao tiếp nối tiếp).</a:t>
            </a:r>
          </a:p>
          <a:p>
            <a:pPr lvl="1"/>
            <a:r>
              <a:rPr lang="vi-VN" b="1" dirty="0"/>
              <a:t>TX (Transmit)</a:t>
            </a:r>
            <a:r>
              <a:rPr lang="vi-VN" dirty="0"/>
              <a:t>: Đèn LED này nhấp nháy khi bo mạch đang </a:t>
            </a:r>
            <a:r>
              <a:rPr lang="vi-VN" b="1" dirty="0"/>
              <a:t>gửi</a:t>
            </a:r>
            <a:r>
              <a:rPr lang="vi-VN" dirty="0"/>
              <a:t> dữ liệu đi.</a:t>
            </a:r>
          </a:p>
          <a:p>
            <a:pPr lvl="1"/>
            <a:r>
              <a:rPr lang="vi-VN" b="1" dirty="0"/>
              <a:t>RX (Receive)</a:t>
            </a:r>
            <a:r>
              <a:rPr lang="vi-VN" dirty="0"/>
              <a:t>: Đèn LED này nhấp nháy khi bo mạch đang </a:t>
            </a:r>
            <a:r>
              <a:rPr lang="vi-VN" b="1" dirty="0"/>
              <a:t>nhận</a:t>
            </a:r>
            <a:r>
              <a:rPr lang="vi-VN" dirty="0"/>
              <a:t> dữ liệu.</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10</a:t>
            </a:fld>
            <a:endParaRPr lang="en-US"/>
          </a:p>
        </p:txBody>
      </p:sp>
    </p:spTree>
    <p:extLst>
      <p:ext uri="{BB962C8B-B14F-4D97-AF65-F5344CB8AC3E}">
        <p14:creationId xmlns:p14="http://schemas.microsoft.com/office/powerpoint/2010/main" val="312635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https://www.wired.com/2012/03/getting-blinky-with-it/</a:t>
            </a:r>
          </a:p>
          <a:p>
            <a:pPr fontAlgn="base"/>
            <a:endParaRPr lang="en-US" sz="1200" b="0" i="0" kern="1200" dirty="0">
              <a:solidFill>
                <a:schemeClr val="tx1"/>
              </a:solidFill>
              <a:effectLst/>
              <a:highlight>
                <a:srgbClr val="FFFFFF"/>
              </a:highlight>
              <a:latin typeface="+mn-lt"/>
              <a:ea typeface="+mn-ea"/>
              <a:cs typeface="+mn-cs"/>
            </a:endParaRPr>
          </a:p>
          <a:p>
            <a:r>
              <a:rPr lang="vi-VN" b="1" dirty="0"/>
              <a:t>Ý nghĩa các đèn LED</a:t>
            </a:r>
          </a:p>
          <a:p>
            <a:r>
              <a:rPr lang="vi-VN" b="1" dirty="0"/>
              <a:t>LED "ON" (hoặc "PWR")</a:t>
            </a:r>
            <a:r>
              <a:rPr lang="vi-VN" dirty="0"/>
              <a:t>: Đèn LED này sáng lên khi bo mạch được cấp nguồn, bất kể nguồn đó là từ USB hay từ jack cắm nguồn ngoài. Nó báo hiệu rằng bo mạch đang hoạt động.</a:t>
            </a:r>
          </a:p>
          <a:p>
            <a:r>
              <a:rPr lang="vi-VN" b="1" dirty="0"/>
              <a:t>LED "L"</a:t>
            </a:r>
            <a:r>
              <a:rPr lang="vi-VN" dirty="0"/>
              <a:t>: Đèn LED này được nối với chân digital số 13. Nó thường được sử dụng để kiểm tra, debug chương trình hoặc chạy các ví dụ cơ bản (như chương trình nhấp nháy đèn LED - "Blink"). Khi bạn lập trình cho chân số 13 ở trạng thái HIGH, đèn LED này sẽ sáng.</a:t>
            </a:r>
          </a:p>
          <a:p>
            <a:r>
              <a:rPr lang="vi-VN" b="1" dirty="0"/>
              <a:t>LED "TX" và "RX"</a:t>
            </a:r>
            <a:r>
              <a:rPr lang="vi-VN" dirty="0"/>
              <a:t>: Đây là hai đèn LED rất quan trọng, báo hiệu trạng thái truyền nhận dữ liệu qua cổng Serial (giao tiếp nối tiếp).</a:t>
            </a:r>
          </a:p>
          <a:p>
            <a:pPr lvl="1"/>
            <a:r>
              <a:rPr lang="vi-VN" b="1" dirty="0"/>
              <a:t>TX (Transmit)</a:t>
            </a:r>
            <a:r>
              <a:rPr lang="vi-VN" dirty="0"/>
              <a:t>: Đèn LED này nhấp nháy khi bo mạch đang </a:t>
            </a:r>
            <a:r>
              <a:rPr lang="vi-VN" b="1" dirty="0"/>
              <a:t>gửi</a:t>
            </a:r>
            <a:r>
              <a:rPr lang="vi-VN" dirty="0"/>
              <a:t> dữ liệu đi.</a:t>
            </a:r>
          </a:p>
          <a:p>
            <a:pPr lvl="1"/>
            <a:r>
              <a:rPr lang="vi-VN" b="1" dirty="0"/>
              <a:t>RX (Receive)</a:t>
            </a:r>
            <a:r>
              <a:rPr lang="vi-VN" dirty="0"/>
              <a:t>: Đèn LED này nhấp nháy khi bo mạch đang </a:t>
            </a:r>
            <a:r>
              <a:rPr lang="vi-VN" b="1" dirty="0"/>
              <a:t>nhận</a:t>
            </a:r>
            <a:r>
              <a:rPr lang="vi-VN" dirty="0"/>
              <a:t> dữ liệu.</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11</a:t>
            </a:fld>
            <a:endParaRPr lang="en-US"/>
          </a:p>
        </p:txBody>
      </p:sp>
    </p:spTree>
    <p:extLst>
      <p:ext uri="{BB962C8B-B14F-4D97-AF65-F5344CB8AC3E}">
        <p14:creationId xmlns:p14="http://schemas.microsoft.com/office/powerpoint/2010/main" val="47313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F148-7118-B7D0-D3C2-9FE47B782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8A5E5-B9EF-1E25-9099-DE129746D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3B11B-B89F-A64B-5896-D212F5127F5F}"/>
              </a:ext>
            </a:extLst>
          </p:cNvPr>
          <p:cNvSpPr>
            <a:spLocks noGrp="1"/>
          </p:cNvSpPr>
          <p:nvPr>
            <p:ph type="body" idx="1"/>
          </p:nvPr>
        </p:nvSpPr>
        <p:spPr/>
        <p:txBody>
          <a:bodyPr/>
          <a:lstStyle/>
          <a:p>
            <a:pPr algn="l"/>
            <a:endParaRPr lang="vi-VN" b="0" i="0">
              <a:solidFill>
                <a:srgbClr val="0F1115"/>
              </a:solidFill>
              <a:effectLst/>
              <a:latin typeface="quote-cjk-patch"/>
            </a:endParaRPr>
          </a:p>
        </p:txBody>
      </p:sp>
      <p:sp>
        <p:nvSpPr>
          <p:cNvPr id="4" name="Slide Number Placeholder 3">
            <a:extLst>
              <a:ext uri="{FF2B5EF4-FFF2-40B4-BE49-F238E27FC236}">
                <a16:creationId xmlns:a16="http://schemas.microsoft.com/office/drawing/2014/main" id="{BFA5CD2F-182C-1A55-3207-BBC796A0BA86}"/>
              </a:ext>
            </a:extLst>
          </p:cNvPr>
          <p:cNvSpPr>
            <a:spLocks noGrp="1"/>
          </p:cNvSpPr>
          <p:nvPr>
            <p:ph type="sldNum" sz="quarter" idx="5"/>
          </p:nvPr>
        </p:nvSpPr>
        <p:spPr/>
        <p:txBody>
          <a:bodyPr/>
          <a:lstStyle/>
          <a:p>
            <a:fld id="{37D01E2C-B751-4C38-A4F8-4A97733E0BA7}" type="slidenum">
              <a:rPr lang="en-US" smtClean="0"/>
              <a:t>12</a:t>
            </a:fld>
            <a:endParaRPr lang="en-US"/>
          </a:p>
        </p:txBody>
      </p:sp>
    </p:spTree>
    <p:extLst>
      <p:ext uri="{BB962C8B-B14F-4D97-AF65-F5344CB8AC3E}">
        <p14:creationId xmlns:p14="http://schemas.microsoft.com/office/powerpoint/2010/main" val="256173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F148-7118-B7D0-D3C2-9FE47B782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8A5E5-B9EF-1E25-9099-DE129746D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3B11B-B89F-A64B-5896-D212F5127F5F}"/>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BFA5CD2F-182C-1A55-3207-BBC796A0BA86}"/>
              </a:ext>
            </a:extLst>
          </p:cNvPr>
          <p:cNvSpPr>
            <a:spLocks noGrp="1"/>
          </p:cNvSpPr>
          <p:nvPr>
            <p:ph type="sldNum" sz="quarter" idx="5"/>
          </p:nvPr>
        </p:nvSpPr>
        <p:spPr/>
        <p:txBody>
          <a:bodyPr/>
          <a:lstStyle/>
          <a:p>
            <a:fld id="{37D01E2C-B751-4C38-A4F8-4A97733E0BA7}" type="slidenum">
              <a:rPr lang="en-US" smtClean="0"/>
              <a:t>13</a:t>
            </a:fld>
            <a:endParaRPr lang="en-US"/>
          </a:p>
        </p:txBody>
      </p:sp>
    </p:spTree>
    <p:extLst>
      <p:ext uri="{BB962C8B-B14F-4D97-AF65-F5344CB8AC3E}">
        <p14:creationId xmlns:p14="http://schemas.microsoft.com/office/powerpoint/2010/main" val="2610055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F148-7118-B7D0-D3C2-9FE47B782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8A5E5-B9EF-1E25-9099-DE129746D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3B11B-B89F-A64B-5896-D212F5127F5F}"/>
              </a:ext>
            </a:extLst>
          </p:cNvPr>
          <p:cNvSpPr>
            <a:spLocks noGrp="1"/>
          </p:cNvSpPr>
          <p:nvPr>
            <p:ph type="body" idx="1"/>
          </p:nvPr>
        </p:nvSpPr>
        <p:spPr/>
        <p:txBody>
          <a:bodyPr/>
          <a:lstStyle/>
          <a:p>
            <a:pPr algn="l"/>
            <a:endParaRPr lang="vi-VN" b="1" i="0">
              <a:solidFill>
                <a:srgbClr val="0F1115"/>
              </a:solidFill>
              <a:effectLst/>
              <a:latin typeface="quote-cjk-patch"/>
            </a:endParaRPr>
          </a:p>
        </p:txBody>
      </p:sp>
      <p:sp>
        <p:nvSpPr>
          <p:cNvPr id="4" name="Slide Number Placeholder 3">
            <a:extLst>
              <a:ext uri="{FF2B5EF4-FFF2-40B4-BE49-F238E27FC236}">
                <a16:creationId xmlns:a16="http://schemas.microsoft.com/office/drawing/2014/main" id="{BFA5CD2F-182C-1A55-3207-BBC796A0BA86}"/>
              </a:ext>
            </a:extLst>
          </p:cNvPr>
          <p:cNvSpPr>
            <a:spLocks noGrp="1"/>
          </p:cNvSpPr>
          <p:nvPr>
            <p:ph type="sldNum" sz="quarter" idx="5"/>
          </p:nvPr>
        </p:nvSpPr>
        <p:spPr/>
        <p:txBody>
          <a:bodyPr/>
          <a:lstStyle/>
          <a:p>
            <a:fld id="{37D01E2C-B751-4C38-A4F8-4A97733E0BA7}" type="slidenum">
              <a:rPr lang="en-US" smtClean="0"/>
              <a:t>14</a:t>
            </a:fld>
            <a:endParaRPr lang="en-US"/>
          </a:p>
        </p:txBody>
      </p:sp>
    </p:spTree>
    <p:extLst>
      <p:ext uri="{BB962C8B-B14F-4D97-AF65-F5344CB8AC3E}">
        <p14:creationId xmlns:p14="http://schemas.microsoft.com/office/powerpoint/2010/main" val="741905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376B7-C67F-FEA0-30C1-843AB2801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F9836-1D20-485C-9E36-4065F5090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CCE56-BFC3-CC17-AC35-523E0D7F15A3}"/>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AAD49EF5-8C37-2A11-620F-983C257F5EEF}"/>
              </a:ext>
            </a:extLst>
          </p:cNvPr>
          <p:cNvSpPr>
            <a:spLocks noGrp="1"/>
          </p:cNvSpPr>
          <p:nvPr>
            <p:ph type="sldNum" sz="quarter" idx="5"/>
          </p:nvPr>
        </p:nvSpPr>
        <p:spPr/>
        <p:txBody>
          <a:bodyPr/>
          <a:lstStyle/>
          <a:p>
            <a:fld id="{37D01E2C-B751-4C38-A4F8-4A97733E0BA7}" type="slidenum">
              <a:rPr lang="en-US" smtClean="0"/>
              <a:t>15</a:t>
            </a:fld>
            <a:endParaRPr lang="en-US"/>
          </a:p>
        </p:txBody>
      </p:sp>
    </p:spTree>
    <p:extLst>
      <p:ext uri="{BB962C8B-B14F-4D97-AF65-F5344CB8AC3E}">
        <p14:creationId xmlns:p14="http://schemas.microsoft.com/office/powerpoint/2010/main" val="40676596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F148-7118-B7D0-D3C2-9FE47B782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8A5E5-B9EF-1E25-9099-DE129746D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3B11B-B89F-A64B-5896-D212F5127F5F}"/>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BFA5CD2F-182C-1A55-3207-BBC796A0BA86}"/>
              </a:ext>
            </a:extLst>
          </p:cNvPr>
          <p:cNvSpPr>
            <a:spLocks noGrp="1"/>
          </p:cNvSpPr>
          <p:nvPr>
            <p:ph type="sldNum" sz="quarter" idx="5"/>
          </p:nvPr>
        </p:nvSpPr>
        <p:spPr/>
        <p:txBody>
          <a:bodyPr/>
          <a:lstStyle/>
          <a:p>
            <a:fld id="{37D01E2C-B751-4C38-A4F8-4A97733E0BA7}" type="slidenum">
              <a:rPr lang="en-US" smtClean="0"/>
              <a:t>16</a:t>
            </a:fld>
            <a:endParaRPr lang="en-US"/>
          </a:p>
        </p:txBody>
      </p:sp>
    </p:spTree>
    <p:extLst>
      <p:ext uri="{BB962C8B-B14F-4D97-AF65-F5344CB8AC3E}">
        <p14:creationId xmlns:p14="http://schemas.microsoft.com/office/powerpoint/2010/main" val="1259777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17</a:t>
            </a:fld>
            <a:endParaRPr lang="en-US"/>
          </a:p>
        </p:txBody>
      </p:sp>
    </p:spTree>
    <p:extLst>
      <p:ext uri="{BB962C8B-B14F-4D97-AF65-F5344CB8AC3E}">
        <p14:creationId xmlns:p14="http://schemas.microsoft.com/office/powerpoint/2010/main" val="802803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18</a:t>
            </a:fld>
            <a:endParaRPr lang="en-US"/>
          </a:p>
        </p:txBody>
      </p:sp>
    </p:spTree>
    <p:extLst>
      <p:ext uri="{BB962C8B-B14F-4D97-AF65-F5344CB8AC3E}">
        <p14:creationId xmlns:p14="http://schemas.microsoft.com/office/powerpoint/2010/main" val="3652321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19</a:t>
            </a:fld>
            <a:endParaRPr lang="en-US"/>
          </a:p>
        </p:txBody>
      </p:sp>
    </p:spTree>
    <p:extLst>
      <p:ext uri="{BB962C8B-B14F-4D97-AF65-F5344CB8AC3E}">
        <p14:creationId xmlns:p14="http://schemas.microsoft.com/office/powerpoint/2010/main" val="35195832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20</a:t>
            </a:fld>
            <a:endParaRPr lang="en-US"/>
          </a:p>
        </p:txBody>
      </p:sp>
    </p:spTree>
    <p:extLst>
      <p:ext uri="{BB962C8B-B14F-4D97-AF65-F5344CB8AC3E}">
        <p14:creationId xmlns:p14="http://schemas.microsoft.com/office/powerpoint/2010/main" val="3746979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21</a:t>
            </a:fld>
            <a:endParaRPr lang="en-US"/>
          </a:p>
        </p:txBody>
      </p:sp>
    </p:spTree>
    <p:extLst>
      <p:ext uri="{BB962C8B-B14F-4D97-AF65-F5344CB8AC3E}">
        <p14:creationId xmlns:p14="http://schemas.microsoft.com/office/powerpoint/2010/main" val="25864085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22</a:t>
            </a:fld>
            <a:endParaRPr lang="en-US"/>
          </a:p>
        </p:txBody>
      </p:sp>
    </p:spTree>
    <p:extLst>
      <p:ext uri="{BB962C8B-B14F-4D97-AF65-F5344CB8AC3E}">
        <p14:creationId xmlns:p14="http://schemas.microsoft.com/office/powerpoint/2010/main" val="27922558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23</a:t>
            </a:fld>
            <a:endParaRPr lang="en-US"/>
          </a:p>
        </p:txBody>
      </p:sp>
    </p:spTree>
    <p:extLst>
      <p:ext uri="{BB962C8B-B14F-4D97-AF65-F5344CB8AC3E}">
        <p14:creationId xmlns:p14="http://schemas.microsoft.com/office/powerpoint/2010/main" val="3597306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24</a:t>
            </a:fld>
            <a:endParaRPr lang="en-US"/>
          </a:p>
        </p:txBody>
      </p:sp>
    </p:spTree>
    <p:extLst>
      <p:ext uri="{BB962C8B-B14F-4D97-AF65-F5344CB8AC3E}">
        <p14:creationId xmlns:p14="http://schemas.microsoft.com/office/powerpoint/2010/main" val="27874780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25</a:t>
            </a:fld>
            <a:endParaRPr lang="en-US"/>
          </a:p>
        </p:txBody>
      </p:sp>
    </p:spTree>
    <p:extLst>
      <p:ext uri="{BB962C8B-B14F-4D97-AF65-F5344CB8AC3E}">
        <p14:creationId xmlns:p14="http://schemas.microsoft.com/office/powerpoint/2010/main" val="550364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894-70F6-EA72-E50B-5D82FA324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B259-4F35-420D-0489-DC586738B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3BC6A-41E2-42C7-6BA6-A6F14741587A}"/>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33BED51-064F-C174-BE83-ED2E1796C44B}"/>
              </a:ext>
            </a:extLst>
          </p:cNvPr>
          <p:cNvSpPr>
            <a:spLocks noGrp="1"/>
          </p:cNvSpPr>
          <p:nvPr>
            <p:ph type="sldNum" sz="quarter" idx="5"/>
          </p:nvPr>
        </p:nvSpPr>
        <p:spPr/>
        <p:txBody>
          <a:bodyPr/>
          <a:lstStyle/>
          <a:p>
            <a:fld id="{37D01E2C-B751-4C38-A4F8-4A97733E0BA7}" type="slidenum">
              <a:rPr lang="en-US" smtClean="0"/>
              <a:t>26</a:t>
            </a:fld>
            <a:endParaRPr lang="en-US"/>
          </a:p>
        </p:txBody>
      </p:sp>
    </p:spTree>
    <p:extLst>
      <p:ext uri="{BB962C8B-B14F-4D97-AF65-F5344CB8AC3E}">
        <p14:creationId xmlns:p14="http://schemas.microsoft.com/office/powerpoint/2010/main" val="20994658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27</a:t>
            </a:fld>
            <a:endParaRPr lang="en-US"/>
          </a:p>
        </p:txBody>
      </p:sp>
    </p:spTree>
    <p:extLst>
      <p:ext uri="{BB962C8B-B14F-4D97-AF65-F5344CB8AC3E}">
        <p14:creationId xmlns:p14="http://schemas.microsoft.com/office/powerpoint/2010/main" val="10615794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r>
              <a:rPr lang="vi-VN" b="1">
                <a:effectLst/>
                <a:latin typeface="Google Sans"/>
              </a:rPr>
              <a:t>1. Ưu điểm của Timer (Tại sao nên dùng?)</a:t>
            </a:r>
          </a:p>
          <a:p>
            <a:pPr>
              <a:buFont typeface="Arial" panose="020B0604020202020204" pitchFamily="34" charset="0"/>
              <a:buChar char="•"/>
            </a:pPr>
            <a:r>
              <a:rPr lang="vi-VN" b="1">
                <a:effectLst/>
                <a:latin typeface="Google Sans Text"/>
              </a:rPr>
              <a:t>Độ chính xác tuyệt đối (High Precision):</a:t>
            </a:r>
            <a:r>
              <a:rPr lang="vi-VN">
                <a:effectLst/>
                <a:latin typeface="Google Sans Text"/>
              </a:rPr>
              <a:t> Timer hoạt động dựa trên tần số của thạch anh hệ thống (Oscillator). Nhờ vào các bộ chia xung (Prescaler), Timer có thể đo đạc các khoảng thời gian chính xác đến mức $1\text{ }\mu\text{s}$ hoặc thậm chí vài $\text{ns}$, điều mà các hàm delay phần mềm không bao giờ làm được do phụ thuộc vào sự tối ưu hóa của trình biên dịch (Compiler).</a:t>
            </a:r>
          </a:p>
          <a:p>
            <a:pPr>
              <a:buFont typeface="Arial" panose="020B0604020202020204" pitchFamily="34" charset="0"/>
              <a:buChar char="•"/>
            </a:pPr>
            <a:r>
              <a:rPr lang="vi-VN" b="1">
                <a:effectLst/>
                <a:latin typeface="Google Sans Text"/>
              </a:rPr>
              <a:t>Không chiếm dụng CPU (Non-blocking):</a:t>
            </a:r>
            <a:r>
              <a:rPr lang="vi-VN">
                <a:effectLst/>
                <a:latin typeface="Google Sans Text"/>
              </a:rPr>
              <a:t> Đây là ưu điểm cốt lõi. Khi cấu hình Timer, nó tự đếm độc lập ở tầng phần cứng. CPU hoàn toàn rảnh tay để chạy các thuật toán khác hoặc xử lý giao tiếp. Khi đến giờ, Timer chỉ cần kích hoạt một "Ngắt" (Interrupt) để báo hiệu.</a:t>
            </a:r>
          </a:p>
          <a:p>
            <a:pPr>
              <a:buFont typeface="Arial" panose="020B0604020202020204" pitchFamily="34" charset="0"/>
              <a:buChar char="•"/>
            </a:pPr>
            <a:r>
              <a:rPr lang="vi-VN" b="1">
                <a:effectLst/>
                <a:latin typeface="Google Sans Text"/>
              </a:rPr>
              <a:t>Cực kỳ linh hoạt (Versatility):</a:t>
            </a:r>
            <a:r>
              <a:rPr lang="vi-VN">
                <a:effectLst/>
                <a:latin typeface="Google Sans Text"/>
              </a:rPr>
              <a:t> Một bộ Timer không chỉ để định thời. Như đã biết, học viên có thể linh hoạt cấu hình nó thành bộ đếm sự kiện (Counter), bộ tạo xung điều khiển động cơ (PWM), hoặc bộ đo chu kỳ tín hiệu (Input Capture).</a:t>
            </a:r>
          </a:p>
          <a:p>
            <a:pPr>
              <a:buFont typeface="Arial" panose="020B0604020202020204" pitchFamily="34" charset="0"/>
              <a:buChar char="•"/>
            </a:pPr>
            <a:r>
              <a:rPr lang="vi-VN" b="1">
                <a:effectLst/>
                <a:latin typeface="Google Sans Text"/>
              </a:rPr>
              <a:t>Hỗ trợ tiết kiệm năng lượng (Power Saving):</a:t>
            </a:r>
            <a:r>
              <a:rPr lang="vi-VN">
                <a:effectLst/>
                <a:latin typeface="Google Sans Text"/>
              </a:rPr>
              <a:t> Thao tác delay bằng phần mềm bắt buộc CPU phải chạy ở tần số cao liên tục để đếm số vòng lặp. Với Timer, ta có thể cho CPU "ngủ sâu" (Sleep Mode) và chỉ thức dậy khi Timer đếm xong, giúp tiết kiệm đến 90% dung lượng pin.</a:t>
            </a:r>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28</a:t>
            </a:fld>
            <a:endParaRPr lang="en-US"/>
          </a:p>
        </p:txBody>
      </p:sp>
    </p:spTree>
    <p:extLst>
      <p:ext uri="{BB962C8B-B14F-4D97-AF65-F5344CB8AC3E}">
        <p14:creationId xmlns:p14="http://schemas.microsoft.com/office/powerpoint/2010/main" val="10454483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29</a:t>
            </a:fld>
            <a:endParaRPr lang="en-US"/>
          </a:p>
        </p:txBody>
      </p:sp>
    </p:spTree>
    <p:extLst>
      <p:ext uri="{BB962C8B-B14F-4D97-AF65-F5344CB8AC3E}">
        <p14:creationId xmlns:p14="http://schemas.microsoft.com/office/powerpoint/2010/main" val="504508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30</a:t>
            </a:fld>
            <a:endParaRPr lang="en-US"/>
          </a:p>
        </p:txBody>
      </p:sp>
    </p:spTree>
    <p:extLst>
      <p:ext uri="{BB962C8B-B14F-4D97-AF65-F5344CB8AC3E}">
        <p14:creationId xmlns:p14="http://schemas.microsoft.com/office/powerpoint/2010/main" val="3840008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31</a:t>
            </a:fld>
            <a:endParaRPr lang="en-US"/>
          </a:p>
        </p:txBody>
      </p:sp>
    </p:spTree>
    <p:extLst>
      <p:ext uri="{BB962C8B-B14F-4D97-AF65-F5344CB8AC3E}">
        <p14:creationId xmlns:p14="http://schemas.microsoft.com/office/powerpoint/2010/main" val="9319215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r>
              <a:rPr lang="vi-VN" b="1">
                <a:effectLst/>
                <a:latin typeface="Google Sans"/>
              </a:rPr>
              <a:t>1. Ưu điểm của Timer (Tại sao nên dùng?)</a:t>
            </a:r>
          </a:p>
          <a:p>
            <a:pPr>
              <a:buFont typeface="Arial" panose="020B0604020202020204" pitchFamily="34" charset="0"/>
              <a:buChar char="•"/>
            </a:pPr>
            <a:r>
              <a:rPr lang="vi-VN" b="1">
                <a:effectLst/>
                <a:latin typeface="Google Sans Text"/>
              </a:rPr>
              <a:t>Độ chính xác tuyệt đối (High Precision):</a:t>
            </a:r>
            <a:r>
              <a:rPr lang="vi-VN">
                <a:effectLst/>
                <a:latin typeface="Google Sans Text"/>
              </a:rPr>
              <a:t> Timer hoạt động dựa trên tần số của thạch anh hệ thống (Oscillator). Nhờ vào các bộ chia xung (Prescaler), Timer có thể đo đạc các khoảng thời gian chính xác đến mức $1\text{ }\mu\text{s}$ hoặc thậm chí vài $\text{ns}$, điều mà các hàm delay phần mềm không bao giờ làm được do phụ thuộc vào sự tối ưu hóa của trình biên dịch (Compiler).</a:t>
            </a:r>
          </a:p>
          <a:p>
            <a:pPr>
              <a:buFont typeface="Arial" panose="020B0604020202020204" pitchFamily="34" charset="0"/>
              <a:buChar char="•"/>
            </a:pPr>
            <a:r>
              <a:rPr lang="vi-VN" b="1">
                <a:effectLst/>
                <a:latin typeface="Google Sans Text"/>
              </a:rPr>
              <a:t>Không chiếm dụng CPU (Non-blocking):</a:t>
            </a:r>
            <a:r>
              <a:rPr lang="vi-VN">
                <a:effectLst/>
                <a:latin typeface="Google Sans Text"/>
              </a:rPr>
              <a:t> Đây là ưu điểm cốt lõi. Khi cấu hình Timer, nó tự đếm độc lập ở tầng phần cứng. CPU hoàn toàn rảnh tay để chạy các thuật toán khác hoặc xử lý giao tiếp. Khi đến giờ, Timer chỉ cần kích hoạt một "Ngắt" (Interrupt) để báo hiệu.</a:t>
            </a:r>
          </a:p>
          <a:p>
            <a:pPr>
              <a:buFont typeface="Arial" panose="020B0604020202020204" pitchFamily="34" charset="0"/>
              <a:buChar char="•"/>
            </a:pPr>
            <a:r>
              <a:rPr lang="vi-VN" b="1">
                <a:effectLst/>
                <a:latin typeface="Google Sans Text"/>
              </a:rPr>
              <a:t>Cực kỳ linh hoạt (Versatility):</a:t>
            </a:r>
            <a:r>
              <a:rPr lang="vi-VN">
                <a:effectLst/>
                <a:latin typeface="Google Sans Text"/>
              </a:rPr>
              <a:t> Một bộ Timer không chỉ để định thời. Như đã biết, học viên có thể linh hoạt cấu hình nó thành bộ đếm sự kiện (Counter), bộ tạo xung điều khiển động cơ (PWM), hoặc bộ đo chu kỳ tín hiệu (Input Capture).</a:t>
            </a:r>
          </a:p>
          <a:p>
            <a:pPr>
              <a:buFont typeface="Arial" panose="020B0604020202020204" pitchFamily="34" charset="0"/>
              <a:buChar char="•"/>
            </a:pPr>
            <a:r>
              <a:rPr lang="vi-VN" b="1">
                <a:effectLst/>
                <a:latin typeface="Google Sans Text"/>
              </a:rPr>
              <a:t>Hỗ trợ tiết kiệm năng lượng (Power Saving):</a:t>
            </a:r>
            <a:r>
              <a:rPr lang="vi-VN">
                <a:effectLst/>
                <a:latin typeface="Google Sans Text"/>
              </a:rPr>
              <a:t> Thao tác delay bằng phần mềm bắt buộc CPU phải chạy ở tần số cao liên tục để đếm số vòng lặp. Với Timer, ta có thể cho CPU "ngủ sâu" (Sleep Mode) và chỉ thức dậy khi Timer đếm xong, giúp tiết kiệm đến 90% dung lượng pin.</a:t>
            </a:r>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32</a:t>
            </a:fld>
            <a:endParaRPr lang="en-US"/>
          </a:p>
        </p:txBody>
      </p:sp>
    </p:spTree>
    <p:extLst>
      <p:ext uri="{BB962C8B-B14F-4D97-AF65-F5344CB8AC3E}">
        <p14:creationId xmlns:p14="http://schemas.microsoft.com/office/powerpoint/2010/main" val="20839569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33</a:t>
            </a:fld>
            <a:endParaRPr lang="en-US"/>
          </a:p>
        </p:txBody>
      </p:sp>
    </p:spTree>
    <p:extLst>
      <p:ext uri="{BB962C8B-B14F-4D97-AF65-F5344CB8AC3E}">
        <p14:creationId xmlns:p14="http://schemas.microsoft.com/office/powerpoint/2010/main" val="24177763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34</a:t>
            </a:fld>
            <a:endParaRPr lang="en-US"/>
          </a:p>
        </p:txBody>
      </p:sp>
    </p:spTree>
    <p:extLst>
      <p:ext uri="{BB962C8B-B14F-4D97-AF65-F5344CB8AC3E}">
        <p14:creationId xmlns:p14="http://schemas.microsoft.com/office/powerpoint/2010/main" val="8194497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35</a:t>
            </a:fld>
            <a:endParaRPr lang="en-US"/>
          </a:p>
        </p:txBody>
      </p:sp>
    </p:spTree>
    <p:extLst>
      <p:ext uri="{BB962C8B-B14F-4D97-AF65-F5344CB8AC3E}">
        <p14:creationId xmlns:p14="http://schemas.microsoft.com/office/powerpoint/2010/main" val="19687165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r>
              <a:rPr lang="vi-VN" b="1">
                <a:effectLst/>
                <a:latin typeface="Google Sans"/>
              </a:rPr>
              <a:t>1. Cấu trúc 4 khối cơ bản của một bộ Timer</a:t>
            </a:r>
          </a:p>
          <a:p>
            <a:r>
              <a:rPr lang="vi-VN" b="1">
                <a:effectLst/>
                <a:latin typeface="Google Sans"/>
              </a:rPr>
              <a:t>Khối 1: Bộ chọn nguồn xung và Chia tần số (Clock Source &amp; Prescaler)</a:t>
            </a:r>
          </a:p>
          <a:p>
            <a:r>
              <a:rPr lang="vi-VN">
                <a:effectLst/>
                <a:latin typeface="Google Sans Text"/>
              </a:rPr>
              <a:t>Đây là "đầu vào" của Timer, quyết định tốc độ đếm nhanh hay chậm.</a:t>
            </a:r>
          </a:p>
          <a:p>
            <a:pPr>
              <a:buFont typeface="Arial" panose="020B0604020202020204" pitchFamily="34" charset="0"/>
              <a:buChar char="•"/>
            </a:pPr>
            <a:r>
              <a:rPr lang="vi-VN" b="1">
                <a:effectLst/>
                <a:latin typeface="Google Sans Text"/>
              </a:rPr>
              <a:t>Clock Source (Nguồn xung):</a:t>
            </a:r>
            <a:r>
              <a:rPr lang="vi-VN">
                <a:effectLst/>
                <a:latin typeface="Google Sans Text"/>
              </a:rPr>
              <a:t> Timer có thể lấy xung nhịp từ thạch anh hệ thống (Internal Clock) hoặc lấy xung từ một chân cắm bên ngoài (External Clock - dùng trong chế độ Counter).</a:t>
            </a:r>
          </a:p>
          <a:p>
            <a:pPr>
              <a:buFont typeface="Arial" panose="020B0604020202020204" pitchFamily="34" charset="0"/>
              <a:buChar char="•"/>
            </a:pPr>
            <a:r>
              <a:rPr lang="vi-VN" b="1">
                <a:effectLst/>
                <a:latin typeface="Google Sans Text"/>
              </a:rPr>
              <a:t>Prescaler (Bộ chia tần số - PSC):</a:t>
            </a:r>
            <a:r>
              <a:rPr lang="vi-VN">
                <a:effectLst/>
                <a:latin typeface="Google Sans Text"/>
              </a:rPr>
              <a:t> Là một bộ chia 16-bit. Xung nhịp hệ thống thường rất cao (ví dụ $72\text{ MHz}$). Nếu đưa thẳng vào bộ đếm thì Timer sẽ bị tràn rất nhanh. Bộ Prescaler sẽ chia nhỏ tần số này xuống $2, 4, 8...$ hoặc $65536$ lần để bộ đếm có thể đếm được các khoảng thời gian dài hơn theo ý muốn.</a:t>
            </a: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36</a:t>
            </a:fld>
            <a:endParaRPr lang="en-US"/>
          </a:p>
        </p:txBody>
      </p:sp>
    </p:spTree>
    <p:extLst>
      <p:ext uri="{BB962C8B-B14F-4D97-AF65-F5344CB8AC3E}">
        <p14:creationId xmlns:p14="http://schemas.microsoft.com/office/powerpoint/2010/main" val="14316004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37</a:t>
            </a:fld>
            <a:endParaRPr lang="en-US"/>
          </a:p>
        </p:txBody>
      </p:sp>
    </p:spTree>
    <p:extLst>
      <p:ext uri="{BB962C8B-B14F-4D97-AF65-F5344CB8AC3E}">
        <p14:creationId xmlns:p14="http://schemas.microsoft.com/office/powerpoint/2010/main" val="38720411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38</a:t>
            </a:fld>
            <a:endParaRPr lang="en-US"/>
          </a:p>
        </p:txBody>
      </p:sp>
    </p:spTree>
    <p:extLst>
      <p:ext uri="{BB962C8B-B14F-4D97-AF65-F5344CB8AC3E}">
        <p14:creationId xmlns:p14="http://schemas.microsoft.com/office/powerpoint/2010/main" val="35409556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39</a:t>
            </a:fld>
            <a:endParaRPr lang="en-US"/>
          </a:p>
        </p:txBody>
      </p:sp>
    </p:spTree>
    <p:extLst>
      <p:ext uri="{BB962C8B-B14F-4D97-AF65-F5344CB8AC3E}">
        <p14:creationId xmlns:p14="http://schemas.microsoft.com/office/powerpoint/2010/main" val="24063396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40</a:t>
            </a:fld>
            <a:endParaRPr lang="en-US"/>
          </a:p>
        </p:txBody>
      </p:sp>
    </p:spTree>
    <p:extLst>
      <p:ext uri="{BB962C8B-B14F-4D97-AF65-F5344CB8AC3E}">
        <p14:creationId xmlns:p14="http://schemas.microsoft.com/office/powerpoint/2010/main" val="39205444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41</a:t>
            </a:fld>
            <a:endParaRPr lang="en-US"/>
          </a:p>
        </p:txBody>
      </p:sp>
    </p:spTree>
    <p:extLst>
      <p:ext uri="{BB962C8B-B14F-4D97-AF65-F5344CB8AC3E}">
        <p14:creationId xmlns:p14="http://schemas.microsoft.com/office/powerpoint/2010/main" val="12582356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42</a:t>
            </a:fld>
            <a:endParaRPr lang="en-US"/>
          </a:p>
        </p:txBody>
      </p:sp>
    </p:spTree>
    <p:extLst>
      <p:ext uri="{BB962C8B-B14F-4D97-AF65-F5344CB8AC3E}">
        <p14:creationId xmlns:p14="http://schemas.microsoft.com/office/powerpoint/2010/main" val="40071495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43</a:t>
            </a:fld>
            <a:endParaRPr lang="en-US"/>
          </a:p>
        </p:txBody>
      </p:sp>
    </p:spTree>
    <p:extLst>
      <p:ext uri="{BB962C8B-B14F-4D97-AF65-F5344CB8AC3E}">
        <p14:creationId xmlns:p14="http://schemas.microsoft.com/office/powerpoint/2010/main" val="38528877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44</a:t>
            </a:fld>
            <a:endParaRPr lang="en-US"/>
          </a:p>
        </p:txBody>
      </p:sp>
    </p:spTree>
    <p:extLst>
      <p:ext uri="{BB962C8B-B14F-4D97-AF65-F5344CB8AC3E}">
        <p14:creationId xmlns:p14="http://schemas.microsoft.com/office/powerpoint/2010/main" val="908900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45</a:t>
            </a:fld>
            <a:endParaRPr lang="en-US"/>
          </a:p>
        </p:txBody>
      </p:sp>
    </p:spTree>
    <p:extLst>
      <p:ext uri="{BB962C8B-B14F-4D97-AF65-F5344CB8AC3E}">
        <p14:creationId xmlns:p14="http://schemas.microsoft.com/office/powerpoint/2010/main" val="6627089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46</a:t>
            </a:fld>
            <a:endParaRPr lang="en-US"/>
          </a:p>
        </p:txBody>
      </p:sp>
    </p:spTree>
    <p:extLst>
      <p:ext uri="{BB962C8B-B14F-4D97-AF65-F5344CB8AC3E}">
        <p14:creationId xmlns:p14="http://schemas.microsoft.com/office/powerpoint/2010/main" val="5266565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47</a:t>
            </a:fld>
            <a:endParaRPr lang="en-US"/>
          </a:p>
        </p:txBody>
      </p:sp>
    </p:spTree>
    <p:extLst>
      <p:ext uri="{BB962C8B-B14F-4D97-AF65-F5344CB8AC3E}">
        <p14:creationId xmlns:p14="http://schemas.microsoft.com/office/powerpoint/2010/main" val="38263927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48</a:t>
            </a:fld>
            <a:endParaRPr lang="en-US"/>
          </a:p>
        </p:txBody>
      </p:sp>
    </p:spTree>
    <p:extLst>
      <p:ext uri="{BB962C8B-B14F-4D97-AF65-F5344CB8AC3E}">
        <p14:creationId xmlns:p14="http://schemas.microsoft.com/office/powerpoint/2010/main" val="42636532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49</a:t>
            </a:fld>
            <a:endParaRPr lang="en-US"/>
          </a:p>
        </p:txBody>
      </p:sp>
    </p:spTree>
    <p:extLst>
      <p:ext uri="{BB962C8B-B14F-4D97-AF65-F5344CB8AC3E}">
        <p14:creationId xmlns:p14="http://schemas.microsoft.com/office/powerpoint/2010/main" val="2859062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50</a:t>
            </a:fld>
            <a:endParaRPr lang="en-US"/>
          </a:p>
        </p:txBody>
      </p:sp>
    </p:spTree>
    <p:extLst>
      <p:ext uri="{BB962C8B-B14F-4D97-AF65-F5344CB8AC3E}">
        <p14:creationId xmlns:p14="http://schemas.microsoft.com/office/powerpoint/2010/main" val="22547696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51</a:t>
            </a:fld>
            <a:endParaRPr lang="en-US"/>
          </a:p>
        </p:txBody>
      </p:sp>
    </p:spTree>
    <p:extLst>
      <p:ext uri="{BB962C8B-B14F-4D97-AF65-F5344CB8AC3E}">
        <p14:creationId xmlns:p14="http://schemas.microsoft.com/office/powerpoint/2010/main" val="28290727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52</a:t>
            </a:fld>
            <a:endParaRPr lang="en-US"/>
          </a:p>
        </p:txBody>
      </p:sp>
    </p:spTree>
    <p:extLst>
      <p:ext uri="{BB962C8B-B14F-4D97-AF65-F5344CB8AC3E}">
        <p14:creationId xmlns:p14="http://schemas.microsoft.com/office/powerpoint/2010/main" val="29885776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53</a:t>
            </a:fld>
            <a:endParaRPr lang="en-US"/>
          </a:p>
        </p:txBody>
      </p:sp>
    </p:spTree>
    <p:extLst>
      <p:ext uri="{BB962C8B-B14F-4D97-AF65-F5344CB8AC3E}">
        <p14:creationId xmlns:p14="http://schemas.microsoft.com/office/powerpoint/2010/main" val="1431527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54</a:t>
            </a:fld>
            <a:endParaRPr lang="en-US"/>
          </a:p>
        </p:txBody>
      </p:sp>
    </p:spTree>
    <p:extLst>
      <p:ext uri="{BB962C8B-B14F-4D97-AF65-F5344CB8AC3E}">
        <p14:creationId xmlns:p14="http://schemas.microsoft.com/office/powerpoint/2010/main" val="17403980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55</a:t>
            </a:fld>
            <a:endParaRPr lang="en-US"/>
          </a:p>
        </p:txBody>
      </p:sp>
    </p:spTree>
    <p:extLst>
      <p:ext uri="{BB962C8B-B14F-4D97-AF65-F5344CB8AC3E}">
        <p14:creationId xmlns:p14="http://schemas.microsoft.com/office/powerpoint/2010/main" val="35604564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56</a:t>
            </a:fld>
            <a:endParaRPr lang="en-US"/>
          </a:p>
        </p:txBody>
      </p:sp>
    </p:spTree>
    <p:extLst>
      <p:ext uri="{BB962C8B-B14F-4D97-AF65-F5344CB8AC3E}">
        <p14:creationId xmlns:p14="http://schemas.microsoft.com/office/powerpoint/2010/main" val="41119606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57</a:t>
            </a:fld>
            <a:endParaRPr lang="en-US"/>
          </a:p>
        </p:txBody>
      </p:sp>
    </p:spTree>
    <p:extLst>
      <p:ext uri="{BB962C8B-B14F-4D97-AF65-F5344CB8AC3E}">
        <p14:creationId xmlns:p14="http://schemas.microsoft.com/office/powerpoint/2010/main" val="36769860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r>
              <a:rPr lang="vi-VN" b="1" dirty="0">
                <a:highlight>
                  <a:srgbClr val="FFFFFF"/>
                </a:highlight>
              </a:rPr>
              <a:t>Tín hiệu Digital (số)</a:t>
            </a:r>
          </a:p>
          <a:p>
            <a:r>
              <a:rPr lang="vi-VN" dirty="0">
                <a:highlight>
                  <a:srgbClr val="FFFFFF"/>
                </a:highlight>
              </a:rPr>
              <a:t>Là tín hiệu </a:t>
            </a:r>
            <a:r>
              <a:rPr lang="vi-VN" b="1" dirty="0">
                <a:highlight>
                  <a:srgbClr val="FFFFFF"/>
                </a:highlight>
              </a:rPr>
              <a:t>rời rạc</a:t>
            </a:r>
            <a:r>
              <a:rPr lang="vi-VN" dirty="0">
                <a:highlight>
                  <a:srgbClr val="FFFFFF"/>
                </a:highlight>
              </a:rPr>
              <a:t>, chỉ có </a:t>
            </a:r>
            <a:r>
              <a:rPr lang="vi-VN" b="1" dirty="0">
                <a:highlight>
                  <a:srgbClr val="FFFFFF"/>
                </a:highlight>
              </a:rPr>
              <a:t>một số giá trị xác định</a:t>
            </a:r>
            <a:r>
              <a:rPr lang="vi-VN" dirty="0">
                <a:highlight>
                  <a:srgbClr val="FFFFFF"/>
                </a:highlight>
              </a:rPr>
              <a:t> (thường là 0 hoặc 1).</a:t>
            </a:r>
          </a:p>
          <a:p>
            <a:r>
              <a:rPr lang="vi-VN" dirty="0">
                <a:highlight>
                  <a:srgbClr val="FFFFFF"/>
                </a:highlight>
              </a:rPr>
              <a:t>Thường biểu diễn bằng mức điện áp:</a:t>
            </a:r>
          </a:p>
          <a:p>
            <a:pPr lvl="1"/>
            <a:r>
              <a:rPr lang="vi-VN" dirty="0">
                <a:highlight>
                  <a:srgbClr val="FFFFFF"/>
                </a:highlight>
              </a:rPr>
              <a:t>0 → điện áp thấp (0V).</a:t>
            </a:r>
          </a:p>
          <a:p>
            <a:pPr lvl="1"/>
            <a:r>
              <a:rPr lang="vi-VN" dirty="0">
                <a:highlight>
                  <a:srgbClr val="FFFFFF"/>
                </a:highlight>
              </a:rPr>
              <a:t>1 → điện áp cao (5V hoặc 3.3V tùy mạch).</a:t>
            </a:r>
          </a:p>
          <a:p>
            <a:r>
              <a:rPr lang="vi-VN" dirty="0">
                <a:highlight>
                  <a:srgbClr val="FFFFFF"/>
                </a:highlight>
              </a:rPr>
              <a:t>Ví dụ:</a:t>
            </a:r>
          </a:p>
          <a:p>
            <a:pPr lvl="1"/>
            <a:r>
              <a:rPr lang="vi-VN" dirty="0">
                <a:highlight>
                  <a:srgbClr val="FFFFFF"/>
                </a:highlight>
              </a:rPr>
              <a:t>Nút bấm: nhấn (1) hoặc không nhấn (0).</a:t>
            </a:r>
          </a:p>
          <a:p>
            <a:pPr lvl="1"/>
            <a:r>
              <a:rPr lang="vi-VN" dirty="0">
                <a:highlight>
                  <a:srgbClr val="FFFFFF"/>
                </a:highlight>
              </a:rPr>
              <a:t>Đèn LED: bật (1) hoặc tắt (0).</a:t>
            </a:r>
          </a:p>
          <a:p>
            <a:pPr lvl="1"/>
            <a:r>
              <a:rPr lang="vi-VN" dirty="0">
                <a:highlight>
                  <a:srgbClr val="FFFFFF"/>
                </a:highlight>
              </a:rPr>
              <a:t>Gửi dữ liệu qua máy tính bằng dãy bit 0 và 1.</a:t>
            </a:r>
            <a:endParaRPr lang="en-US" dirty="0">
              <a:highlight>
                <a:srgbClr val="FFFFFF"/>
              </a:highlight>
            </a:endParaRPr>
          </a:p>
          <a:p>
            <a:pPr lvl="1"/>
            <a:endParaRPr lang="en-US" dirty="0">
              <a:highlight>
                <a:srgbClr val="FFFFFF"/>
              </a:highlight>
            </a:endParaRPr>
          </a:p>
          <a:p>
            <a:pPr lvl="1"/>
            <a:r>
              <a:rPr lang="vi-VN" dirty="0"/>
              <a:t>https://educatecomputer.com/what-is-a-digital-signal/https://educatecomputer.com/what-is-a-digital-signal/</a:t>
            </a:r>
            <a:endParaRPr lang="vi-VN" dirty="0">
              <a:highlight>
                <a:srgbClr val="FFFFFF"/>
              </a:highlight>
            </a:endParaRP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58</a:t>
            </a:fld>
            <a:endParaRPr lang="en-US"/>
          </a:p>
        </p:txBody>
      </p:sp>
    </p:spTree>
    <p:extLst>
      <p:ext uri="{BB962C8B-B14F-4D97-AF65-F5344CB8AC3E}">
        <p14:creationId xmlns:p14="http://schemas.microsoft.com/office/powerpoint/2010/main" val="4830406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59</a:t>
            </a:fld>
            <a:endParaRPr lang="en-US"/>
          </a:p>
        </p:txBody>
      </p:sp>
    </p:spTree>
    <p:extLst>
      <p:ext uri="{BB962C8B-B14F-4D97-AF65-F5344CB8AC3E}">
        <p14:creationId xmlns:p14="http://schemas.microsoft.com/office/powerpoint/2010/main" val="28598837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2745-7E7F-8C53-EA7F-41C44F0CA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6D42D-1199-67E6-38AF-DF7E07379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EA278-34D5-1A6C-FEB0-F3FB00A6007B}"/>
              </a:ext>
            </a:extLst>
          </p:cNvPr>
          <p:cNvSpPr>
            <a:spLocks noGrp="1"/>
          </p:cNvSpPr>
          <p:nvPr>
            <p:ph type="body" idx="1"/>
          </p:nvPr>
        </p:nvSpPr>
        <p:spPr/>
        <p:txBody>
          <a:bodyPr/>
          <a:lstStyle/>
          <a:p>
            <a:pPr fontAlgn="base"/>
            <a:r>
              <a:rPr lang="en-US" sz="1200" b="0" i="0" kern="1200">
                <a:solidFill>
                  <a:schemeClr val="tx1"/>
                </a:solidFill>
                <a:effectLst/>
                <a:highlight>
                  <a:srgbClr val="FFFFFF"/>
                </a:highlight>
                <a:latin typeface="+mn-lt"/>
                <a:ea typeface="+mn-ea"/>
                <a:cs typeface="+mn-cs"/>
              </a:rPr>
              <a:t>https://labs.dese.iisc.ac.in/embeddedlab/systick/</a:t>
            </a:r>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DAC08E6B-C574-134F-FFFB-DC415C793D77}"/>
              </a:ext>
            </a:extLst>
          </p:cNvPr>
          <p:cNvSpPr>
            <a:spLocks noGrp="1"/>
          </p:cNvSpPr>
          <p:nvPr>
            <p:ph type="sldNum" sz="quarter" idx="5"/>
          </p:nvPr>
        </p:nvSpPr>
        <p:spPr/>
        <p:txBody>
          <a:bodyPr/>
          <a:lstStyle/>
          <a:p>
            <a:fld id="{37D01E2C-B751-4C38-A4F8-4A97733E0BA7}" type="slidenum">
              <a:rPr lang="en-US" smtClean="0"/>
              <a:t>60</a:t>
            </a:fld>
            <a:endParaRPr lang="en-US"/>
          </a:p>
        </p:txBody>
      </p:sp>
    </p:spTree>
    <p:extLst>
      <p:ext uri="{BB962C8B-B14F-4D97-AF65-F5344CB8AC3E}">
        <p14:creationId xmlns:p14="http://schemas.microsoft.com/office/powerpoint/2010/main" val="40401921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310-05CB-68A8-B3AE-61D5E453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1FB17-511C-60D7-FAF3-372E56C6B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F71A5-051E-1029-3326-38028005E781}"/>
              </a:ext>
            </a:extLst>
          </p:cNvPr>
          <p:cNvSpPr>
            <a:spLocks noGrp="1"/>
          </p:cNvSpPr>
          <p:nvPr>
            <p:ph type="body" idx="1"/>
          </p:nvPr>
        </p:nvSpPr>
        <p:spPr/>
        <p:txBody>
          <a:bodyPr/>
          <a:lstStyle/>
          <a:p>
            <a:r>
              <a:rPr lang="vi-VN" b="1">
                <a:effectLst/>
                <a:latin typeface="Google Sans"/>
              </a:rPr>
              <a:t>💡 Tóm tắt công thức tính thời gian của Timer</a:t>
            </a:r>
          </a:p>
          <a:p>
            <a:r>
              <a:rPr lang="vi-VN">
                <a:effectLst/>
                <a:latin typeface="Google Sans Text"/>
              </a:rPr>
              <a:t>Dựa vào cấu trúc trên, thời gian để một bộ Timer đếm tràn (tạo ra 1 Chu kỳ ngắt $T$) được tính bằng công thức phần cứng:</a:t>
            </a:r>
          </a:p>
          <a:p>
            <a:r>
              <a:rPr lang="vi-VN">
                <a:effectLst/>
                <a:latin typeface="Google Sans Text"/>
              </a:rPr>
              <a:t>$$T = \frac{(\text{Prescaler} + 1) \times (\text{AutoReload} + 1)}{F_{\text{clock}}}$$</a:t>
            </a:r>
          </a:p>
          <a:p>
            <a:r>
              <a:rPr lang="vi-VN" i="1">
                <a:effectLst/>
                <a:latin typeface="Google Sans Text"/>
              </a:rPr>
              <a:t>Trong đó:</a:t>
            </a:r>
            <a:endParaRPr lang="vi-VN">
              <a:effectLst/>
              <a:latin typeface="Google Sans Text"/>
            </a:endParaRPr>
          </a:p>
          <a:p>
            <a:pPr>
              <a:buFont typeface="Arial" panose="020B0604020202020204" pitchFamily="34" charset="0"/>
              <a:buChar char="•"/>
            </a:pPr>
            <a:r>
              <a:rPr lang="vi-VN">
                <a:effectLst/>
                <a:latin typeface="Google Sans Text"/>
              </a:rPr>
              <a:t>$F_{\text{clock}}$: Tần số xung nhịp đầu vào (Hz).</a:t>
            </a:r>
          </a:p>
          <a:p>
            <a:pPr>
              <a:buFont typeface="Arial" panose="020B0604020202020204" pitchFamily="34" charset="0"/>
              <a:buChar char="•"/>
            </a:pPr>
            <a:r>
              <a:rPr lang="vi-VN">
                <a:effectLst/>
                <a:latin typeface="Google Sans Text"/>
              </a:rPr>
              <a:t>$\text{Prescaler}$: Giá trị bạn nạp vào bộ chia.</a:t>
            </a:r>
          </a:p>
          <a:p>
            <a:pPr>
              <a:buFont typeface="Arial" panose="020B0604020202020204" pitchFamily="34" charset="0"/>
              <a:buChar char="•"/>
            </a:pPr>
            <a:r>
              <a:rPr lang="vi-VN">
                <a:effectLst/>
                <a:latin typeface="Google Sans Text"/>
              </a:rPr>
              <a:t>$\text{AutoReload}$: Giá trị đỉnh bạn muốn Timer đếm tới.</a:t>
            </a:r>
          </a:p>
          <a:p>
            <a:pPr>
              <a:buFont typeface="Arial" panose="020B0604020202020204" pitchFamily="34" charset="0"/>
              <a:buChar char="•"/>
            </a:pPr>
            <a:r>
              <a:rPr lang="vi-VN" i="1">
                <a:effectLst/>
                <a:latin typeface="Google Sans Text"/>
              </a:rPr>
              <a:t>(Cộng thêm 1 là vì thanh ghi bắt đầu đếm từ giá trị 0).</a:t>
            </a:r>
            <a:endParaRPr lang="vi-VN">
              <a:effectLst/>
              <a:latin typeface="Google Sans Text"/>
            </a:endParaRPr>
          </a:p>
        </p:txBody>
      </p:sp>
      <p:sp>
        <p:nvSpPr>
          <p:cNvPr id="4" name="Slide Number Placeholder 3">
            <a:extLst>
              <a:ext uri="{FF2B5EF4-FFF2-40B4-BE49-F238E27FC236}">
                <a16:creationId xmlns:a16="http://schemas.microsoft.com/office/drawing/2014/main" id="{A9D6AD4C-34FE-652A-FD2C-BFE164A60F0D}"/>
              </a:ext>
            </a:extLst>
          </p:cNvPr>
          <p:cNvSpPr>
            <a:spLocks noGrp="1"/>
          </p:cNvSpPr>
          <p:nvPr>
            <p:ph type="sldNum" sz="quarter" idx="5"/>
          </p:nvPr>
        </p:nvSpPr>
        <p:spPr/>
        <p:txBody>
          <a:bodyPr/>
          <a:lstStyle/>
          <a:p>
            <a:fld id="{37D01E2C-B751-4C38-A4F8-4A97733E0BA7}" type="slidenum">
              <a:rPr lang="en-US" smtClean="0"/>
              <a:t>61</a:t>
            </a:fld>
            <a:endParaRPr lang="en-US"/>
          </a:p>
        </p:txBody>
      </p:sp>
    </p:spTree>
    <p:extLst>
      <p:ext uri="{BB962C8B-B14F-4D97-AF65-F5344CB8AC3E}">
        <p14:creationId xmlns:p14="http://schemas.microsoft.com/office/powerpoint/2010/main" val="28950155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62</a:t>
            </a:fld>
            <a:endParaRPr lang="en-US"/>
          </a:p>
        </p:txBody>
      </p:sp>
    </p:spTree>
    <p:extLst>
      <p:ext uri="{BB962C8B-B14F-4D97-AF65-F5344CB8AC3E}">
        <p14:creationId xmlns:p14="http://schemas.microsoft.com/office/powerpoint/2010/main" val="5474495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2745-7E7F-8C53-EA7F-41C44F0CA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6D42D-1199-67E6-38AF-DF7E07379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EA278-34D5-1A6C-FEB0-F3FB00A6007B}"/>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DAC08E6B-C574-134F-FFFB-DC415C793D77}"/>
              </a:ext>
            </a:extLst>
          </p:cNvPr>
          <p:cNvSpPr>
            <a:spLocks noGrp="1"/>
          </p:cNvSpPr>
          <p:nvPr>
            <p:ph type="sldNum" sz="quarter" idx="5"/>
          </p:nvPr>
        </p:nvSpPr>
        <p:spPr/>
        <p:txBody>
          <a:bodyPr/>
          <a:lstStyle/>
          <a:p>
            <a:fld id="{37D01E2C-B751-4C38-A4F8-4A97733E0BA7}" type="slidenum">
              <a:rPr lang="en-US" smtClean="0"/>
              <a:t>63</a:t>
            </a:fld>
            <a:endParaRPr lang="en-US"/>
          </a:p>
        </p:txBody>
      </p:sp>
    </p:spTree>
    <p:extLst>
      <p:ext uri="{BB962C8B-B14F-4D97-AF65-F5344CB8AC3E}">
        <p14:creationId xmlns:p14="http://schemas.microsoft.com/office/powerpoint/2010/main" val="192849977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2745-7E7F-8C53-EA7F-41C44F0CA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6D42D-1199-67E6-38AF-DF7E07379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EA278-34D5-1A6C-FEB0-F3FB00A6007B}"/>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DAC08E6B-C574-134F-FFFB-DC415C793D77}"/>
              </a:ext>
            </a:extLst>
          </p:cNvPr>
          <p:cNvSpPr>
            <a:spLocks noGrp="1"/>
          </p:cNvSpPr>
          <p:nvPr>
            <p:ph type="sldNum" sz="quarter" idx="5"/>
          </p:nvPr>
        </p:nvSpPr>
        <p:spPr/>
        <p:txBody>
          <a:bodyPr/>
          <a:lstStyle/>
          <a:p>
            <a:fld id="{37D01E2C-B751-4C38-A4F8-4A97733E0BA7}" type="slidenum">
              <a:rPr lang="en-US" smtClean="0"/>
              <a:t>64</a:t>
            </a:fld>
            <a:endParaRPr lang="en-US"/>
          </a:p>
        </p:txBody>
      </p:sp>
    </p:spTree>
    <p:extLst>
      <p:ext uri="{BB962C8B-B14F-4D97-AF65-F5344CB8AC3E}">
        <p14:creationId xmlns:p14="http://schemas.microsoft.com/office/powerpoint/2010/main" val="26801094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2745-7E7F-8C53-EA7F-41C44F0CA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6D42D-1199-67E6-38AF-DF7E07379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EA278-34D5-1A6C-FEB0-F3FB00A6007B}"/>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DAC08E6B-C574-134F-FFFB-DC415C793D77}"/>
              </a:ext>
            </a:extLst>
          </p:cNvPr>
          <p:cNvSpPr>
            <a:spLocks noGrp="1"/>
          </p:cNvSpPr>
          <p:nvPr>
            <p:ph type="sldNum" sz="quarter" idx="5"/>
          </p:nvPr>
        </p:nvSpPr>
        <p:spPr/>
        <p:txBody>
          <a:bodyPr/>
          <a:lstStyle/>
          <a:p>
            <a:fld id="{37D01E2C-B751-4C38-A4F8-4A97733E0BA7}" type="slidenum">
              <a:rPr lang="en-US" smtClean="0"/>
              <a:t>65</a:t>
            </a:fld>
            <a:endParaRPr lang="en-US"/>
          </a:p>
        </p:txBody>
      </p:sp>
    </p:spTree>
    <p:extLst>
      <p:ext uri="{BB962C8B-B14F-4D97-AF65-F5344CB8AC3E}">
        <p14:creationId xmlns:p14="http://schemas.microsoft.com/office/powerpoint/2010/main" val="25599122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2745-7E7F-8C53-EA7F-41C44F0CA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6D42D-1199-67E6-38AF-DF7E07379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EA278-34D5-1A6C-FEB0-F3FB00A6007B}"/>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DAC08E6B-C574-134F-FFFB-DC415C793D77}"/>
              </a:ext>
            </a:extLst>
          </p:cNvPr>
          <p:cNvSpPr>
            <a:spLocks noGrp="1"/>
          </p:cNvSpPr>
          <p:nvPr>
            <p:ph type="sldNum" sz="quarter" idx="5"/>
          </p:nvPr>
        </p:nvSpPr>
        <p:spPr/>
        <p:txBody>
          <a:bodyPr/>
          <a:lstStyle/>
          <a:p>
            <a:fld id="{37D01E2C-B751-4C38-A4F8-4A97733E0BA7}" type="slidenum">
              <a:rPr lang="en-US" smtClean="0"/>
              <a:t>66</a:t>
            </a:fld>
            <a:endParaRPr lang="en-US"/>
          </a:p>
        </p:txBody>
      </p:sp>
    </p:spTree>
    <p:extLst>
      <p:ext uri="{BB962C8B-B14F-4D97-AF65-F5344CB8AC3E}">
        <p14:creationId xmlns:p14="http://schemas.microsoft.com/office/powerpoint/2010/main" val="16103676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2745-7E7F-8C53-EA7F-41C44F0CA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6D42D-1199-67E6-38AF-DF7E07379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EA278-34D5-1A6C-FEB0-F3FB00A6007B}"/>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DAC08E6B-C574-134F-FFFB-DC415C793D77}"/>
              </a:ext>
            </a:extLst>
          </p:cNvPr>
          <p:cNvSpPr>
            <a:spLocks noGrp="1"/>
          </p:cNvSpPr>
          <p:nvPr>
            <p:ph type="sldNum" sz="quarter" idx="5"/>
          </p:nvPr>
        </p:nvSpPr>
        <p:spPr/>
        <p:txBody>
          <a:bodyPr/>
          <a:lstStyle/>
          <a:p>
            <a:fld id="{37D01E2C-B751-4C38-A4F8-4A97733E0BA7}" type="slidenum">
              <a:rPr lang="en-US" smtClean="0"/>
              <a:t>67</a:t>
            </a:fld>
            <a:endParaRPr lang="en-US"/>
          </a:p>
        </p:txBody>
      </p:sp>
    </p:spTree>
    <p:extLst>
      <p:ext uri="{BB962C8B-B14F-4D97-AF65-F5344CB8AC3E}">
        <p14:creationId xmlns:p14="http://schemas.microsoft.com/office/powerpoint/2010/main" val="18407818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2745-7E7F-8C53-EA7F-41C44F0CA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6D42D-1199-67E6-38AF-DF7E07379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EA278-34D5-1A6C-FEB0-F3FB00A6007B}"/>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DAC08E6B-C574-134F-FFFB-DC415C793D77}"/>
              </a:ext>
            </a:extLst>
          </p:cNvPr>
          <p:cNvSpPr>
            <a:spLocks noGrp="1"/>
          </p:cNvSpPr>
          <p:nvPr>
            <p:ph type="sldNum" sz="quarter" idx="5"/>
          </p:nvPr>
        </p:nvSpPr>
        <p:spPr/>
        <p:txBody>
          <a:bodyPr/>
          <a:lstStyle/>
          <a:p>
            <a:fld id="{37D01E2C-B751-4C38-A4F8-4A97733E0BA7}" type="slidenum">
              <a:rPr lang="en-US" smtClean="0"/>
              <a:t>68</a:t>
            </a:fld>
            <a:endParaRPr lang="en-US"/>
          </a:p>
        </p:txBody>
      </p:sp>
    </p:spTree>
    <p:extLst>
      <p:ext uri="{BB962C8B-B14F-4D97-AF65-F5344CB8AC3E}">
        <p14:creationId xmlns:p14="http://schemas.microsoft.com/office/powerpoint/2010/main" val="135461011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endParaRPr lang="vi-VN">
              <a:effectLst/>
              <a:latin typeface="Google Sans Text"/>
            </a:endParaRPr>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69</a:t>
            </a:fld>
            <a:endParaRPr lang="en-US"/>
          </a:p>
        </p:txBody>
      </p:sp>
    </p:spTree>
    <p:extLst>
      <p:ext uri="{BB962C8B-B14F-4D97-AF65-F5344CB8AC3E}">
        <p14:creationId xmlns:p14="http://schemas.microsoft.com/office/powerpoint/2010/main" val="78246555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r>
              <a:rPr lang="vi-VN" b="1"/>
              <a:t>2. Nhược điểm của Timer (Rào cản là gì?)</a:t>
            </a:r>
          </a:p>
          <a:p>
            <a:pPr>
              <a:buFont typeface="Arial" panose="020B0604020202020204" pitchFamily="34" charset="0"/>
              <a:buChar char="•"/>
            </a:pPr>
            <a:r>
              <a:rPr lang="vi-VN" b="1"/>
              <a:t>Cấu hình phức tạp (High Complexity):</a:t>
            </a:r>
            <a:r>
              <a:rPr lang="vi-VN"/>
              <a:t> Để sử dụng một bộ Timer, học viên không thể chỉ viết một dòng lệnh đơn giản như delay_ms(100). Họ phải hiểu rõ kiến trúc vi điều khiển: tính toán cấu hình bộ chia tần số (Prescaler), giá trị nạp lại (Auto-reload value), cấu hình các thanh ghi điều khiển, và viết hàm phục vụ ngắt (ISR). Việc này đòi hỏi tư duy lập trình hệ thống tốt.</a:t>
            </a:r>
          </a:p>
          <a:p>
            <a:pPr>
              <a:buFont typeface="Arial" panose="020B0604020202020204" pitchFamily="34" charset="0"/>
              <a:buChar char="•"/>
            </a:pPr>
            <a:r>
              <a:rPr lang="vi-VN" b="1"/>
              <a:t>Tiêu tốn tài nguyên ngoại vi (Peripheral Resource Consumption):</a:t>
            </a:r>
            <a:r>
              <a:rPr lang="vi-VN"/>
              <a:t> Số lượng Timer trên một vi điều khiển là </a:t>
            </a:r>
            <a:r>
              <a:rPr lang="vi-VN" b="1"/>
              <a:t>hữu hạn</a:t>
            </a:r>
            <a:r>
              <a:rPr lang="vi-VN"/>
              <a:t> (ví dụ: chip 8-bit thường có 2-3 Timer, chip 32-bit có 8-10 Timer). Nếu học viên sử dụng lãng phí (như dùng một Timer chỉ để nháy 1 cái LED), hệ thống sẽ không còn đủ Timer cho các tác vụ quan trọng khác như điều khiển động cơ, quét hồng ngoại, hay tạo Baudrate cho UART.</a:t>
            </a:r>
          </a:p>
          <a:p>
            <a:pPr>
              <a:buFont typeface="Arial" panose="020B0604020202020204" pitchFamily="34" charset="0"/>
              <a:buChar char="•"/>
            </a:pPr>
            <a:r>
              <a:rPr lang="vi-VN" b="1"/>
              <a:t>Nguy cơ xung đột hệ thống (Interrupt Overload):</a:t>
            </a:r>
            <a:r>
              <a:rPr lang="vi-VN"/>
              <a:t> Nếu cấu hình Timer tạo ngắt với tần số quá dày đặc (ví dụ vài micro-giây một lần), CPU sẽ bị kẹt liên tục trong hàm ngắt, không còn thời gian để thực hiện chương trình chính, dẫn đến hiện tượng sập hệ thống (Crash).</a:t>
            </a:r>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70</a:t>
            </a:fld>
            <a:endParaRPr lang="en-US"/>
          </a:p>
        </p:txBody>
      </p:sp>
    </p:spTree>
    <p:extLst>
      <p:ext uri="{BB962C8B-B14F-4D97-AF65-F5344CB8AC3E}">
        <p14:creationId xmlns:p14="http://schemas.microsoft.com/office/powerpoint/2010/main" val="3738809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gif"/></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FF35D-CD5A-9470-0B97-88DE6D5B2D1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93196E9-97ED-D5D0-9078-451ADFD9AD04}"/>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 là gì?</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7AF2313-E2B2-D6C0-321C-E836DFA6A6BE}"/>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DA57D13-7C0D-D565-6403-6D4210FD789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9F1FEF6-09BB-B186-7AC5-B657FA43B7D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A438D13-3604-EEF0-5A9F-4C9CA02A2FBF}"/>
              </a:ext>
            </a:extLst>
          </p:cNvPr>
          <p:cNvSpPr txBox="1"/>
          <p:nvPr/>
        </p:nvSpPr>
        <p:spPr>
          <a:xfrm>
            <a:off x="228600" y="1209620"/>
            <a:ext cx="12954000" cy="1200329"/>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là gì?</a:t>
            </a:r>
          </a:p>
          <a:p>
            <a:pPr>
              <a:defRPr/>
            </a:pPr>
            <a:endParaRPr lang="en-US" sz="3600" b="1" dirty="0">
              <a:effectLst>
                <a:outerShdw blurRad="38100" dist="38100" dir="2700000" algn="tl">
                  <a:srgbClr val="000000">
                    <a:alpha val="43137"/>
                  </a:srgbClr>
                </a:outerShdw>
              </a:effectLst>
            </a:endParaRPr>
          </a:p>
        </p:txBody>
      </p:sp>
      <p:sp>
        <p:nvSpPr>
          <p:cNvPr id="4" name="AutoShape 2" descr="Dev-C++ - Tải về">
            <a:extLst>
              <a:ext uri="{FF2B5EF4-FFF2-40B4-BE49-F238E27FC236}">
                <a16:creationId xmlns:a16="http://schemas.microsoft.com/office/drawing/2014/main" id="{47409D4E-9844-3D20-6738-57662BD237C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1B3E671C-C777-2E60-A61A-7CC7678EF3F7}"/>
              </a:ext>
            </a:extLst>
          </p:cNvPr>
          <p:cNvSpPr txBox="1"/>
          <p:nvPr/>
        </p:nvSpPr>
        <p:spPr>
          <a:xfrm>
            <a:off x="523874" y="2164139"/>
            <a:ext cx="17535525" cy="5615704"/>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vi-VN" sz="2200"/>
              <a:t>Timer là một bộ đếm (counter) được tích hợp phần cứng bên trong vi điều khiển. Nó đếm theo xung clock (thường là clock hệ thống hoặc clock riêng).</a:t>
            </a:r>
            <a:endParaRPr lang="en-US" sz="2200"/>
          </a:p>
          <a:p>
            <a:pPr marL="342900" indent="-342900">
              <a:lnSpc>
                <a:spcPct val="150000"/>
              </a:lnSpc>
              <a:buFont typeface="Wingdings" panose="05000000000000000000" pitchFamily="2" charset="2"/>
              <a:buChar char="Ø"/>
            </a:pPr>
            <a:endParaRPr lang="en-US" sz="2200"/>
          </a:p>
          <a:p>
            <a:pPr marL="342900" indent="-342900">
              <a:lnSpc>
                <a:spcPct val="150000"/>
              </a:lnSpc>
              <a:buFont typeface="Wingdings" panose="05000000000000000000" pitchFamily="2" charset="2"/>
              <a:buChar char="Ø"/>
            </a:pPr>
            <a:r>
              <a:rPr lang="vi-VN" sz="2200" b="0" i="0">
                <a:effectLst/>
              </a:rPr>
              <a:t>Timer thường được dùng để thực hiện các tác vụ định kỳ, chẳng hạn như đọc cảm biến sau mỗi khoảng thời gian, thực hiện phép toán sau mỗi chu kỳ, hoặc điều khiển các thiết bị trong những khoảng thời gian cụ thể</a:t>
            </a:r>
            <a:endParaRPr lang="en-US" sz="2200" b="0" i="0">
              <a:effectLst/>
            </a:endParaRPr>
          </a:p>
          <a:p>
            <a:pPr marL="342900" indent="-342900">
              <a:lnSpc>
                <a:spcPct val="150000"/>
              </a:lnSpc>
              <a:buFont typeface="Wingdings" panose="05000000000000000000" pitchFamily="2" charset="2"/>
              <a:buChar char="Ø"/>
            </a:pPr>
            <a:endParaRPr lang="en-US" sz="2200"/>
          </a:p>
          <a:p>
            <a:pPr marL="342900" indent="-342900">
              <a:lnSpc>
                <a:spcPct val="150000"/>
              </a:lnSpc>
              <a:buFont typeface="Wingdings" panose="05000000000000000000" pitchFamily="2" charset="2"/>
              <a:buChar char="Ø"/>
            </a:pPr>
            <a:r>
              <a:rPr lang="vi-VN" sz="2200"/>
              <a:t> Mỗi khi đếm đủ một giá trị nhất định, nó có thể:</a:t>
            </a:r>
            <a:endParaRPr lang="en-US" sz="2200"/>
          </a:p>
          <a:p>
            <a:pPr marL="800100" lvl="1" indent="-342900">
              <a:lnSpc>
                <a:spcPct val="150000"/>
              </a:lnSpc>
              <a:buFont typeface="Arial" panose="020B0604020202020204" pitchFamily="34" charset="0"/>
              <a:buChar char="•"/>
            </a:pPr>
            <a:r>
              <a:rPr lang="vi-VN" sz="2200"/>
              <a:t>Tạo </a:t>
            </a:r>
            <a:r>
              <a:rPr lang="vi-VN" sz="2200" b="1"/>
              <a:t>ngắt (interrupt)</a:t>
            </a:r>
            <a:endParaRPr lang="vi-VN" sz="2200"/>
          </a:p>
          <a:p>
            <a:pPr marL="800100" lvl="1" indent="-342900">
              <a:lnSpc>
                <a:spcPct val="150000"/>
              </a:lnSpc>
              <a:buFont typeface="Arial" panose="020B0604020202020204" pitchFamily="34" charset="0"/>
              <a:buChar char="•"/>
            </a:pPr>
            <a:r>
              <a:rPr lang="en-US" sz="2200"/>
              <a:t>T</a:t>
            </a:r>
            <a:r>
              <a:rPr lang="vi-VN" sz="2200"/>
              <a:t>ạo PWM</a:t>
            </a:r>
          </a:p>
          <a:p>
            <a:pPr marL="800100" lvl="1" indent="-342900">
              <a:lnSpc>
                <a:spcPct val="150000"/>
              </a:lnSpc>
              <a:buFont typeface="Arial" panose="020B0604020202020204" pitchFamily="34" charset="0"/>
              <a:buChar char="•"/>
            </a:pPr>
            <a:r>
              <a:rPr lang="vi-VN" sz="2200"/>
              <a:t>Đặt cờ (flag)</a:t>
            </a:r>
          </a:p>
          <a:p>
            <a:pPr marL="800100" lvl="1" indent="-342900">
              <a:lnSpc>
                <a:spcPct val="150000"/>
              </a:lnSpc>
              <a:buFont typeface="Arial" panose="020B0604020202020204" pitchFamily="34" charset="0"/>
              <a:buChar char="•"/>
            </a:pPr>
            <a:r>
              <a:rPr lang="vi-VN" sz="2200"/>
              <a:t>Kích hoạt các sự kiện khác</a:t>
            </a:r>
          </a:p>
        </p:txBody>
      </p:sp>
    </p:spTree>
    <p:extLst>
      <p:ext uri="{BB962C8B-B14F-4D97-AF65-F5344CB8AC3E}">
        <p14:creationId xmlns:p14="http://schemas.microsoft.com/office/powerpoint/2010/main" val="616527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97A78-9EB1-050D-7B04-1F3762AE868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9020D43-D5B3-BC79-2351-9416B264EAE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E932D07C-1B82-E374-CD03-65DDE22D44FB}"/>
              </a:ext>
            </a:extLst>
          </p:cNvPr>
          <p:cNvSpPr txBox="1"/>
          <p:nvPr/>
        </p:nvSpPr>
        <p:spPr>
          <a:xfrm>
            <a:off x="10039199" y="856365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FCC43AC-57DE-4DA4-BE63-D979A90DA7D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49052DB-DA5B-DA90-4226-3A4F13481E5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3E60411-323F-0607-5FB4-674EC691A221}"/>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Tại sao cần Timer ?</a:t>
            </a:r>
            <a:endParaRPr lang="en-US" sz="3600" b="1" dirty="0">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4FCD72F8-C1A4-434D-9985-87CAA7759333}"/>
              </a:ext>
            </a:extLst>
          </p:cNvPr>
          <p:cNvSpPr txBox="1"/>
          <p:nvPr/>
        </p:nvSpPr>
        <p:spPr>
          <a:xfrm>
            <a:off x="243840" y="2352213"/>
            <a:ext cx="12176760" cy="7225824"/>
          </a:xfrm>
          <a:prstGeom prst="rect">
            <a:avLst/>
          </a:prstGeom>
          <a:noFill/>
        </p:spPr>
        <p:txBody>
          <a:bodyPr wrap="square">
            <a:spAutoFit/>
          </a:bodyPr>
          <a:lstStyle/>
          <a:p>
            <a:pPr>
              <a:lnSpc>
                <a:spcPct val="150000"/>
              </a:lnSpc>
            </a:pPr>
            <a:r>
              <a:rPr lang="vi-VN" sz="2400">
                <a:effectLst/>
              </a:rPr>
              <a:t>Trong vi điều khiển (MCU), CPU chỉ có thể thực hiện </a:t>
            </a:r>
            <a:r>
              <a:rPr lang="vi-VN" sz="2400" b="1">
                <a:effectLst/>
              </a:rPr>
              <a:t>một việc tại một thời điểm</a:t>
            </a:r>
            <a:r>
              <a:rPr lang="vi-VN" sz="2400">
                <a:effectLst/>
              </a:rPr>
              <a:t>. Nếu bạn dùng vòng lặp while hoặc for để tạo delay (busy-waiting), thì:</a:t>
            </a:r>
          </a:p>
          <a:p>
            <a:pPr marL="800100" lvl="1" indent="-342900">
              <a:lnSpc>
                <a:spcPct val="150000"/>
              </a:lnSpc>
              <a:buFont typeface="Arial" panose="020B0604020202020204" pitchFamily="34" charset="0"/>
              <a:buChar char="•"/>
            </a:pPr>
            <a:r>
              <a:rPr lang="vi-VN" sz="2400"/>
              <a:t>CPU bị </a:t>
            </a:r>
            <a:r>
              <a:rPr lang="vi-VN" sz="2400" b="1"/>
              <a:t>bận 100%</a:t>
            </a:r>
            <a:r>
              <a:rPr lang="vi-VN" sz="2400"/>
              <a:t>, không làm được việc gì khác.</a:t>
            </a:r>
          </a:p>
          <a:p>
            <a:pPr marL="800100" lvl="1" indent="-342900">
              <a:lnSpc>
                <a:spcPct val="150000"/>
              </a:lnSpc>
              <a:buFont typeface="Arial" panose="020B0604020202020204" pitchFamily="34" charset="0"/>
              <a:buChar char="•"/>
            </a:pPr>
            <a:r>
              <a:rPr lang="vi-VN" sz="2400"/>
              <a:t>Tiêu tốn rất nhiều năng lượng (đặc biệt quan trọng với thiết bị chạy pin).</a:t>
            </a:r>
          </a:p>
          <a:p>
            <a:pPr marL="800100" lvl="1" indent="-342900">
              <a:lnSpc>
                <a:spcPct val="150000"/>
              </a:lnSpc>
              <a:buFont typeface="Arial" panose="020B0604020202020204" pitchFamily="34" charset="0"/>
              <a:buChar char="•"/>
            </a:pPr>
            <a:r>
              <a:rPr lang="vi-VN" sz="2400"/>
              <a:t>Không chính xác (phụ thuộc vào tốc độ clock, tối ưu code, interrupt...).</a:t>
            </a:r>
          </a:p>
          <a:p>
            <a:pPr marL="800100" lvl="1" indent="-342900">
              <a:lnSpc>
                <a:spcPct val="150000"/>
              </a:lnSpc>
              <a:buFont typeface="Arial" panose="020B0604020202020204" pitchFamily="34" charset="0"/>
              <a:buChar char="•"/>
            </a:pPr>
            <a:r>
              <a:rPr lang="vi-VN" sz="2400"/>
              <a:t>Không thể xử lý nhiều công việc đồng thời.</a:t>
            </a:r>
            <a:endParaRPr lang="en-US" sz="2400"/>
          </a:p>
          <a:p>
            <a:pPr marL="800100" lvl="1" indent="-342900">
              <a:lnSpc>
                <a:spcPct val="150000"/>
              </a:lnSpc>
              <a:buFont typeface="Arial" panose="020B0604020202020204" pitchFamily="34" charset="0"/>
              <a:buChar char="•"/>
            </a:pPr>
            <a:endParaRPr lang="vi-VN" sz="2400"/>
          </a:p>
          <a:p>
            <a:pPr>
              <a:lnSpc>
                <a:spcPct val="150000"/>
              </a:lnSpc>
            </a:pPr>
            <a:r>
              <a:rPr lang="vi-VN" sz="2400" b="1">
                <a:effectLst/>
              </a:rPr>
              <a:t>Timer</a:t>
            </a:r>
            <a:r>
              <a:rPr lang="vi-VN" sz="2400">
                <a:effectLst/>
              </a:rPr>
              <a:t> giải quyết tất cả các vấn đề trên bằng cách:</a:t>
            </a:r>
          </a:p>
          <a:p>
            <a:pPr marL="800100" lvl="1" indent="-342900">
              <a:lnSpc>
                <a:spcPct val="150000"/>
              </a:lnSpc>
              <a:buFont typeface="Arial" panose="020B0604020202020204" pitchFamily="34" charset="0"/>
              <a:buChar char="•"/>
            </a:pPr>
            <a:r>
              <a:rPr lang="vi-VN" sz="2400"/>
              <a:t>Hoạt động </a:t>
            </a:r>
            <a:r>
              <a:rPr lang="vi-VN" sz="2400" b="1"/>
              <a:t>độc lập</a:t>
            </a:r>
            <a:r>
              <a:rPr lang="vi-VN" sz="2400"/>
              <a:t> với CPU (dùng clock riêng hoặc cùng clock hệ thống).</a:t>
            </a:r>
          </a:p>
          <a:p>
            <a:pPr marL="800100" lvl="1" indent="-342900">
              <a:lnSpc>
                <a:spcPct val="150000"/>
              </a:lnSpc>
              <a:buFont typeface="Arial" panose="020B0604020202020204" pitchFamily="34" charset="0"/>
              <a:buChar char="•"/>
            </a:pPr>
            <a:r>
              <a:rPr lang="vi-VN" sz="2400"/>
              <a:t>Có thể </a:t>
            </a:r>
            <a:r>
              <a:rPr lang="vi-VN" sz="2400" b="1"/>
              <a:t>tự động đếm</a:t>
            </a:r>
            <a:r>
              <a:rPr lang="vi-VN" sz="2400"/>
              <a:t> và sinh ra sự kiện (interrupt) khi đếm xong.</a:t>
            </a:r>
          </a:p>
          <a:p>
            <a:pPr marL="800100" lvl="1" indent="-342900">
              <a:lnSpc>
                <a:spcPct val="150000"/>
              </a:lnSpc>
              <a:buFont typeface="Arial" panose="020B0604020202020204" pitchFamily="34" charset="0"/>
              <a:buChar char="•"/>
            </a:pPr>
            <a:r>
              <a:rPr lang="vi-VN" sz="2400"/>
              <a:t>Cho phép CPU </a:t>
            </a:r>
            <a:r>
              <a:rPr lang="vi-VN" sz="2400" b="1"/>
              <a:t>nghỉ ngơi</a:t>
            </a:r>
            <a:r>
              <a:rPr lang="vi-VN" sz="2400"/>
              <a:t> (sleep mode) hoặc làm việc khác trong lúc timer đang chạy.</a:t>
            </a:r>
          </a:p>
          <a:p>
            <a:pPr marL="800100" lvl="1" indent="-342900">
              <a:lnSpc>
                <a:spcPct val="150000"/>
              </a:lnSpc>
              <a:buFont typeface="Arial" panose="020B0604020202020204" pitchFamily="34" charset="0"/>
              <a:buChar char="•"/>
            </a:pPr>
            <a:r>
              <a:rPr lang="vi-VN" sz="2400"/>
              <a:t>Cung cấp </a:t>
            </a:r>
            <a:r>
              <a:rPr lang="vi-VN" sz="2400" b="1"/>
              <a:t>độ chính xác cao</a:t>
            </a:r>
            <a:r>
              <a:rPr lang="vi-VN" sz="2400"/>
              <a:t> và </a:t>
            </a:r>
            <a:r>
              <a:rPr lang="vi-VN" sz="2400" b="1"/>
              <a:t>thời gian thực</a:t>
            </a:r>
            <a:r>
              <a:rPr lang="vi-VN" sz="2400"/>
              <a:t>.</a:t>
            </a:r>
          </a:p>
        </p:txBody>
      </p:sp>
      <p:pic>
        <p:nvPicPr>
          <p:cNvPr id="9" name="Picture 8">
            <a:extLst>
              <a:ext uri="{FF2B5EF4-FFF2-40B4-BE49-F238E27FC236}">
                <a16:creationId xmlns:a16="http://schemas.microsoft.com/office/drawing/2014/main" id="{994C9E71-1788-2A0C-6D18-09ECDACA35C6}"/>
              </a:ext>
            </a:extLst>
          </p:cNvPr>
          <p:cNvPicPr>
            <a:picLocks noChangeAspect="1"/>
          </p:cNvPicPr>
          <p:nvPr/>
        </p:nvPicPr>
        <p:blipFill>
          <a:blip r:embed="rId3"/>
          <a:stretch>
            <a:fillRect/>
          </a:stretch>
        </p:blipFill>
        <p:spPr>
          <a:xfrm>
            <a:off x="11123914" y="3842950"/>
            <a:ext cx="6981825" cy="3620644"/>
          </a:xfrm>
          <a:prstGeom prst="rect">
            <a:avLst/>
          </a:prstGeom>
        </p:spPr>
      </p:pic>
    </p:spTree>
    <p:extLst>
      <p:ext uri="{BB962C8B-B14F-4D97-AF65-F5344CB8AC3E}">
        <p14:creationId xmlns:p14="http://schemas.microsoft.com/office/powerpoint/2010/main" val="851542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Dùng delay()</a:t>
            </a:r>
            <a:endParaRPr lang="en-US" sz="3600" b="1" dirty="0">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04EFDBC1-F1D0-825D-CE8E-277A324EB289}"/>
              </a:ext>
            </a:extLst>
          </p:cNvPr>
          <p:cNvPicPr>
            <a:picLocks noChangeAspect="1"/>
          </p:cNvPicPr>
          <p:nvPr/>
        </p:nvPicPr>
        <p:blipFill>
          <a:blip r:embed="rId3"/>
          <a:stretch>
            <a:fillRect/>
          </a:stretch>
        </p:blipFill>
        <p:spPr>
          <a:xfrm>
            <a:off x="609600" y="2476727"/>
            <a:ext cx="9667875" cy="7505700"/>
          </a:xfrm>
          <a:prstGeom prst="rect">
            <a:avLst/>
          </a:prstGeom>
        </p:spPr>
      </p:pic>
    </p:spTree>
    <p:extLst>
      <p:ext uri="{BB962C8B-B14F-4D97-AF65-F5344CB8AC3E}">
        <p14:creationId xmlns:p14="http://schemas.microsoft.com/office/powerpoint/2010/main" val="1036852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Arduino UNO Layout</a:t>
            </a:r>
          </a:p>
        </p:txBody>
      </p:sp>
      <p:pic>
        <p:nvPicPr>
          <p:cNvPr id="6" name="Picture 5">
            <a:extLst>
              <a:ext uri="{FF2B5EF4-FFF2-40B4-BE49-F238E27FC236}">
                <a16:creationId xmlns:a16="http://schemas.microsoft.com/office/drawing/2014/main" id="{51387249-2160-30BD-40A9-62E3E7E77C6E}"/>
              </a:ext>
            </a:extLst>
          </p:cNvPr>
          <p:cNvPicPr>
            <a:picLocks noChangeAspect="1"/>
          </p:cNvPicPr>
          <p:nvPr/>
        </p:nvPicPr>
        <p:blipFill>
          <a:blip r:embed="rId3"/>
          <a:stretch>
            <a:fillRect/>
          </a:stretch>
        </p:blipFill>
        <p:spPr>
          <a:xfrm>
            <a:off x="15240" y="2615786"/>
            <a:ext cx="9862721" cy="6495997"/>
          </a:xfrm>
          <a:prstGeom prst="rect">
            <a:avLst/>
          </a:prstGeom>
        </p:spPr>
      </p:pic>
      <p:pic>
        <p:nvPicPr>
          <p:cNvPr id="9" name="Picture 8">
            <a:extLst>
              <a:ext uri="{FF2B5EF4-FFF2-40B4-BE49-F238E27FC236}">
                <a16:creationId xmlns:a16="http://schemas.microsoft.com/office/drawing/2014/main" id="{2C9C5797-4B59-3F86-0C5A-E9898B256925}"/>
              </a:ext>
            </a:extLst>
          </p:cNvPr>
          <p:cNvPicPr>
            <a:picLocks noChangeAspect="1"/>
          </p:cNvPicPr>
          <p:nvPr/>
        </p:nvPicPr>
        <p:blipFill>
          <a:blip r:embed="rId4"/>
          <a:stretch>
            <a:fillRect/>
          </a:stretch>
        </p:blipFill>
        <p:spPr>
          <a:xfrm>
            <a:off x="9987111" y="2586735"/>
            <a:ext cx="8300889" cy="6796353"/>
          </a:xfrm>
          <a:prstGeom prst="rect">
            <a:avLst/>
          </a:prstGeom>
        </p:spPr>
      </p:pic>
    </p:spTree>
    <p:extLst>
      <p:ext uri="{BB962C8B-B14F-4D97-AF65-F5344CB8AC3E}">
        <p14:creationId xmlns:p14="http://schemas.microsoft.com/office/powerpoint/2010/main" val="320045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7010400" cy="646331"/>
          </a:xfrm>
          <a:prstGeom prst="rect">
            <a:avLst/>
          </a:prstGeom>
          <a:noFill/>
        </p:spPr>
        <p:txBody>
          <a:bodyPr wrap="square" rtlCol="0">
            <a:spAutoFit/>
          </a:bodyPr>
          <a:lstStyle/>
          <a:p>
            <a:pPr>
              <a:defRPr/>
            </a:pPr>
            <a:r>
              <a:rPr lang="vi-VN" sz="3600" b="1" i="0">
                <a:solidFill>
                  <a:srgbClr val="0F1115"/>
                </a:solidFill>
                <a:effectLst/>
                <a:latin typeface="quote-cjk-patch"/>
              </a:rPr>
              <a:t>busy-wait:</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0B4BA25-94E7-1EF1-0D15-A81DC85A4043}"/>
              </a:ext>
            </a:extLst>
          </p:cNvPr>
          <p:cNvSpPr txBox="1"/>
          <p:nvPr/>
        </p:nvSpPr>
        <p:spPr>
          <a:xfrm>
            <a:off x="609600" y="2499587"/>
            <a:ext cx="9151620" cy="1200329"/>
          </a:xfrm>
          <a:prstGeom prst="rect">
            <a:avLst/>
          </a:prstGeom>
          <a:noFill/>
        </p:spPr>
        <p:txBody>
          <a:bodyPr wrap="square">
            <a:spAutoFit/>
          </a:bodyPr>
          <a:lstStyle/>
          <a:p>
            <a:r>
              <a:rPr lang="vi-VN"/>
              <a:t>CPU: [====delay====][====delay====][====delay====]</a:t>
            </a:r>
          </a:p>
          <a:p>
            <a:r>
              <a:rPr lang="vi-VN"/>
              <a:t>     </a:t>
            </a:r>
            <a:r>
              <a:rPr lang="en-US"/>
              <a:t>	</a:t>
            </a:r>
            <a:r>
              <a:rPr lang="vi-VN"/>
              <a:t> ↓              ↓              ↓</a:t>
            </a:r>
          </a:p>
          <a:p>
            <a:r>
              <a:rPr lang="vi-VN"/>
              <a:t>    </a:t>
            </a:r>
            <a:r>
              <a:rPr lang="en-US"/>
              <a:t>	</a:t>
            </a:r>
            <a:r>
              <a:rPr lang="vi-VN"/>
              <a:t> bận           bận           bận</a:t>
            </a:r>
          </a:p>
          <a:p>
            <a:r>
              <a:rPr lang="vi-VN"/>
              <a:t>     (không làm việc khác)</a:t>
            </a:r>
          </a:p>
        </p:txBody>
      </p:sp>
      <p:sp>
        <p:nvSpPr>
          <p:cNvPr id="4" name="AutoShape 2" descr="Lập trình STM32F103 thanh ghi - So sánh blocking delay và non-blocking delay time trong lập trình STM32F103RCT6">
            <a:extLst>
              <a:ext uri="{FF2B5EF4-FFF2-40B4-BE49-F238E27FC236}">
                <a16:creationId xmlns:a16="http://schemas.microsoft.com/office/drawing/2014/main" id="{00048C97-7ADF-9FC5-7DEA-7080285CDB5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9" name="Picture 8">
            <a:extLst>
              <a:ext uri="{FF2B5EF4-FFF2-40B4-BE49-F238E27FC236}">
                <a16:creationId xmlns:a16="http://schemas.microsoft.com/office/drawing/2014/main" id="{E8C31FF9-8031-08FC-9C77-1B9469382B73}"/>
              </a:ext>
            </a:extLst>
          </p:cNvPr>
          <p:cNvPicPr>
            <a:picLocks noChangeAspect="1"/>
          </p:cNvPicPr>
          <p:nvPr/>
        </p:nvPicPr>
        <p:blipFill>
          <a:blip r:embed="rId3"/>
          <a:stretch>
            <a:fillRect/>
          </a:stretch>
        </p:blipFill>
        <p:spPr>
          <a:xfrm>
            <a:off x="4103370" y="3696452"/>
            <a:ext cx="11315700" cy="5667375"/>
          </a:xfrm>
          <a:prstGeom prst="rect">
            <a:avLst/>
          </a:prstGeom>
        </p:spPr>
      </p:pic>
    </p:spTree>
    <p:extLst>
      <p:ext uri="{BB962C8B-B14F-4D97-AF65-F5344CB8AC3E}">
        <p14:creationId xmlns:p14="http://schemas.microsoft.com/office/powerpoint/2010/main" val="2055688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7010400" cy="646331"/>
          </a:xfrm>
          <a:prstGeom prst="rect">
            <a:avLst/>
          </a:prstGeom>
          <a:noFill/>
        </p:spPr>
        <p:txBody>
          <a:bodyPr wrap="square" rtlCol="0">
            <a:spAutoFit/>
          </a:bodyPr>
          <a:lstStyle/>
          <a:p>
            <a:pPr>
              <a:defRPr/>
            </a:pPr>
            <a:r>
              <a:rPr lang="vi-VN" sz="3600" b="1" i="0">
                <a:solidFill>
                  <a:srgbClr val="0F1115"/>
                </a:solidFill>
                <a:effectLst/>
                <a:latin typeface="quote-cjk-patch"/>
              </a:rPr>
              <a:t>Timer + Interrupt:</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CA7F330-AD34-48FC-34B3-2771AFC306C3}"/>
              </a:ext>
            </a:extLst>
          </p:cNvPr>
          <p:cNvSpPr txBox="1"/>
          <p:nvPr/>
        </p:nvSpPr>
        <p:spPr>
          <a:xfrm>
            <a:off x="381000" y="2499587"/>
            <a:ext cx="9151620" cy="1754326"/>
          </a:xfrm>
          <a:prstGeom prst="rect">
            <a:avLst/>
          </a:prstGeom>
          <a:noFill/>
        </p:spPr>
        <p:txBody>
          <a:bodyPr wrap="square">
            <a:spAutoFit/>
          </a:bodyPr>
          <a:lstStyle/>
          <a:p>
            <a:r>
              <a:rPr lang="vi-VN"/>
              <a:t>CPU: [Làm việc A][Làm việc B][Làm việc A][Làm việc C]</a:t>
            </a:r>
          </a:p>
          <a:p>
            <a:r>
              <a:rPr lang="vi-VN"/>
              <a:t>  </a:t>
            </a:r>
            <a:r>
              <a:rPr lang="en-US"/>
              <a:t>	</a:t>
            </a:r>
            <a:r>
              <a:rPr lang="vi-VN"/>
              <a:t>        ↑                        ↑</a:t>
            </a:r>
          </a:p>
          <a:p>
            <a:r>
              <a:rPr lang="vi-VN"/>
              <a:t>    </a:t>
            </a:r>
            <a:r>
              <a:rPr lang="en-US"/>
              <a:t>	</a:t>
            </a:r>
            <a:r>
              <a:rPr lang="vi-VN"/>
              <a:t>   ISR                       ISR</a:t>
            </a:r>
          </a:p>
          <a:p>
            <a:r>
              <a:rPr lang="vi-VN"/>
              <a:t>   </a:t>
            </a:r>
            <a:r>
              <a:rPr lang="en-US"/>
              <a:t>	</a:t>
            </a:r>
            <a:r>
              <a:rPr lang="vi-VN"/>
              <a:t> (đảo LED)                 (đảo LED)</a:t>
            </a:r>
          </a:p>
          <a:p>
            <a:r>
              <a:rPr lang="vi-VN"/>
              <a:t>    </a:t>
            </a:r>
          </a:p>
          <a:p>
            <a:r>
              <a:rPr lang="vi-VN"/>
              <a:t>Luôn rảnh để làm việc liên tục, chỉ dừng vài us để xử lý ngắt</a:t>
            </a:r>
          </a:p>
        </p:txBody>
      </p:sp>
      <p:pic>
        <p:nvPicPr>
          <p:cNvPr id="8" name="Picture 7">
            <a:extLst>
              <a:ext uri="{FF2B5EF4-FFF2-40B4-BE49-F238E27FC236}">
                <a16:creationId xmlns:a16="http://schemas.microsoft.com/office/drawing/2014/main" id="{A318EA75-BCCE-56E0-2058-0877897677C8}"/>
              </a:ext>
            </a:extLst>
          </p:cNvPr>
          <p:cNvPicPr>
            <a:picLocks noChangeAspect="1"/>
          </p:cNvPicPr>
          <p:nvPr/>
        </p:nvPicPr>
        <p:blipFill>
          <a:blip r:embed="rId3"/>
          <a:stretch>
            <a:fillRect/>
          </a:stretch>
        </p:blipFill>
        <p:spPr>
          <a:xfrm>
            <a:off x="4572000" y="4253913"/>
            <a:ext cx="10534650" cy="5654496"/>
          </a:xfrm>
          <a:prstGeom prst="rect">
            <a:avLst/>
          </a:prstGeom>
        </p:spPr>
      </p:pic>
    </p:spTree>
    <p:extLst>
      <p:ext uri="{BB962C8B-B14F-4D97-AF65-F5344CB8AC3E}">
        <p14:creationId xmlns:p14="http://schemas.microsoft.com/office/powerpoint/2010/main" val="2061033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7010400" cy="646331"/>
          </a:xfrm>
          <a:prstGeom prst="rect">
            <a:avLst/>
          </a:prstGeom>
          <a:noFill/>
        </p:spPr>
        <p:txBody>
          <a:bodyPr wrap="square" rtlCol="0">
            <a:spAutoFit/>
          </a:bodyPr>
          <a:lstStyle/>
          <a:p>
            <a:pPr>
              <a:defRPr/>
            </a:pPr>
            <a:r>
              <a:rPr lang="vi-VN" sz="3600" b="1" i="0">
                <a:solidFill>
                  <a:srgbClr val="0F1115"/>
                </a:solidFill>
                <a:effectLst/>
                <a:latin typeface="quote-cjk-patch"/>
              </a:rPr>
              <a:t>Timer + Interrupt:</a:t>
            </a:r>
            <a:endParaRPr lang="en-US" sz="3600" b="1" dirty="0">
              <a:effectLst>
                <a:outerShdw blurRad="38100" dist="38100" dir="2700000" algn="tl">
                  <a:srgbClr val="000000">
                    <a:alpha val="43137"/>
                  </a:srgbClr>
                </a:outerShdw>
              </a:effectLst>
            </a:endParaRPr>
          </a:p>
        </p:txBody>
      </p:sp>
      <p:pic>
        <p:nvPicPr>
          <p:cNvPr id="9" name="Picture 8">
            <a:extLst>
              <a:ext uri="{FF2B5EF4-FFF2-40B4-BE49-F238E27FC236}">
                <a16:creationId xmlns:a16="http://schemas.microsoft.com/office/drawing/2014/main" id="{BA185DEF-88A0-61DA-CDF9-379BCFE8367D}"/>
              </a:ext>
            </a:extLst>
          </p:cNvPr>
          <p:cNvPicPr>
            <a:picLocks noChangeAspect="1"/>
          </p:cNvPicPr>
          <p:nvPr/>
        </p:nvPicPr>
        <p:blipFill>
          <a:blip r:embed="rId3"/>
          <a:stretch>
            <a:fillRect/>
          </a:stretch>
        </p:blipFill>
        <p:spPr>
          <a:xfrm>
            <a:off x="2727075" y="2499587"/>
            <a:ext cx="12812079" cy="6958738"/>
          </a:xfrm>
          <a:prstGeom prst="rect">
            <a:avLst/>
          </a:prstGeom>
        </p:spPr>
      </p:pic>
    </p:spTree>
    <p:extLst>
      <p:ext uri="{BB962C8B-B14F-4D97-AF65-F5344CB8AC3E}">
        <p14:creationId xmlns:p14="http://schemas.microsoft.com/office/powerpoint/2010/main" val="3316967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A3CF-1F72-1B90-B144-05D18B8C2D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4A20D22-9868-0B91-4B0C-5258BF58F7E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0156E38-46FA-75E5-D413-0DFB02BF5A8B}"/>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8ADC5BE-9E3A-5C61-25EA-F212BA09026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43F28F-C120-A1F8-6BE4-3534023F474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93CF7E0-4C1B-35A8-E7EB-D96EAA0D60DB}"/>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Các chức năng của Timer ?</a:t>
            </a:r>
            <a:endParaRPr lang="en-US" sz="3600" b="1" dirty="0">
              <a:effectLst>
                <a:outerShdw blurRad="38100" dist="38100" dir="2700000" algn="tl">
                  <a:srgbClr val="000000">
                    <a:alpha val="43137"/>
                  </a:srgbClr>
                </a:outerShdw>
              </a:effectLst>
            </a:endParaRPr>
          </a:p>
        </p:txBody>
      </p:sp>
      <p:sp>
        <p:nvSpPr>
          <p:cNvPr id="4" name="AutoShape 2" descr="Dev-C++ - Tải về">
            <a:extLst>
              <a:ext uri="{FF2B5EF4-FFF2-40B4-BE49-F238E27FC236}">
                <a16:creationId xmlns:a16="http://schemas.microsoft.com/office/drawing/2014/main" id="{ABFE1196-9351-4163-44C3-C8C7D520F9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5993DCB-9387-0127-1C88-726BD08AD372}"/>
              </a:ext>
            </a:extLst>
          </p:cNvPr>
          <p:cNvSpPr txBox="1"/>
          <p:nvPr/>
        </p:nvSpPr>
        <p:spPr>
          <a:xfrm>
            <a:off x="381000" y="2426082"/>
            <a:ext cx="10133392" cy="6123536"/>
          </a:xfrm>
          <a:prstGeom prst="rect">
            <a:avLst/>
          </a:prstGeom>
          <a:noFill/>
        </p:spPr>
        <p:txBody>
          <a:bodyPr wrap="square">
            <a:spAutoFit/>
          </a:bodyPr>
          <a:lstStyle/>
          <a:p>
            <a:pPr algn="l">
              <a:lnSpc>
                <a:spcPct val="150000"/>
              </a:lnSpc>
            </a:pPr>
            <a:r>
              <a:rPr lang="vi-VN" sz="2200" b="1">
                <a:solidFill>
                  <a:srgbClr val="0F1115"/>
                </a:solidFill>
                <a:effectLst/>
              </a:rPr>
              <a:t>Các chức năng chính của Timer:</a:t>
            </a:r>
          </a:p>
          <a:p>
            <a:pPr lvl="1">
              <a:lnSpc>
                <a:spcPct val="150000"/>
              </a:lnSpc>
              <a:buFont typeface="+mj-lt"/>
              <a:buAutoNum type="arabicPeriod"/>
            </a:pPr>
            <a:r>
              <a:rPr lang="vi-VN" sz="2200" b="1" i="0">
                <a:solidFill>
                  <a:srgbClr val="0F1115"/>
                </a:solidFill>
                <a:effectLst/>
              </a:rPr>
              <a:t>Tạo trễ thời gian (Delay):</a:t>
            </a:r>
            <a:r>
              <a:rPr lang="vi-VN" sz="2200" b="0" i="0">
                <a:solidFill>
                  <a:srgbClr val="0F1115"/>
                </a:solidFill>
                <a:effectLst/>
              </a:rPr>
              <a:t> Tạo một khoảng dừng chính xác (ví dụ: bật đèn LED trong 1 giây rồi tắt).</a:t>
            </a:r>
          </a:p>
          <a:p>
            <a:pPr lvl="1">
              <a:lnSpc>
                <a:spcPct val="150000"/>
              </a:lnSpc>
              <a:buFont typeface="+mj-lt"/>
              <a:buAutoNum type="arabicPeriod"/>
            </a:pPr>
            <a:r>
              <a:rPr lang="vi-VN" sz="2200" b="1" i="0">
                <a:solidFill>
                  <a:srgbClr val="0F1115"/>
                </a:solidFill>
                <a:effectLst/>
              </a:rPr>
              <a:t>Tạo xung PWM (Pulse Width Modulation):</a:t>
            </a:r>
            <a:r>
              <a:rPr lang="vi-VN" sz="2200" b="0" i="0">
                <a:solidFill>
                  <a:srgbClr val="0F1115"/>
                </a:solidFill>
                <a:effectLst/>
              </a:rPr>
              <a:t> Điều khiển tốc độ động cơ, độ sáng LED, điều khiển servo... bằng cách tạo ra tín hiệu dạng xung với độ rộng thay đổi.</a:t>
            </a:r>
          </a:p>
          <a:p>
            <a:pPr lvl="1">
              <a:lnSpc>
                <a:spcPct val="150000"/>
              </a:lnSpc>
              <a:buFont typeface="+mj-lt"/>
              <a:buAutoNum type="arabicPeriod"/>
            </a:pPr>
            <a:r>
              <a:rPr lang="vi-VN" sz="2200" b="1" i="0">
                <a:solidFill>
                  <a:srgbClr val="0F1115"/>
                </a:solidFill>
                <a:effectLst/>
              </a:rPr>
              <a:t>Đo tần số / chu kỳ (Capture):</a:t>
            </a:r>
            <a:r>
              <a:rPr lang="vi-VN" sz="2200" b="0" i="0">
                <a:solidFill>
                  <a:srgbClr val="0F1115"/>
                </a:solidFill>
                <a:effectLst/>
              </a:rPr>
              <a:t> Đo thời gian giữa hai cạnh lên/xuống của tín hiệu bên ngoài, từ đó tính ra tần số.</a:t>
            </a:r>
          </a:p>
          <a:p>
            <a:pPr lvl="1">
              <a:lnSpc>
                <a:spcPct val="150000"/>
              </a:lnSpc>
              <a:buFont typeface="+mj-lt"/>
              <a:buAutoNum type="arabicPeriod"/>
            </a:pPr>
            <a:r>
              <a:rPr lang="vi-VN" sz="2200" b="1" i="0">
                <a:solidFill>
                  <a:srgbClr val="0F1115"/>
                </a:solidFill>
                <a:effectLst/>
              </a:rPr>
              <a:t>Đếm sự kiện:</a:t>
            </a:r>
            <a:r>
              <a:rPr lang="vi-VN" sz="2200" b="0" i="0">
                <a:solidFill>
                  <a:srgbClr val="0F1115"/>
                </a:solidFill>
                <a:effectLst/>
              </a:rPr>
              <a:t> Hoạt động như bộ đếm xung từ cảm biến (ví dụ: encoder quay).</a:t>
            </a:r>
          </a:p>
          <a:p>
            <a:pPr lvl="1">
              <a:lnSpc>
                <a:spcPct val="150000"/>
              </a:lnSpc>
              <a:buFont typeface="+mj-lt"/>
              <a:buAutoNum type="arabicPeriod"/>
            </a:pPr>
            <a:r>
              <a:rPr lang="vi-VN" sz="2200" b="1" i="0">
                <a:solidFill>
                  <a:srgbClr val="0F1115"/>
                </a:solidFill>
                <a:effectLst/>
              </a:rPr>
              <a:t>Tạo ngắt định kỳ (Interrupt):</a:t>
            </a:r>
            <a:r>
              <a:rPr lang="vi-VN" sz="2200" b="0" i="0">
                <a:solidFill>
                  <a:srgbClr val="0F1115"/>
                </a:solidFill>
                <a:effectLst/>
              </a:rPr>
              <a:t> Hết thời gian đặt trước, timer sẽ báo cho CPU dừng việc đang làm để xử lý tác vụ đã lên lịch.</a:t>
            </a:r>
          </a:p>
        </p:txBody>
      </p:sp>
      <p:pic>
        <p:nvPicPr>
          <p:cNvPr id="3074" name="Picture 2">
            <a:extLst>
              <a:ext uri="{FF2B5EF4-FFF2-40B4-BE49-F238E27FC236}">
                <a16:creationId xmlns:a16="http://schemas.microsoft.com/office/drawing/2014/main" id="{17605CA8-F6F9-D89F-F473-DBD3BCE344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6200" y="1924804"/>
            <a:ext cx="5561392" cy="8342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9572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A3CF-1F72-1B90-B144-05D18B8C2D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4A20D22-9868-0B91-4B0C-5258BF58F7E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0156E38-46FA-75E5-D413-0DFB02BF5A8B}"/>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8ADC5BE-9E3A-5C61-25EA-F212BA09026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43F28F-C120-A1F8-6BE4-3534023F474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93CF7E0-4C1B-35A8-E7EB-D96EAA0D60DB}"/>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Các chức năng của Timer ?</a:t>
            </a:r>
            <a:endParaRPr lang="en-US" sz="3600" b="1" dirty="0">
              <a:effectLst>
                <a:outerShdw blurRad="38100" dist="38100" dir="2700000" algn="tl">
                  <a:srgbClr val="000000">
                    <a:alpha val="43137"/>
                  </a:srgbClr>
                </a:outerShdw>
              </a:effectLst>
            </a:endParaRPr>
          </a:p>
        </p:txBody>
      </p:sp>
      <p:sp>
        <p:nvSpPr>
          <p:cNvPr id="4" name="AutoShape 2" descr="Dev-C++ - Tải về">
            <a:extLst>
              <a:ext uri="{FF2B5EF4-FFF2-40B4-BE49-F238E27FC236}">
                <a16:creationId xmlns:a16="http://schemas.microsoft.com/office/drawing/2014/main" id="{ABFE1196-9351-4163-44C3-C8C7D520F9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5993DCB-9387-0127-1C88-726BD08AD372}"/>
              </a:ext>
            </a:extLst>
          </p:cNvPr>
          <p:cNvSpPr txBox="1"/>
          <p:nvPr/>
        </p:nvSpPr>
        <p:spPr>
          <a:xfrm>
            <a:off x="243840" y="2113071"/>
            <a:ext cx="17106900" cy="3645934"/>
          </a:xfrm>
          <a:prstGeom prst="rect">
            <a:avLst/>
          </a:prstGeom>
          <a:noFill/>
        </p:spPr>
        <p:txBody>
          <a:bodyPr wrap="square">
            <a:spAutoFit/>
          </a:bodyPr>
          <a:lstStyle/>
          <a:p>
            <a:pPr algn="l">
              <a:lnSpc>
                <a:spcPct val="150000"/>
              </a:lnSpc>
            </a:pPr>
            <a:r>
              <a:rPr lang="vi-VN" sz="2200" b="1">
                <a:solidFill>
                  <a:srgbClr val="0F1115"/>
                </a:solidFill>
                <a:effectLst/>
              </a:rPr>
              <a:t>Các chức năng chính của Timer:</a:t>
            </a:r>
            <a:endParaRPr lang="en-US" sz="2200" b="1">
              <a:solidFill>
                <a:srgbClr val="0F1115"/>
              </a:solidFill>
              <a:effectLst/>
            </a:endParaRPr>
          </a:p>
          <a:p>
            <a:pPr algn="l">
              <a:lnSpc>
                <a:spcPct val="150000"/>
              </a:lnSpc>
            </a:pPr>
            <a:endParaRPr lang="en-US" sz="2200" b="1">
              <a:solidFill>
                <a:srgbClr val="0F1115"/>
              </a:solidFill>
              <a:effectLst/>
            </a:endParaRPr>
          </a:p>
          <a:p>
            <a:pPr marL="457200" indent="-457200">
              <a:buAutoNum type="arabicPeriod"/>
            </a:pPr>
            <a:r>
              <a:rPr lang="vi-VN" sz="2400" b="1">
                <a:effectLst/>
                <a:latin typeface="Google Sans"/>
              </a:rPr>
              <a:t>Định thời và Tạo trễ (Timing &amp; Delay)</a:t>
            </a:r>
          </a:p>
          <a:p>
            <a:r>
              <a:rPr lang="vi-VN" sz="2400">
                <a:effectLst/>
                <a:latin typeface="Google Sans Text"/>
              </a:rPr>
              <a:t>Đây là chức năng cơ bản nhất. Thay vì dùng các vòng lặp for hoặc while gây lãng phí năng lượng và làm "đóng băng" CPU (gọi là delay ngắt - blocking delay), Timer đếm độc lập dưới phần cứng.</a:t>
            </a:r>
          </a:p>
          <a:p>
            <a:pPr marL="800100" lvl="1" indent="-342900">
              <a:buFont typeface="Arial" panose="020B0604020202020204" pitchFamily="34" charset="0"/>
              <a:buChar char="•"/>
            </a:pPr>
            <a:r>
              <a:rPr lang="vi-VN" sz="2400" b="1">
                <a:effectLst/>
                <a:latin typeface="Google Sans Text"/>
              </a:rPr>
              <a:t>Cách hoạt động:</a:t>
            </a:r>
            <a:r>
              <a:rPr lang="vi-VN" sz="2400">
                <a:effectLst/>
                <a:latin typeface="Google Sans Text"/>
              </a:rPr>
              <a:t> Timer đếm số xung nhịp cho đến khi đạt một giá trị cấu hình trước thì kích hoạt một </a:t>
            </a:r>
            <a:r>
              <a:rPr lang="vi-VN" sz="2400" b="1">
                <a:effectLst/>
                <a:latin typeface="Google Sans Text"/>
              </a:rPr>
              <a:t>ngắt (Interrupt)</a:t>
            </a:r>
            <a:r>
              <a:rPr lang="vi-VN" sz="2400">
                <a:effectLst/>
                <a:latin typeface="Google Sans Text"/>
              </a:rPr>
              <a:t>.</a:t>
            </a:r>
          </a:p>
          <a:p>
            <a:pPr marL="800100" lvl="1" indent="-342900">
              <a:buFont typeface="Arial" panose="020B0604020202020204" pitchFamily="34" charset="0"/>
              <a:buChar char="•"/>
            </a:pPr>
            <a:r>
              <a:rPr lang="vi-VN" sz="2400" b="1">
                <a:effectLst/>
                <a:latin typeface="Google Sans Text"/>
              </a:rPr>
              <a:t>Ứng dụng:</a:t>
            </a:r>
            <a:r>
              <a:rPr lang="vi-VN" sz="2400">
                <a:effectLst/>
                <a:latin typeface="Google Sans Text"/>
              </a:rPr>
              <a:t> Tạo các khoảng thời gian chính xác để nhấp nháy LED, quét phím bấm, hoặc gửi dữ liệu định kỳ sau mỗi </a:t>
            </a:r>
            <a:r>
              <a:rPr lang="en-US" sz="2400">
                <a:effectLst/>
                <a:latin typeface="Google Sans Text"/>
              </a:rPr>
              <a:t>10ms.</a:t>
            </a:r>
            <a:endParaRPr lang="vi-VN" sz="2400">
              <a:effectLst/>
              <a:latin typeface="Google Sans Text"/>
            </a:endParaRPr>
          </a:p>
          <a:p>
            <a:pPr algn="l"/>
            <a:endParaRPr lang="vi-VN" sz="1600" b="0" i="0">
              <a:solidFill>
                <a:srgbClr val="0F1115"/>
              </a:solidFill>
              <a:effectLst/>
              <a:latin typeface="quote-cjk-patch"/>
            </a:endParaRPr>
          </a:p>
          <a:p>
            <a:pPr algn="l">
              <a:lnSpc>
                <a:spcPct val="150000"/>
              </a:lnSpc>
            </a:pPr>
            <a:endParaRPr lang="vi-VN" sz="2200" b="1">
              <a:solidFill>
                <a:srgbClr val="0F1115"/>
              </a:solidFill>
              <a:effectLst/>
            </a:endParaRPr>
          </a:p>
        </p:txBody>
      </p:sp>
      <p:pic>
        <p:nvPicPr>
          <p:cNvPr id="2050" name="Picture 2" descr="Mastering Digital GPIO: Arduino's Key to Control | ARDUINOKIT PROJECT">
            <a:extLst>
              <a:ext uri="{FF2B5EF4-FFF2-40B4-BE49-F238E27FC236}">
                <a16:creationId xmlns:a16="http://schemas.microsoft.com/office/drawing/2014/main" id="{6C58B62E-4F7D-B891-5489-E935189300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030" y="5902619"/>
            <a:ext cx="6481215" cy="36683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link LEDs with different Frequencies">
            <a:extLst>
              <a:ext uri="{FF2B5EF4-FFF2-40B4-BE49-F238E27FC236}">
                <a16:creationId xmlns:a16="http://schemas.microsoft.com/office/drawing/2014/main" id="{ECA4C76B-2F5F-3121-1527-ECDA04E35D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39976" y="5741182"/>
            <a:ext cx="6572250" cy="369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1418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Tạo trễ</a:t>
            </a:r>
            <a:endParaRPr lang="en-US" sz="3600" b="1" dirty="0">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7F0C0BE0-3FF3-94B1-8437-20379ABD08A0}"/>
              </a:ext>
            </a:extLst>
          </p:cNvPr>
          <p:cNvPicPr>
            <a:picLocks noChangeAspect="1"/>
          </p:cNvPicPr>
          <p:nvPr/>
        </p:nvPicPr>
        <p:blipFill>
          <a:blip r:embed="rId3"/>
          <a:stretch>
            <a:fillRect/>
          </a:stretch>
        </p:blipFill>
        <p:spPr>
          <a:xfrm>
            <a:off x="1741715" y="2718607"/>
            <a:ext cx="14782800" cy="6800850"/>
          </a:xfrm>
          <a:prstGeom prst="rect">
            <a:avLst/>
          </a:prstGeom>
        </p:spPr>
      </p:pic>
    </p:spTree>
    <p:extLst>
      <p:ext uri="{BB962C8B-B14F-4D97-AF65-F5344CB8AC3E}">
        <p14:creationId xmlns:p14="http://schemas.microsoft.com/office/powerpoint/2010/main" val="2367682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Tạo trễ</a:t>
            </a:r>
            <a:endParaRPr lang="en-US" sz="3600" b="1" dirty="0">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7DC6835D-DFC9-1A63-E67F-FFBA8C641864}"/>
              </a:ext>
            </a:extLst>
          </p:cNvPr>
          <p:cNvPicPr>
            <a:picLocks noChangeAspect="1"/>
          </p:cNvPicPr>
          <p:nvPr/>
        </p:nvPicPr>
        <p:blipFill>
          <a:blip r:embed="rId3"/>
          <a:stretch>
            <a:fillRect/>
          </a:stretch>
        </p:blipFill>
        <p:spPr>
          <a:xfrm>
            <a:off x="1370240" y="2843855"/>
            <a:ext cx="15525750" cy="6896100"/>
          </a:xfrm>
          <a:prstGeom prst="rect">
            <a:avLst/>
          </a:prstGeom>
        </p:spPr>
      </p:pic>
    </p:spTree>
    <p:extLst>
      <p:ext uri="{BB962C8B-B14F-4D97-AF65-F5344CB8AC3E}">
        <p14:creationId xmlns:p14="http://schemas.microsoft.com/office/powerpoint/2010/main" val="2559866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A3CF-1F72-1B90-B144-05D18B8C2D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4A20D22-9868-0B91-4B0C-5258BF58F7E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0156E38-46FA-75E5-D413-0DFB02BF5A8B}"/>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8ADC5BE-9E3A-5C61-25EA-F212BA09026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43F28F-C120-A1F8-6BE4-3534023F474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93CF7E0-4C1B-35A8-E7EB-D96EAA0D60DB}"/>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Các chức năng của Timer ?</a:t>
            </a:r>
            <a:endParaRPr lang="en-US" sz="3600" b="1" dirty="0">
              <a:effectLst>
                <a:outerShdw blurRad="38100" dist="38100" dir="2700000" algn="tl">
                  <a:srgbClr val="000000">
                    <a:alpha val="43137"/>
                  </a:srgbClr>
                </a:outerShdw>
              </a:effectLst>
            </a:endParaRPr>
          </a:p>
        </p:txBody>
      </p:sp>
      <p:sp>
        <p:nvSpPr>
          <p:cNvPr id="4" name="AutoShape 2" descr="Dev-C++ - Tải về">
            <a:extLst>
              <a:ext uri="{FF2B5EF4-FFF2-40B4-BE49-F238E27FC236}">
                <a16:creationId xmlns:a16="http://schemas.microsoft.com/office/drawing/2014/main" id="{ABFE1196-9351-4163-44C3-C8C7D520F9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5993DCB-9387-0127-1C88-726BD08AD372}"/>
              </a:ext>
            </a:extLst>
          </p:cNvPr>
          <p:cNvSpPr txBox="1"/>
          <p:nvPr/>
        </p:nvSpPr>
        <p:spPr>
          <a:xfrm>
            <a:off x="381000" y="2426082"/>
            <a:ext cx="17106900" cy="1553054"/>
          </a:xfrm>
          <a:prstGeom prst="rect">
            <a:avLst/>
          </a:prstGeom>
          <a:noFill/>
        </p:spPr>
        <p:txBody>
          <a:bodyPr wrap="square">
            <a:spAutoFit/>
          </a:bodyPr>
          <a:lstStyle/>
          <a:p>
            <a:pPr algn="l">
              <a:lnSpc>
                <a:spcPct val="150000"/>
              </a:lnSpc>
            </a:pPr>
            <a:r>
              <a:rPr lang="vi-VN" sz="2200" b="1">
                <a:solidFill>
                  <a:srgbClr val="0F1115"/>
                </a:solidFill>
                <a:effectLst/>
              </a:rPr>
              <a:t>Các chức năng chính của Timer:</a:t>
            </a:r>
          </a:p>
          <a:p>
            <a:pPr lvl="1">
              <a:lnSpc>
                <a:spcPct val="150000"/>
              </a:lnSpc>
            </a:pPr>
            <a:r>
              <a:rPr lang="en-US" sz="2200" b="1" i="0">
                <a:solidFill>
                  <a:srgbClr val="0F1115"/>
                </a:solidFill>
                <a:effectLst/>
              </a:rPr>
              <a:t>2. </a:t>
            </a:r>
            <a:r>
              <a:rPr lang="vi-VN" sz="2200" b="1" i="0">
                <a:solidFill>
                  <a:srgbClr val="0F1115"/>
                </a:solidFill>
                <a:effectLst/>
              </a:rPr>
              <a:t>Tạo xung PWM (Pulse Width Modulation):</a:t>
            </a:r>
            <a:r>
              <a:rPr lang="vi-VN" sz="2200" b="0" i="0">
                <a:solidFill>
                  <a:srgbClr val="0F1115"/>
                </a:solidFill>
                <a:effectLst/>
              </a:rPr>
              <a:t> Điều khiển tốc độ động cơ, độ sáng LED, điều khiển servo... bằng cách tạo ra tín hiệu dạng xung với độ rộng thay đổi.</a:t>
            </a:r>
          </a:p>
        </p:txBody>
      </p:sp>
      <p:pic>
        <p:nvPicPr>
          <p:cNvPr id="3074" name="Picture 2" descr="Arduino Pwm In Arduino | Arduino">
            <a:extLst>
              <a:ext uri="{FF2B5EF4-FFF2-40B4-BE49-F238E27FC236}">
                <a16:creationId xmlns:a16="http://schemas.microsoft.com/office/drawing/2014/main" id="{975191D8-55AE-9905-E46F-B56E4DF38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152900"/>
            <a:ext cx="7467600" cy="56007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WM Generation With Arduino and LED : 5 Steps - Instructables">
            <a:extLst>
              <a:ext uri="{FF2B5EF4-FFF2-40B4-BE49-F238E27FC236}">
                <a16:creationId xmlns:a16="http://schemas.microsoft.com/office/drawing/2014/main" id="{5CD9B571-E6C3-2BF7-067F-18FB7A3B9A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3657600"/>
            <a:ext cx="7305675"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429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A3CF-1F72-1B90-B144-05D18B8C2D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4A20D22-9868-0B91-4B0C-5258BF58F7E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0156E38-46FA-75E5-D413-0DFB02BF5A8B}"/>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8ADC5BE-9E3A-5C61-25EA-F212BA09026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43F28F-C120-A1F8-6BE4-3534023F474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93CF7E0-4C1B-35A8-E7EB-D96EAA0D60DB}"/>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Các chức năng của Timer ?</a:t>
            </a:r>
            <a:endParaRPr lang="en-US" sz="3600" b="1" dirty="0">
              <a:effectLst>
                <a:outerShdw blurRad="38100" dist="38100" dir="2700000" algn="tl">
                  <a:srgbClr val="000000">
                    <a:alpha val="43137"/>
                  </a:srgbClr>
                </a:outerShdw>
              </a:effectLst>
            </a:endParaRPr>
          </a:p>
        </p:txBody>
      </p:sp>
      <p:sp>
        <p:nvSpPr>
          <p:cNvPr id="4" name="AutoShape 2" descr="Dev-C++ - Tải về">
            <a:extLst>
              <a:ext uri="{FF2B5EF4-FFF2-40B4-BE49-F238E27FC236}">
                <a16:creationId xmlns:a16="http://schemas.microsoft.com/office/drawing/2014/main" id="{ABFE1196-9351-4163-44C3-C8C7D520F9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5993DCB-9387-0127-1C88-726BD08AD372}"/>
              </a:ext>
            </a:extLst>
          </p:cNvPr>
          <p:cNvSpPr txBox="1"/>
          <p:nvPr/>
        </p:nvSpPr>
        <p:spPr>
          <a:xfrm>
            <a:off x="381000" y="2426082"/>
            <a:ext cx="17106900" cy="4801314"/>
          </a:xfrm>
          <a:prstGeom prst="rect">
            <a:avLst/>
          </a:prstGeom>
          <a:noFill/>
        </p:spPr>
        <p:txBody>
          <a:bodyPr wrap="square">
            <a:spAutoFit/>
          </a:bodyPr>
          <a:lstStyle/>
          <a:p>
            <a:pPr algn="l">
              <a:lnSpc>
                <a:spcPct val="150000"/>
              </a:lnSpc>
            </a:pPr>
            <a:r>
              <a:rPr lang="vi-VN" sz="2400" b="1">
                <a:solidFill>
                  <a:srgbClr val="0F1115"/>
                </a:solidFill>
                <a:effectLst/>
              </a:rPr>
              <a:t>Các chức năng chính của Timer:</a:t>
            </a:r>
            <a:endParaRPr lang="en-US" sz="2400" b="1">
              <a:solidFill>
                <a:srgbClr val="0F1115"/>
              </a:solidFill>
            </a:endParaRPr>
          </a:p>
          <a:p>
            <a:pPr algn="l">
              <a:lnSpc>
                <a:spcPct val="150000"/>
              </a:lnSpc>
            </a:pPr>
            <a:endParaRPr lang="vi-VN" sz="2400" b="1">
              <a:solidFill>
                <a:srgbClr val="0F1115"/>
              </a:solidFill>
              <a:effectLst/>
            </a:endParaRPr>
          </a:p>
          <a:p>
            <a:r>
              <a:rPr lang="en-US" sz="2400" b="1"/>
              <a:t>3</a:t>
            </a:r>
            <a:r>
              <a:rPr lang="vi-VN" sz="2400" b="1"/>
              <a:t>. Đếm sự kiện (Event Counting)</a:t>
            </a:r>
          </a:p>
          <a:p>
            <a:pPr marL="342900" indent="-342900">
              <a:buFont typeface="Arial" panose="020B0604020202020204" pitchFamily="34" charset="0"/>
              <a:buChar char="•"/>
            </a:pPr>
            <a:r>
              <a:rPr lang="vi-VN" sz="2400" b="1"/>
              <a:t>Bản chất:</a:t>
            </a:r>
            <a:r>
              <a:rPr lang="vi-VN" sz="2400"/>
              <a:t> Thay vì đếm nhịp xung clock thạch anh ổn định của vi điều khiển, Timer sẽ chuyển sang đếm các tín hiệu "trồi sụt" (cạnh lên/cạnh xuống) cấp vào một chân cụ thể của chip.</a:t>
            </a:r>
          </a:p>
          <a:p>
            <a:pPr marL="342900" indent="-342900">
              <a:buFont typeface="Arial" panose="020B0604020202020204" pitchFamily="34" charset="0"/>
              <a:buChar char="•"/>
            </a:pPr>
            <a:r>
              <a:rPr lang="vi-VN" sz="2400" b="1"/>
              <a:t>Ứng dụng thực tế:</a:t>
            </a:r>
            <a:r>
              <a:rPr lang="vi-VN" sz="2400"/>
              <a:t> </a:t>
            </a:r>
            <a:endParaRPr lang="en-US" sz="2400"/>
          </a:p>
          <a:p>
            <a:endParaRPr lang="en-US" sz="2400" b="1"/>
          </a:p>
          <a:p>
            <a:pPr marL="800100" lvl="1" indent="-342900">
              <a:buFont typeface="Arial" panose="020B0604020202020204" pitchFamily="34" charset="0"/>
              <a:buChar char="•"/>
            </a:pPr>
            <a:r>
              <a:rPr lang="vi-VN" sz="2400" b="1"/>
              <a:t>Đếm sản phẩm:</a:t>
            </a:r>
            <a:r>
              <a:rPr lang="vi-VN" sz="2400"/>
              <a:t> Lắp một cảm biến hồng ngoại ở băng chuyền. Cứ có 1 chai nước đi qua, cảm biến xuất 1 xung điện, Timer tăng lên 1 đơn vị.</a:t>
            </a:r>
          </a:p>
          <a:p>
            <a:pPr marL="742950" lvl="1" indent="-285750">
              <a:buFont typeface="Arial" panose="020B0604020202020204" pitchFamily="34" charset="0"/>
              <a:buChar char="•"/>
            </a:pPr>
            <a:r>
              <a:rPr lang="vi-VN" sz="2400" b="1"/>
              <a:t>Đọc Encoder:</a:t>
            </a:r>
            <a:r>
              <a:rPr lang="vi-VN" sz="2400"/>
              <a:t> Đếm số răng của đĩa quay trên bánh xe động cơ để biết bánh xe đã quay được bao nhiêu vòng (từ đó tính ra quãng đường robot đã đi).</a:t>
            </a:r>
          </a:p>
          <a:p>
            <a:pPr algn="l"/>
            <a:endParaRPr lang="vi-VN" b="1" i="0">
              <a:solidFill>
                <a:srgbClr val="0F1115"/>
              </a:solidFill>
              <a:effectLst/>
              <a:latin typeface="quote-cjk-patch"/>
            </a:endParaRPr>
          </a:p>
        </p:txBody>
      </p:sp>
    </p:spTree>
    <p:extLst>
      <p:ext uri="{BB962C8B-B14F-4D97-AF65-F5344CB8AC3E}">
        <p14:creationId xmlns:p14="http://schemas.microsoft.com/office/powerpoint/2010/main" val="3569688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A3CF-1F72-1B90-B144-05D18B8C2D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4A20D22-9868-0B91-4B0C-5258BF58F7E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0156E38-46FA-75E5-D413-0DFB02BF5A8B}"/>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8ADC5BE-9E3A-5C61-25EA-F212BA09026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43F28F-C120-A1F8-6BE4-3534023F474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93CF7E0-4C1B-35A8-E7EB-D96EAA0D60DB}"/>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Các chức năng của Timer ?</a:t>
            </a:r>
            <a:endParaRPr lang="en-US" sz="3600" b="1" dirty="0">
              <a:effectLst>
                <a:outerShdw blurRad="38100" dist="38100" dir="2700000" algn="tl">
                  <a:srgbClr val="000000">
                    <a:alpha val="43137"/>
                  </a:srgbClr>
                </a:outerShdw>
              </a:effectLst>
            </a:endParaRPr>
          </a:p>
        </p:txBody>
      </p:sp>
      <p:sp>
        <p:nvSpPr>
          <p:cNvPr id="4" name="AutoShape 2" descr="Dev-C++ - Tải về">
            <a:extLst>
              <a:ext uri="{FF2B5EF4-FFF2-40B4-BE49-F238E27FC236}">
                <a16:creationId xmlns:a16="http://schemas.microsoft.com/office/drawing/2014/main" id="{ABFE1196-9351-4163-44C3-C8C7D520F9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5993DCB-9387-0127-1C88-726BD08AD372}"/>
              </a:ext>
            </a:extLst>
          </p:cNvPr>
          <p:cNvSpPr txBox="1"/>
          <p:nvPr/>
        </p:nvSpPr>
        <p:spPr>
          <a:xfrm>
            <a:off x="381000" y="2426082"/>
            <a:ext cx="17106900" cy="4062651"/>
          </a:xfrm>
          <a:prstGeom prst="rect">
            <a:avLst/>
          </a:prstGeom>
          <a:noFill/>
        </p:spPr>
        <p:txBody>
          <a:bodyPr wrap="square">
            <a:spAutoFit/>
          </a:bodyPr>
          <a:lstStyle/>
          <a:p>
            <a:pPr algn="l">
              <a:lnSpc>
                <a:spcPct val="150000"/>
              </a:lnSpc>
            </a:pPr>
            <a:r>
              <a:rPr lang="vi-VN" sz="2400" b="1">
                <a:solidFill>
                  <a:srgbClr val="0F1115"/>
                </a:solidFill>
                <a:effectLst/>
              </a:rPr>
              <a:t>Các chức năng chính của Timer:</a:t>
            </a:r>
            <a:endParaRPr lang="en-US" sz="2400" b="1">
              <a:solidFill>
                <a:srgbClr val="0F1115"/>
              </a:solidFill>
            </a:endParaRPr>
          </a:p>
          <a:p>
            <a:pPr algn="l">
              <a:lnSpc>
                <a:spcPct val="150000"/>
              </a:lnSpc>
            </a:pPr>
            <a:endParaRPr lang="vi-VN" sz="2400" b="1">
              <a:solidFill>
                <a:srgbClr val="0F1115"/>
              </a:solidFill>
              <a:effectLst/>
            </a:endParaRPr>
          </a:p>
          <a:p>
            <a:r>
              <a:rPr lang="en-US" sz="2400" b="1"/>
              <a:t>4. B</a:t>
            </a:r>
            <a:r>
              <a:rPr lang="vi-VN" sz="2400" b="1"/>
              <a:t>ộ giám sát hệ thống (Watchdog Timer - WDT)</a:t>
            </a:r>
          </a:p>
          <a:p>
            <a:r>
              <a:rPr lang="vi-VN" sz="2400"/>
              <a:t>Đây là một dạng Timer đặc biệt hoạt động như một "vệ sĩ" để tăng độ tin cậy cho hệ thống nhúng, tránh tình trạng thiết bị bị "treo" (freeze) khi chạy ngoài thực tế.</a:t>
            </a:r>
          </a:p>
          <a:p>
            <a:pPr marL="800100" lvl="1" indent="-342900">
              <a:buFont typeface="Arial" panose="020B0604020202020204" pitchFamily="34" charset="0"/>
              <a:buChar char="•"/>
            </a:pPr>
            <a:r>
              <a:rPr lang="vi-VN" sz="2400" b="1"/>
              <a:t>Cách hoạt động:</a:t>
            </a:r>
            <a:r>
              <a:rPr lang="vi-VN" sz="2400"/>
              <a:t> WDT đếm ngược độc lập. Nếu hệ thống hoạt động bình thường, code của bạn phải liên tục reset bộ đếm này về 0 (hành động này gọi là "vừa lòng" hoặc "cho chó ăn" - kicking the dog). </a:t>
            </a:r>
            <a:endParaRPr lang="en-US" sz="2400"/>
          </a:p>
          <a:p>
            <a:pPr marL="800100" lvl="1" indent="-342900">
              <a:buFont typeface="Arial" panose="020B0604020202020204" pitchFamily="34" charset="0"/>
              <a:buChar char="•"/>
            </a:pPr>
            <a:r>
              <a:rPr lang="vi-VN" sz="2400"/>
              <a:t>Nếu phần mềm bị lỗi/vòng lặp vô hạn và không reset WDT kịp thời, WDT sẽ đếm chạm đáy và tự động </a:t>
            </a:r>
            <a:r>
              <a:rPr lang="vi-VN" sz="2400" b="1"/>
              <a:t>Reset lại toàn bộ MCU</a:t>
            </a:r>
            <a:r>
              <a:rPr lang="vi-VN" sz="2400"/>
              <a:t>.</a:t>
            </a:r>
          </a:p>
          <a:p>
            <a:pPr algn="l"/>
            <a:endParaRPr lang="vi-VN" b="1" i="0">
              <a:solidFill>
                <a:srgbClr val="0F1115"/>
              </a:solidFill>
              <a:effectLst/>
              <a:latin typeface="quote-cjk-patch"/>
            </a:endParaRPr>
          </a:p>
        </p:txBody>
      </p:sp>
    </p:spTree>
    <p:extLst>
      <p:ext uri="{BB962C8B-B14F-4D97-AF65-F5344CB8AC3E}">
        <p14:creationId xmlns:p14="http://schemas.microsoft.com/office/powerpoint/2010/main" val="503997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04CD-801A-0AC1-65F5-8A5BFD3B5ED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81194D3-E9FA-2C1F-AC2F-071A9F0A579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4243BBE9-3159-F11D-1C9E-FBBE1E3D98BA}"/>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982CA20-12A5-5CA2-1FC3-0D1BC33273C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0AD8DA6-4551-D2B8-CD09-976D6B50A60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3985A05-54E4-5262-0FD5-F2D758512CCE}"/>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Arduino UNO Layout</a:t>
            </a:r>
          </a:p>
        </p:txBody>
      </p:sp>
      <p:pic>
        <p:nvPicPr>
          <p:cNvPr id="1026" name="Picture 2">
            <a:extLst>
              <a:ext uri="{FF2B5EF4-FFF2-40B4-BE49-F238E27FC236}">
                <a16:creationId xmlns:a16="http://schemas.microsoft.com/office/drawing/2014/main" id="{D3BDDB6E-CC94-926E-B825-C87E25CC0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7115" y="2080191"/>
            <a:ext cx="12192000" cy="812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672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A3CF-1F72-1B90-B144-05D18B8C2D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4A20D22-9868-0B91-4B0C-5258BF58F7E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0156E38-46FA-75E5-D413-0DFB02BF5A8B}"/>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8ADC5BE-9E3A-5C61-25EA-F212BA09026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43F28F-C120-A1F8-6BE4-3534023F474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93CF7E0-4C1B-35A8-E7EB-D96EAA0D60DB}"/>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Các chức năng của Timer ?</a:t>
            </a:r>
            <a:endParaRPr lang="en-US" sz="3600" b="1" dirty="0">
              <a:effectLst>
                <a:outerShdw blurRad="38100" dist="38100" dir="2700000" algn="tl">
                  <a:srgbClr val="000000">
                    <a:alpha val="43137"/>
                  </a:srgbClr>
                </a:outerShdw>
              </a:effectLst>
            </a:endParaRPr>
          </a:p>
        </p:txBody>
      </p:sp>
      <p:sp>
        <p:nvSpPr>
          <p:cNvPr id="4" name="AutoShape 2" descr="Dev-C++ - Tải về">
            <a:extLst>
              <a:ext uri="{FF2B5EF4-FFF2-40B4-BE49-F238E27FC236}">
                <a16:creationId xmlns:a16="http://schemas.microsoft.com/office/drawing/2014/main" id="{ABFE1196-9351-4163-44C3-C8C7D520F9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5993DCB-9387-0127-1C88-726BD08AD372}"/>
              </a:ext>
            </a:extLst>
          </p:cNvPr>
          <p:cNvSpPr txBox="1"/>
          <p:nvPr/>
        </p:nvSpPr>
        <p:spPr>
          <a:xfrm>
            <a:off x="381000" y="2426082"/>
            <a:ext cx="10972800" cy="7663636"/>
          </a:xfrm>
          <a:prstGeom prst="rect">
            <a:avLst/>
          </a:prstGeom>
          <a:noFill/>
        </p:spPr>
        <p:txBody>
          <a:bodyPr wrap="square">
            <a:spAutoFit/>
          </a:bodyPr>
          <a:lstStyle/>
          <a:p>
            <a:pPr algn="l">
              <a:lnSpc>
                <a:spcPct val="150000"/>
              </a:lnSpc>
            </a:pPr>
            <a:r>
              <a:rPr lang="vi-VN" sz="2400" b="1">
                <a:solidFill>
                  <a:srgbClr val="0F1115"/>
                </a:solidFill>
                <a:effectLst/>
              </a:rPr>
              <a:t>Các chức năng chính của Timer:</a:t>
            </a:r>
          </a:p>
          <a:p>
            <a:pPr>
              <a:lnSpc>
                <a:spcPct val="150000"/>
              </a:lnSpc>
            </a:pPr>
            <a:r>
              <a:rPr lang="en-US" sz="2400" b="1"/>
              <a:t>5. </a:t>
            </a:r>
            <a:r>
              <a:rPr lang="vi-VN" sz="2400" b="1">
                <a:effectLst/>
              </a:rPr>
              <a:t>Tạo ngắt (Timer Interrupt) – Gốc rễ của mọi hoạt động định thời</a:t>
            </a:r>
          </a:p>
          <a:p>
            <a:pPr>
              <a:lnSpc>
                <a:spcPct val="150000"/>
              </a:lnSpc>
            </a:pPr>
            <a:r>
              <a:rPr lang="vi-VN" sz="2400">
                <a:effectLst/>
              </a:rPr>
              <a:t>Tạo ngắt không phải là một chức năng độc lập, mà nó là </a:t>
            </a:r>
            <a:r>
              <a:rPr lang="vi-VN" sz="2400" b="1">
                <a:effectLst/>
              </a:rPr>
              <a:t>cơ chế</a:t>
            </a:r>
            <a:r>
              <a:rPr lang="vi-VN" sz="2400">
                <a:effectLst/>
              </a:rPr>
              <a:t> để Timer báo hiệu cho CPU. Thay vì CPU phải liên tục chạy vào kiểm tra xem Timer đếm xong chưa (gọi là Polling - rất tốn tài nguyên), Timer sẽ tự chạy.</a:t>
            </a:r>
          </a:p>
          <a:p>
            <a:pPr marL="800100" lvl="1" indent="-342900">
              <a:lnSpc>
                <a:spcPct val="150000"/>
              </a:lnSpc>
              <a:buFont typeface="Arial" panose="020B0604020202020204" pitchFamily="34" charset="0"/>
              <a:buChar char="•"/>
            </a:pPr>
            <a:r>
              <a:rPr lang="vi-VN" sz="2400" b="1">
                <a:effectLst/>
              </a:rPr>
              <a:t>Cách hoạt động:</a:t>
            </a:r>
            <a:r>
              <a:rPr lang="vi-VN" sz="2400">
                <a:effectLst/>
              </a:rPr>
              <a:t> Khi Timer đếm tràn (Overflow) hoặc đếm đến một giá trị cấu hình trước (Match), nó sẽ phát ra một tín hiệu </a:t>
            </a:r>
            <a:r>
              <a:rPr lang="vi-VN" sz="2400" b="1">
                <a:effectLst/>
              </a:rPr>
              <a:t>Ngắt</a:t>
            </a:r>
            <a:r>
              <a:rPr lang="vi-VN" sz="2400">
                <a:effectLst/>
              </a:rPr>
              <a:t>.</a:t>
            </a:r>
          </a:p>
          <a:p>
            <a:pPr marL="800100" lvl="1" indent="-342900">
              <a:lnSpc>
                <a:spcPct val="150000"/>
              </a:lnSpc>
              <a:buFont typeface="Arial" panose="020B0604020202020204" pitchFamily="34" charset="0"/>
              <a:buChar char="•"/>
            </a:pPr>
            <a:r>
              <a:rPr lang="vi-VN" sz="2400" b="1">
                <a:effectLst/>
              </a:rPr>
              <a:t>Phản ứng của CPU:</a:t>
            </a:r>
            <a:r>
              <a:rPr lang="vi-VN" sz="2400">
                <a:effectLst/>
              </a:rPr>
              <a:t> CPU sẽ lập tức tạm dừng công việc hiện tại, nhảy vào thực hiện một hàm riêng cho ngắt đó (gọi là ISR - Interrupt Service Routine), xong việc lại quay về chạy tiếp phần mềm chính.</a:t>
            </a:r>
          </a:p>
          <a:p>
            <a:pPr marL="800100" lvl="1" indent="-342900">
              <a:lnSpc>
                <a:spcPct val="150000"/>
              </a:lnSpc>
              <a:buFont typeface="Arial" panose="020B0604020202020204" pitchFamily="34" charset="0"/>
              <a:buChar char="•"/>
            </a:pPr>
            <a:r>
              <a:rPr lang="vi-VN" sz="2400" b="1">
                <a:effectLst/>
              </a:rPr>
              <a:t>Ứng dụng:</a:t>
            </a:r>
            <a:r>
              <a:rPr lang="vi-VN" sz="2400">
                <a:effectLst/>
              </a:rPr>
              <a:t> Tạo ra các tác vụ chạy ngầm cực kỳ chính xác. Ví dụ: Cứ đúng </a:t>
            </a:r>
            <a:r>
              <a:rPr lang="en-US" sz="2400">
                <a:effectLst/>
              </a:rPr>
              <a:t>1ms </a:t>
            </a:r>
            <a:r>
              <a:rPr lang="vi-VN" sz="2400">
                <a:effectLst/>
              </a:rPr>
              <a:t>ngắt một lần để đọc giá trị cảm biến, bất chấp lúc đó chương trình chính đang bận xử lý đồ họa hay tính toán logic khác.</a:t>
            </a:r>
          </a:p>
          <a:p>
            <a:pPr algn="l"/>
            <a:endParaRPr lang="vi-VN" sz="2400" b="1" i="0">
              <a:solidFill>
                <a:srgbClr val="0F1115"/>
              </a:solidFill>
              <a:effectLst/>
            </a:endParaRPr>
          </a:p>
        </p:txBody>
      </p:sp>
      <p:pic>
        <p:nvPicPr>
          <p:cNvPr id="6" name="Picture 2">
            <a:extLst>
              <a:ext uri="{FF2B5EF4-FFF2-40B4-BE49-F238E27FC236}">
                <a16:creationId xmlns:a16="http://schemas.microsoft.com/office/drawing/2014/main" id="{FF82253B-5387-2F14-BD94-F5A517BA0A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29672" y="1943099"/>
            <a:ext cx="5449056" cy="8173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695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pic>
        <p:nvPicPr>
          <p:cNvPr id="1029" name="Picture 5" descr="máy bay điều khiển từ xa - đồ chơi điều khiển từ xa - do choi dieu khien">
            <a:extLst>
              <a:ext uri="{FF2B5EF4-FFF2-40B4-BE49-F238E27FC236}">
                <a16:creationId xmlns:a16="http://schemas.microsoft.com/office/drawing/2014/main" id="{21D7EE96-E9D9-6E68-915F-0C54730573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5159991"/>
            <a:ext cx="4876800" cy="485851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8915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3E4110B8-F4AE-7691-4997-B6F25D419859}"/>
              </a:ext>
            </a:extLst>
          </p:cNvPr>
          <p:cNvSpPr txBox="1"/>
          <p:nvPr/>
        </p:nvSpPr>
        <p:spPr>
          <a:xfrm>
            <a:off x="381000" y="2473464"/>
            <a:ext cx="16960776" cy="3293209"/>
          </a:xfrm>
          <a:prstGeom prst="rect">
            <a:avLst/>
          </a:prstGeom>
          <a:noFill/>
        </p:spPr>
        <p:txBody>
          <a:bodyPr wrap="square">
            <a:spAutoFit/>
          </a:bodyPr>
          <a:lstStyle/>
          <a:p>
            <a:r>
              <a:rPr lang="vi-VN" sz="2400" b="1">
                <a:effectLst/>
                <a:latin typeface="Google Sans"/>
              </a:rPr>
              <a:t>1. Real-time Control (Điều khiển thời gian thực)</a:t>
            </a:r>
          </a:p>
          <a:p>
            <a:pPr marL="800100" lvl="1" indent="-342900">
              <a:buFont typeface="Arial" panose="020B0604020202020204" pitchFamily="34" charset="0"/>
              <a:buChar char="•"/>
            </a:pPr>
            <a:r>
              <a:rPr lang="vi-VN" sz="2400" b="1">
                <a:effectLst/>
                <a:latin typeface="Google Sans Text"/>
              </a:rPr>
              <a:t>Vấn đề thực tế (Ví dụ: Drone/Máy bay không người lái):</a:t>
            </a:r>
            <a:r>
              <a:rPr lang="vi-VN" sz="2400">
                <a:effectLst/>
                <a:latin typeface="Google Sans Text"/>
              </a:rPr>
              <a:t> Để cấu cánh quạt không bị lật, cứ đúng </a:t>
            </a:r>
            <a:r>
              <a:rPr lang="en-US" sz="2400">
                <a:effectLst/>
                <a:latin typeface="Google Sans Text"/>
              </a:rPr>
              <a:t>1ms</a:t>
            </a:r>
            <a:r>
              <a:rPr lang="vi-VN" sz="2400">
                <a:effectLst/>
                <a:latin typeface="Google Sans Text"/>
              </a:rPr>
              <a:t>(1000 lần/giây), chip phải đọc cảm biến gia tốc và tính toán lại góc nghiêng một lần. Nếu chậm một vài phần tư giây, drone sẽ mất thăng bằng và rơi ngay lập tức.</a:t>
            </a:r>
          </a:p>
          <a:p>
            <a:pPr marL="800100" lvl="1" indent="-342900">
              <a:buFont typeface="Arial" panose="020B0604020202020204" pitchFamily="34" charset="0"/>
              <a:buChar char="•"/>
            </a:pPr>
            <a:r>
              <a:rPr lang="vi-VN" sz="2400" b="1">
                <a:effectLst/>
                <a:latin typeface="Google Sans Text"/>
              </a:rPr>
              <a:t>Cách Timer giải quyết:</a:t>
            </a:r>
            <a:r>
              <a:rPr lang="vi-VN" sz="2400">
                <a:effectLst/>
                <a:latin typeface="Google Sans Text"/>
              </a:rPr>
              <a:t> Timer tạo ra một </a:t>
            </a:r>
            <a:r>
              <a:rPr lang="vi-VN" sz="2400" b="1">
                <a:effectLst/>
                <a:latin typeface="Google Sans Text"/>
              </a:rPr>
              <a:t>Ngắt định kỳ (Periodic Interrupt)</a:t>
            </a:r>
            <a:r>
              <a:rPr lang="vi-VN" sz="2400">
                <a:effectLst/>
                <a:latin typeface="Google Sans Text"/>
              </a:rPr>
              <a:t> chuẩn xác đến từng micro-giây. Cho dù CPU đang bận làm việc khác (như nhận tín hiệu từ remote, xử lý đèn LED), thì cứ đúng </a:t>
            </a:r>
            <a:r>
              <a:rPr lang="en-US" sz="2400">
                <a:effectLst/>
                <a:latin typeface="Google Sans Text"/>
              </a:rPr>
              <a:t>1ms</a:t>
            </a:r>
            <a:r>
              <a:rPr lang="vi-VN" sz="2400">
                <a:effectLst/>
                <a:latin typeface="Google Sans Text"/>
              </a:rPr>
              <a:t>, Timer sẽ "ép" CPU dừng lại để ưu tiên tính toán góc bay. Điều này đảm bảo tính </a:t>
            </a:r>
            <a:r>
              <a:rPr lang="vi-VN" sz="2400" b="1">
                <a:effectLst/>
                <a:latin typeface="Google Sans Text"/>
              </a:rPr>
              <a:t>Deterministic</a:t>
            </a:r>
            <a:r>
              <a:rPr lang="vi-VN" sz="2400">
                <a:effectLst/>
                <a:latin typeface="Google Sans Text"/>
              </a:rPr>
              <a:t> (mọi việc phải xảy ra đúng hạn).</a:t>
            </a:r>
          </a:p>
          <a:p>
            <a:endParaRPr lang="vi-VN" sz="1600"/>
          </a:p>
          <a:p>
            <a:endParaRPr lang="vi-VN" sz="2400" dirty="0"/>
          </a:p>
        </p:txBody>
      </p:sp>
    </p:spTree>
    <p:extLst>
      <p:ext uri="{BB962C8B-B14F-4D97-AF65-F5344CB8AC3E}">
        <p14:creationId xmlns:p14="http://schemas.microsoft.com/office/powerpoint/2010/main" val="42063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10210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D246FDE-524A-AC06-882E-A77A3709F223}"/>
              </a:ext>
            </a:extLst>
          </p:cNvPr>
          <p:cNvSpPr txBox="1"/>
          <p:nvPr/>
        </p:nvSpPr>
        <p:spPr>
          <a:xfrm>
            <a:off x="213360" y="2491967"/>
            <a:ext cx="17221200" cy="3046988"/>
          </a:xfrm>
          <a:prstGeom prst="rect">
            <a:avLst/>
          </a:prstGeom>
          <a:noFill/>
        </p:spPr>
        <p:txBody>
          <a:bodyPr wrap="square">
            <a:spAutoFit/>
          </a:bodyPr>
          <a:lstStyle/>
          <a:p>
            <a:r>
              <a:rPr lang="vi-VN" sz="2400" b="1">
                <a:effectLst/>
              </a:rPr>
              <a:t>2. Power Management (Quản lý năng lượng)</a:t>
            </a:r>
          </a:p>
          <a:p>
            <a:pPr marL="342900" indent="-342900">
              <a:buFont typeface="Arial" panose="020B0604020202020204" pitchFamily="34" charset="0"/>
              <a:buChar char="•"/>
            </a:pPr>
            <a:r>
              <a:rPr lang="vi-VN" sz="2400" b="1">
                <a:effectLst/>
              </a:rPr>
              <a:t>Vấn đề thực tế (Ví dụ: Đồng hồ thông minh, Cảm biến IoT dùng pin):</a:t>
            </a:r>
            <a:r>
              <a:rPr lang="vi-VN" sz="2400">
                <a:effectLst/>
              </a:rPr>
              <a:t> Làm sao để một viên pin nhỏ có thể chạy được vài tháng hoặc vài năm? Nếu CPU lúc nào cũng hoạt động ở công suất tối đa để "chờ" sự kiện, pin sẽ cạn sạch sau 2 ngày.</a:t>
            </a:r>
          </a:p>
          <a:p>
            <a:pPr marL="342900" indent="-342900">
              <a:buFont typeface="Arial" panose="020B0604020202020204" pitchFamily="34" charset="0"/>
              <a:buChar char="•"/>
            </a:pPr>
            <a:r>
              <a:rPr lang="vi-VN" sz="2400" b="1">
                <a:effectLst/>
              </a:rPr>
              <a:t>Cách Timer giải quyết:</a:t>
            </a:r>
            <a:r>
              <a:rPr lang="vi-VN" sz="2400">
                <a:effectLst/>
              </a:rPr>
              <a:t> Người ta cho CPU vào chế độ </a:t>
            </a:r>
            <a:r>
              <a:rPr lang="vi-VN" sz="2400" b="1">
                <a:effectLst/>
              </a:rPr>
              <a:t>Ngủ sâu (Deep Sleep)</a:t>
            </a:r>
            <a:r>
              <a:rPr lang="vi-VN" sz="2400">
                <a:effectLst/>
              </a:rPr>
              <a:t> – lúc này CPU gần như ngắt điện hoàn toàn để tiết kiệm 99% năng lượng. Trước khi ngủ, nó cài một bộ </a:t>
            </a:r>
            <a:r>
              <a:rPr lang="vi-VN" sz="2400" b="1">
                <a:effectLst/>
              </a:rPr>
              <a:t>Low-power Timer</a:t>
            </a:r>
            <a:r>
              <a:rPr lang="vi-VN" sz="2400">
                <a:effectLst/>
              </a:rPr>
              <a:t> đóng vai trò như "đồng hồ báo thức". Ví dụ, cứ sau mỗi </a:t>
            </a:r>
            <a:r>
              <a:rPr lang="en-US" sz="2400">
                <a:effectLst/>
              </a:rPr>
              <a:t>5 phút </a:t>
            </a:r>
            <a:r>
              <a:rPr lang="vi-VN" sz="2400">
                <a:effectLst/>
              </a:rPr>
              <a:t>Timer này sẽ kích hoạt một dòng điện nhỏ để đánh thức CPU dậy đọc cảm biến, gửi dữ liệu lên internet trong 1 giây, rồi lại bắt CPU đi ngủ tiếp.</a:t>
            </a:r>
          </a:p>
        </p:txBody>
      </p:sp>
    </p:spTree>
    <p:extLst>
      <p:ext uri="{BB962C8B-B14F-4D97-AF65-F5344CB8AC3E}">
        <p14:creationId xmlns:p14="http://schemas.microsoft.com/office/powerpoint/2010/main" val="2649903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10210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D246FDE-524A-AC06-882E-A77A3709F223}"/>
              </a:ext>
            </a:extLst>
          </p:cNvPr>
          <p:cNvSpPr txBox="1"/>
          <p:nvPr/>
        </p:nvSpPr>
        <p:spPr>
          <a:xfrm>
            <a:off x="213360" y="2491967"/>
            <a:ext cx="17221200" cy="1569660"/>
          </a:xfrm>
          <a:prstGeom prst="rect">
            <a:avLst/>
          </a:prstGeom>
          <a:noFill/>
        </p:spPr>
        <p:txBody>
          <a:bodyPr wrap="square">
            <a:spAutoFit/>
          </a:bodyPr>
          <a:lstStyle/>
          <a:p>
            <a:r>
              <a:rPr lang="vi-VN" sz="2400" b="1">
                <a:effectLst/>
              </a:rPr>
              <a:t>3. Motor Control (Điều khiển động cơ bằng PWM)</a:t>
            </a:r>
          </a:p>
          <a:p>
            <a:pPr marL="342900" indent="-342900">
              <a:buFont typeface="Arial" panose="020B0604020202020204" pitchFamily="34" charset="0"/>
              <a:buChar char="•"/>
            </a:pPr>
            <a:r>
              <a:rPr lang="vi-VN" sz="2400" b="1">
                <a:effectLst/>
              </a:rPr>
              <a:t>Vấn đề thực tế (Ví dụ: Xe máy điện, Quạt điện tử, Robot hút bụi):</a:t>
            </a:r>
            <a:r>
              <a:rPr lang="vi-VN" sz="2400">
                <a:effectLst/>
              </a:rPr>
              <a:t> Làm sao để vặn tay ga thì xe chạy nhanh/chậm mượt mà? Nếu hạ điện áp bằng điện trở, dòng điện dư thừa sẽ biến thành nhiệt năng làm xe cực kỳ nóng và lãng phí pin.</a:t>
            </a:r>
          </a:p>
          <a:p>
            <a:pPr marL="342900" indent="-342900">
              <a:buFont typeface="Arial" panose="020B0604020202020204" pitchFamily="34" charset="0"/>
              <a:buChar char="•"/>
            </a:pPr>
            <a:r>
              <a:rPr lang="vi-VN" sz="2400" b="1">
                <a:effectLst/>
              </a:rPr>
              <a:t>Cách Timer giải quyết:</a:t>
            </a:r>
            <a:endParaRPr lang="vi-VN" sz="2400">
              <a:effectLst/>
            </a:endParaRPr>
          </a:p>
        </p:txBody>
      </p:sp>
      <p:pic>
        <p:nvPicPr>
          <p:cNvPr id="6" name="Picture 5">
            <a:extLst>
              <a:ext uri="{FF2B5EF4-FFF2-40B4-BE49-F238E27FC236}">
                <a16:creationId xmlns:a16="http://schemas.microsoft.com/office/drawing/2014/main" id="{48F061EB-55C8-D84C-388D-E664D1DAEF45}"/>
              </a:ext>
            </a:extLst>
          </p:cNvPr>
          <p:cNvPicPr>
            <a:picLocks noChangeAspect="1"/>
          </p:cNvPicPr>
          <p:nvPr/>
        </p:nvPicPr>
        <p:blipFill>
          <a:blip r:embed="rId3"/>
          <a:stretch>
            <a:fillRect/>
          </a:stretch>
        </p:blipFill>
        <p:spPr>
          <a:xfrm>
            <a:off x="4495800" y="4061627"/>
            <a:ext cx="9972675" cy="5648325"/>
          </a:xfrm>
          <a:prstGeom prst="rect">
            <a:avLst/>
          </a:prstGeom>
        </p:spPr>
      </p:pic>
    </p:spTree>
    <p:extLst>
      <p:ext uri="{BB962C8B-B14F-4D97-AF65-F5344CB8AC3E}">
        <p14:creationId xmlns:p14="http://schemas.microsoft.com/office/powerpoint/2010/main" val="2983366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10210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D246FDE-524A-AC06-882E-A77A3709F223}"/>
              </a:ext>
            </a:extLst>
          </p:cNvPr>
          <p:cNvSpPr txBox="1"/>
          <p:nvPr/>
        </p:nvSpPr>
        <p:spPr>
          <a:xfrm>
            <a:off x="213360" y="2491967"/>
            <a:ext cx="17221200" cy="1569660"/>
          </a:xfrm>
          <a:prstGeom prst="rect">
            <a:avLst/>
          </a:prstGeom>
          <a:noFill/>
        </p:spPr>
        <p:txBody>
          <a:bodyPr wrap="square">
            <a:spAutoFit/>
          </a:bodyPr>
          <a:lstStyle/>
          <a:p>
            <a:r>
              <a:rPr lang="vi-VN" sz="2400" b="1">
                <a:effectLst/>
              </a:rPr>
              <a:t>3. Motor Control (Điều khiển động cơ bằng PWM)</a:t>
            </a:r>
          </a:p>
          <a:p>
            <a:pPr marL="342900" indent="-342900">
              <a:buFont typeface="Arial" panose="020B0604020202020204" pitchFamily="34" charset="0"/>
              <a:buChar char="•"/>
            </a:pPr>
            <a:r>
              <a:rPr lang="vi-VN" sz="2400" b="1">
                <a:effectLst/>
              </a:rPr>
              <a:t>Vấn đề thực tế (Ví dụ: Xe máy điện, Quạt điện tử, Robot hút bụi):</a:t>
            </a:r>
            <a:r>
              <a:rPr lang="vi-VN" sz="2400">
                <a:effectLst/>
              </a:rPr>
              <a:t> Làm sao để vặn tay ga thì xe chạy nhanh/chậm mượt mà? Nếu hạ điện áp bằng điện trở, dòng điện dư thừa sẽ biến thành nhiệt năng làm xe cực kỳ nóng và lãng phí pin.</a:t>
            </a:r>
          </a:p>
          <a:p>
            <a:pPr marL="342900" indent="-342900">
              <a:buFont typeface="Arial" panose="020B0604020202020204" pitchFamily="34" charset="0"/>
              <a:buChar char="•"/>
            </a:pPr>
            <a:r>
              <a:rPr lang="vi-VN" sz="2400" b="1">
                <a:effectLst/>
              </a:rPr>
              <a:t>Cách Timer giải quyết:</a:t>
            </a:r>
            <a:endParaRPr lang="vi-VN" sz="2400">
              <a:effectLst/>
            </a:endParaRPr>
          </a:p>
        </p:txBody>
      </p:sp>
      <p:pic>
        <p:nvPicPr>
          <p:cNvPr id="6" name="Picture 5">
            <a:extLst>
              <a:ext uri="{FF2B5EF4-FFF2-40B4-BE49-F238E27FC236}">
                <a16:creationId xmlns:a16="http://schemas.microsoft.com/office/drawing/2014/main" id="{96DA0C4E-AEBE-EFBA-0471-7723BE3EE977}"/>
              </a:ext>
            </a:extLst>
          </p:cNvPr>
          <p:cNvPicPr>
            <a:picLocks noChangeAspect="1"/>
          </p:cNvPicPr>
          <p:nvPr/>
        </p:nvPicPr>
        <p:blipFill>
          <a:blip r:embed="rId3"/>
          <a:stretch>
            <a:fillRect/>
          </a:stretch>
        </p:blipFill>
        <p:spPr>
          <a:xfrm>
            <a:off x="4953000" y="3695700"/>
            <a:ext cx="8048625" cy="6213863"/>
          </a:xfrm>
          <a:prstGeom prst="rect">
            <a:avLst/>
          </a:prstGeom>
        </p:spPr>
      </p:pic>
    </p:spTree>
    <p:extLst>
      <p:ext uri="{BB962C8B-B14F-4D97-AF65-F5344CB8AC3E}">
        <p14:creationId xmlns:p14="http://schemas.microsoft.com/office/powerpoint/2010/main" val="1973738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10210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D246FDE-524A-AC06-882E-A77A3709F223}"/>
              </a:ext>
            </a:extLst>
          </p:cNvPr>
          <p:cNvSpPr txBox="1"/>
          <p:nvPr/>
        </p:nvSpPr>
        <p:spPr>
          <a:xfrm>
            <a:off x="213360" y="2491967"/>
            <a:ext cx="17221200" cy="3046988"/>
          </a:xfrm>
          <a:prstGeom prst="rect">
            <a:avLst/>
          </a:prstGeom>
          <a:noFill/>
        </p:spPr>
        <p:txBody>
          <a:bodyPr wrap="square">
            <a:spAutoFit/>
          </a:bodyPr>
          <a:lstStyle/>
          <a:p>
            <a:r>
              <a:rPr lang="vi-VN" sz="2400" b="1">
                <a:effectLst/>
              </a:rPr>
              <a:t>3. Motor Control (Điều khiển động cơ bằng PWM)</a:t>
            </a:r>
          </a:p>
          <a:p>
            <a:pPr marL="342900" indent="-342900">
              <a:buFont typeface="Arial" panose="020B0604020202020204" pitchFamily="34" charset="0"/>
              <a:buChar char="•"/>
            </a:pPr>
            <a:r>
              <a:rPr lang="vi-VN" sz="2400" b="1">
                <a:effectLst/>
              </a:rPr>
              <a:t>Vấn đề thực tế (Ví dụ: Xe máy điện, Quạt điện tử, Robot hút bụi):</a:t>
            </a:r>
            <a:r>
              <a:rPr lang="vi-VN" sz="2400">
                <a:effectLst/>
              </a:rPr>
              <a:t> Làm sao để vặn tay ga thì xe chạy nhanh/chậm mượt mà? Nếu hạ điện áp bằng điện trở, dòng điện dư thừa sẽ biến thành nhiệt năng làm xe cực kỳ nóng và lãng phí pin.</a:t>
            </a:r>
          </a:p>
          <a:p>
            <a:pPr marL="342900" indent="-342900">
              <a:buFont typeface="Arial" panose="020B0604020202020204" pitchFamily="34" charset="0"/>
              <a:buChar char="•"/>
            </a:pPr>
            <a:r>
              <a:rPr lang="vi-VN" sz="2400" b="1">
                <a:effectLst/>
              </a:rPr>
              <a:t>Cách Timer giải quyết:</a:t>
            </a:r>
            <a:r>
              <a:rPr lang="vi-VN" sz="2400">
                <a:effectLst/>
              </a:rPr>
              <a:t> Timer chuyển sang chế độ </a:t>
            </a:r>
            <a:r>
              <a:rPr lang="vi-VN" sz="2400" b="1">
                <a:effectLst/>
              </a:rPr>
              <a:t>PWM (Điều chế độ rộng xung)</a:t>
            </a:r>
            <a:r>
              <a:rPr lang="vi-VN" sz="2400">
                <a:effectLst/>
              </a:rPr>
              <a:t>. Nó đóng/ngắt dòng điện cấp vào động cơ với tốc độ siêu nhanh (ví dụ 20</a:t>
            </a:r>
            <a:r>
              <a:rPr lang="en-US" sz="2400">
                <a:effectLst/>
              </a:rPr>
              <a:t> </a:t>
            </a:r>
            <a:r>
              <a:rPr lang="vi-VN" sz="2400">
                <a:effectLst/>
              </a:rPr>
              <a:t>kHz</a:t>
            </a:r>
            <a:r>
              <a:rPr lang="en-US" sz="2400">
                <a:effectLst/>
              </a:rPr>
              <a:t> </a:t>
            </a:r>
            <a:r>
              <a:rPr lang="vi-VN" sz="2400">
                <a:effectLst/>
              </a:rPr>
              <a:t> - 20.000 lần/giây).</a:t>
            </a:r>
          </a:p>
          <a:p>
            <a:pPr marL="742950" lvl="1" indent="-285750">
              <a:buFont typeface="Arial" panose="020B0604020202020204" pitchFamily="34" charset="0"/>
              <a:buChar char="•"/>
            </a:pPr>
            <a:r>
              <a:rPr lang="vi-VN" sz="2400">
                <a:effectLst/>
              </a:rPr>
              <a:t>Nếu muốn xe chạy 50% công suất, Timer sẽ bật điện 50% thời gian và tắt điện 50% thời gian.</a:t>
            </a:r>
          </a:p>
          <a:p>
            <a:pPr marL="742950" lvl="1" indent="-285750">
              <a:buFont typeface="Arial" panose="020B0604020202020204" pitchFamily="34" charset="0"/>
              <a:buChar char="•"/>
            </a:pPr>
            <a:r>
              <a:rPr lang="vi-VN" sz="2400">
                <a:effectLst/>
              </a:rPr>
              <a:t>Quán tính của động cơ giúp nó quay đều mượt mà mà không hề bị giật cục, đồng thời tiết kiệm năng lượng tuyệt đối vì không có điện năng bị lãng phí thành nhiệt.</a:t>
            </a:r>
          </a:p>
        </p:txBody>
      </p:sp>
    </p:spTree>
    <p:extLst>
      <p:ext uri="{BB962C8B-B14F-4D97-AF65-F5344CB8AC3E}">
        <p14:creationId xmlns:p14="http://schemas.microsoft.com/office/powerpoint/2010/main" val="27280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10210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D246FDE-524A-AC06-882E-A77A3709F223}"/>
              </a:ext>
            </a:extLst>
          </p:cNvPr>
          <p:cNvSpPr txBox="1"/>
          <p:nvPr/>
        </p:nvSpPr>
        <p:spPr>
          <a:xfrm>
            <a:off x="213360" y="2491967"/>
            <a:ext cx="17221200" cy="2677656"/>
          </a:xfrm>
          <a:prstGeom prst="rect">
            <a:avLst/>
          </a:prstGeom>
          <a:noFill/>
        </p:spPr>
        <p:txBody>
          <a:bodyPr wrap="square">
            <a:spAutoFit/>
          </a:bodyPr>
          <a:lstStyle/>
          <a:p>
            <a:pPr>
              <a:lnSpc>
                <a:spcPct val="150000"/>
              </a:lnSpc>
            </a:pPr>
            <a:r>
              <a:rPr lang="vi-VN" sz="2400" b="1"/>
              <a:t>4. Communication Timing (Định thời trong giao tiếp UART, I2C, CAN Bus)</a:t>
            </a:r>
          </a:p>
          <a:p>
            <a:pPr marL="342900" indent="-342900">
              <a:lnSpc>
                <a:spcPct val="150000"/>
              </a:lnSpc>
              <a:buFont typeface="Arial" panose="020B0604020202020204" pitchFamily="34" charset="0"/>
              <a:buChar char="•"/>
            </a:pPr>
            <a:r>
              <a:rPr lang="vi-VN" sz="2400" b="1"/>
              <a:t>Vấn đề thực tế (Ví dụ: Hệ thống điều khiển trên Ô tô - ECU):</a:t>
            </a:r>
            <a:r>
              <a:rPr lang="vi-VN" sz="2400"/>
              <a:t> Khi các hộp đen trên ô tô truyền dữ liệu cho nhau qua dây dẫn, chúng truyền bằng các chuỗi bit 0 và 1 ở dạng xung điện. Nếu bên gửi và bên nhận không trùng khớp hoàn toàn về mặt thời gian, dữ liệu sẽ bị biến dạng (lỗi Baudrate) khiến xe không hiểu được lệnh phanh hay nhấn ga.</a:t>
            </a:r>
          </a:p>
          <a:p>
            <a:endParaRPr lang="vi-VN" sz="2400">
              <a:effectLst/>
              <a:latin typeface="Google Sans Text"/>
            </a:endParaRPr>
          </a:p>
        </p:txBody>
      </p:sp>
      <p:pic>
        <p:nvPicPr>
          <p:cNvPr id="6" name="Picture 5">
            <a:extLst>
              <a:ext uri="{FF2B5EF4-FFF2-40B4-BE49-F238E27FC236}">
                <a16:creationId xmlns:a16="http://schemas.microsoft.com/office/drawing/2014/main" id="{61EB23F2-D5C1-193C-4A4A-308E8E6410F4}"/>
              </a:ext>
            </a:extLst>
          </p:cNvPr>
          <p:cNvPicPr>
            <a:picLocks noChangeAspect="1"/>
          </p:cNvPicPr>
          <p:nvPr/>
        </p:nvPicPr>
        <p:blipFill>
          <a:blip r:embed="rId3"/>
          <a:stretch>
            <a:fillRect/>
          </a:stretch>
        </p:blipFill>
        <p:spPr>
          <a:xfrm>
            <a:off x="3581400" y="4991100"/>
            <a:ext cx="12016861" cy="5091113"/>
          </a:xfrm>
          <a:prstGeom prst="rect">
            <a:avLst/>
          </a:prstGeom>
        </p:spPr>
      </p:pic>
    </p:spTree>
    <p:extLst>
      <p:ext uri="{BB962C8B-B14F-4D97-AF65-F5344CB8AC3E}">
        <p14:creationId xmlns:p14="http://schemas.microsoft.com/office/powerpoint/2010/main" val="1123946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443DCF2-4502-98BE-75E7-971B812E5B98}"/>
              </a:ext>
            </a:extLst>
          </p:cNvPr>
          <p:cNvPicPr>
            <a:picLocks noChangeAspect="1"/>
          </p:cNvPicPr>
          <p:nvPr/>
        </p:nvPicPr>
        <p:blipFill>
          <a:blip r:embed="rId3"/>
          <a:stretch>
            <a:fillRect/>
          </a:stretch>
        </p:blipFill>
        <p:spPr>
          <a:xfrm>
            <a:off x="4876800" y="4654449"/>
            <a:ext cx="8938141" cy="5632551"/>
          </a:xfrm>
          <a:prstGeom prst="rect">
            <a:avLst/>
          </a:prstGeom>
        </p:spPr>
      </p:pic>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10210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D246FDE-524A-AC06-882E-A77A3709F223}"/>
              </a:ext>
            </a:extLst>
          </p:cNvPr>
          <p:cNvSpPr txBox="1"/>
          <p:nvPr/>
        </p:nvSpPr>
        <p:spPr>
          <a:xfrm>
            <a:off x="213360" y="2491967"/>
            <a:ext cx="17221200" cy="2677656"/>
          </a:xfrm>
          <a:prstGeom prst="rect">
            <a:avLst/>
          </a:prstGeom>
          <a:noFill/>
        </p:spPr>
        <p:txBody>
          <a:bodyPr wrap="square">
            <a:spAutoFit/>
          </a:bodyPr>
          <a:lstStyle/>
          <a:p>
            <a:pPr>
              <a:lnSpc>
                <a:spcPct val="150000"/>
              </a:lnSpc>
            </a:pPr>
            <a:r>
              <a:rPr lang="vi-VN" sz="2400" b="1"/>
              <a:t>4. Communication Timing (Định thời trong giao tiếp UART, I2C, CAN Bus)</a:t>
            </a:r>
          </a:p>
          <a:p>
            <a:pPr marL="342900" indent="-342900">
              <a:lnSpc>
                <a:spcPct val="150000"/>
              </a:lnSpc>
              <a:buFont typeface="Arial" panose="020B0604020202020204" pitchFamily="34" charset="0"/>
              <a:buChar char="•"/>
            </a:pPr>
            <a:r>
              <a:rPr lang="vi-VN" sz="2400" b="1"/>
              <a:t>Vấn đề thực tế (Ví dụ: Hệ thống điều khiển trên Ô tô - ECU):</a:t>
            </a:r>
            <a:r>
              <a:rPr lang="vi-VN" sz="2400"/>
              <a:t> Khi các hộp đen trên ô tô truyền dữ liệu cho nhau qua dây dẫn, chúng truyền bằng các chuỗi bit 0 và 1 ở dạng xung điện. Nếu bên gửi và bên nhận không trùng khớp hoàn toàn về mặt thời gian, dữ liệu sẽ bị biến dạng (lỗi Baudrate) khiến xe không hiểu được lệnh phanh hay nhấn ga.</a:t>
            </a:r>
          </a:p>
          <a:p>
            <a:endParaRPr lang="vi-VN" sz="2400">
              <a:effectLst/>
              <a:latin typeface="Google Sans Text"/>
            </a:endParaRPr>
          </a:p>
        </p:txBody>
      </p:sp>
    </p:spTree>
    <p:extLst>
      <p:ext uri="{BB962C8B-B14F-4D97-AF65-F5344CB8AC3E}">
        <p14:creationId xmlns:p14="http://schemas.microsoft.com/office/powerpoint/2010/main" val="21510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10210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D246FDE-524A-AC06-882E-A77A3709F223}"/>
              </a:ext>
            </a:extLst>
          </p:cNvPr>
          <p:cNvSpPr txBox="1"/>
          <p:nvPr/>
        </p:nvSpPr>
        <p:spPr>
          <a:xfrm>
            <a:off x="213360" y="2491967"/>
            <a:ext cx="17221200" cy="3231654"/>
          </a:xfrm>
          <a:prstGeom prst="rect">
            <a:avLst/>
          </a:prstGeom>
          <a:noFill/>
        </p:spPr>
        <p:txBody>
          <a:bodyPr wrap="square">
            <a:spAutoFit/>
          </a:bodyPr>
          <a:lstStyle/>
          <a:p>
            <a:pPr>
              <a:lnSpc>
                <a:spcPct val="150000"/>
              </a:lnSpc>
            </a:pPr>
            <a:r>
              <a:rPr lang="vi-VN" sz="2400" b="1"/>
              <a:t>4. Communication Timing (Định thời trong giao tiếp UART, I2C, CAN Bus)</a:t>
            </a:r>
          </a:p>
          <a:p>
            <a:pPr marL="342900" indent="-342900">
              <a:lnSpc>
                <a:spcPct val="150000"/>
              </a:lnSpc>
              <a:buFont typeface="Arial" panose="020B0604020202020204" pitchFamily="34" charset="0"/>
              <a:buChar char="•"/>
            </a:pPr>
            <a:r>
              <a:rPr lang="vi-VN" sz="2400" b="1"/>
              <a:t>Vấn đề thực tế (Ví dụ: Hệ thống điều khiển trên Ô tô - ECU):</a:t>
            </a:r>
            <a:r>
              <a:rPr lang="vi-VN" sz="2400"/>
              <a:t> Khi các hộp đen trên ô tô truyền dữ liệu cho nhau qua dây dẫn, chúng truyền bằng các chuỗi bit 0 và 1 ở dạng xung điện. Nếu bên gửi và bên nhận không trùng khớp hoàn toàn về mặt thời gian, dữ liệu sẽ bị biến dạng (lỗi Baudrate) khiến xe không hiểu được lệnh phanh hay nhấn ga.</a:t>
            </a:r>
          </a:p>
          <a:p>
            <a:pPr marL="342900" indent="-342900">
              <a:lnSpc>
                <a:spcPct val="150000"/>
              </a:lnSpc>
              <a:buFont typeface="Arial" panose="020B0604020202020204" pitchFamily="34" charset="0"/>
              <a:buChar char="•"/>
            </a:pPr>
            <a:r>
              <a:rPr lang="vi-VN" sz="2400" b="1"/>
              <a:t>Cách Timer giải quyết:</a:t>
            </a:r>
            <a:endParaRPr lang="vi-VN" sz="2400"/>
          </a:p>
          <a:p>
            <a:endParaRPr lang="vi-VN" sz="2400">
              <a:effectLst/>
              <a:latin typeface="Google Sans Text"/>
            </a:endParaRPr>
          </a:p>
        </p:txBody>
      </p:sp>
      <p:pic>
        <p:nvPicPr>
          <p:cNvPr id="6" name="Picture 5">
            <a:extLst>
              <a:ext uri="{FF2B5EF4-FFF2-40B4-BE49-F238E27FC236}">
                <a16:creationId xmlns:a16="http://schemas.microsoft.com/office/drawing/2014/main" id="{A39899EF-3845-7C5F-C83A-8A487695FEC0}"/>
              </a:ext>
            </a:extLst>
          </p:cNvPr>
          <p:cNvPicPr>
            <a:picLocks noChangeAspect="1"/>
          </p:cNvPicPr>
          <p:nvPr/>
        </p:nvPicPr>
        <p:blipFill>
          <a:blip r:embed="rId3"/>
          <a:stretch>
            <a:fillRect/>
          </a:stretch>
        </p:blipFill>
        <p:spPr>
          <a:xfrm>
            <a:off x="4572000" y="5143500"/>
            <a:ext cx="10699646" cy="4876800"/>
          </a:xfrm>
          <a:prstGeom prst="rect">
            <a:avLst/>
          </a:prstGeom>
        </p:spPr>
      </p:pic>
    </p:spTree>
    <p:extLst>
      <p:ext uri="{BB962C8B-B14F-4D97-AF65-F5344CB8AC3E}">
        <p14:creationId xmlns:p14="http://schemas.microsoft.com/office/powerpoint/2010/main" val="3763189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10210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D246FDE-524A-AC06-882E-A77A3709F223}"/>
              </a:ext>
            </a:extLst>
          </p:cNvPr>
          <p:cNvSpPr txBox="1"/>
          <p:nvPr/>
        </p:nvSpPr>
        <p:spPr>
          <a:xfrm>
            <a:off x="213360" y="2491967"/>
            <a:ext cx="17221200" cy="4339650"/>
          </a:xfrm>
          <a:prstGeom prst="rect">
            <a:avLst/>
          </a:prstGeom>
          <a:noFill/>
        </p:spPr>
        <p:txBody>
          <a:bodyPr wrap="square">
            <a:spAutoFit/>
          </a:bodyPr>
          <a:lstStyle/>
          <a:p>
            <a:pPr>
              <a:lnSpc>
                <a:spcPct val="150000"/>
              </a:lnSpc>
            </a:pPr>
            <a:r>
              <a:rPr lang="vi-VN" sz="2400" b="1"/>
              <a:t>4. Communication Timing (Định thời trong giao tiếp UART, I2C, CAN Bus)</a:t>
            </a:r>
          </a:p>
          <a:p>
            <a:pPr marL="342900" indent="-342900">
              <a:lnSpc>
                <a:spcPct val="150000"/>
              </a:lnSpc>
              <a:buFont typeface="Arial" panose="020B0604020202020204" pitchFamily="34" charset="0"/>
              <a:buChar char="•"/>
            </a:pPr>
            <a:r>
              <a:rPr lang="vi-VN" sz="2400" b="1"/>
              <a:t>Vấn đề thực tế (Ví dụ: Hệ thống điều khiển trên Ô tô - ECU):</a:t>
            </a:r>
            <a:r>
              <a:rPr lang="vi-VN" sz="2400"/>
              <a:t> Khi các hộp đen trên ô tô truyền dữ liệu cho nhau qua dây dẫn, chúng truyền bằng các chuỗi bit 0 và 1 ở dạng xung điện. Nếu bên gửi và bên nhận không trùng khớp hoàn toàn về mặt thời gian, dữ liệu sẽ bị biến dạng (lỗi Baudrate) khiến xe không hiểu được lệnh phanh hay nhấn ga.</a:t>
            </a:r>
          </a:p>
          <a:p>
            <a:pPr marL="342900" indent="-342900">
              <a:lnSpc>
                <a:spcPct val="150000"/>
              </a:lnSpc>
              <a:buFont typeface="Arial" panose="020B0604020202020204" pitchFamily="34" charset="0"/>
              <a:buChar char="•"/>
            </a:pPr>
            <a:r>
              <a:rPr lang="vi-VN" sz="2400" b="1"/>
              <a:t>Cách Timer giải quyết:</a:t>
            </a:r>
            <a:r>
              <a:rPr lang="vi-VN" sz="2400"/>
              <a:t> Timer được dùng làm </a:t>
            </a:r>
            <a:r>
              <a:rPr lang="vi-VN" sz="2400" b="1"/>
              <a:t>Baudrate Generator</a:t>
            </a:r>
            <a:r>
              <a:rPr lang="vi-VN" sz="2400"/>
              <a:t> (Bộ tạo tốc độ bit). Nó băm nhỏ thời gian thành các khoảng cực kỳ bằng nhau để chip biết chính xác khi nào thì cần "mở cửa" đọc một bit điện áp, đảm bảo việc truyền nhận dữ liệu không bị lệch pha dù chỉ một nano-giây.</a:t>
            </a:r>
          </a:p>
          <a:p>
            <a:endParaRPr lang="vi-VN" sz="2400">
              <a:effectLst/>
              <a:latin typeface="Google Sans Text"/>
            </a:endParaRPr>
          </a:p>
        </p:txBody>
      </p:sp>
    </p:spTree>
    <p:extLst>
      <p:ext uri="{BB962C8B-B14F-4D97-AF65-F5344CB8AC3E}">
        <p14:creationId xmlns:p14="http://schemas.microsoft.com/office/powerpoint/2010/main" val="795051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97C7-E531-DFDA-3EDA-3C3A7E15C32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DA266E-63A3-495A-5A17-EC216B4777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4151D4F-C688-A26F-D8FD-11F2D241470C}"/>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280331E-B837-88EE-E7E0-9AF51FA404D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89B4E4-75B8-457E-A105-1F2A067293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037649A-8ADB-1778-31ED-410815CB5B94}"/>
              </a:ext>
            </a:extLst>
          </p:cNvPr>
          <p:cNvSpPr txBox="1"/>
          <p:nvPr/>
        </p:nvSpPr>
        <p:spPr>
          <a:xfrm>
            <a:off x="228600" y="1209620"/>
            <a:ext cx="10210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Timer giải quyết vấn đề gì trong các sản phẩm </a:t>
            </a:r>
            <a:endParaRPr lang="en-US" sz="36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D246FDE-524A-AC06-882E-A77A3709F223}"/>
              </a:ext>
            </a:extLst>
          </p:cNvPr>
          <p:cNvSpPr txBox="1"/>
          <p:nvPr/>
        </p:nvSpPr>
        <p:spPr>
          <a:xfrm>
            <a:off x="213360" y="2491967"/>
            <a:ext cx="17221200" cy="4893647"/>
          </a:xfrm>
          <a:prstGeom prst="rect">
            <a:avLst/>
          </a:prstGeom>
          <a:noFill/>
        </p:spPr>
        <p:txBody>
          <a:bodyPr wrap="square">
            <a:spAutoFit/>
          </a:bodyPr>
          <a:lstStyle/>
          <a:p>
            <a:pPr>
              <a:lnSpc>
                <a:spcPct val="150000"/>
              </a:lnSpc>
            </a:pPr>
            <a:r>
              <a:rPr lang="en-US" sz="2400" b="1"/>
              <a:t>5</a:t>
            </a:r>
            <a:r>
              <a:rPr lang="vi-VN" sz="2400" b="1"/>
              <a:t>. Watchdog Timer (Vệ sĩ chống treo hệ thống)</a:t>
            </a:r>
          </a:p>
          <a:p>
            <a:pPr marL="342900" indent="-342900">
              <a:lnSpc>
                <a:spcPct val="150000"/>
              </a:lnSpc>
              <a:buFont typeface="Arial" panose="020B0604020202020204" pitchFamily="34" charset="0"/>
              <a:buChar char="•"/>
            </a:pPr>
            <a:r>
              <a:rPr lang="vi-VN" sz="2400" b="1"/>
              <a:t>Vấn đề thực tế (Ví dụ: Camera giám sát lắp trên cột điện cao, Router Wi-Fi):</a:t>
            </a:r>
            <a:r>
              <a:rPr lang="vi-VN" sz="2400"/>
              <a:t> Thiết bị chạy liên tục 24/7 ngoài thực tế sẽ có lúc bị xung đột phần mềm, nhiễu điện từ dẫn đến hiện tượng "đơ" hoặc treo máy. Không thể bắt con người lúc nào cũng chạy đến rút điện cắm lại.</a:t>
            </a:r>
          </a:p>
          <a:p>
            <a:pPr marL="342900" indent="-342900">
              <a:lnSpc>
                <a:spcPct val="150000"/>
              </a:lnSpc>
              <a:buFont typeface="Arial" panose="020B0604020202020204" pitchFamily="34" charset="0"/>
              <a:buChar char="•"/>
            </a:pPr>
            <a:r>
              <a:rPr lang="vi-VN" sz="2400" b="1"/>
              <a:t>Cách Timer giải quyết:</a:t>
            </a:r>
            <a:r>
              <a:rPr lang="vi-VN" sz="2400"/>
              <a:t> </a:t>
            </a:r>
            <a:r>
              <a:rPr lang="vi-VN" sz="2400" b="1"/>
              <a:t>Watchdog Timer</a:t>
            </a:r>
            <a:r>
              <a:rPr lang="vi-VN" sz="2400"/>
              <a:t> hoạt động độc lập như một quả bom hẹn giờ (ví dụ 2 giây). Khi phần mềm hoạt động bình thường, code sẽ liên tục reset bộ đếm này về 0. Nếu phần mềm bị treo, nó không reset được nữa, Watchdog Timer sẽ đếm tràn và ngay lập tức </a:t>
            </a:r>
            <a:r>
              <a:rPr lang="vi-VN" sz="2400" b="1"/>
              <a:t>tự động ép chip khởi động lại (Reset)</a:t>
            </a:r>
            <a:r>
              <a:rPr lang="vi-VN" sz="2400"/>
              <a:t>. Thiết bị tự "hồi sinh" mà người dùng không hề hay biết.</a:t>
            </a:r>
          </a:p>
          <a:p>
            <a:endParaRPr lang="vi-VN" sz="2400">
              <a:effectLst/>
              <a:latin typeface="Google Sans Text"/>
            </a:endParaRPr>
          </a:p>
        </p:txBody>
      </p:sp>
    </p:spTree>
    <p:extLst>
      <p:ext uri="{BB962C8B-B14F-4D97-AF65-F5344CB8AC3E}">
        <p14:creationId xmlns:p14="http://schemas.microsoft.com/office/powerpoint/2010/main" val="3638395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45141" y="2113071"/>
            <a:ext cx="15791329" cy="7237046"/>
          </a:xfrm>
          <a:prstGeom prst="rect">
            <a:avLst/>
          </a:prstGeom>
          <a:noFill/>
        </p:spPr>
        <p:txBody>
          <a:bodyPr wrap="square">
            <a:spAutoFit/>
          </a:bodyPr>
          <a:lstStyle/>
          <a:p>
            <a:pPr>
              <a:lnSpc>
                <a:spcPct val="150000"/>
              </a:lnSpc>
            </a:pPr>
            <a:r>
              <a:rPr lang="vi-VN" sz="2400" b="1">
                <a:effectLst/>
                <a:latin typeface="Google Sans"/>
              </a:rPr>
              <a:t>1. Basic Timer (Timer cơ bản)</a:t>
            </a:r>
          </a:p>
          <a:p>
            <a:pPr>
              <a:lnSpc>
                <a:spcPct val="150000"/>
              </a:lnSpc>
            </a:pPr>
            <a:r>
              <a:rPr lang="vi-VN" sz="2400" i="1">
                <a:effectLst/>
                <a:latin typeface="Google Sans Text"/>
              </a:rPr>
              <a:t>Đây là loại Timer đơn giản nhất, thiết kế tối giản để tiết kiệm không gian chip.</a:t>
            </a:r>
            <a:endParaRPr lang="vi-VN" sz="2400">
              <a:effectLst/>
              <a:latin typeface="Google Sans Text"/>
            </a:endParaRPr>
          </a:p>
          <a:p>
            <a:pPr>
              <a:lnSpc>
                <a:spcPct val="150000"/>
              </a:lnSpc>
              <a:buFont typeface="Arial" panose="020B0604020202020204" pitchFamily="34" charset="0"/>
              <a:buChar char="•"/>
            </a:pPr>
            <a:r>
              <a:rPr lang="vi-VN" sz="2400" b="1">
                <a:effectLst/>
                <a:latin typeface="Google Sans Text"/>
              </a:rPr>
              <a:t>Đặc điểm:</a:t>
            </a:r>
            <a:r>
              <a:rPr lang="vi-VN" sz="2400">
                <a:effectLst/>
                <a:latin typeface="Google Sans Text"/>
              </a:rPr>
              <a:t> * Thường là bộ đếm 16-bit.</a:t>
            </a:r>
          </a:p>
          <a:p>
            <a:pPr marL="742950" lvl="1" indent="-285750">
              <a:lnSpc>
                <a:spcPct val="150000"/>
              </a:lnSpc>
              <a:buFont typeface="Arial" panose="020B0604020202020204" pitchFamily="34" charset="0"/>
              <a:buChar char="•"/>
            </a:pPr>
            <a:r>
              <a:rPr lang="vi-VN" sz="2400" b="1">
                <a:effectLst/>
                <a:latin typeface="Google Sans Text"/>
              </a:rPr>
              <a:t>Không có chân kết nối vật lý (GPIO)</a:t>
            </a:r>
            <a:r>
              <a:rPr lang="vi-VN" sz="2400">
                <a:effectLst/>
                <a:latin typeface="Google Sans Text"/>
              </a:rPr>
              <a:t> ra thế giới bên ngoài.</a:t>
            </a:r>
          </a:p>
          <a:p>
            <a:pPr marL="742950" lvl="1" indent="-285750">
              <a:lnSpc>
                <a:spcPct val="150000"/>
              </a:lnSpc>
              <a:buFont typeface="Arial" panose="020B0604020202020204" pitchFamily="34" charset="0"/>
              <a:buChar char="•"/>
            </a:pPr>
            <a:r>
              <a:rPr lang="vi-VN" sz="2400">
                <a:effectLst/>
                <a:latin typeface="Google Sans Text"/>
              </a:rPr>
              <a:t>Không có các bộ điều chế hay bộ bắt tín hiệu ngõ vào.</a:t>
            </a:r>
          </a:p>
          <a:p>
            <a:pPr>
              <a:lnSpc>
                <a:spcPct val="150000"/>
              </a:lnSpc>
              <a:buFont typeface="Arial" panose="020B0604020202020204" pitchFamily="34" charset="0"/>
              <a:buChar char="•"/>
            </a:pPr>
            <a:r>
              <a:rPr lang="vi-VN" sz="2400" b="1">
                <a:effectLst/>
                <a:latin typeface="Google Sans Text"/>
              </a:rPr>
              <a:t>Chức năng chính:</a:t>
            </a:r>
            <a:endParaRPr lang="vi-VN" sz="2400">
              <a:effectLst/>
              <a:latin typeface="Google Sans Text"/>
            </a:endParaRPr>
          </a:p>
          <a:p>
            <a:pPr marL="742950" lvl="1" indent="-285750">
              <a:lnSpc>
                <a:spcPct val="150000"/>
              </a:lnSpc>
              <a:buFont typeface="Arial" panose="020B0604020202020204" pitchFamily="34" charset="0"/>
              <a:buChar char="•"/>
            </a:pPr>
            <a:r>
              <a:rPr lang="vi-VN" sz="2400">
                <a:effectLst/>
                <a:latin typeface="Google Sans Text"/>
              </a:rPr>
              <a:t>Đếm xung nhịp nội bộ của chip, tự động nạp lại giá trị đếm khi bị tràn (Auto-reload).</a:t>
            </a:r>
          </a:p>
          <a:p>
            <a:pPr marL="742950" lvl="1" indent="-285750">
              <a:lnSpc>
                <a:spcPct val="150000"/>
              </a:lnSpc>
              <a:buFont typeface="Arial" panose="020B0604020202020204" pitchFamily="34" charset="0"/>
              <a:buChar char="•"/>
            </a:pPr>
            <a:r>
              <a:rPr lang="vi-VN" sz="2400">
                <a:effectLst/>
                <a:latin typeface="Google Sans Text"/>
              </a:rPr>
              <a:t>Tạo ra các ngắt định kỳ (Update Interrupt).</a:t>
            </a:r>
          </a:p>
          <a:p>
            <a:pPr marL="742950" lvl="1" indent="-285750">
              <a:lnSpc>
                <a:spcPct val="150000"/>
              </a:lnSpc>
              <a:buFont typeface="Arial" panose="020B0604020202020204" pitchFamily="34" charset="0"/>
              <a:buChar char="•"/>
            </a:pPr>
            <a:r>
              <a:rPr lang="vi-VN" sz="2400">
                <a:effectLst/>
                <a:latin typeface="Google Sans Text"/>
              </a:rPr>
              <a:t>Kích hoạt ngầm (Trigger) cho các ngoại vi khác như bộ chuyển đổi DAC hoặc ADC.</a:t>
            </a:r>
          </a:p>
          <a:p>
            <a:pPr>
              <a:lnSpc>
                <a:spcPct val="150000"/>
              </a:lnSpc>
              <a:buFont typeface="Arial" panose="020B0604020202020204" pitchFamily="34" charset="0"/>
              <a:buChar char="•"/>
            </a:pPr>
            <a:r>
              <a:rPr lang="vi-VN" sz="2400" b="1">
                <a:effectLst/>
                <a:latin typeface="Google Sans Text"/>
              </a:rPr>
              <a:t>Dùng khi nào?</a:t>
            </a:r>
            <a:endParaRPr lang="vi-VN" sz="2400">
              <a:effectLst/>
              <a:latin typeface="Google Sans Text"/>
            </a:endParaRPr>
          </a:p>
          <a:p>
            <a:pPr marL="742950" lvl="1" indent="-285750">
              <a:lnSpc>
                <a:spcPct val="150000"/>
              </a:lnSpc>
              <a:buFont typeface="Arial" panose="020B0604020202020204" pitchFamily="34" charset="0"/>
              <a:buChar char="•"/>
            </a:pPr>
            <a:r>
              <a:rPr lang="vi-VN" sz="2400">
                <a:effectLst/>
                <a:latin typeface="Google Sans Text"/>
              </a:rPr>
              <a:t>Khi bạn chỉ cần tạo một vòng lặp thời gian chính xác (Ví dụ: Cứ đúng </a:t>
            </a:r>
            <a:r>
              <a:rPr lang="en-US" sz="2400">
                <a:effectLst/>
                <a:latin typeface="Google Sans Text"/>
              </a:rPr>
              <a:t>10 ms </a:t>
            </a:r>
            <a:r>
              <a:rPr lang="vi-VN" sz="2400">
                <a:effectLst/>
                <a:latin typeface="Google Sans Text"/>
              </a:rPr>
              <a:t>thì nhảy vào đọc cảm biến một lần).</a:t>
            </a:r>
          </a:p>
          <a:p>
            <a:pPr marL="742950" lvl="1" indent="-285750">
              <a:lnSpc>
                <a:spcPct val="150000"/>
              </a:lnSpc>
              <a:buFont typeface="Arial" panose="020B0604020202020204" pitchFamily="34" charset="0"/>
              <a:buChar char="•"/>
            </a:pPr>
            <a:r>
              <a:rPr lang="vi-VN" sz="2400">
                <a:effectLst/>
                <a:latin typeface="Google Sans Text"/>
              </a:rPr>
              <a:t>Nhấp nháy LED, quét ma trận phím </a:t>
            </a:r>
            <a:endParaRPr lang="en-US" sz="2400">
              <a:effectLst/>
              <a:latin typeface="Google Sans Text"/>
            </a:endParaRPr>
          </a:p>
          <a:p>
            <a:pPr marL="742950" lvl="1" indent="-285750">
              <a:lnSpc>
                <a:spcPct val="150000"/>
              </a:lnSpc>
              <a:buFont typeface="Arial" panose="020B0604020202020204" pitchFamily="34" charset="0"/>
              <a:buChar char="•"/>
            </a:pPr>
            <a:r>
              <a:rPr lang="vi-VN" sz="2400" i="1">
                <a:effectLst/>
                <a:latin typeface="Google Sans Text"/>
              </a:rPr>
              <a:t>Trong dòng STM32:</a:t>
            </a:r>
            <a:r>
              <a:rPr lang="vi-VN" sz="2400">
                <a:effectLst/>
                <a:latin typeface="Google Sans Text"/>
              </a:rPr>
              <a:t> Chính là bộ </a:t>
            </a:r>
            <a:r>
              <a:rPr lang="vi-VN" sz="2400" b="1">
                <a:effectLst/>
                <a:latin typeface="Google Sans Text"/>
              </a:rPr>
              <a:t>TIM6</a:t>
            </a:r>
            <a:r>
              <a:rPr lang="vi-VN" sz="2400">
                <a:effectLst/>
                <a:latin typeface="Google Sans Text"/>
              </a:rPr>
              <a:t> và </a:t>
            </a:r>
            <a:r>
              <a:rPr lang="vi-VN" sz="2400" b="1">
                <a:effectLst/>
                <a:latin typeface="Google Sans Text"/>
              </a:rPr>
              <a:t>TIM7</a:t>
            </a:r>
            <a:r>
              <a:rPr lang="vi-VN" sz="2400">
                <a:effectLst/>
                <a:latin typeface="Google Sans Text"/>
              </a:rPr>
              <a:t>.</a:t>
            </a:r>
          </a:p>
        </p:txBody>
      </p:sp>
    </p:spTree>
    <p:extLst>
      <p:ext uri="{BB962C8B-B14F-4D97-AF65-F5344CB8AC3E}">
        <p14:creationId xmlns:p14="http://schemas.microsoft.com/office/powerpoint/2010/main" val="2102602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72035" y="1958885"/>
            <a:ext cx="16929847" cy="8154861"/>
          </a:xfrm>
          <a:prstGeom prst="rect">
            <a:avLst/>
          </a:prstGeom>
          <a:noFill/>
        </p:spPr>
        <p:txBody>
          <a:bodyPr wrap="square">
            <a:spAutoFit/>
          </a:bodyPr>
          <a:lstStyle/>
          <a:p>
            <a:pPr>
              <a:lnSpc>
                <a:spcPct val="150000"/>
              </a:lnSpc>
            </a:pPr>
            <a:r>
              <a:rPr lang="vi-VN" sz="2200" b="1"/>
              <a:t>2. General-Purpose Timer (GPT - Timer đa năng)</a:t>
            </a:r>
          </a:p>
          <a:p>
            <a:pPr>
              <a:lnSpc>
                <a:spcPct val="150000"/>
              </a:lnSpc>
            </a:pPr>
            <a:r>
              <a:rPr lang="vi-VN" sz="2200" i="1"/>
              <a:t>Đây là "ngựa chiến" phổ biến nhất trong mọi hệ thống nhúng. Thuật ngữ </a:t>
            </a:r>
            <a:r>
              <a:rPr lang="vi-VN" sz="2200" b="1" i="1"/>
              <a:t>GPT</a:t>
            </a:r>
            <a:r>
              <a:rPr lang="vi-VN" sz="2200" i="1"/>
              <a:t> (General-Purpose Timer) được dùng chung trong ngành nhúng (như NXP, TI, AVR) và tương đương với các bộ Timer đa năng của STM32.</a:t>
            </a:r>
            <a:endParaRPr lang="vi-VN" sz="2200"/>
          </a:p>
          <a:p>
            <a:pPr>
              <a:lnSpc>
                <a:spcPct val="150000"/>
              </a:lnSpc>
              <a:buFont typeface="Arial" panose="020B0604020202020204" pitchFamily="34" charset="0"/>
              <a:buChar char="•"/>
            </a:pPr>
            <a:r>
              <a:rPr lang="en-US" sz="2200" b="1"/>
              <a:t> </a:t>
            </a:r>
            <a:r>
              <a:rPr lang="vi-VN" sz="2200" b="1"/>
              <a:t>Đặc điểm:</a:t>
            </a:r>
            <a:r>
              <a:rPr lang="vi-VN" sz="2200"/>
              <a:t> * Có cấu trúc 16-bit hoặc 32-bit.</a:t>
            </a:r>
          </a:p>
          <a:p>
            <a:pPr marL="742950" lvl="1" indent="-285750">
              <a:lnSpc>
                <a:spcPct val="150000"/>
              </a:lnSpc>
              <a:buFont typeface="Arial" panose="020B0604020202020204" pitchFamily="34" charset="0"/>
              <a:buChar char="•"/>
            </a:pPr>
            <a:r>
              <a:rPr lang="vi-VN" sz="2200" b="1"/>
              <a:t>Có các kênh (Channels) kết nối trực tiếp với chân GPIO bên ngoài.</a:t>
            </a:r>
            <a:endParaRPr lang="vi-VN" sz="2200"/>
          </a:p>
          <a:p>
            <a:pPr marL="742950" lvl="1" indent="-285750">
              <a:lnSpc>
                <a:spcPct val="150000"/>
              </a:lnSpc>
              <a:buFont typeface="Arial" panose="020B0604020202020204" pitchFamily="34" charset="0"/>
              <a:buChar char="•"/>
            </a:pPr>
            <a:r>
              <a:rPr lang="vi-VN" sz="2200"/>
              <a:t>Hỗ trợ đếm tiến (Up-counting), đếm lùi (Down-counting) hoặc đếm trung tâm (Center-aligned).</a:t>
            </a:r>
          </a:p>
          <a:p>
            <a:pPr>
              <a:lnSpc>
                <a:spcPct val="150000"/>
              </a:lnSpc>
              <a:buFont typeface="Arial" panose="020B0604020202020204" pitchFamily="34" charset="0"/>
              <a:buChar char="•"/>
            </a:pPr>
            <a:r>
              <a:rPr lang="en-US" sz="2200" b="1"/>
              <a:t> </a:t>
            </a:r>
            <a:r>
              <a:rPr lang="vi-VN" sz="2200" b="1"/>
              <a:t>Chức năng chính:</a:t>
            </a:r>
            <a:endParaRPr lang="vi-VN" sz="2200"/>
          </a:p>
          <a:p>
            <a:pPr marL="742950" lvl="1" indent="-285750">
              <a:lnSpc>
                <a:spcPct val="150000"/>
              </a:lnSpc>
              <a:buFont typeface="Arial" panose="020B0604020202020204" pitchFamily="34" charset="0"/>
              <a:buChar char="•"/>
            </a:pPr>
            <a:r>
              <a:rPr lang="vi-VN" sz="2200" b="1"/>
              <a:t>Input Capture (Bắt tín hiệu ngõ vào):</a:t>
            </a:r>
            <a:r>
              <a:rPr lang="vi-VN" sz="2200"/>
              <a:t> Chụp lại thời gian khi có xung bên ngoài kích vào chân chip.</a:t>
            </a:r>
          </a:p>
          <a:p>
            <a:pPr marL="742950" lvl="1" indent="-285750">
              <a:lnSpc>
                <a:spcPct val="150000"/>
              </a:lnSpc>
              <a:buFont typeface="Arial" panose="020B0604020202020204" pitchFamily="34" charset="0"/>
              <a:buChar char="•"/>
            </a:pPr>
            <a:r>
              <a:rPr lang="vi-VN" sz="2200" b="1"/>
              <a:t>Output Compare (So sánh ngõ ra):</a:t>
            </a:r>
            <a:r>
              <a:rPr lang="vi-VN" sz="2200"/>
              <a:t> Thay đổi trạng thái chân chip khi bộ đếm đạt một giá trị mong muốn.</a:t>
            </a:r>
          </a:p>
          <a:p>
            <a:pPr marL="742950" lvl="1" indent="-285750">
              <a:lnSpc>
                <a:spcPct val="150000"/>
              </a:lnSpc>
              <a:buFont typeface="Arial" panose="020B0604020202020204" pitchFamily="34" charset="0"/>
              <a:buChar char="•"/>
            </a:pPr>
            <a:r>
              <a:rPr lang="vi-VN" sz="2200" b="1"/>
              <a:t>Tạo xung PWM:</a:t>
            </a:r>
            <a:r>
              <a:rPr lang="vi-VN" sz="2200"/>
              <a:t> Điều chế độ rộng xung cơ bản.</a:t>
            </a:r>
          </a:p>
          <a:p>
            <a:pPr marL="742950" lvl="1" indent="-285750">
              <a:lnSpc>
                <a:spcPct val="150000"/>
              </a:lnSpc>
              <a:buFont typeface="Arial" panose="020B0604020202020204" pitchFamily="34" charset="0"/>
              <a:buChar char="•"/>
            </a:pPr>
            <a:r>
              <a:rPr lang="vi-VN" sz="2200" b="1"/>
              <a:t>Counter Mode:</a:t>
            </a:r>
            <a:r>
              <a:rPr lang="vi-VN" sz="2200"/>
              <a:t> Nhận xung clock từ bên ngoài chân chip để đếm sự kiện.</a:t>
            </a:r>
          </a:p>
          <a:p>
            <a:pPr>
              <a:lnSpc>
                <a:spcPct val="150000"/>
              </a:lnSpc>
              <a:buFont typeface="Arial" panose="020B0604020202020204" pitchFamily="34" charset="0"/>
              <a:buChar char="•"/>
            </a:pPr>
            <a:r>
              <a:rPr lang="en-US" sz="2200" b="1"/>
              <a:t> </a:t>
            </a:r>
            <a:r>
              <a:rPr lang="vi-VN" sz="2200" b="1"/>
              <a:t>Dùng khi nào?</a:t>
            </a:r>
            <a:endParaRPr lang="vi-VN" sz="2200"/>
          </a:p>
          <a:p>
            <a:pPr marL="742950" lvl="1" indent="-285750">
              <a:lnSpc>
                <a:spcPct val="150000"/>
              </a:lnSpc>
              <a:buFont typeface="Arial" panose="020B0604020202020204" pitchFamily="34" charset="0"/>
              <a:buChar char="•"/>
            </a:pPr>
            <a:r>
              <a:rPr lang="vi-VN" sz="2200"/>
              <a:t>Đo tần số hoặc độ rộng của một xung lạ (ví dụ đo khoảng cách từ cảm biến siêu âm).</a:t>
            </a:r>
          </a:p>
          <a:p>
            <a:pPr marL="742950" lvl="1" indent="-285750">
              <a:lnSpc>
                <a:spcPct val="150000"/>
              </a:lnSpc>
              <a:buFont typeface="Arial" panose="020B0604020202020204" pitchFamily="34" charset="0"/>
              <a:buChar char="•"/>
            </a:pPr>
            <a:r>
              <a:rPr lang="vi-VN" sz="2200"/>
              <a:t>Đọc tín hiệu từ các cảm biến tốc độ, đếm số sản phẩm chạy qua băng chuyền.</a:t>
            </a:r>
          </a:p>
          <a:p>
            <a:pPr marL="742950" lvl="1" indent="-285750">
              <a:lnSpc>
                <a:spcPct val="150000"/>
              </a:lnSpc>
              <a:buFont typeface="Arial" panose="020B0604020202020204" pitchFamily="34" charset="0"/>
              <a:buChar char="•"/>
            </a:pPr>
            <a:r>
              <a:rPr lang="vi-VN" sz="2200"/>
              <a:t>Xuất xung PWM để điều khiển độ sáng LED, còi báo hiệu (Buzzer) hoặc các động cơ DC/Servo thông thường.</a:t>
            </a:r>
          </a:p>
          <a:p>
            <a:pPr marL="742950" lvl="1" indent="-285750">
              <a:lnSpc>
                <a:spcPct val="150000"/>
              </a:lnSpc>
              <a:buFont typeface="Arial" panose="020B0604020202020204" pitchFamily="34" charset="0"/>
              <a:buChar char="•"/>
            </a:pPr>
            <a:r>
              <a:rPr lang="vi-VN" sz="2200" i="1"/>
              <a:t>Trong dòng STM32:</a:t>
            </a:r>
            <a:r>
              <a:rPr lang="vi-VN" sz="2200"/>
              <a:t> Chính là các bộ </a:t>
            </a:r>
            <a:r>
              <a:rPr lang="vi-VN" sz="2200" b="1"/>
              <a:t>TIM2, TIM3, TIM4, TIM5</a:t>
            </a:r>
            <a:r>
              <a:rPr lang="vi-VN" sz="2200"/>
              <a:t> (hoặc các phiên bản rút gọn chân như TIM9 đến TIM14).</a:t>
            </a:r>
          </a:p>
        </p:txBody>
      </p:sp>
    </p:spTree>
    <p:extLst>
      <p:ext uri="{BB962C8B-B14F-4D97-AF65-F5344CB8AC3E}">
        <p14:creationId xmlns:p14="http://schemas.microsoft.com/office/powerpoint/2010/main" val="1223609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81000" y="2324100"/>
            <a:ext cx="17036976" cy="5009833"/>
          </a:xfrm>
          <a:prstGeom prst="rect">
            <a:avLst/>
          </a:prstGeom>
          <a:noFill/>
        </p:spPr>
        <p:txBody>
          <a:bodyPr wrap="square">
            <a:spAutoFit/>
          </a:bodyPr>
          <a:lstStyle/>
          <a:p>
            <a:pPr>
              <a:lnSpc>
                <a:spcPct val="150000"/>
              </a:lnSpc>
            </a:pPr>
            <a:r>
              <a:rPr lang="en-US" sz="2400" b="1"/>
              <a:t>3</a:t>
            </a:r>
            <a:r>
              <a:rPr lang="vi-VN" sz="2400" b="1"/>
              <a:t>. Các Timer đặc biệt khác (SysTick, Watchdog, RTC)</a:t>
            </a:r>
          </a:p>
          <a:p>
            <a:pPr>
              <a:lnSpc>
                <a:spcPct val="150000"/>
              </a:lnSpc>
            </a:pPr>
            <a:r>
              <a:rPr lang="vi-VN" sz="2400"/>
              <a:t>Bên cạnh 3 nhóm chính nêu trên, trong kiến trúc hệ thống nhúng (bao gồm cả STM32) luôn có sự phục vụ của 3 loại Timer "vệ sĩ" này:</a:t>
            </a:r>
            <a:endParaRPr lang="en-US" sz="2400"/>
          </a:p>
          <a:p>
            <a:pPr>
              <a:lnSpc>
                <a:spcPct val="150000"/>
              </a:lnSpc>
            </a:pPr>
            <a:endParaRPr lang="vi-VN" sz="2400"/>
          </a:p>
          <a:p>
            <a:pPr>
              <a:lnSpc>
                <a:spcPct val="150000"/>
              </a:lnSpc>
            </a:pPr>
            <a:r>
              <a:rPr lang="vi-VN" sz="2400" b="1"/>
              <a:t>System Tick Timer (SysTick)</a:t>
            </a:r>
          </a:p>
          <a:p>
            <a:pPr marL="800100" lvl="1" indent="-342900">
              <a:lnSpc>
                <a:spcPct val="150000"/>
              </a:lnSpc>
              <a:buFont typeface="Arial" panose="020B0604020202020204" pitchFamily="34" charset="0"/>
              <a:buChar char="•"/>
            </a:pPr>
            <a:r>
              <a:rPr lang="vi-VN" sz="2400" b="1"/>
              <a:t>Đặc điểm &amp; Chức năng:</a:t>
            </a:r>
            <a:r>
              <a:rPr lang="vi-VN" sz="2400"/>
              <a:t> Là một Timer 24-bit rất nhỏ nằm </a:t>
            </a:r>
            <a:r>
              <a:rPr lang="vi-VN" sz="2400" b="1"/>
              <a:t>bên trong nhân CPU ARM Cortex-M</a:t>
            </a:r>
            <a:r>
              <a:rPr lang="vi-VN" sz="2400"/>
              <a:t> (nghĩa là mọi chip có nhân này, từ STM32, NXP đến TI đều có SysTick giống nhau). Nó chỉ đếm ngược và tạo ngắt.</a:t>
            </a:r>
          </a:p>
          <a:p>
            <a:pPr marL="800100" lvl="1" indent="-342900">
              <a:lnSpc>
                <a:spcPct val="150000"/>
              </a:lnSpc>
              <a:buFont typeface="Arial" panose="020B0604020202020204" pitchFamily="34" charset="0"/>
              <a:buChar char="•"/>
            </a:pPr>
            <a:r>
              <a:rPr lang="vi-VN" sz="2400" b="1"/>
              <a:t>Dùng khi nào?</a:t>
            </a:r>
            <a:r>
              <a:rPr lang="vi-VN" sz="2400"/>
              <a:t> Dùng làm "nhịp tim" chuẩn để Hệ điều hành thời gian thực (RTOS như FreeRTOS) lập lịch chuyển đổi qua lại giữa các tác vụ, hoặc dùng để tạo ra hàm delay chuẩn delay_ms() cho toàn hệ thống.</a:t>
            </a:r>
          </a:p>
        </p:txBody>
      </p:sp>
    </p:spTree>
    <p:extLst>
      <p:ext uri="{BB962C8B-B14F-4D97-AF65-F5344CB8AC3E}">
        <p14:creationId xmlns:p14="http://schemas.microsoft.com/office/powerpoint/2010/main" val="691285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81000" y="2324100"/>
            <a:ext cx="17113176" cy="7225824"/>
          </a:xfrm>
          <a:prstGeom prst="rect">
            <a:avLst/>
          </a:prstGeom>
          <a:noFill/>
        </p:spPr>
        <p:txBody>
          <a:bodyPr wrap="square">
            <a:spAutoFit/>
          </a:bodyPr>
          <a:lstStyle/>
          <a:p>
            <a:pPr>
              <a:lnSpc>
                <a:spcPct val="150000"/>
              </a:lnSpc>
            </a:pPr>
            <a:r>
              <a:rPr lang="vi-VN" sz="2400" b="1"/>
              <a:t>Watchdog Timer (WDT)</a:t>
            </a:r>
          </a:p>
          <a:p>
            <a:pPr marL="342900" indent="-342900">
              <a:lnSpc>
                <a:spcPct val="150000"/>
              </a:lnSpc>
              <a:buFont typeface="Arial" panose="020B0604020202020204" pitchFamily="34" charset="0"/>
              <a:buChar char="•"/>
            </a:pPr>
            <a:r>
              <a:rPr lang="vi-VN" sz="2400" b="1"/>
              <a:t>Đặc điểm &amp; Chức năng:</a:t>
            </a:r>
            <a:r>
              <a:rPr lang="vi-VN" sz="2400"/>
              <a:t> Bộ giám sát phần cứng chạy độc lập bằng nguồn xung riêng (thường là xung nội LSI tần số thấp). Nhiệm vụ của nó là đếm ngược, nếu code bị đơ/treo và không reset nó kịp thời, nó sẽ tự phát dòng Reset ép chip khởi động lại.</a:t>
            </a:r>
          </a:p>
          <a:p>
            <a:pPr marL="342900" indent="-342900">
              <a:lnSpc>
                <a:spcPct val="150000"/>
              </a:lnSpc>
              <a:buFont typeface="Arial" panose="020B0604020202020204" pitchFamily="34" charset="0"/>
              <a:buChar char="•"/>
            </a:pPr>
            <a:r>
              <a:rPr lang="vi-VN" sz="2400" b="1"/>
              <a:t>Dùng khi nào?</a:t>
            </a:r>
            <a:r>
              <a:rPr lang="vi-VN" sz="2400"/>
              <a:t> Bắt buộc phải bật trong các sản phẩm thương mại chạy liên tục 24/7 (như Router, Camera, hộp đen ô tô) để đảm bảo thiết bị tự hồi phục khi gặp sự cố nhiễu điện hoặc lỗi phần mềm.</a:t>
            </a:r>
            <a:endParaRPr lang="en-US" sz="2400"/>
          </a:p>
          <a:p>
            <a:pPr marL="342900" indent="-342900">
              <a:lnSpc>
                <a:spcPct val="150000"/>
              </a:lnSpc>
              <a:buFont typeface="Arial" panose="020B0604020202020204" pitchFamily="34" charset="0"/>
              <a:buChar char="•"/>
            </a:pPr>
            <a:endParaRPr lang="vi-VN" sz="2400"/>
          </a:p>
          <a:p>
            <a:pPr>
              <a:lnSpc>
                <a:spcPct val="150000"/>
              </a:lnSpc>
            </a:pPr>
            <a:r>
              <a:rPr lang="vi-VN" sz="2400" b="1"/>
              <a:t>Real-Time Clock (RTC)</a:t>
            </a:r>
          </a:p>
          <a:p>
            <a:pPr marL="342900" indent="-342900">
              <a:lnSpc>
                <a:spcPct val="150000"/>
              </a:lnSpc>
              <a:buFont typeface="Arial" panose="020B0604020202020204" pitchFamily="34" charset="0"/>
              <a:buChar char="•"/>
            </a:pPr>
            <a:r>
              <a:rPr lang="vi-VN" sz="2400" b="1"/>
              <a:t>Đặc điểm &amp; Chức năng:</a:t>
            </a:r>
            <a:r>
              <a:rPr lang="vi-VN" sz="2400"/>
              <a:t> Bộ Timer chuyên dụng được thiết kế để đếm theo định dạng Giờ : Phút : Giây và Ngày : Tháng : Năm. Nó tiêu tốn cực kỳ ít năng lượng.</a:t>
            </a:r>
          </a:p>
          <a:p>
            <a:pPr marL="342900" indent="-342900">
              <a:lnSpc>
                <a:spcPct val="150000"/>
              </a:lnSpc>
              <a:buFont typeface="Arial" panose="020B0604020202020204" pitchFamily="34" charset="0"/>
              <a:buChar char="•"/>
            </a:pPr>
            <a:r>
              <a:rPr lang="vi-VN" sz="2400" b="1"/>
              <a:t>Dùng khi nào?</a:t>
            </a:r>
            <a:r>
              <a:rPr lang="vi-VN" sz="2400"/>
              <a:t> Dùng cho các ứng dụng cần chấm công, ghi chép dữ liệu theo thời gian thực (Data Logger), hẹn giờ bật tắt thiết bị theo lịch (Máy tưới cây, công tơ điện thông minh). RTC thường được nuôi bằng một viên pin đồng xu riêng để giữ đúng giờ ngay cả khi máy chính bị rút điện.</a:t>
            </a:r>
          </a:p>
        </p:txBody>
      </p:sp>
    </p:spTree>
    <p:extLst>
      <p:ext uri="{BB962C8B-B14F-4D97-AF65-F5344CB8AC3E}">
        <p14:creationId xmlns:p14="http://schemas.microsoft.com/office/powerpoint/2010/main" val="8283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81000" y="2113071"/>
            <a:ext cx="16306800" cy="7525137"/>
          </a:xfrm>
          <a:prstGeom prst="rect">
            <a:avLst/>
          </a:prstGeom>
          <a:noFill/>
        </p:spPr>
        <p:txBody>
          <a:bodyPr wrap="square">
            <a:spAutoFit/>
          </a:bodyPr>
          <a:lstStyle/>
          <a:p>
            <a:r>
              <a:rPr lang="en-US" sz="2100" b="1">
                <a:latin typeface="Google Sans"/>
              </a:rPr>
              <a:t>4</a:t>
            </a:r>
            <a:r>
              <a:rPr lang="vi-VN" sz="2100" b="1">
                <a:effectLst/>
                <a:latin typeface="Google Sans"/>
              </a:rPr>
              <a:t>. LPIT (Low Power Periodic Interrupt Timer)</a:t>
            </a:r>
          </a:p>
          <a:p>
            <a:r>
              <a:rPr lang="vi-VN" sz="2100" i="1">
                <a:effectLst/>
                <a:latin typeface="Google Sans Text"/>
              </a:rPr>
              <a:t>Đây là bộ hẹn giờ chuyên chạy ngầm, được tối ưu hóa cho các tác vụ định thời tiết kiệm năng lượng.</a:t>
            </a:r>
            <a:endParaRPr lang="vi-VN" sz="2100">
              <a:effectLst/>
              <a:latin typeface="Google Sans Text"/>
            </a:endParaRPr>
          </a:p>
          <a:p>
            <a:pPr>
              <a:buFont typeface="Arial" panose="020B0604020202020204" pitchFamily="34" charset="0"/>
              <a:buChar char="•"/>
            </a:pPr>
            <a:r>
              <a:rPr lang="vi-VN" sz="2100" b="1">
                <a:effectLst/>
                <a:latin typeface="Google Sans Text"/>
              </a:rPr>
              <a:t>Đặc điểm:</a:t>
            </a:r>
            <a:endParaRPr lang="vi-VN" sz="2100">
              <a:effectLst/>
              <a:latin typeface="Google Sans Text"/>
            </a:endParaRPr>
          </a:p>
          <a:p>
            <a:pPr marL="742950" lvl="1" indent="-285750">
              <a:buFont typeface="Arial" panose="020B0604020202020204" pitchFamily="34" charset="0"/>
              <a:buChar char="•"/>
            </a:pPr>
            <a:r>
              <a:rPr lang="vi-VN" sz="2100" b="1">
                <a:effectLst/>
                <a:latin typeface="Google Sans Text"/>
              </a:rPr>
              <a:t>Siêu tiết kiệm điện:</a:t>
            </a:r>
            <a:r>
              <a:rPr lang="vi-VN" sz="2100">
                <a:effectLst/>
                <a:latin typeface="Google Sans Text"/>
              </a:rPr>
              <a:t> Chạy bằng nguồn xung nhịp riêng (Clock source) độc lập với CPU. Khi CPU vào chế độ ngủ sâu (Deep Sleep) để tiết kiệm pin, LPIT vẫn tự chạy bình thường.</a:t>
            </a:r>
          </a:p>
          <a:p>
            <a:pPr marL="742950" lvl="1" indent="-285750">
              <a:buFont typeface="Arial" panose="020B0604020202020204" pitchFamily="34" charset="0"/>
              <a:buChar char="•"/>
            </a:pPr>
            <a:r>
              <a:rPr lang="vi-VN" sz="2100" b="1">
                <a:effectLst/>
                <a:latin typeface="Google Sans Text"/>
              </a:rPr>
              <a:t>Cấu trúc đếm ngược 32-bit:</a:t>
            </a:r>
            <a:r>
              <a:rPr lang="vi-VN" sz="2100">
                <a:effectLst/>
                <a:latin typeface="Google Sans Text"/>
              </a:rPr>
              <a:t> </a:t>
            </a:r>
            <a:r>
              <a:rPr lang="en-US" sz="2100">
                <a:latin typeface="Google Sans Text"/>
              </a:rPr>
              <a:t>H</a:t>
            </a:r>
            <a:r>
              <a:rPr lang="vi-VN" sz="2100">
                <a:effectLst/>
                <a:latin typeface="Google Sans Text"/>
              </a:rPr>
              <a:t>ỗ trợ đếm lùi (Down-counting). Khi đếm về 0, nó phát tín hiệu rồi tự động nạp lại giá trị ban đầu để đếm tiếp.</a:t>
            </a:r>
          </a:p>
          <a:p>
            <a:pPr marL="742950" lvl="1" indent="-285750">
              <a:buFont typeface="Arial" panose="020B0604020202020204" pitchFamily="34" charset="0"/>
              <a:buChar char="•"/>
            </a:pPr>
            <a:r>
              <a:rPr lang="vi-VN" sz="2100" b="1">
                <a:effectLst/>
                <a:latin typeface="Google Sans Text"/>
              </a:rPr>
              <a:t>Không có chân cắm vật lý (No GPIO pins):</a:t>
            </a:r>
            <a:r>
              <a:rPr lang="vi-VN" sz="2100">
                <a:effectLst/>
                <a:latin typeface="Google Sans Text"/>
              </a:rPr>
              <a:t> Hoạt động hoàn toàn ở "hậu trường" bên trong vi điều khiển, không thể xuất xung PWM hay nhận xung từ chân chip ra bên ngoài.</a:t>
            </a:r>
          </a:p>
          <a:p>
            <a:pPr>
              <a:buFont typeface="Arial" panose="020B0604020202020204" pitchFamily="34" charset="0"/>
              <a:buChar char="•"/>
            </a:pPr>
            <a:r>
              <a:rPr lang="vi-VN" sz="2100" b="1">
                <a:effectLst/>
                <a:latin typeface="Google Sans Text"/>
              </a:rPr>
              <a:t>Chức năng chính:</a:t>
            </a:r>
            <a:endParaRPr lang="vi-VN" sz="2100">
              <a:effectLst/>
              <a:latin typeface="Google Sans Text"/>
            </a:endParaRPr>
          </a:p>
          <a:p>
            <a:pPr marL="742950" lvl="1" indent="-285750">
              <a:buFont typeface="Arial" panose="020B0604020202020204" pitchFamily="34" charset="0"/>
              <a:buChar char="•"/>
            </a:pPr>
            <a:r>
              <a:rPr lang="vi-VN" sz="2100" b="1">
                <a:effectLst/>
                <a:latin typeface="Google Sans Text"/>
              </a:rPr>
              <a:t>Periodic Interrupt:</a:t>
            </a:r>
            <a:r>
              <a:rPr lang="vi-VN" sz="2100">
                <a:effectLst/>
                <a:latin typeface="Google Sans Text"/>
              </a:rPr>
              <a:t> Tạo ra các ngắt định kỳ cực kỳ chuẩn xác </a:t>
            </a:r>
            <a:r>
              <a:rPr lang="en-US" sz="2100">
                <a:effectLst/>
                <a:latin typeface="Google Sans Text"/>
              </a:rPr>
              <a:t>1ms, 10ms, 100ms,…</a:t>
            </a:r>
            <a:r>
              <a:rPr lang="vi-VN" sz="2100">
                <a:effectLst/>
                <a:latin typeface="Google Sans Text"/>
              </a:rPr>
              <a:t>làm nhịp thời gian cho hệ thống.</a:t>
            </a:r>
          </a:p>
          <a:p>
            <a:pPr marL="742950" lvl="1" indent="-285750">
              <a:buFont typeface="Arial" panose="020B0604020202020204" pitchFamily="34" charset="0"/>
              <a:buChar char="•"/>
            </a:pPr>
            <a:r>
              <a:rPr lang="vi-VN" sz="2100" b="1">
                <a:effectLst/>
                <a:latin typeface="Google Sans Text"/>
              </a:rPr>
              <a:t>Hardware Triggering:</a:t>
            </a:r>
            <a:r>
              <a:rPr lang="vi-VN" sz="2100">
                <a:effectLst/>
                <a:latin typeface="Google Sans Text"/>
              </a:rPr>
              <a:t> Tự động kích hoạt các ngoại vi khác (như ra lệnh cho bộ ADC lấy mẫu cảm biến, hoặc kích bộ DMA truyền dữ liệu) ngay khi đếm về 0 mà không cần CPU can thiệp.</a:t>
            </a:r>
          </a:p>
          <a:p>
            <a:pPr marL="742950" lvl="1" indent="-285750">
              <a:buFont typeface="Arial" panose="020B0604020202020204" pitchFamily="34" charset="0"/>
              <a:buChar char="•"/>
            </a:pPr>
            <a:r>
              <a:rPr lang="vi-VN" sz="2100" b="1">
                <a:effectLst/>
                <a:latin typeface="Google Sans Text"/>
              </a:rPr>
              <a:t>Channel Chaining (Nối chuỗi):</a:t>
            </a:r>
            <a:r>
              <a:rPr lang="vi-VN" sz="2100">
                <a:effectLst/>
                <a:latin typeface="Google Sans Text"/>
              </a:rPr>
              <a:t> Ghép các kênh đếm 32-bit lại với nhau để tạo ra những khoảng thời gian chờ siêu dài (hàng giờ, hàng ngày) mà vẫn giữ được độ chính xác cao.</a:t>
            </a:r>
          </a:p>
          <a:p>
            <a:pPr>
              <a:buFont typeface="Arial" panose="020B0604020202020204" pitchFamily="34" charset="0"/>
              <a:buChar char="•"/>
            </a:pPr>
            <a:r>
              <a:rPr lang="vi-VN" sz="2100" b="1">
                <a:effectLst/>
                <a:latin typeface="Google Sans Text"/>
              </a:rPr>
              <a:t>Dùng khi nào?</a:t>
            </a:r>
            <a:endParaRPr lang="vi-VN" sz="2100">
              <a:effectLst/>
              <a:latin typeface="Google Sans Text"/>
            </a:endParaRPr>
          </a:p>
          <a:p>
            <a:pPr marL="742950" lvl="1" indent="-285750">
              <a:buFont typeface="Arial" panose="020B0604020202020204" pitchFamily="34" charset="0"/>
              <a:buChar char="•"/>
            </a:pPr>
            <a:r>
              <a:rPr lang="vi-VN" sz="2100" b="1">
                <a:effectLst/>
                <a:latin typeface="Google Sans Text"/>
              </a:rPr>
              <a:t>Thiết bị chạy bằng PIN:</a:t>
            </a:r>
            <a:r>
              <a:rPr lang="vi-VN" sz="2100">
                <a:effectLst/>
                <a:latin typeface="Google Sans Text"/>
              </a:rPr>
              <a:t> Khi bạn cần cho CPU "ngủ" để tiết kiệm 90% điện năng và giao nhiệm vụ cho LPIT đếm giờ để đánh thức CPU dậy theo chu kỳ.</a:t>
            </a:r>
          </a:p>
          <a:p>
            <a:pPr marL="742950" lvl="1" indent="-285750">
              <a:buFont typeface="Arial" panose="020B0604020202020204" pitchFamily="34" charset="0"/>
              <a:buChar char="•"/>
            </a:pPr>
            <a:r>
              <a:rPr lang="vi-VN" sz="2100" b="1">
                <a:effectLst/>
                <a:latin typeface="Google Sans Text"/>
              </a:rPr>
              <a:t>Lấy mẫu cảm biến tự động:</a:t>
            </a:r>
            <a:r>
              <a:rPr lang="vi-VN" sz="2100">
                <a:effectLst/>
                <a:latin typeface="Google Sans Text"/>
              </a:rPr>
              <a:t> Dùng LPIT để kích hoạt bộ ADC đọc cảm biến liên tục và đều đặn tuyệt đối (ví dụ đọc cảm biến áp suất phanh ABS trên ô tô).</a:t>
            </a:r>
          </a:p>
          <a:p>
            <a:pPr marL="742950" lvl="1" indent="-285750">
              <a:buFont typeface="Arial" panose="020B0604020202020204" pitchFamily="34" charset="0"/>
              <a:buChar char="•"/>
            </a:pPr>
            <a:r>
              <a:rPr lang="vi-VN" sz="2100" b="1">
                <a:effectLst/>
                <a:latin typeface="Google Sans Text"/>
              </a:rPr>
              <a:t>Làm nhịp tim cho RTOS:</a:t>
            </a:r>
            <a:r>
              <a:rPr lang="vi-VN" sz="2100">
                <a:effectLst/>
                <a:latin typeface="Google Sans Text"/>
              </a:rPr>
              <a:t> Rất phổ biến trong các dòng chip ô tô (như NXP S32K) để làm bộ tạo nhịp (OS Tick) cho hệ điều hành FreeRTOS hoặc AUTOSAR.</a:t>
            </a:r>
          </a:p>
          <a:p>
            <a:pPr marL="742950" lvl="1" indent="-285750">
              <a:buFont typeface="Arial" panose="020B0604020202020204" pitchFamily="34" charset="0"/>
              <a:buChar char="•"/>
            </a:pPr>
            <a:r>
              <a:rPr lang="vi-VN" sz="2100" b="1">
                <a:effectLst/>
                <a:latin typeface="Google Sans Text"/>
              </a:rPr>
              <a:t>Tối ưu tài nguyên:</a:t>
            </a:r>
            <a:r>
              <a:rPr lang="vi-VN" sz="2100">
                <a:effectLst/>
                <a:latin typeface="Google Sans Text"/>
              </a:rPr>
              <a:t> Khi bạn cần định thời thuần túy trong code, hãy dùng LPIT để "để dành" các bộ Timer khác (như GPT) có chân cắm cho các việc bắt buộc như xuất xung PWM điều khiển động cơ hay đọc Encoder.</a:t>
            </a:r>
          </a:p>
        </p:txBody>
      </p:sp>
    </p:spTree>
    <p:extLst>
      <p:ext uri="{BB962C8B-B14F-4D97-AF65-F5344CB8AC3E}">
        <p14:creationId xmlns:p14="http://schemas.microsoft.com/office/powerpoint/2010/main" val="1375613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81000" y="2247900"/>
            <a:ext cx="16611600" cy="7109639"/>
          </a:xfrm>
          <a:prstGeom prst="rect">
            <a:avLst/>
          </a:prstGeom>
          <a:noFill/>
        </p:spPr>
        <p:txBody>
          <a:bodyPr wrap="square">
            <a:spAutoFit/>
          </a:bodyPr>
          <a:lstStyle/>
          <a:p>
            <a:r>
              <a:rPr lang="en-US" sz="2400" b="1"/>
              <a:t>5. </a:t>
            </a:r>
            <a:r>
              <a:rPr lang="vi-VN" sz="2400" b="1"/>
              <a:t> Advanced-Control Timer (Timer điều khiển nâng cao)</a:t>
            </a:r>
          </a:p>
          <a:p>
            <a:r>
              <a:rPr lang="vi-VN" sz="2400" i="1"/>
              <a:t>Đây là bộ Timer mạnh mẽ nhất, được trang bị thêm các mạch phần cứng chuyên dụng cho điện tử công suất.</a:t>
            </a:r>
            <a:endParaRPr lang="en-US" sz="2400" i="1"/>
          </a:p>
          <a:p>
            <a:endParaRPr lang="vi-VN" sz="2400"/>
          </a:p>
          <a:p>
            <a:pPr>
              <a:buFont typeface="Arial" panose="020B0604020202020204" pitchFamily="34" charset="0"/>
              <a:buChar char="•"/>
            </a:pPr>
            <a:r>
              <a:rPr lang="vi-VN" sz="2400" b="1"/>
              <a:t>Đặc điểm:</a:t>
            </a:r>
            <a:endParaRPr lang="vi-VN" sz="2400"/>
          </a:p>
          <a:p>
            <a:pPr marL="742950" lvl="1" indent="-285750">
              <a:buFont typeface="Arial" panose="020B0604020202020204" pitchFamily="34" charset="0"/>
              <a:buChar char="•"/>
            </a:pPr>
            <a:r>
              <a:rPr lang="vi-VN" sz="2400"/>
              <a:t>Sở hữu toàn bộ cấu trúc của General-Purpose Timer.</a:t>
            </a:r>
          </a:p>
          <a:p>
            <a:pPr marL="742950" lvl="1" indent="-285750">
              <a:buFont typeface="Arial" panose="020B0604020202020204" pitchFamily="34" charset="0"/>
              <a:buChar char="•"/>
            </a:pPr>
            <a:r>
              <a:rPr lang="vi-VN" sz="2400"/>
              <a:t>Được tích hợp thêm mạch </a:t>
            </a:r>
            <a:r>
              <a:rPr lang="vi-VN" sz="2400" b="1"/>
              <a:t>tạo khoảng chết (Dead-time insertion)</a:t>
            </a:r>
            <a:r>
              <a:rPr lang="vi-VN" sz="2400"/>
              <a:t> trên các cặp chân ngõ ra bổ sung (Complementary outputs).</a:t>
            </a:r>
          </a:p>
          <a:p>
            <a:pPr marL="742950" lvl="1" indent="-285750">
              <a:buFont typeface="Arial" panose="020B0604020202020204" pitchFamily="34" charset="0"/>
              <a:buChar char="•"/>
            </a:pPr>
            <a:r>
              <a:rPr lang="vi-VN" sz="2400"/>
              <a:t>Có chân ngắt khẩn cấp phần cứng (</a:t>
            </a:r>
            <a:r>
              <a:rPr lang="vi-VN" sz="2400" b="1"/>
              <a:t>Break Input</a:t>
            </a:r>
            <a:r>
              <a:rPr lang="vi-VN" sz="2400"/>
              <a:t>).</a:t>
            </a:r>
          </a:p>
          <a:p>
            <a:pPr>
              <a:buFont typeface="Arial" panose="020B0604020202020204" pitchFamily="34" charset="0"/>
              <a:buChar char="•"/>
            </a:pPr>
            <a:r>
              <a:rPr lang="vi-VN" sz="2400" b="1"/>
              <a:t>Chức năng chính:</a:t>
            </a:r>
            <a:endParaRPr lang="vi-VN" sz="2400"/>
          </a:p>
          <a:p>
            <a:pPr marL="742950" lvl="1" indent="-285750">
              <a:buFont typeface="Arial" panose="020B0604020202020204" pitchFamily="34" charset="0"/>
              <a:buChar char="•"/>
            </a:pPr>
            <a:r>
              <a:rPr lang="vi-VN" sz="2400"/>
              <a:t>Xuất ra các cặp xung đối nghịch nhau nhưng có một khoảng ngắt an toàn (Dead-time) để điều khiển các van công suất (Mosfet, IGBT).</a:t>
            </a:r>
          </a:p>
          <a:p>
            <a:pPr marL="742950" lvl="1" indent="-285750">
              <a:buFont typeface="Arial" panose="020B0604020202020204" pitchFamily="34" charset="0"/>
              <a:buChar char="•"/>
            </a:pPr>
            <a:r>
              <a:rPr lang="vi-VN" sz="2400"/>
              <a:t>Bảo vệ mạch điện: Khi chân Break phát hiện sự cố (quá dòng, quá nhiệt), Timer sẽ lập tức khóa toàn bộ các chân ngõ ra ở tầng phần cứng mà không cần chờ CPU xử lý bằng phần mềm.</a:t>
            </a:r>
          </a:p>
          <a:p>
            <a:pPr marL="742950" lvl="1" indent="-285750">
              <a:buFont typeface="Arial" panose="020B0604020202020204" pitchFamily="34" charset="0"/>
              <a:buChar char="•"/>
            </a:pPr>
            <a:r>
              <a:rPr lang="vi-VN" sz="2400"/>
              <a:t>Hỗ trợ các chế độ đồng hóa (Synchronization) phức tạp với các Timer khác.</a:t>
            </a:r>
          </a:p>
          <a:p>
            <a:pPr>
              <a:buFont typeface="Arial" panose="020B0604020202020204" pitchFamily="34" charset="0"/>
              <a:buChar char="•"/>
            </a:pPr>
            <a:r>
              <a:rPr lang="vi-VN" sz="2400" b="1"/>
              <a:t>Dùng khi nào?</a:t>
            </a:r>
            <a:endParaRPr lang="vi-VN" sz="2400"/>
          </a:p>
          <a:p>
            <a:pPr marL="742950" lvl="1" indent="-285750">
              <a:buFont typeface="Arial" panose="020B0604020202020204" pitchFamily="34" charset="0"/>
              <a:buChar char="•"/>
            </a:pPr>
            <a:r>
              <a:rPr lang="vi-VN" sz="2400"/>
              <a:t>Bắt buộc phải dùng khi bạn thiết kế mạch điều khiển </a:t>
            </a:r>
            <a:r>
              <a:rPr lang="vi-VN" sz="2400" b="1"/>
              <a:t>Động cơ không chổi than (BLDC)</a:t>
            </a:r>
            <a:r>
              <a:rPr lang="vi-VN" sz="2400"/>
              <a:t>, động cơ bước đòi hỏi độ chính xác cao, hoặc động cơ xoay chiều 3 pha.</a:t>
            </a:r>
          </a:p>
          <a:p>
            <a:pPr marL="742950" lvl="1" indent="-285750">
              <a:buFont typeface="Arial" panose="020B0604020202020204" pitchFamily="34" charset="0"/>
              <a:buChar char="•"/>
            </a:pPr>
            <a:r>
              <a:rPr lang="vi-VN" sz="2400"/>
              <a:t>Lập trình cho các mạch biến tần (Inverter), mạch nguồn xung (SMPS), bộ sạc pin thông minh.</a:t>
            </a:r>
          </a:p>
          <a:p>
            <a:pPr marL="742950" lvl="1" indent="-285750">
              <a:buFont typeface="Arial" panose="020B0604020202020204" pitchFamily="34" charset="0"/>
              <a:buChar char="•"/>
            </a:pPr>
            <a:r>
              <a:rPr lang="vi-VN" sz="2400" i="1"/>
              <a:t>Trong dòng STM32:</a:t>
            </a:r>
            <a:r>
              <a:rPr lang="vi-VN" sz="2400"/>
              <a:t> Chính là bộ </a:t>
            </a:r>
            <a:r>
              <a:rPr lang="vi-VN" sz="2400" b="1"/>
              <a:t>TIM1</a:t>
            </a:r>
            <a:r>
              <a:rPr lang="vi-VN" sz="2400"/>
              <a:t> và </a:t>
            </a:r>
            <a:r>
              <a:rPr lang="vi-VN" sz="2400" b="1"/>
              <a:t>TIM8</a:t>
            </a:r>
            <a:r>
              <a:rPr lang="vi-VN" sz="2400"/>
              <a:t>.</a:t>
            </a:r>
          </a:p>
        </p:txBody>
      </p:sp>
    </p:spTree>
    <p:extLst>
      <p:ext uri="{BB962C8B-B14F-4D97-AF65-F5344CB8AC3E}">
        <p14:creationId xmlns:p14="http://schemas.microsoft.com/office/powerpoint/2010/main" val="2752268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81000" y="2247900"/>
            <a:ext cx="16611600" cy="1200329"/>
          </a:xfrm>
          <a:prstGeom prst="rect">
            <a:avLst/>
          </a:prstGeom>
          <a:noFill/>
        </p:spPr>
        <p:txBody>
          <a:bodyPr wrap="square">
            <a:spAutoFit/>
          </a:bodyPr>
          <a:lstStyle/>
          <a:p>
            <a:r>
              <a:rPr lang="en-US" sz="2400" b="1"/>
              <a:t>5. </a:t>
            </a:r>
            <a:r>
              <a:rPr lang="vi-VN" sz="2400" b="1"/>
              <a:t> Advanced-Control Timer (Timer điều khiển nâng cao)</a:t>
            </a:r>
          </a:p>
          <a:p>
            <a:r>
              <a:rPr lang="vi-VN" sz="2400" i="1"/>
              <a:t>Đây là bộ Timer mạnh mẽ nhất, được trang bị thêm các mạch phần cứng chuyên dụng cho điện tử công suất.</a:t>
            </a:r>
            <a:endParaRPr lang="en-US" sz="2400" i="1"/>
          </a:p>
          <a:p>
            <a:endParaRPr lang="vi-VN" sz="2400"/>
          </a:p>
        </p:txBody>
      </p:sp>
      <p:sp>
        <p:nvSpPr>
          <p:cNvPr id="11" name="TextBox 10">
            <a:extLst>
              <a:ext uri="{FF2B5EF4-FFF2-40B4-BE49-F238E27FC236}">
                <a16:creationId xmlns:a16="http://schemas.microsoft.com/office/drawing/2014/main" id="{A1F85817-FAA5-91B5-F896-47B24F719B41}"/>
              </a:ext>
            </a:extLst>
          </p:cNvPr>
          <p:cNvSpPr txBox="1"/>
          <p:nvPr/>
        </p:nvSpPr>
        <p:spPr>
          <a:xfrm>
            <a:off x="374072" y="3368775"/>
            <a:ext cx="16611599" cy="6370975"/>
          </a:xfrm>
          <a:prstGeom prst="rect">
            <a:avLst/>
          </a:prstGeom>
          <a:noFill/>
        </p:spPr>
        <p:txBody>
          <a:bodyPr wrap="square">
            <a:spAutoFit/>
          </a:bodyPr>
          <a:lstStyle/>
          <a:p>
            <a:r>
              <a:rPr lang="vi-VN" sz="2400" b="1"/>
              <a:t>1. Khoảng chết (Dead-time) và Cặp chân ngõ ra bổ sung (Complementary outputs) là gì?</a:t>
            </a:r>
          </a:p>
          <a:p>
            <a:r>
              <a:rPr lang="vi-VN" sz="2400"/>
              <a:t>Hãy tưởng tượng bạn đang điều khiển một cái bập bênh (hoặc một công tắc chuyển mạch).</a:t>
            </a:r>
          </a:p>
          <a:p>
            <a:pPr>
              <a:buFont typeface="Arial" panose="020B0604020202020204" pitchFamily="34" charset="0"/>
              <a:buChar char="•"/>
            </a:pPr>
            <a:r>
              <a:rPr lang="vi-VN" sz="2400"/>
              <a:t>Để động cơ quay, bạn có 2 chiếc van điện tử (gọi là Mosfet hoặc IGBT), một van nối với cực </a:t>
            </a:r>
            <a:r>
              <a:rPr lang="vi-VN" sz="2400" b="1"/>
              <a:t>Dương (+)</a:t>
            </a:r>
            <a:r>
              <a:rPr lang="vi-VN" sz="2400"/>
              <a:t>, một van nối với cực </a:t>
            </a:r>
            <a:r>
              <a:rPr lang="vi-VN" sz="2400" b="1"/>
              <a:t>Âm (-)</a:t>
            </a:r>
            <a:r>
              <a:rPr lang="vi-VN" sz="2400"/>
              <a:t>.</a:t>
            </a:r>
            <a:endParaRPr lang="en-US" sz="2400"/>
          </a:p>
          <a:p>
            <a:pPr>
              <a:buFont typeface="Arial" panose="020B0604020202020204" pitchFamily="34" charset="0"/>
              <a:buChar char="•"/>
            </a:pPr>
            <a:endParaRPr lang="vi-VN" sz="2400"/>
          </a:p>
          <a:p>
            <a:pPr>
              <a:buFont typeface="Arial" panose="020B0604020202020204" pitchFamily="34" charset="0"/>
              <a:buChar char="•"/>
            </a:pPr>
            <a:r>
              <a:rPr lang="vi-VN" sz="2400" b="1"/>
              <a:t>Nguyên tắc tử thần:</a:t>
            </a:r>
            <a:r>
              <a:rPr lang="vi-VN" sz="2400"/>
              <a:t> Hai van này </a:t>
            </a:r>
            <a:r>
              <a:rPr lang="vi-VN" sz="2400" b="1"/>
              <a:t>tuyệt đối không bao giờ được phép bật cùng một lúc</a:t>
            </a:r>
            <a:r>
              <a:rPr lang="vi-VN" sz="2400"/>
              <a:t>. Nếu cả hai cùng bật, điện Dương sẽ lao thẳng vào điện Âm gây ra </a:t>
            </a:r>
            <a:r>
              <a:rPr lang="vi-VN" sz="2400" b="1"/>
              <a:t>ngắn mạch (chập điện)</a:t>
            </a:r>
            <a:r>
              <a:rPr lang="vi-VN" sz="2400"/>
              <a:t>, nổ tung chip và cháy mạch ngay lập tức.</a:t>
            </a:r>
            <a:endParaRPr lang="en-US" sz="2400"/>
          </a:p>
          <a:p>
            <a:pPr>
              <a:buFont typeface="Arial" panose="020B0604020202020204" pitchFamily="34" charset="0"/>
              <a:buChar char="•"/>
            </a:pPr>
            <a:endParaRPr lang="vi-VN" sz="2400"/>
          </a:p>
          <a:p>
            <a:pPr>
              <a:buFont typeface="Arial" panose="020B0604020202020204" pitchFamily="34" charset="0"/>
              <a:buChar char="•"/>
            </a:pPr>
            <a:r>
              <a:rPr lang="vi-VN" sz="2400" b="1"/>
              <a:t>Cặp chân ngõ ra bổ sung (Complementary):</a:t>
            </a:r>
            <a:r>
              <a:rPr lang="vi-VN" sz="2400"/>
              <a:t> Là tính năng Timer xuất ra 2 tín hiệu đối ngược nhau hoàn toàn. Thằng này BẬT thì thằng kia phải TẮT.</a:t>
            </a:r>
            <a:endParaRPr lang="en-US" sz="2400"/>
          </a:p>
          <a:p>
            <a:pPr>
              <a:buFont typeface="Arial" panose="020B0604020202020204" pitchFamily="34" charset="0"/>
              <a:buChar char="•"/>
            </a:pPr>
            <a:endParaRPr lang="vi-VN" sz="2400"/>
          </a:p>
          <a:p>
            <a:pPr>
              <a:buFont typeface="Arial" panose="020B0604020202020204" pitchFamily="34" charset="0"/>
              <a:buChar char="•"/>
            </a:pPr>
            <a:r>
              <a:rPr lang="vi-VN" sz="2400" b="1"/>
              <a:t>Khoảng chết (Dead-time):</a:t>
            </a:r>
            <a:r>
              <a:rPr lang="vi-VN" sz="2400"/>
              <a:t> Trong thực tế, các van điện tử ngắt điện không nhanh như lý thuyết (giống như bạn bấm công tắc tắt đèn, bóng đèn mất một vài phần triệu giây mới tắt hẳn). Nếu vừa tắt van này mà bật van kia ngay, chúng sẽ "dính" vào nhau một chút và gây chập.</a:t>
            </a:r>
            <a:endParaRPr lang="en-US" sz="2400"/>
          </a:p>
          <a:p>
            <a:pPr>
              <a:buFont typeface="Arial" panose="020B0604020202020204" pitchFamily="34" charset="0"/>
              <a:buChar char="•"/>
            </a:pPr>
            <a:endParaRPr lang="vi-VN" sz="2400"/>
          </a:p>
          <a:p>
            <a:r>
              <a:rPr lang="vi-VN" sz="2400" b="1"/>
              <a:t>Giải pháp:</a:t>
            </a:r>
            <a:r>
              <a:rPr lang="vi-VN" sz="2400"/>
              <a:t> Timer nâng cao tự động chèn vào một "khoảng chờ an toàn" (Dead-time) siêu ngắn ở giữa. Nó ép van A tắt hẳn, đợi một chút (khoảng chết), rồi mới cho phép van B bật. Điều này giúp mạch điện an toàn 100%.</a:t>
            </a:r>
          </a:p>
        </p:txBody>
      </p:sp>
    </p:spTree>
    <p:extLst>
      <p:ext uri="{BB962C8B-B14F-4D97-AF65-F5344CB8AC3E}">
        <p14:creationId xmlns:p14="http://schemas.microsoft.com/office/powerpoint/2010/main" val="1032453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81000" y="2247900"/>
            <a:ext cx="16611600" cy="1200329"/>
          </a:xfrm>
          <a:prstGeom prst="rect">
            <a:avLst/>
          </a:prstGeom>
          <a:noFill/>
        </p:spPr>
        <p:txBody>
          <a:bodyPr wrap="square">
            <a:spAutoFit/>
          </a:bodyPr>
          <a:lstStyle/>
          <a:p>
            <a:r>
              <a:rPr lang="en-US" sz="2400" b="1"/>
              <a:t>5. </a:t>
            </a:r>
            <a:r>
              <a:rPr lang="vi-VN" sz="2400" b="1"/>
              <a:t> Advanced-Control Timer (Timer điều khiển nâng cao)</a:t>
            </a:r>
          </a:p>
          <a:p>
            <a:r>
              <a:rPr lang="vi-VN" sz="2400" i="1"/>
              <a:t>Đây là bộ Timer mạnh mẽ nhất, được trang bị thêm các mạch phần cứng chuyên dụng cho điện tử công suất.</a:t>
            </a:r>
            <a:endParaRPr lang="en-US" sz="2400" i="1"/>
          </a:p>
          <a:p>
            <a:endParaRPr lang="vi-VN" sz="2400"/>
          </a:p>
        </p:txBody>
      </p:sp>
      <p:sp>
        <p:nvSpPr>
          <p:cNvPr id="8" name="TextBox 7">
            <a:extLst>
              <a:ext uri="{FF2B5EF4-FFF2-40B4-BE49-F238E27FC236}">
                <a16:creationId xmlns:a16="http://schemas.microsoft.com/office/drawing/2014/main" id="{5F41E2C1-7FF9-50AC-CA2C-E0A612C53467}"/>
              </a:ext>
            </a:extLst>
          </p:cNvPr>
          <p:cNvSpPr txBox="1"/>
          <p:nvPr/>
        </p:nvSpPr>
        <p:spPr>
          <a:xfrm>
            <a:off x="609600" y="3429662"/>
            <a:ext cx="15925800" cy="4893647"/>
          </a:xfrm>
          <a:prstGeom prst="rect">
            <a:avLst/>
          </a:prstGeom>
          <a:noFill/>
        </p:spPr>
        <p:txBody>
          <a:bodyPr wrap="square">
            <a:spAutoFit/>
          </a:bodyPr>
          <a:lstStyle/>
          <a:p>
            <a:r>
              <a:rPr lang="vi-VN" sz="2400" b="1"/>
              <a:t>2. Chân ngắt khẩn cấp phần cứng (Break Input) là gì?</a:t>
            </a:r>
          </a:p>
          <a:p>
            <a:r>
              <a:rPr lang="vi-VN" sz="2400"/>
              <a:t>Hãy nghĩ về </a:t>
            </a:r>
            <a:r>
              <a:rPr lang="vi-VN" sz="2400" b="1"/>
              <a:t>nút dừng khẩn cấp (E-Stop)</a:t>
            </a:r>
            <a:r>
              <a:rPr lang="vi-VN" sz="2400"/>
              <a:t> màu đỏ to đùng trên các máy công nghiệp.</a:t>
            </a:r>
            <a:endParaRPr lang="en-US" sz="2400"/>
          </a:p>
          <a:p>
            <a:endParaRPr lang="vi-VN" sz="2400"/>
          </a:p>
          <a:p>
            <a:pPr>
              <a:buFont typeface="Arial" panose="020B0604020202020204" pitchFamily="34" charset="0"/>
              <a:buChar char="•"/>
            </a:pPr>
            <a:r>
              <a:rPr lang="vi-VN" sz="2400" b="1"/>
              <a:t>Bình thường:</a:t>
            </a:r>
            <a:r>
              <a:rPr lang="vi-VN" sz="2400"/>
              <a:t> Khi mạch điện gặp sự cố (bị quá nhiệt, chập mạch), cảm biến sẽ báo về cho bộ não (CPU). Sau đó, phần mềm (code bạn viết) phải chạy vài dòng lệnh để ra quyết định tắt động cơ. Việc xử lý bằng phần mềm này mất thời gian (dù chỉ là vài mili-giây) nhưng thế là quá trễ để cứu mạch điện khỏi bị cháy nổ.</a:t>
            </a:r>
            <a:endParaRPr lang="en-US" sz="2400"/>
          </a:p>
          <a:p>
            <a:pPr>
              <a:buFont typeface="Arial" panose="020B0604020202020204" pitchFamily="34" charset="0"/>
              <a:buChar char="•"/>
            </a:pPr>
            <a:endParaRPr lang="vi-VN" sz="2400"/>
          </a:p>
          <a:p>
            <a:pPr>
              <a:buFont typeface="Arial" panose="020B0604020202020204" pitchFamily="34" charset="0"/>
              <a:buChar char="•"/>
            </a:pPr>
            <a:r>
              <a:rPr lang="vi-VN" sz="2400" b="1"/>
              <a:t>Cách Timer nâng cao xử lý (Break Input):</a:t>
            </a:r>
            <a:r>
              <a:rPr lang="vi-VN" sz="2400"/>
              <a:t> Chân Break này là một đường dây phần cứng chạy </a:t>
            </a:r>
            <a:r>
              <a:rPr lang="vi-VN" sz="2400" b="1"/>
              <a:t>thẳng trực tiếp</a:t>
            </a:r>
            <a:r>
              <a:rPr lang="vi-VN" sz="2400"/>
              <a:t> từ cảm biến bảo vệ vào trong Timer, </a:t>
            </a:r>
            <a:r>
              <a:rPr lang="vi-VN" sz="2400" b="1"/>
              <a:t>bỏ qua hoàn toàn CPU</a:t>
            </a:r>
            <a:r>
              <a:rPr lang="vi-VN" sz="2400"/>
              <a:t>.</a:t>
            </a:r>
            <a:endParaRPr lang="en-US" sz="2400"/>
          </a:p>
          <a:p>
            <a:pPr>
              <a:buFont typeface="Arial" panose="020B0604020202020204" pitchFamily="34" charset="0"/>
              <a:buChar char="•"/>
            </a:pPr>
            <a:endParaRPr lang="vi-VN" sz="2400"/>
          </a:p>
          <a:p>
            <a:r>
              <a:rPr lang="vi-VN" sz="2400"/>
              <a:t>Khi phát hiện chập điện, chân Break lập tức giật sập toàn bộ các cổng ra, tắt ngóm động cơ ngay tức thì (nhanh gấp hàng nghìn lần so với việc chờ phần mềm xử lý). Nó giống như túi khí ô tô tự nổ khi va chạm chứ không đợi tài xế bấm nút.</a:t>
            </a:r>
          </a:p>
        </p:txBody>
      </p:sp>
    </p:spTree>
    <p:extLst>
      <p:ext uri="{BB962C8B-B14F-4D97-AF65-F5344CB8AC3E}">
        <p14:creationId xmlns:p14="http://schemas.microsoft.com/office/powerpoint/2010/main" val="185657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81000" y="2247900"/>
            <a:ext cx="16611600" cy="1200329"/>
          </a:xfrm>
          <a:prstGeom prst="rect">
            <a:avLst/>
          </a:prstGeom>
          <a:noFill/>
        </p:spPr>
        <p:txBody>
          <a:bodyPr wrap="square">
            <a:spAutoFit/>
          </a:bodyPr>
          <a:lstStyle/>
          <a:p>
            <a:r>
              <a:rPr lang="en-US" sz="2400" b="1"/>
              <a:t>5. </a:t>
            </a:r>
            <a:r>
              <a:rPr lang="vi-VN" sz="2400" b="1"/>
              <a:t> Advanced-Control Timer (Timer điều khiển nâng cao)</a:t>
            </a:r>
          </a:p>
          <a:p>
            <a:r>
              <a:rPr lang="vi-VN" sz="2400" i="1"/>
              <a:t>Đây là bộ Timer mạnh mẽ nhất, được trang bị thêm các mạch phần cứng chuyên dụng cho điện tử công suất.</a:t>
            </a:r>
            <a:endParaRPr lang="en-US" sz="2400" i="1"/>
          </a:p>
          <a:p>
            <a:endParaRPr lang="vi-VN" sz="2400"/>
          </a:p>
        </p:txBody>
      </p:sp>
      <p:sp>
        <p:nvSpPr>
          <p:cNvPr id="8" name="TextBox 7">
            <a:extLst>
              <a:ext uri="{FF2B5EF4-FFF2-40B4-BE49-F238E27FC236}">
                <a16:creationId xmlns:a16="http://schemas.microsoft.com/office/drawing/2014/main" id="{5F41E2C1-7FF9-50AC-CA2C-E0A612C53467}"/>
              </a:ext>
            </a:extLst>
          </p:cNvPr>
          <p:cNvSpPr txBox="1"/>
          <p:nvPr/>
        </p:nvSpPr>
        <p:spPr>
          <a:xfrm>
            <a:off x="609600" y="3429662"/>
            <a:ext cx="15925800" cy="5632311"/>
          </a:xfrm>
          <a:prstGeom prst="rect">
            <a:avLst/>
          </a:prstGeom>
          <a:noFill/>
        </p:spPr>
        <p:txBody>
          <a:bodyPr wrap="square">
            <a:spAutoFit/>
          </a:bodyPr>
          <a:lstStyle/>
          <a:p>
            <a:r>
              <a:rPr lang="vi-VN" sz="2400" b="1"/>
              <a:t>3. Khi nào thì cần dùng đến bộ Timer này?</a:t>
            </a:r>
          </a:p>
          <a:p>
            <a:r>
              <a:rPr lang="vi-VN" sz="2400"/>
              <a:t>Bộ Timer này thường xuất hiện dưới cái tên </a:t>
            </a:r>
            <a:r>
              <a:rPr lang="vi-VN" sz="2400" b="1"/>
              <a:t>TIM1</a:t>
            </a:r>
            <a:r>
              <a:rPr lang="vi-VN" sz="2400"/>
              <a:t> và </a:t>
            </a:r>
            <a:r>
              <a:rPr lang="vi-VN" sz="2400" b="1"/>
              <a:t>TIM8</a:t>
            </a:r>
            <a:r>
              <a:rPr lang="vi-VN" sz="2400"/>
              <a:t> trên dòng vi điều khiển phổ biến STM32. Bạn chỉ cần gọi chúng ra khi làm các dự án "hạng nặng" sau:</a:t>
            </a:r>
            <a:endParaRPr lang="en-US" sz="2400"/>
          </a:p>
          <a:p>
            <a:endParaRPr lang="vi-VN" sz="2400"/>
          </a:p>
          <a:p>
            <a:pPr>
              <a:buFont typeface="Arial" panose="020B0604020202020204" pitchFamily="34" charset="0"/>
              <a:buChar char="•"/>
            </a:pPr>
            <a:r>
              <a:rPr lang="vi-VN" sz="2400" b="1"/>
              <a:t>Điều khiển động cơ BLDC (Động cơ không chổi than):</a:t>
            </a:r>
            <a:r>
              <a:rPr lang="vi-VN" sz="2400"/>
              <a:t> Chính là động cơ trong các con Drone (máy bay không người lái), quạt tích điện cao cấp, hoặc xe máy điện. Các động cơ này đòi hỏi đảo chiều điện liên tục và cực kỳ chính xác.</a:t>
            </a:r>
            <a:endParaRPr lang="en-US" sz="2400"/>
          </a:p>
          <a:p>
            <a:pPr>
              <a:buFont typeface="Arial" panose="020B0604020202020204" pitchFamily="34" charset="0"/>
              <a:buChar char="•"/>
            </a:pPr>
            <a:endParaRPr lang="vi-VN" sz="2400"/>
          </a:p>
          <a:p>
            <a:pPr>
              <a:buFont typeface="Arial" panose="020B0604020202020204" pitchFamily="34" charset="0"/>
              <a:buChar char="•"/>
            </a:pPr>
            <a:r>
              <a:rPr lang="vi-VN" sz="2400" b="1"/>
              <a:t>Mạch biến tần (Inverter) hoặc bộ sạc pin thông minh:</a:t>
            </a:r>
            <a:r>
              <a:rPr lang="vi-VN" sz="2400"/>
              <a:t> Thiết bị đổi điện từ Ắc-quy 12V lên điện lưới 220V gia đình, hoặc các mạch nguồn máy tính (SMPS) cần dòng điện cực kỳ ổn định và hiệu suất cao.</a:t>
            </a:r>
          </a:p>
          <a:p>
            <a:r>
              <a:rPr lang="vi-VN" sz="2400" b="1"/>
              <a:t>Tóm lại cho người mới:</a:t>
            </a:r>
            <a:r>
              <a:rPr lang="vi-VN" sz="2400"/>
              <a:t> Nếu bạn chỉ làm nhấp nháy đèn LED, làm đồng hồ đếm giây, hay điều khiển xe robot đồ chơi nhỏ, bạn </a:t>
            </a:r>
            <a:r>
              <a:rPr lang="vi-VN" sz="2400" b="1"/>
              <a:t>chỉ cần dùng Timer thường (General-Purpose)</a:t>
            </a:r>
            <a:r>
              <a:rPr lang="vi-VN" sz="2400"/>
              <a:t>. Nhưng khi bạn chạm vào những thứ liên quan đến dòng điện lớn, động cơ công suất cao dễ cháy nổ, bạn </a:t>
            </a:r>
            <a:r>
              <a:rPr lang="vi-VN" sz="2400" b="1"/>
              <a:t>bắt buộc phải dùng Advanced-Control Timer</a:t>
            </a:r>
            <a:r>
              <a:rPr lang="vi-VN" sz="2400"/>
              <a:t> vì nó có "khoảng chết an toàn" và "phanh khẩn cấp bằng phần cứng".</a:t>
            </a:r>
          </a:p>
          <a:p>
            <a:endParaRPr lang="vi-VN" sz="2400"/>
          </a:p>
        </p:txBody>
      </p:sp>
    </p:spTree>
    <p:extLst>
      <p:ext uri="{BB962C8B-B14F-4D97-AF65-F5344CB8AC3E}">
        <p14:creationId xmlns:p14="http://schemas.microsoft.com/office/powerpoint/2010/main" val="23278800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81000" y="1943099"/>
            <a:ext cx="17378002" cy="4467057"/>
          </a:xfrm>
          <a:prstGeom prst="rect">
            <a:avLst/>
          </a:prstGeom>
          <a:noFill/>
        </p:spPr>
        <p:txBody>
          <a:bodyPr wrap="square">
            <a:spAutoFit/>
          </a:bodyPr>
          <a:lstStyle/>
          <a:p>
            <a:pPr>
              <a:lnSpc>
                <a:spcPct val="150000"/>
              </a:lnSpc>
            </a:pPr>
            <a:r>
              <a:rPr lang="vi-VN" sz="2400" b="1">
                <a:effectLst/>
                <a:latin typeface="Google Sans"/>
              </a:rPr>
              <a:t>1. Cấu trúc 4 khối cơ bản của một bộ Timer</a:t>
            </a:r>
          </a:p>
          <a:p>
            <a:pPr>
              <a:lnSpc>
                <a:spcPct val="150000"/>
              </a:lnSpc>
            </a:pPr>
            <a:r>
              <a:rPr lang="vi-VN" sz="2400" b="1">
                <a:effectLst/>
                <a:latin typeface="Google Sans"/>
              </a:rPr>
              <a:t>Khối 1: Bộ chọn nguồn xung và Chia tần số (Clock Source &amp; Prescaler)</a:t>
            </a:r>
          </a:p>
          <a:p>
            <a:pPr>
              <a:lnSpc>
                <a:spcPct val="150000"/>
              </a:lnSpc>
            </a:pPr>
            <a:r>
              <a:rPr lang="vi-VN" sz="2400">
                <a:effectLst/>
                <a:latin typeface="Google Sans Text"/>
              </a:rPr>
              <a:t>Đây là "đầu vào" của Timer, quyết định tốc độ đếm nhanh hay chậm.</a:t>
            </a:r>
          </a:p>
          <a:p>
            <a:pPr marL="342900" indent="-342900">
              <a:lnSpc>
                <a:spcPct val="150000"/>
              </a:lnSpc>
              <a:buFont typeface="Arial" panose="020B0604020202020204" pitchFamily="34" charset="0"/>
              <a:buChar char="•"/>
            </a:pPr>
            <a:r>
              <a:rPr lang="vi-VN" sz="2400" b="1">
                <a:effectLst/>
                <a:latin typeface="Google Sans Text"/>
              </a:rPr>
              <a:t>Clock Source (Nguồn xung):</a:t>
            </a:r>
            <a:r>
              <a:rPr lang="vi-VN" sz="2400">
                <a:effectLst/>
                <a:latin typeface="Google Sans Text"/>
              </a:rPr>
              <a:t> Timer có thể lấy xung nhịp từ thạch anh hệ thống (Internal Clock) hoặc lấy xung từ một chân cắm bên ngoài (External Clock - dùng trong chế độ Counter).</a:t>
            </a:r>
          </a:p>
          <a:p>
            <a:pPr marL="342900" indent="-342900">
              <a:lnSpc>
                <a:spcPct val="150000"/>
              </a:lnSpc>
              <a:buFont typeface="Arial" panose="020B0604020202020204" pitchFamily="34" charset="0"/>
              <a:buChar char="•"/>
            </a:pPr>
            <a:r>
              <a:rPr lang="vi-VN" sz="2400" b="1">
                <a:effectLst/>
                <a:latin typeface="Google Sans Text"/>
              </a:rPr>
              <a:t>Prescaler (Bộ chia tần số - PSC):</a:t>
            </a:r>
            <a:r>
              <a:rPr lang="vi-VN" sz="2400">
                <a:effectLst/>
                <a:latin typeface="Google Sans Text"/>
              </a:rPr>
              <a:t> Là một bộ chia 16-bit. Xung nhịp hệ thống thường rất cao</a:t>
            </a:r>
            <a:r>
              <a:rPr lang="en-US" sz="2400">
                <a:effectLst/>
                <a:latin typeface="Google Sans Text"/>
              </a:rPr>
              <a:t>. </a:t>
            </a:r>
            <a:r>
              <a:rPr lang="vi-VN" sz="2400">
                <a:effectLst/>
                <a:latin typeface="Google Sans Text"/>
              </a:rPr>
              <a:t>Nếu đưa thẳng vào bộ đếm thì Timer sẽ bị tràn rất nhanh. Bộ Prescaler sẽ chia nhỏ tần số này xuống 2, 4, 8... hoặc 65536 lần để bộ đếm có thể đếm được các khoảng thời gian dài hơn theo ý muốn.</a:t>
            </a:r>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52CA38F0-93E6-DF7F-DCA5-BCE77F271B80}"/>
              </a:ext>
            </a:extLst>
          </p:cNvPr>
          <p:cNvPicPr>
            <a:picLocks noChangeAspect="1"/>
          </p:cNvPicPr>
          <p:nvPr/>
        </p:nvPicPr>
        <p:blipFill>
          <a:blip r:embed="rId3"/>
          <a:stretch>
            <a:fillRect/>
          </a:stretch>
        </p:blipFill>
        <p:spPr>
          <a:xfrm>
            <a:off x="4343400" y="6893983"/>
            <a:ext cx="8772525" cy="2899836"/>
          </a:xfrm>
          <a:prstGeom prst="rect">
            <a:avLst/>
          </a:prstGeom>
        </p:spPr>
      </p:pic>
    </p:spTree>
    <p:extLst>
      <p:ext uri="{BB962C8B-B14F-4D97-AF65-F5344CB8AC3E}">
        <p14:creationId xmlns:p14="http://schemas.microsoft.com/office/powerpoint/2010/main" val="1125399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81000" y="1943099"/>
            <a:ext cx="17378002" cy="4005392"/>
          </a:xfrm>
          <a:prstGeom prst="rect">
            <a:avLst/>
          </a:prstGeom>
          <a:noFill/>
        </p:spPr>
        <p:txBody>
          <a:bodyPr wrap="square">
            <a:spAutoFit/>
          </a:bodyPr>
          <a:lstStyle/>
          <a:p>
            <a:pPr>
              <a:lnSpc>
                <a:spcPct val="150000"/>
              </a:lnSpc>
            </a:pPr>
            <a:r>
              <a:rPr lang="vi-VN" sz="2800" b="1">
                <a:effectLst/>
                <a:latin typeface="Google Sans"/>
              </a:rPr>
              <a:t>Prescaler là gì? (Bộ chia tần số)</a:t>
            </a:r>
          </a:p>
          <a:p>
            <a:pPr>
              <a:lnSpc>
                <a:spcPct val="150000"/>
              </a:lnSpc>
            </a:pPr>
            <a:r>
              <a:rPr lang="vi-VN" sz="2400" b="1">
                <a:effectLst/>
                <a:latin typeface="Google Sans Text"/>
              </a:rPr>
              <a:t>Prescaler</a:t>
            </a:r>
            <a:r>
              <a:rPr lang="vi-VN" sz="2400">
                <a:effectLst/>
                <a:latin typeface="Google Sans Text"/>
              </a:rPr>
              <a:t> (viết tắt là </a:t>
            </a:r>
            <a:r>
              <a:rPr lang="vi-VN" sz="2400" b="1">
                <a:effectLst/>
                <a:latin typeface="Google Sans Text"/>
              </a:rPr>
              <a:t>PSC</a:t>
            </a:r>
            <a:r>
              <a:rPr lang="vi-VN" sz="2400">
                <a:effectLst/>
                <a:latin typeface="Google Sans Text"/>
              </a:rPr>
              <a:t>) là một bộ chia tần số bằng phần cứng nằm ngay trước bộ đếm (Counter) của Timer. Nó đóng vai trò như một "hộp số" để giảm tốc độ của xung nhịp hệ thống (Input Clock) trước khi đưa vào bộ đếm.</a:t>
            </a:r>
          </a:p>
          <a:p>
            <a:pPr>
              <a:lnSpc>
                <a:spcPct val="150000"/>
              </a:lnSpc>
            </a:pPr>
            <a:r>
              <a:rPr lang="vi-VN" sz="2400" b="1">
                <a:effectLst/>
                <a:latin typeface="Google Sans"/>
              </a:rPr>
              <a:t>Đặc điểm và Nguyên lý hoạt động:</a:t>
            </a:r>
          </a:p>
          <a:p>
            <a:pPr marL="800100" lvl="1" indent="-342900">
              <a:lnSpc>
                <a:spcPct val="150000"/>
              </a:lnSpc>
              <a:buFont typeface="Arial" panose="020B0604020202020204" pitchFamily="34" charset="0"/>
              <a:buChar char="•"/>
            </a:pPr>
            <a:r>
              <a:rPr lang="vi-VN" sz="2400" b="1">
                <a:effectLst/>
                <a:latin typeface="Google Sans Text"/>
              </a:rPr>
              <a:t>Nhiệm vụ:</a:t>
            </a:r>
            <a:r>
              <a:rPr lang="vi-VN" sz="2400">
                <a:effectLst/>
                <a:latin typeface="Google Sans Text"/>
              </a:rPr>
              <a:t> Giá trị Prescaler quyết định </a:t>
            </a:r>
            <a:r>
              <a:rPr lang="vi-VN" sz="2400" b="1">
                <a:effectLst/>
                <a:latin typeface="Google Sans Text"/>
              </a:rPr>
              <a:t>cần bao nhiêu chu kỳ xung nhịp đầu vào</a:t>
            </a:r>
            <a:r>
              <a:rPr lang="vi-VN" sz="2400">
                <a:effectLst/>
                <a:latin typeface="Google Sans Text"/>
              </a:rPr>
              <a:t> thì bộ đếm mới được tăng lên 1 đơn vị.</a:t>
            </a:r>
          </a:p>
          <a:p>
            <a:pPr marL="800100" lvl="1" indent="-342900">
              <a:lnSpc>
                <a:spcPct val="150000"/>
              </a:lnSpc>
              <a:buFont typeface="Arial" panose="020B0604020202020204" pitchFamily="34" charset="0"/>
              <a:buChar char="•"/>
            </a:pPr>
            <a:r>
              <a:rPr lang="en-US" sz="2400" b="1">
                <a:latin typeface="Google Sans Text"/>
              </a:rPr>
              <a:t>T</a:t>
            </a:r>
            <a:r>
              <a:rPr lang="vi-VN" sz="2400" b="1">
                <a:effectLst/>
                <a:latin typeface="Google Sans Text"/>
              </a:rPr>
              <a:t>ầm cấu hình:</a:t>
            </a:r>
            <a:r>
              <a:rPr lang="vi-VN" sz="2400">
                <a:effectLst/>
                <a:latin typeface="Google Sans Text"/>
              </a:rPr>
              <a:t> Các vi điều khiển hiện đại (như STM32, PIC, AVR) thường cho phép cấu hình bộ chia này trong khoảng từ </a:t>
            </a:r>
            <a:r>
              <a:rPr lang="vi-VN" sz="2400" b="1">
                <a:effectLst/>
                <a:latin typeface="Google Sans Text"/>
              </a:rPr>
              <a:t>1:1</a:t>
            </a:r>
            <a:r>
              <a:rPr lang="vi-VN" sz="2400">
                <a:effectLst/>
                <a:latin typeface="Google Sans Text"/>
              </a:rPr>
              <a:t> (không chia) cho đến </a:t>
            </a:r>
            <a:r>
              <a:rPr lang="vi-VN" sz="2400" b="1">
                <a:effectLst/>
                <a:latin typeface="Google Sans Text"/>
              </a:rPr>
              <a:t>1:65536</a:t>
            </a:r>
            <a:r>
              <a:rPr lang="vi-VN" sz="2400">
                <a:effectLst/>
                <a:latin typeface="Google Sans Text"/>
              </a:rPr>
              <a:t> (chia cho 65.536).</a:t>
            </a:r>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3" name="Picture 12">
            <a:extLst>
              <a:ext uri="{FF2B5EF4-FFF2-40B4-BE49-F238E27FC236}">
                <a16:creationId xmlns:a16="http://schemas.microsoft.com/office/drawing/2014/main" id="{9FECC635-31CC-078E-9481-B3A64729D574}"/>
              </a:ext>
            </a:extLst>
          </p:cNvPr>
          <p:cNvPicPr>
            <a:picLocks noChangeAspect="1"/>
          </p:cNvPicPr>
          <p:nvPr/>
        </p:nvPicPr>
        <p:blipFill>
          <a:blip r:embed="rId3"/>
          <a:stretch>
            <a:fillRect/>
          </a:stretch>
        </p:blipFill>
        <p:spPr>
          <a:xfrm>
            <a:off x="3156157" y="6443442"/>
            <a:ext cx="12280485" cy="2952040"/>
          </a:xfrm>
          <a:prstGeom prst="rect">
            <a:avLst/>
          </a:prstGeom>
        </p:spPr>
      </p:pic>
    </p:spTree>
    <p:extLst>
      <p:ext uri="{BB962C8B-B14F-4D97-AF65-F5344CB8AC3E}">
        <p14:creationId xmlns:p14="http://schemas.microsoft.com/office/powerpoint/2010/main" val="41005825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81000" y="1943099"/>
            <a:ext cx="17378002" cy="2677656"/>
          </a:xfrm>
          <a:prstGeom prst="rect">
            <a:avLst/>
          </a:prstGeom>
          <a:noFill/>
        </p:spPr>
        <p:txBody>
          <a:bodyPr wrap="square">
            <a:spAutoFit/>
          </a:bodyPr>
          <a:lstStyle/>
          <a:p>
            <a:pPr>
              <a:lnSpc>
                <a:spcPct val="150000"/>
              </a:lnSpc>
            </a:pPr>
            <a:r>
              <a:rPr lang="vi-VN" sz="2400" b="1">
                <a:effectLst/>
                <a:latin typeface="Google Sans"/>
              </a:rPr>
              <a:t>Tác động của Prescaler đến Timer:</a:t>
            </a:r>
          </a:p>
          <a:p>
            <a:pPr marL="342900" indent="-342900">
              <a:lnSpc>
                <a:spcPct val="150000"/>
              </a:lnSpc>
              <a:buFont typeface="Arial" panose="020B0604020202020204" pitchFamily="34" charset="0"/>
              <a:buChar char="•"/>
            </a:pPr>
            <a:r>
              <a:rPr lang="vi-VN" sz="2400" b="1">
                <a:effectLst/>
                <a:latin typeface="Google Sans Text"/>
              </a:rPr>
              <a:t>Cài đặt Prescaler LỚN (Ví dụ 1:64, 1:1024):</a:t>
            </a:r>
            <a:r>
              <a:rPr lang="vi-VN" sz="2400">
                <a:effectLst/>
                <a:latin typeface="Google Sans Text"/>
              </a:rPr>
              <a:t> Tần số đếm giảm đi </a:t>
            </a:r>
            <a:r>
              <a:rPr lang="en-US" sz="2400">
                <a:effectLst/>
                <a:latin typeface="Google Sans Text"/>
                <a:sym typeface="Wingdings" panose="05000000000000000000" pitchFamily="2" charset="2"/>
              </a:rPr>
              <a:t> </a:t>
            </a:r>
            <a:r>
              <a:rPr lang="vi-VN" sz="2400">
                <a:effectLst/>
                <a:latin typeface="Google Sans Text"/>
              </a:rPr>
              <a:t>Bộ đếm tăng chậm hơn </a:t>
            </a:r>
            <a:r>
              <a:rPr lang="en-US" sz="2400">
                <a:effectLst/>
                <a:latin typeface="Google Sans Text"/>
                <a:sym typeface="Wingdings" panose="05000000000000000000" pitchFamily="2" charset="2"/>
              </a:rPr>
              <a:t> </a:t>
            </a:r>
            <a:r>
              <a:rPr lang="vi-VN" sz="2400">
                <a:effectLst/>
                <a:latin typeface="Google Sans Text"/>
              </a:rPr>
              <a:t>Đo được khoảng thời gian </a:t>
            </a:r>
            <a:r>
              <a:rPr lang="vi-VN" sz="2400" b="1">
                <a:effectLst/>
                <a:latin typeface="Google Sans Text"/>
              </a:rPr>
              <a:t>DÀI HƠN</a:t>
            </a:r>
            <a:r>
              <a:rPr lang="vi-VN" sz="2400">
                <a:effectLst/>
                <a:latin typeface="Google Sans Text"/>
              </a:rPr>
              <a:t> nhưng độ phân giải sẽ </a:t>
            </a:r>
            <a:r>
              <a:rPr lang="vi-VN" sz="2400" b="1">
                <a:effectLst/>
                <a:latin typeface="Google Sans Text"/>
              </a:rPr>
              <a:t>THÔ HƠN</a:t>
            </a:r>
            <a:r>
              <a:rPr lang="vi-VN" sz="2400">
                <a:effectLst/>
                <a:latin typeface="Google Sans Text"/>
              </a:rPr>
              <a:t> (coarser resolution - khoảng cách giữa các bước đếm lớn hơn).</a:t>
            </a:r>
            <a:endParaRPr lang="en-US" sz="2400">
              <a:effectLst/>
              <a:latin typeface="Google Sans Text"/>
            </a:endParaRPr>
          </a:p>
          <a:p>
            <a:pPr marL="342900" indent="-342900">
              <a:lnSpc>
                <a:spcPct val="150000"/>
              </a:lnSpc>
              <a:buFont typeface="Arial" panose="020B0604020202020204" pitchFamily="34" charset="0"/>
              <a:buChar char="•"/>
            </a:pPr>
            <a:endParaRPr lang="vi-VN" sz="2400">
              <a:effectLst/>
              <a:latin typeface="Google Sans Text"/>
            </a:endParaRPr>
          </a:p>
          <a:p>
            <a:endParaRPr lang="vi-VN" sz="2400">
              <a:effectLst/>
              <a:latin typeface="Google Sans Text"/>
            </a:endParaRPr>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60B00362-4C4D-7BE2-98B6-818A261A5A93}"/>
              </a:ext>
            </a:extLst>
          </p:cNvPr>
          <p:cNvPicPr>
            <a:picLocks noChangeAspect="1"/>
          </p:cNvPicPr>
          <p:nvPr/>
        </p:nvPicPr>
        <p:blipFill>
          <a:blip r:embed="rId3"/>
          <a:stretch>
            <a:fillRect/>
          </a:stretch>
        </p:blipFill>
        <p:spPr>
          <a:xfrm>
            <a:off x="2815465" y="3924300"/>
            <a:ext cx="12352270" cy="5938838"/>
          </a:xfrm>
          <a:prstGeom prst="rect">
            <a:avLst/>
          </a:prstGeom>
        </p:spPr>
      </p:pic>
    </p:spTree>
    <p:extLst>
      <p:ext uri="{BB962C8B-B14F-4D97-AF65-F5344CB8AC3E}">
        <p14:creationId xmlns:p14="http://schemas.microsoft.com/office/powerpoint/2010/main" val="2809951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81000" y="1943099"/>
            <a:ext cx="17378002" cy="2123658"/>
          </a:xfrm>
          <a:prstGeom prst="rect">
            <a:avLst/>
          </a:prstGeom>
          <a:noFill/>
        </p:spPr>
        <p:txBody>
          <a:bodyPr wrap="square">
            <a:spAutoFit/>
          </a:bodyPr>
          <a:lstStyle/>
          <a:p>
            <a:pPr>
              <a:lnSpc>
                <a:spcPct val="150000"/>
              </a:lnSpc>
            </a:pPr>
            <a:r>
              <a:rPr lang="vi-VN" sz="2400" b="1">
                <a:effectLst/>
                <a:latin typeface="Google Sans"/>
              </a:rPr>
              <a:t>Tác động của Prescaler đến Timer:</a:t>
            </a:r>
            <a:endParaRPr lang="vi-VN" sz="2400">
              <a:effectLst/>
              <a:latin typeface="Google Sans Text"/>
            </a:endParaRPr>
          </a:p>
          <a:p>
            <a:pPr marL="342900" indent="-342900">
              <a:lnSpc>
                <a:spcPct val="150000"/>
              </a:lnSpc>
              <a:buFont typeface="Arial" panose="020B0604020202020204" pitchFamily="34" charset="0"/>
              <a:buChar char="•"/>
            </a:pPr>
            <a:r>
              <a:rPr lang="vi-VN" sz="2400" b="1">
                <a:effectLst/>
                <a:latin typeface="Google Sans Text"/>
              </a:rPr>
              <a:t>Cài đặt Prescaler NHỎ (Ví dụ 1:1, 1:2):</a:t>
            </a:r>
            <a:r>
              <a:rPr lang="vi-VN" sz="2400">
                <a:effectLst/>
                <a:latin typeface="Google Sans Text"/>
              </a:rPr>
              <a:t> Tần số đếm giữ ở mức cao </a:t>
            </a:r>
            <a:r>
              <a:rPr lang="en-US" sz="2400">
                <a:effectLst/>
                <a:latin typeface="Google Sans Text"/>
                <a:sym typeface="Wingdings" panose="05000000000000000000" pitchFamily="2" charset="2"/>
              </a:rPr>
              <a:t> </a:t>
            </a:r>
            <a:r>
              <a:rPr lang="vi-VN" sz="2400">
                <a:effectLst/>
                <a:latin typeface="Google Sans Text"/>
              </a:rPr>
              <a:t>Bộ đếm tăng cực nhanh </a:t>
            </a:r>
            <a:r>
              <a:rPr lang="en-US" sz="2400">
                <a:effectLst/>
                <a:latin typeface="Google Sans Text"/>
                <a:sym typeface="Wingdings" panose="05000000000000000000" pitchFamily="2" charset="2"/>
              </a:rPr>
              <a:t> </a:t>
            </a:r>
            <a:r>
              <a:rPr lang="vi-VN" sz="2400">
                <a:effectLst/>
                <a:latin typeface="Google Sans Text"/>
              </a:rPr>
              <a:t>Đo được thời gian chính xác tới từng nano-giây (</a:t>
            </a:r>
            <a:r>
              <a:rPr lang="vi-VN" sz="2400" b="1">
                <a:effectLst/>
                <a:latin typeface="Google Sans Text"/>
              </a:rPr>
              <a:t>độ phân giải MỊN HƠN</a:t>
            </a:r>
            <a:r>
              <a:rPr lang="vi-VN" sz="2400">
                <a:effectLst/>
                <a:latin typeface="Google Sans Text"/>
              </a:rPr>
              <a:t> - finer resolution) nhưng Timer sẽ bị tràn rất nhanh, không đo được khoảng thời gian dài.</a:t>
            </a:r>
          </a:p>
          <a:p>
            <a:endParaRPr lang="vi-VN" sz="2400">
              <a:effectLst/>
              <a:latin typeface="Google Sans Text"/>
            </a:endParaRPr>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B6C3F1E7-6C21-6ABE-52F1-83EE14015F34}"/>
              </a:ext>
            </a:extLst>
          </p:cNvPr>
          <p:cNvPicPr>
            <a:picLocks noChangeAspect="1"/>
          </p:cNvPicPr>
          <p:nvPr/>
        </p:nvPicPr>
        <p:blipFill>
          <a:blip r:embed="rId3"/>
          <a:stretch>
            <a:fillRect/>
          </a:stretch>
        </p:blipFill>
        <p:spPr>
          <a:xfrm>
            <a:off x="2852557" y="3924300"/>
            <a:ext cx="12434887" cy="5534816"/>
          </a:xfrm>
          <a:prstGeom prst="rect">
            <a:avLst/>
          </a:prstGeom>
        </p:spPr>
      </p:pic>
    </p:spTree>
    <p:extLst>
      <p:ext uri="{BB962C8B-B14F-4D97-AF65-F5344CB8AC3E}">
        <p14:creationId xmlns:p14="http://schemas.microsoft.com/office/powerpoint/2010/main" val="22420314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81000" y="1943099"/>
            <a:ext cx="17378002" cy="3785652"/>
          </a:xfrm>
          <a:prstGeom prst="rect">
            <a:avLst/>
          </a:prstGeom>
          <a:noFill/>
        </p:spPr>
        <p:txBody>
          <a:bodyPr wrap="square">
            <a:spAutoFit/>
          </a:bodyPr>
          <a:lstStyle/>
          <a:p>
            <a:pPr>
              <a:lnSpc>
                <a:spcPct val="150000"/>
              </a:lnSpc>
            </a:pPr>
            <a:r>
              <a:rPr lang="vi-VN" sz="2400" b="1">
                <a:effectLst/>
                <a:latin typeface="Google Sans"/>
              </a:rPr>
              <a:t>Tác động của Prescaler đến Timer:</a:t>
            </a:r>
          </a:p>
          <a:p>
            <a:pPr marL="342900" indent="-342900">
              <a:lnSpc>
                <a:spcPct val="150000"/>
              </a:lnSpc>
              <a:buFont typeface="Arial" panose="020B0604020202020204" pitchFamily="34" charset="0"/>
              <a:buChar char="•"/>
            </a:pPr>
            <a:r>
              <a:rPr lang="vi-VN" sz="2400" b="1">
                <a:effectLst/>
                <a:latin typeface="Google Sans Text"/>
              </a:rPr>
              <a:t>Cài đặt Prescaler LỚN (Ví dụ 1:64, 1:1024):</a:t>
            </a:r>
            <a:r>
              <a:rPr lang="vi-VN" sz="2400">
                <a:effectLst/>
                <a:latin typeface="Google Sans Text"/>
              </a:rPr>
              <a:t> Tần số đếm giảm đi </a:t>
            </a:r>
            <a:r>
              <a:rPr lang="en-US" sz="2400">
                <a:effectLst/>
                <a:latin typeface="Google Sans Text"/>
                <a:sym typeface="Wingdings" panose="05000000000000000000" pitchFamily="2" charset="2"/>
              </a:rPr>
              <a:t> </a:t>
            </a:r>
            <a:r>
              <a:rPr lang="vi-VN" sz="2400">
                <a:effectLst/>
                <a:latin typeface="Google Sans Text"/>
              </a:rPr>
              <a:t>Bộ đếm tăng chậm hơn </a:t>
            </a:r>
            <a:r>
              <a:rPr lang="en-US" sz="2400">
                <a:effectLst/>
                <a:latin typeface="Google Sans Text"/>
                <a:sym typeface="Wingdings" panose="05000000000000000000" pitchFamily="2" charset="2"/>
              </a:rPr>
              <a:t> </a:t>
            </a:r>
            <a:r>
              <a:rPr lang="vi-VN" sz="2400">
                <a:effectLst/>
                <a:latin typeface="Google Sans Text"/>
              </a:rPr>
              <a:t>Đo được khoảng thời gian </a:t>
            </a:r>
            <a:r>
              <a:rPr lang="vi-VN" sz="2400" b="1">
                <a:effectLst/>
                <a:latin typeface="Google Sans Text"/>
              </a:rPr>
              <a:t>DÀI HƠN</a:t>
            </a:r>
            <a:r>
              <a:rPr lang="vi-VN" sz="2400">
                <a:effectLst/>
                <a:latin typeface="Google Sans Text"/>
              </a:rPr>
              <a:t> nhưng độ phân giải sẽ </a:t>
            </a:r>
            <a:r>
              <a:rPr lang="vi-VN" sz="2400" b="1">
                <a:effectLst/>
                <a:latin typeface="Google Sans Text"/>
              </a:rPr>
              <a:t>THÔ HƠN</a:t>
            </a:r>
            <a:r>
              <a:rPr lang="vi-VN" sz="2400">
                <a:effectLst/>
                <a:latin typeface="Google Sans Text"/>
              </a:rPr>
              <a:t> (coarser resolution - khoảng cách giữa các bước đếm lớn hơn).</a:t>
            </a:r>
            <a:endParaRPr lang="en-US" sz="2400">
              <a:effectLst/>
              <a:latin typeface="Google Sans Text"/>
            </a:endParaRPr>
          </a:p>
          <a:p>
            <a:pPr marL="342900" indent="-342900">
              <a:lnSpc>
                <a:spcPct val="150000"/>
              </a:lnSpc>
              <a:buFont typeface="Arial" panose="020B0604020202020204" pitchFamily="34" charset="0"/>
              <a:buChar char="•"/>
            </a:pPr>
            <a:endParaRPr lang="vi-VN" sz="2400">
              <a:effectLst/>
              <a:latin typeface="Google Sans Text"/>
            </a:endParaRPr>
          </a:p>
          <a:p>
            <a:pPr marL="342900" indent="-342900">
              <a:lnSpc>
                <a:spcPct val="150000"/>
              </a:lnSpc>
              <a:buFont typeface="Arial" panose="020B0604020202020204" pitchFamily="34" charset="0"/>
              <a:buChar char="•"/>
            </a:pPr>
            <a:r>
              <a:rPr lang="vi-VN" sz="2400" b="1">
                <a:effectLst/>
                <a:latin typeface="Google Sans Text"/>
              </a:rPr>
              <a:t>Cài đặt Prescaler NHỎ (Ví dụ 1:1, 1:2):</a:t>
            </a:r>
            <a:r>
              <a:rPr lang="vi-VN" sz="2400">
                <a:effectLst/>
                <a:latin typeface="Google Sans Text"/>
              </a:rPr>
              <a:t> Tần số đếm giữ ở mức cao </a:t>
            </a:r>
            <a:r>
              <a:rPr lang="en-US" sz="2400">
                <a:effectLst/>
                <a:latin typeface="Google Sans Text"/>
                <a:sym typeface="Wingdings" panose="05000000000000000000" pitchFamily="2" charset="2"/>
              </a:rPr>
              <a:t> </a:t>
            </a:r>
            <a:r>
              <a:rPr lang="vi-VN" sz="2400">
                <a:effectLst/>
                <a:latin typeface="Google Sans Text"/>
              </a:rPr>
              <a:t>Bộ đếm tăng cực nhanh </a:t>
            </a:r>
            <a:r>
              <a:rPr lang="en-US" sz="2400">
                <a:effectLst/>
                <a:latin typeface="Google Sans Text"/>
                <a:sym typeface="Wingdings" panose="05000000000000000000" pitchFamily="2" charset="2"/>
              </a:rPr>
              <a:t> </a:t>
            </a:r>
            <a:r>
              <a:rPr lang="vi-VN" sz="2400">
                <a:effectLst/>
                <a:latin typeface="Google Sans Text"/>
              </a:rPr>
              <a:t>Đo được thời gian chính xác tới từng nano-giây (</a:t>
            </a:r>
            <a:r>
              <a:rPr lang="vi-VN" sz="2400" b="1">
                <a:effectLst/>
                <a:latin typeface="Google Sans Text"/>
              </a:rPr>
              <a:t>độ phân giải MỊN HƠN</a:t>
            </a:r>
            <a:r>
              <a:rPr lang="vi-VN" sz="2400">
                <a:effectLst/>
                <a:latin typeface="Google Sans Text"/>
              </a:rPr>
              <a:t> - finer resolution) nhưng Timer sẽ bị tràn rất nhanh, không đo được khoảng thời gian dài.</a:t>
            </a:r>
          </a:p>
          <a:p>
            <a:endParaRPr lang="vi-VN" sz="2400">
              <a:effectLst/>
              <a:latin typeface="Google Sans Text"/>
            </a:endParaRPr>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6268083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242887" y="2291298"/>
            <a:ext cx="17378002" cy="1938992"/>
          </a:xfrm>
          <a:prstGeom prst="rect">
            <a:avLst/>
          </a:prstGeom>
          <a:noFill/>
        </p:spPr>
        <p:txBody>
          <a:bodyPr wrap="square">
            <a:spAutoFit/>
          </a:bodyPr>
          <a:lstStyle/>
          <a:p>
            <a:r>
              <a:rPr lang="vi-VN" sz="2400" b="1">
                <a:effectLst/>
                <a:latin typeface="Google Sans"/>
              </a:rPr>
              <a:t>Cách tính Chu kỳ của Timer (Timer Period Calculation)</a:t>
            </a:r>
          </a:p>
          <a:p>
            <a:r>
              <a:rPr lang="vi-VN" sz="2400" b="1">
                <a:effectLst/>
                <a:latin typeface="Google Sans Text"/>
              </a:rPr>
              <a:t>Chu kỳ của Timer (Timer Period)</a:t>
            </a:r>
            <a:r>
              <a:rPr lang="vi-VN" sz="2400">
                <a:effectLst/>
                <a:latin typeface="Google Sans Text"/>
              </a:rPr>
              <a:t> là khoảng thời gian để bộ đếm (Counter) đếm từ </a:t>
            </a:r>
            <a:r>
              <a:rPr lang="en-US" sz="2400">
                <a:effectLst/>
                <a:latin typeface="Google Sans Text"/>
              </a:rPr>
              <a:t>0</a:t>
            </a:r>
            <a:r>
              <a:rPr lang="vi-VN" sz="2400">
                <a:effectLst/>
                <a:latin typeface="Google Sans Text"/>
              </a:rPr>
              <a:t> cho đến giá trị tối đa (Maximum Value) của nó rồi quay đầu về </a:t>
            </a:r>
            <a:r>
              <a:rPr lang="en-US" sz="2400">
                <a:effectLst/>
                <a:latin typeface="Google Sans Text"/>
              </a:rPr>
              <a:t>0</a:t>
            </a:r>
            <a:r>
              <a:rPr lang="vi-VN" sz="2400">
                <a:effectLst/>
                <a:latin typeface="Google Sans Text"/>
              </a:rPr>
              <a:t> (bị tràn).</a:t>
            </a:r>
          </a:p>
          <a:p>
            <a:r>
              <a:rPr lang="vi-VN" sz="2400">
                <a:effectLst/>
                <a:latin typeface="Google Sans Text"/>
              </a:rPr>
              <a:t>Giá trị tối đa này phụ thuộc vào kích thước thanh ghi bộ đếm (Bit width):</a:t>
            </a:r>
          </a:p>
          <a:p>
            <a:endParaRPr lang="vi-VN" sz="2400">
              <a:effectLst/>
              <a:latin typeface="Google Sans Text"/>
            </a:endParaRPr>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91ABA2D9-C357-8042-D7A0-45FAAD821AE4}"/>
              </a:ext>
            </a:extLst>
          </p:cNvPr>
          <p:cNvPicPr>
            <a:picLocks noChangeAspect="1"/>
          </p:cNvPicPr>
          <p:nvPr/>
        </p:nvPicPr>
        <p:blipFill>
          <a:blip r:embed="rId3"/>
          <a:stretch>
            <a:fillRect/>
          </a:stretch>
        </p:blipFill>
        <p:spPr>
          <a:xfrm>
            <a:off x="3784331" y="4882009"/>
            <a:ext cx="10719338" cy="4454606"/>
          </a:xfrm>
          <a:prstGeom prst="rect">
            <a:avLst/>
          </a:prstGeom>
        </p:spPr>
      </p:pic>
    </p:spTree>
    <p:extLst>
      <p:ext uri="{BB962C8B-B14F-4D97-AF65-F5344CB8AC3E}">
        <p14:creationId xmlns:p14="http://schemas.microsoft.com/office/powerpoint/2010/main" val="27300488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0173C1F6-E6C7-46CC-228A-7ABEA717D809}"/>
              </a:ext>
            </a:extLst>
          </p:cNvPr>
          <p:cNvPicPr>
            <a:picLocks noChangeAspect="1"/>
          </p:cNvPicPr>
          <p:nvPr/>
        </p:nvPicPr>
        <p:blipFill>
          <a:blip r:embed="rId3"/>
          <a:stretch>
            <a:fillRect/>
          </a:stretch>
        </p:blipFill>
        <p:spPr>
          <a:xfrm>
            <a:off x="533400" y="2948702"/>
            <a:ext cx="16272277" cy="5915633"/>
          </a:xfrm>
          <a:prstGeom prst="rect">
            <a:avLst/>
          </a:prstGeom>
        </p:spPr>
      </p:pic>
    </p:spTree>
    <p:extLst>
      <p:ext uri="{BB962C8B-B14F-4D97-AF65-F5344CB8AC3E}">
        <p14:creationId xmlns:p14="http://schemas.microsoft.com/office/powerpoint/2010/main" val="1615517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81000" y="2113071"/>
            <a:ext cx="17378002" cy="2246769"/>
          </a:xfrm>
          <a:prstGeom prst="rect">
            <a:avLst/>
          </a:prstGeom>
          <a:noFill/>
        </p:spPr>
        <p:txBody>
          <a:bodyPr wrap="square">
            <a:spAutoFit/>
          </a:bodyPr>
          <a:lstStyle/>
          <a:p>
            <a:r>
              <a:rPr lang="vi-VN" sz="2800" b="1">
                <a:effectLst/>
                <a:latin typeface="Google Sans"/>
              </a:rPr>
              <a:t>Sự kết hợp giữa Prescaler và Timer Period</a:t>
            </a:r>
            <a:endParaRPr lang="en-US" sz="2800" b="1">
              <a:effectLst/>
              <a:latin typeface="Google Sans"/>
            </a:endParaRPr>
          </a:p>
          <a:p>
            <a:endParaRPr lang="vi-VN" sz="2800" b="1">
              <a:effectLst/>
              <a:latin typeface="Google Sans"/>
            </a:endParaRPr>
          </a:p>
          <a:p>
            <a:r>
              <a:rPr lang="vi-VN" sz="2800">
                <a:effectLst/>
                <a:latin typeface="Google Sans Text"/>
              </a:rPr>
              <a:t>Để giải quyết giới hạn của ví dụ trên (muốn hẹn giờ lâu hơn 6,5535</a:t>
            </a:r>
            <a:r>
              <a:rPr lang="en-US" sz="2800">
                <a:effectLst/>
                <a:latin typeface="Google Sans Text"/>
              </a:rPr>
              <a:t>ms</a:t>
            </a:r>
            <a:r>
              <a:rPr lang="vi-VN" sz="2800">
                <a:effectLst/>
                <a:latin typeface="Google Sans Text"/>
              </a:rPr>
              <a:t>), ta bắt buộc phải đưa </a:t>
            </a:r>
            <a:r>
              <a:rPr lang="vi-VN" sz="2800" b="1">
                <a:effectLst/>
                <a:latin typeface="Google Sans Text"/>
              </a:rPr>
              <a:t>Prescaler</a:t>
            </a:r>
            <a:r>
              <a:rPr lang="vi-VN" sz="2800">
                <a:effectLst/>
                <a:latin typeface="Google Sans Text"/>
              </a:rPr>
              <a:t> vào công thức tổng quát:</a:t>
            </a:r>
          </a:p>
          <a:p>
            <a:endParaRPr lang="vi-VN" sz="2800">
              <a:effectLst/>
              <a:latin typeface="Google Sans Text"/>
            </a:endParaRPr>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88E3F210-34E5-1BBF-73A3-4BB8C225858E}"/>
              </a:ext>
            </a:extLst>
          </p:cNvPr>
          <p:cNvPicPr>
            <a:picLocks noChangeAspect="1"/>
          </p:cNvPicPr>
          <p:nvPr/>
        </p:nvPicPr>
        <p:blipFill>
          <a:blip r:embed="rId3"/>
          <a:stretch>
            <a:fillRect/>
          </a:stretch>
        </p:blipFill>
        <p:spPr>
          <a:xfrm>
            <a:off x="2971800" y="3871967"/>
            <a:ext cx="12977869" cy="5224463"/>
          </a:xfrm>
          <a:prstGeom prst="rect">
            <a:avLst/>
          </a:prstGeom>
        </p:spPr>
      </p:pic>
    </p:spTree>
    <p:extLst>
      <p:ext uri="{BB962C8B-B14F-4D97-AF65-F5344CB8AC3E}">
        <p14:creationId xmlns:p14="http://schemas.microsoft.com/office/powerpoint/2010/main" val="30574061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81000" y="2113071"/>
            <a:ext cx="17378002" cy="1384995"/>
          </a:xfrm>
          <a:prstGeom prst="rect">
            <a:avLst/>
          </a:prstGeom>
          <a:noFill/>
        </p:spPr>
        <p:txBody>
          <a:bodyPr wrap="square">
            <a:spAutoFit/>
          </a:bodyPr>
          <a:lstStyle/>
          <a:p>
            <a:r>
              <a:rPr lang="vi-VN" sz="2800" b="1">
                <a:effectLst/>
                <a:latin typeface="Google Sans"/>
              </a:rPr>
              <a:t>Sự kết hợp giữa Prescaler và Timer Period</a:t>
            </a:r>
            <a:endParaRPr lang="en-US" sz="2800" b="1">
              <a:effectLst/>
              <a:latin typeface="Google Sans"/>
            </a:endParaRPr>
          </a:p>
          <a:p>
            <a:endParaRPr lang="vi-VN" sz="2800" b="1">
              <a:effectLst/>
              <a:latin typeface="Google Sans"/>
            </a:endParaRPr>
          </a:p>
          <a:p>
            <a:endParaRPr lang="vi-VN" sz="2800">
              <a:effectLst/>
              <a:latin typeface="Google Sans Text"/>
            </a:endParaRPr>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197A2DE0-960D-3629-85A7-A7E8FB440458}"/>
              </a:ext>
            </a:extLst>
          </p:cNvPr>
          <p:cNvPicPr>
            <a:picLocks noChangeAspect="1"/>
          </p:cNvPicPr>
          <p:nvPr/>
        </p:nvPicPr>
        <p:blipFill>
          <a:blip r:embed="rId3"/>
          <a:stretch>
            <a:fillRect/>
          </a:stretch>
        </p:blipFill>
        <p:spPr>
          <a:xfrm>
            <a:off x="4267200" y="2847319"/>
            <a:ext cx="10644187" cy="7120017"/>
          </a:xfrm>
          <a:prstGeom prst="rect">
            <a:avLst/>
          </a:prstGeom>
        </p:spPr>
      </p:pic>
    </p:spTree>
    <p:extLst>
      <p:ext uri="{BB962C8B-B14F-4D97-AF65-F5344CB8AC3E}">
        <p14:creationId xmlns:p14="http://schemas.microsoft.com/office/powerpoint/2010/main" val="10143496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81000" y="2113071"/>
            <a:ext cx="17378002" cy="1384995"/>
          </a:xfrm>
          <a:prstGeom prst="rect">
            <a:avLst/>
          </a:prstGeom>
          <a:noFill/>
        </p:spPr>
        <p:txBody>
          <a:bodyPr wrap="square">
            <a:spAutoFit/>
          </a:bodyPr>
          <a:lstStyle/>
          <a:p>
            <a:r>
              <a:rPr lang="vi-VN" sz="2800" b="1">
                <a:effectLst/>
                <a:latin typeface="Google Sans"/>
              </a:rPr>
              <a:t>Sự kết hợp giữa Prescaler và Timer Period</a:t>
            </a:r>
            <a:endParaRPr lang="en-US" sz="2800" b="1">
              <a:effectLst/>
              <a:latin typeface="Google Sans"/>
            </a:endParaRPr>
          </a:p>
          <a:p>
            <a:endParaRPr lang="vi-VN" sz="2800" b="1">
              <a:effectLst/>
              <a:latin typeface="Google Sans"/>
            </a:endParaRPr>
          </a:p>
          <a:p>
            <a:endParaRPr lang="vi-VN" sz="2800">
              <a:effectLst/>
              <a:latin typeface="Google Sans Text"/>
            </a:endParaRPr>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3B29F663-4C8F-AC5C-812C-5B72F4489F7A}"/>
              </a:ext>
            </a:extLst>
          </p:cNvPr>
          <p:cNvPicPr>
            <a:picLocks noChangeAspect="1"/>
          </p:cNvPicPr>
          <p:nvPr/>
        </p:nvPicPr>
        <p:blipFill>
          <a:blip r:embed="rId3"/>
          <a:stretch>
            <a:fillRect/>
          </a:stretch>
        </p:blipFill>
        <p:spPr>
          <a:xfrm>
            <a:off x="3886200" y="3162300"/>
            <a:ext cx="11524459" cy="6581775"/>
          </a:xfrm>
          <a:prstGeom prst="rect">
            <a:avLst/>
          </a:prstGeom>
        </p:spPr>
      </p:pic>
    </p:spTree>
    <p:extLst>
      <p:ext uri="{BB962C8B-B14F-4D97-AF65-F5344CB8AC3E}">
        <p14:creationId xmlns:p14="http://schemas.microsoft.com/office/powerpoint/2010/main" val="3575579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AutoShape 3" descr="STM32 Timer tutorial using interrupt with HAL code example – Embedded There">
            <a:extLst>
              <a:ext uri="{FF2B5EF4-FFF2-40B4-BE49-F238E27FC236}">
                <a16:creationId xmlns:a16="http://schemas.microsoft.com/office/drawing/2014/main" id="{EF851803-B3C8-7FB5-3965-129870502F8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AB2EA738-D508-BAB5-9122-5C3CDADC16B1}"/>
              </a:ext>
            </a:extLst>
          </p:cNvPr>
          <p:cNvPicPr>
            <a:picLocks noChangeAspect="1"/>
          </p:cNvPicPr>
          <p:nvPr/>
        </p:nvPicPr>
        <p:blipFill>
          <a:blip r:embed="rId3"/>
          <a:stretch>
            <a:fillRect/>
          </a:stretch>
        </p:blipFill>
        <p:spPr>
          <a:xfrm>
            <a:off x="838200" y="2572447"/>
            <a:ext cx="14867647" cy="7128967"/>
          </a:xfrm>
          <a:prstGeom prst="rect">
            <a:avLst/>
          </a:prstGeom>
        </p:spPr>
      </p:pic>
    </p:spTree>
    <p:extLst>
      <p:ext uri="{BB962C8B-B14F-4D97-AF65-F5344CB8AC3E}">
        <p14:creationId xmlns:p14="http://schemas.microsoft.com/office/powerpoint/2010/main" val="41605798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64067" y="2253751"/>
            <a:ext cx="17149402" cy="2793842"/>
          </a:xfrm>
          <a:prstGeom prst="rect">
            <a:avLst/>
          </a:prstGeom>
          <a:noFill/>
        </p:spPr>
        <p:txBody>
          <a:bodyPr wrap="square">
            <a:spAutoFit/>
          </a:bodyPr>
          <a:lstStyle/>
          <a:p>
            <a:pPr>
              <a:lnSpc>
                <a:spcPct val="150000"/>
              </a:lnSpc>
            </a:pPr>
            <a:r>
              <a:rPr lang="vi-VN" sz="2400" b="1"/>
              <a:t>Khối 2: Bộ đếm cốt lõi (Counter Register - CNT)</a:t>
            </a:r>
          </a:p>
          <a:p>
            <a:pPr>
              <a:lnSpc>
                <a:spcPct val="150000"/>
              </a:lnSpc>
            </a:pPr>
            <a:r>
              <a:rPr lang="vi-VN" sz="2400"/>
              <a:t>Đây là "trái tim" của Timer, nơi diễn ra hoạt động đếm số.</a:t>
            </a:r>
          </a:p>
          <a:p>
            <a:pPr marL="800100" lvl="1" indent="-342900">
              <a:lnSpc>
                <a:spcPct val="150000"/>
              </a:lnSpc>
              <a:buFont typeface="Arial" panose="020B0604020202020204" pitchFamily="34" charset="0"/>
              <a:buChar char="•"/>
            </a:pPr>
            <a:r>
              <a:rPr lang="vi-VN" sz="2400" b="1"/>
              <a:t>Thanh ghi CNT:</a:t>
            </a:r>
            <a:r>
              <a:rPr lang="vi-VN" sz="2400"/>
              <a:t> Là một thanh ghi (thường là 16-bit hoặc 32-bit) chứa giá trị đếm hiện tại.</a:t>
            </a:r>
          </a:p>
          <a:p>
            <a:pPr marL="800100" lvl="1" indent="-342900">
              <a:lnSpc>
                <a:spcPct val="150000"/>
              </a:lnSpc>
              <a:buFont typeface="Arial" panose="020B0604020202020204" pitchFamily="34" charset="0"/>
              <a:buChar char="•"/>
            </a:pPr>
            <a:r>
              <a:rPr lang="vi-VN" sz="2400" b="1"/>
              <a:t>Cách hoạt động:</a:t>
            </a:r>
            <a:r>
              <a:rPr lang="vi-VN" sz="2400"/>
              <a:t> Cứ mỗi khi có một chu kỳ xung nhịp (sau khi đã qua bộ chia Prescaler) kích vào, giá trị trong thanh ghi CNT sẽ thay đổi (tăng lên 1 ở chế độ đếm tiến, hoặc giảm đi 1 ở chế độ đếm lùi).</a:t>
            </a:r>
          </a:p>
        </p:txBody>
      </p:sp>
    </p:spTree>
    <p:extLst>
      <p:ext uri="{BB962C8B-B14F-4D97-AF65-F5344CB8AC3E}">
        <p14:creationId xmlns:p14="http://schemas.microsoft.com/office/powerpoint/2010/main" val="23578469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381000" y="2113071"/>
            <a:ext cx="16463602" cy="3913059"/>
          </a:xfrm>
          <a:prstGeom prst="rect">
            <a:avLst/>
          </a:prstGeom>
          <a:noFill/>
        </p:spPr>
        <p:txBody>
          <a:bodyPr wrap="square">
            <a:spAutoFit/>
          </a:bodyPr>
          <a:lstStyle/>
          <a:p>
            <a:pPr>
              <a:lnSpc>
                <a:spcPct val="150000"/>
              </a:lnSpc>
            </a:pPr>
            <a:r>
              <a:rPr lang="vi-VN" sz="2400" b="1">
                <a:effectLst/>
              </a:rPr>
              <a:t>Khối 3: Thanh ghi cấu hình giá trị đỉnh (Auto-Reload Register - ARR)</a:t>
            </a:r>
          </a:p>
          <a:p>
            <a:pPr>
              <a:lnSpc>
                <a:spcPct val="150000"/>
              </a:lnSpc>
            </a:pPr>
            <a:r>
              <a:rPr lang="vi-VN" sz="2400">
                <a:effectLst/>
              </a:rPr>
              <a:t>Thanh ghi này quyết định </a:t>
            </a:r>
            <a:r>
              <a:rPr lang="vi-VN" sz="2400" b="1">
                <a:effectLst/>
              </a:rPr>
              <a:t>giới hạn đếm</a:t>
            </a:r>
            <a:r>
              <a:rPr lang="vi-VN" sz="2400">
                <a:effectLst/>
              </a:rPr>
              <a:t> của Timer (khi nào thì dừng hoặc quay đầu).</a:t>
            </a:r>
          </a:p>
          <a:p>
            <a:pPr>
              <a:lnSpc>
                <a:spcPct val="150000"/>
              </a:lnSpc>
              <a:buFont typeface="Arial" panose="020B0604020202020204" pitchFamily="34" charset="0"/>
              <a:buChar char="•"/>
            </a:pPr>
            <a:r>
              <a:rPr lang="vi-VN" sz="2400" b="1">
                <a:effectLst/>
              </a:rPr>
              <a:t>Cách hoạt động:</a:t>
            </a:r>
            <a:r>
              <a:rPr lang="vi-VN" sz="2400">
                <a:effectLst/>
              </a:rPr>
              <a:t> Bạn nạp một giá trị mục tiêu vào thanh ghi ARR (ví dụ: 10000).</a:t>
            </a:r>
          </a:p>
          <a:p>
            <a:pPr marL="742950" lvl="1" indent="-285750">
              <a:lnSpc>
                <a:spcPct val="150000"/>
              </a:lnSpc>
              <a:buFont typeface="Arial" panose="020B0604020202020204" pitchFamily="34" charset="0"/>
              <a:buChar char="•"/>
            </a:pPr>
            <a:r>
              <a:rPr lang="vi-VN" sz="2400">
                <a:effectLst/>
              </a:rPr>
              <a:t>Ở chế độ đếm tiến: Thanh ghi CNT sẽ đếm từ 0 lên đến 10000. Khi CNT bằng ARR, hiện tượng </a:t>
            </a:r>
            <a:r>
              <a:rPr lang="vi-VN" sz="2400" b="1">
                <a:effectLst/>
              </a:rPr>
              <a:t>Tràn (Update Event/Overflow)</a:t>
            </a:r>
            <a:r>
              <a:rPr lang="vi-VN" sz="2400">
                <a:effectLst/>
              </a:rPr>
              <a:t> sẽ xảy ra, CNT lập tức tự động reset về 0 để đếm lại từ đầu.</a:t>
            </a:r>
          </a:p>
          <a:p>
            <a:pPr marL="742950" lvl="1" indent="-285750">
              <a:lnSpc>
                <a:spcPct val="150000"/>
              </a:lnSpc>
              <a:buFont typeface="Arial" panose="020B0604020202020204" pitchFamily="34" charset="0"/>
              <a:buChar char="•"/>
            </a:pPr>
            <a:r>
              <a:rPr lang="vi-VN" sz="2400">
                <a:effectLst/>
              </a:rPr>
              <a:t>Ở chế độ đếm lùi (như LPIT): CNT sẽ được nạp giá trị từ ARR rồi đếm lùi về 0. Khi chạm 0, nó lại tự nạp lại giá trị từ ARR để đếm tiếp.</a:t>
            </a:r>
          </a:p>
        </p:txBody>
      </p:sp>
    </p:spTree>
    <p:extLst>
      <p:ext uri="{BB962C8B-B14F-4D97-AF65-F5344CB8AC3E}">
        <p14:creationId xmlns:p14="http://schemas.microsoft.com/office/powerpoint/2010/main" val="21760624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10" name="TextBox 9">
            <a:extLst>
              <a:ext uri="{FF2B5EF4-FFF2-40B4-BE49-F238E27FC236}">
                <a16:creationId xmlns:a16="http://schemas.microsoft.com/office/drawing/2014/main" id="{4330B0D8-7285-976A-2872-BF9BF1A0929A}"/>
              </a:ext>
            </a:extLst>
          </p:cNvPr>
          <p:cNvSpPr txBox="1"/>
          <p:nvPr/>
        </p:nvSpPr>
        <p:spPr>
          <a:xfrm>
            <a:off x="324271" y="1984418"/>
            <a:ext cx="16459200" cy="3170099"/>
          </a:xfrm>
          <a:prstGeom prst="rect">
            <a:avLst/>
          </a:prstGeom>
          <a:noFill/>
        </p:spPr>
        <p:txBody>
          <a:bodyPr wrap="square">
            <a:spAutoFit/>
          </a:bodyPr>
          <a:lstStyle/>
          <a:p>
            <a:r>
              <a:rPr lang="vi-VN" sz="2800" b="1"/>
              <a:t>Auto-Reload (ARR) là gì?</a:t>
            </a:r>
            <a:endParaRPr lang="en-US" sz="2800" b="1"/>
          </a:p>
          <a:p>
            <a:endParaRPr lang="vi-VN" sz="2800" b="1"/>
          </a:p>
          <a:p>
            <a:r>
              <a:rPr lang="vi-VN" sz="2400" b="1"/>
              <a:t>Auto-Reload Register (ARR)</a:t>
            </a:r>
            <a:r>
              <a:rPr lang="vi-VN" sz="2400"/>
              <a:t> là thanh ghi chứa </a:t>
            </a:r>
            <a:r>
              <a:rPr lang="vi-VN" sz="2400" b="1"/>
              <a:t>Giá trị đỉnh</a:t>
            </a:r>
            <a:r>
              <a:rPr lang="vi-VN" sz="2400"/>
              <a:t> hoặc </a:t>
            </a:r>
            <a:r>
              <a:rPr lang="vi-VN" sz="2400" b="1"/>
              <a:t>Giá trị đích</a:t>
            </a:r>
            <a:r>
              <a:rPr lang="vi-VN" sz="2400"/>
              <a:t> mà bạn muốn Timer hướng tới.</a:t>
            </a:r>
          </a:p>
          <a:p>
            <a:pPr marL="800100" lvl="1" indent="-342900">
              <a:buFont typeface="Arial" panose="020B0604020202020204" pitchFamily="34" charset="0"/>
              <a:buChar char="•"/>
            </a:pPr>
            <a:r>
              <a:rPr lang="vi-VN" sz="2400" b="1"/>
              <a:t>Tên gọi khác:</a:t>
            </a:r>
            <a:r>
              <a:rPr lang="vi-VN" sz="2400"/>
              <a:t> Trong một số dòng vi điều khiển khác (như AVR/Arduino, PIC, NXP), thanh ghi này còn được gọi là </a:t>
            </a:r>
            <a:r>
              <a:rPr lang="vi-VN" sz="2400" b="1"/>
              <a:t>Period Register (PR)</a:t>
            </a:r>
            <a:r>
              <a:rPr lang="vi-VN" sz="2400"/>
              <a:t> hoặc </a:t>
            </a:r>
            <a:r>
              <a:rPr lang="vi-VN" sz="2400" b="1"/>
              <a:t>Match Register (MR)</a:t>
            </a:r>
            <a:r>
              <a:rPr lang="vi-VN" sz="2400"/>
              <a:t>.</a:t>
            </a:r>
          </a:p>
          <a:p>
            <a:pPr marL="800100" lvl="1" indent="-342900">
              <a:buFont typeface="Arial" panose="020B0604020202020204" pitchFamily="34" charset="0"/>
              <a:buChar char="•"/>
            </a:pPr>
            <a:r>
              <a:rPr lang="vi-VN" sz="2400" b="1"/>
              <a:t>Độ phân giải:</a:t>
            </a:r>
            <a:r>
              <a:rPr lang="vi-VN" sz="2400"/>
              <a:t> Giống như bộ đếm, ARR cũng có kích thước theo bit. Nếu là Timer 16-bit, bạn có thể nạp giá trị cho ARR từ 0 đến 65.535. Nếu là Timer 32-bit, bạn có thể nạp từ 0 đến hơn 4 tỷ.</a:t>
            </a:r>
          </a:p>
          <a:p>
            <a:endParaRPr lang="vi-VN" sz="2400">
              <a:effectLst/>
              <a:latin typeface="Google Sans Text"/>
            </a:endParaRPr>
          </a:p>
        </p:txBody>
      </p:sp>
    </p:spTree>
    <p:extLst>
      <p:ext uri="{BB962C8B-B14F-4D97-AF65-F5344CB8AC3E}">
        <p14:creationId xmlns:p14="http://schemas.microsoft.com/office/powerpoint/2010/main" val="10007269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18C76579-F1F8-4471-CD0E-F6200CD33442}"/>
              </a:ext>
            </a:extLst>
          </p:cNvPr>
          <p:cNvSpPr txBox="1"/>
          <p:nvPr/>
        </p:nvSpPr>
        <p:spPr>
          <a:xfrm>
            <a:off x="325881" y="2123303"/>
            <a:ext cx="17502188" cy="2062103"/>
          </a:xfrm>
          <a:prstGeom prst="rect">
            <a:avLst/>
          </a:prstGeom>
          <a:noFill/>
        </p:spPr>
        <p:txBody>
          <a:bodyPr wrap="square">
            <a:spAutoFit/>
          </a:bodyPr>
          <a:lstStyle/>
          <a:p>
            <a:r>
              <a:rPr lang="vi-VN" sz="2800" b="1"/>
              <a:t>Cách Auto-Reload vận hành trong phần cứng</a:t>
            </a:r>
            <a:endParaRPr lang="en-US" sz="2800" b="1"/>
          </a:p>
          <a:p>
            <a:endParaRPr lang="vi-VN" sz="2800" b="1"/>
          </a:p>
          <a:p>
            <a:r>
              <a:rPr lang="vi-VN" sz="2400"/>
              <a:t>Thanh ghi ARR phối hợp cực kỳ chặt chẽ với thanh ghi bộ đếm </a:t>
            </a:r>
            <a:r>
              <a:rPr lang="vi-VN" sz="2400" b="1"/>
              <a:t>CNT</a:t>
            </a:r>
            <a:r>
              <a:rPr lang="vi-VN" sz="2400"/>
              <a:t>. Tùy thuộc vào chế độ đếm bạn cấu hình, ARR sẽ ép bộ đếm vận hành theo 2 cách:</a:t>
            </a:r>
          </a:p>
          <a:p>
            <a:endParaRPr lang="vi-VN" sz="2400">
              <a:effectLst/>
              <a:latin typeface="Google Sans Text"/>
            </a:endParaRPr>
          </a:p>
        </p:txBody>
      </p:sp>
      <p:pic>
        <p:nvPicPr>
          <p:cNvPr id="10" name="Picture 9">
            <a:extLst>
              <a:ext uri="{FF2B5EF4-FFF2-40B4-BE49-F238E27FC236}">
                <a16:creationId xmlns:a16="http://schemas.microsoft.com/office/drawing/2014/main" id="{0C1CA710-9D98-50AF-6F88-BE81450A2505}"/>
              </a:ext>
            </a:extLst>
          </p:cNvPr>
          <p:cNvPicPr>
            <a:picLocks noChangeAspect="1"/>
          </p:cNvPicPr>
          <p:nvPr/>
        </p:nvPicPr>
        <p:blipFill>
          <a:blip r:embed="rId3"/>
          <a:stretch>
            <a:fillRect/>
          </a:stretch>
        </p:blipFill>
        <p:spPr>
          <a:xfrm>
            <a:off x="231645" y="4185406"/>
            <a:ext cx="13266179" cy="4558485"/>
          </a:xfrm>
          <a:prstGeom prst="rect">
            <a:avLst/>
          </a:prstGeom>
        </p:spPr>
      </p:pic>
    </p:spTree>
    <p:extLst>
      <p:ext uri="{BB962C8B-B14F-4D97-AF65-F5344CB8AC3E}">
        <p14:creationId xmlns:p14="http://schemas.microsoft.com/office/powerpoint/2010/main" val="8332581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7104A904-C784-902D-19BB-8A2D86BB0040}"/>
              </a:ext>
            </a:extLst>
          </p:cNvPr>
          <p:cNvPicPr>
            <a:picLocks noChangeAspect="1"/>
          </p:cNvPicPr>
          <p:nvPr/>
        </p:nvPicPr>
        <p:blipFill>
          <a:blip r:embed="rId3"/>
          <a:stretch>
            <a:fillRect/>
          </a:stretch>
        </p:blipFill>
        <p:spPr>
          <a:xfrm>
            <a:off x="381000" y="2867667"/>
            <a:ext cx="17388892" cy="5195244"/>
          </a:xfrm>
          <a:prstGeom prst="rect">
            <a:avLst/>
          </a:prstGeom>
        </p:spPr>
      </p:pic>
    </p:spTree>
    <p:extLst>
      <p:ext uri="{BB962C8B-B14F-4D97-AF65-F5344CB8AC3E}">
        <p14:creationId xmlns:p14="http://schemas.microsoft.com/office/powerpoint/2010/main" val="19493720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16B526A1-F8D9-F2FE-4E89-0D52C3507858}"/>
              </a:ext>
            </a:extLst>
          </p:cNvPr>
          <p:cNvSpPr txBox="1"/>
          <p:nvPr/>
        </p:nvSpPr>
        <p:spPr>
          <a:xfrm>
            <a:off x="381000" y="2103546"/>
            <a:ext cx="16864013" cy="1200329"/>
          </a:xfrm>
          <a:prstGeom prst="rect">
            <a:avLst/>
          </a:prstGeom>
          <a:noFill/>
        </p:spPr>
        <p:txBody>
          <a:bodyPr wrap="square">
            <a:spAutoFit/>
          </a:bodyPr>
          <a:lstStyle/>
          <a:p>
            <a:r>
              <a:rPr lang="vi-VN" sz="2400" b="1"/>
              <a:t>Tác động của Auto-Reload đến Chu kỳ Timer</a:t>
            </a:r>
            <a:endParaRPr lang="en-US" sz="2400" b="1"/>
          </a:p>
          <a:p>
            <a:endParaRPr lang="vi-VN" sz="2400" b="1"/>
          </a:p>
          <a:p>
            <a:r>
              <a:rPr lang="vi-VN" sz="2400"/>
              <a:t>Thanh ghi ARR chính là công cụ trực tiếp để bạn </a:t>
            </a:r>
            <a:r>
              <a:rPr lang="vi-VN" sz="2400" b="1"/>
              <a:t>thay đổi tần số</a:t>
            </a:r>
            <a:r>
              <a:rPr lang="vi-VN" sz="2400"/>
              <a:t> hoặc </a:t>
            </a:r>
            <a:r>
              <a:rPr lang="vi-VN" sz="2400" b="1"/>
              <a:t>chu kỳ</a:t>
            </a:r>
            <a:r>
              <a:rPr lang="vi-VN" sz="2400"/>
              <a:t> của Timer theo ý muốn.</a:t>
            </a:r>
          </a:p>
        </p:txBody>
      </p:sp>
      <p:pic>
        <p:nvPicPr>
          <p:cNvPr id="10" name="Picture 9">
            <a:extLst>
              <a:ext uri="{FF2B5EF4-FFF2-40B4-BE49-F238E27FC236}">
                <a16:creationId xmlns:a16="http://schemas.microsoft.com/office/drawing/2014/main" id="{D6AEF15B-6F61-CC1D-AFCE-04805937EFB0}"/>
              </a:ext>
            </a:extLst>
          </p:cNvPr>
          <p:cNvPicPr>
            <a:picLocks noChangeAspect="1"/>
          </p:cNvPicPr>
          <p:nvPr/>
        </p:nvPicPr>
        <p:blipFill>
          <a:blip r:embed="rId3"/>
          <a:stretch>
            <a:fillRect/>
          </a:stretch>
        </p:blipFill>
        <p:spPr>
          <a:xfrm>
            <a:off x="1541893" y="3771900"/>
            <a:ext cx="14542225" cy="6051639"/>
          </a:xfrm>
          <a:prstGeom prst="rect">
            <a:avLst/>
          </a:prstGeom>
        </p:spPr>
      </p:pic>
    </p:spTree>
    <p:extLst>
      <p:ext uri="{BB962C8B-B14F-4D97-AF65-F5344CB8AC3E}">
        <p14:creationId xmlns:p14="http://schemas.microsoft.com/office/powerpoint/2010/main" val="11445229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A69FD252-EE97-08CC-7535-9D2D61D09D0F}"/>
              </a:ext>
            </a:extLst>
          </p:cNvPr>
          <p:cNvPicPr>
            <a:picLocks noChangeAspect="1"/>
          </p:cNvPicPr>
          <p:nvPr/>
        </p:nvPicPr>
        <p:blipFill>
          <a:blip r:embed="rId3"/>
          <a:stretch>
            <a:fillRect/>
          </a:stretch>
        </p:blipFill>
        <p:spPr>
          <a:xfrm>
            <a:off x="949093" y="3848100"/>
            <a:ext cx="16389813" cy="3281363"/>
          </a:xfrm>
          <a:prstGeom prst="rect">
            <a:avLst/>
          </a:prstGeom>
        </p:spPr>
      </p:pic>
    </p:spTree>
    <p:extLst>
      <p:ext uri="{BB962C8B-B14F-4D97-AF65-F5344CB8AC3E}">
        <p14:creationId xmlns:p14="http://schemas.microsoft.com/office/powerpoint/2010/main" val="15762578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9" name="Picture 8">
            <a:extLst>
              <a:ext uri="{FF2B5EF4-FFF2-40B4-BE49-F238E27FC236}">
                <a16:creationId xmlns:a16="http://schemas.microsoft.com/office/drawing/2014/main" id="{5FB1DF98-D77E-AE1E-F517-7E2DA6A80834}"/>
              </a:ext>
            </a:extLst>
          </p:cNvPr>
          <p:cNvPicPr>
            <a:picLocks noChangeAspect="1"/>
          </p:cNvPicPr>
          <p:nvPr/>
        </p:nvPicPr>
        <p:blipFill>
          <a:blip r:embed="rId3"/>
          <a:stretch>
            <a:fillRect/>
          </a:stretch>
        </p:blipFill>
        <p:spPr>
          <a:xfrm>
            <a:off x="1447800" y="2689530"/>
            <a:ext cx="13916025" cy="5761876"/>
          </a:xfrm>
          <a:prstGeom prst="rect">
            <a:avLst/>
          </a:prstGeom>
        </p:spPr>
      </p:pic>
    </p:spTree>
    <p:extLst>
      <p:ext uri="{BB962C8B-B14F-4D97-AF65-F5344CB8AC3E}">
        <p14:creationId xmlns:p14="http://schemas.microsoft.com/office/powerpoint/2010/main" val="1234367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9" name="Picture 8">
            <a:extLst>
              <a:ext uri="{FF2B5EF4-FFF2-40B4-BE49-F238E27FC236}">
                <a16:creationId xmlns:a16="http://schemas.microsoft.com/office/drawing/2014/main" id="{373BA5AF-E697-C6BE-35D0-B03005FD4786}"/>
              </a:ext>
            </a:extLst>
          </p:cNvPr>
          <p:cNvPicPr>
            <a:picLocks noChangeAspect="1"/>
          </p:cNvPicPr>
          <p:nvPr/>
        </p:nvPicPr>
        <p:blipFill>
          <a:blip r:embed="rId3"/>
          <a:stretch>
            <a:fillRect/>
          </a:stretch>
        </p:blipFill>
        <p:spPr>
          <a:xfrm>
            <a:off x="1219200" y="2881955"/>
            <a:ext cx="14975794" cy="5672905"/>
          </a:xfrm>
          <a:prstGeom prst="rect">
            <a:avLst/>
          </a:prstGeom>
        </p:spPr>
      </p:pic>
    </p:spTree>
    <p:extLst>
      <p:ext uri="{BB962C8B-B14F-4D97-AF65-F5344CB8AC3E}">
        <p14:creationId xmlns:p14="http://schemas.microsoft.com/office/powerpoint/2010/main" val="1721918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9F313617-D8A0-E75D-9637-B3E9110C7248}"/>
              </a:ext>
            </a:extLst>
          </p:cNvPr>
          <p:cNvPicPr>
            <a:picLocks noChangeAspect="1"/>
          </p:cNvPicPr>
          <p:nvPr/>
        </p:nvPicPr>
        <p:blipFill>
          <a:blip r:embed="rId3"/>
          <a:stretch>
            <a:fillRect/>
          </a:stretch>
        </p:blipFill>
        <p:spPr>
          <a:xfrm>
            <a:off x="533400" y="2019856"/>
            <a:ext cx="10839450" cy="8267144"/>
          </a:xfrm>
          <a:prstGeom prst="rect">
            <a:avLst/>
          </a:prstGeom>
        </p:spPr>
      </p:pic>
      <p:sp>
        <p:nvSpPr>
          <p:cNvPr id="11" name="TextBox 10">
            <a:extLst>
              <a:ext uri="{FF2B5EF4-FFF2-40B4-BE49-F238E27FC236}">
                <a16:creationId xmlns:a16="http://schemas.microsoft.com/office/drawing/2014/main" id="{216AC9D6-1D90-97FB-C96F-84B535957BD7}"/>
              </a:ext>
            </a:extLst>
          </p:cNvPr>
          <p:cNvSpPr txBox="1"/>
          <p:nvPr/>
        </p:nvSpPr>
        <p:spPr>
          <a:xfrm>
            <a:off x="10591800" y="8529903"/>
            <a:ext cx="7162800" cy="1200329"/>
          </a:xfrm>
          <a:prstGeom prst="rect">
            <a:avLst/>
          </a:prstGeom>
          <a:noFill/>
        </p:spPr>
        <p:txBody>
          <a:bodyPr wrap="square">
            <a:spAutoFit/>
          </a:bodyPr>
          <a:lstStyle/>
          <a:p>
            <a:r>
              <a:rPr lang="vi-VN" sz="2400" b="1">
                <a:effectLst/>
                <a:latin typeface="Google Sans Text"/>
              </a:rPr>
              <a:t>Kết quả thanh ghi 1:</a:t>
            </a:r>
            <a:r>
              <a:rPr lang="vi-VN" sz="2400"/>
              <a:t> Bạn nạp giá trị </a:t>
            </a:r>
            <a:r>
              <a:rPr lang="vi-VN" sz="2400" b="1">
                <a:effectLst/>
                <a:latin typeface="Google Sans Text"/>
              </a:rPr>
              <a:t>15</a:t>
            </a:r>
            <a:r>
              <a:rPr lang="vi-VN" sz="2400"/>
              <a:t> vào thanh ghi PSC. Tốc độ đếm của Timer lúc này là </a:t>
            </a:r>
            <a:r>
              <a:rPr lang="en-US" sz="2400">
                <a:effectLst/>
                <a:latin typeface="Google Sans Text"/>
              </a:rPr>
              <a:t>1us</a:t>
            </a:r>
            <a:r>
              <a:rPr lang="vi-VN" sz="2400"/>
              <a:t> một bước.</a:t>
            </a:r>
            <a:endParaRPr lang="vi-VN" sz="2400">
              <a:effectLst/>
              <a:latin typeface="Google Sans Text"/>
            </a:endParaRPr>
          </a:p>
        </p:txBody>
      </p:sp>
    </p:spTree>
    <p:extLst>
      <p:ext uri="{BB962C8B-B14F-4D97-AF65-F5344CB8AC3E}">
        <p14:creationId xmlns:p14="http://schemas.microsoft.com/office/powerpoint/2010/main" val="12429077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1B28B35F-8693-8259-F3E7-F957CB7EED44}"/>
              </a:ext>
            </a:extLst>
          </p:cNvPr>
          <p:cNvPicPr>
            <a:picLocks noChangeAspect="1"/>
          </p:cNvPicPr>
          <p:nvPr/>
        </p:nvPicPr>
        <p:blipFill>
          <a:blip r:embed="rId3"/>
          <a:stretch>
            <a:fillRect/>
          </a:stretch>
        </p:blipFill>
        <p:spPr>
          <a:xfrm>
            <a:off x="3276600" y="2113071"/>
            <a:ext cx="10791825" cy="7820742"/>
          </a:xfrm>
          <a:prstGeom prst="rect">
            <a:avLst/>
          </a:prstGeom>
        </p:spPr>
      </p:pic>
    </p:spTree>
    <p:extLst>
      <p:ext uri="{BB962C8B-B14F-4D97-AF65-F5344CB8AC3E}">
        <p14:creationId xmlns:p14="http://schemas.microsoft.com/office/powerpoint/2010/main" val="38755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4A12A564-664D-F96B-9ED2-288A0F910C13}"/>
              </a:ext>
            </a:extLst>
          </p:cNvPr>
          <p:cNvPicPr>
            <a:picLocks noChangeAspect="1"/>
          </p:cNvPicPr>
          <p:nvPr/>
        </p:nvPicPr>
        <p:blipFill>
          <a:blip r:embed="rId3"/>
          <a:stretch>
            <a:fillRect/>
          </a:stretch>
        </p:blipFill>
        <p:spPr>
          <a:xfrm>
            <a:off x="1981200" y="2557102"/>
            <a:ext cx="13755237" cy="6634163"/>
          </a:xfrm>
          <a:prstGeom prst="rect">
            <a:avLst/>
          </a:prstGeom>
        </p:spPr>
      </p:pic>
    </p:spTree>
    <p:extLst>
      <p:ext uri="{BB962C8B-B14F-4D97-AF65-F5344CB8AC3E}">
        <p14:creationId xmlns:p14="http://schemas.microsoft.com/office/powerpoint/2010/main" val="40796342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D089A75-DBE8-E483-4BCB-5A5981C34AD1}"/>
              </a:ext>
            </a:extLst>
          </p:cNvPr>
          <p:cNvSpPr txBox="1"/>
          <p:nvPr/>
        </p:nvSpPr>
        <p:spPr>
          <a:xfrm>
            <a:off x="452798" y="2498962"/>
            <a:ext cx="17454202" cy="3913059"/>
          </a:xfrm>
          <a:prstGeom prst="rect">
            <a:avLst/>
          </a:prstGeom>
          <a:noFill/>
        </p:spPr>
        <p:txBody>
          <a:bodyPr wrap="square">
            <a:spAutoFit/>
          </a:bodyPr>
          <a:lstStyle/>
          <a:p>
            <a:pPr>
              <a:lnSpc>
                <a:spcPct val="150000"/>
              </a:lnSpc>
            </a:pPr>
            <a:r>
              <a:rPr lang="vi-VN" sz="2400" b="1">
                <a:effectLst/>
                <a:latin typeface="Google Sans"/>
              </a:rPr>
              <a:t>Khối 4: Khối so sánh và Bắt tín hiệu (Capture/Compare Registers - CCR)</a:t>
            </a:r>
          </a:p>
          <a:p>
            <a:pPr>
              <a:lnSpc>
                <a:spcPct val="150000"/>
              </a:lnSpc>
            </a:pPr>
            <a:r>
              <a:rPr lang="vi-VN" sz="2400">
                <a:effectLst/>
                <a:latin typeface="Google Sans Text"/>
              </a:rPr>
              <a:t>Khối này là "cầu nối" giúp Timer giao tiếp với các chân cắm vật lý (GPIO) bên ngoài (chỉ có trên General-Purpose và Advanced Timer).</a:t>
            </a:r>
          </a:p>
          <a:p>
            <a:pPr marL="342900" indent="-342900">
              <a:lnSpc>
                <a:spcPct val="150000"/>
              </a:lnSpc>
              <a:buFont typeface="Arial" panose="020B0604020202020204" pitchFamily="34" charset="0"/>
              <a:buChar char="•"/>
            </a:pPr>
            <a:r>
              <a:rPr lang="vi-VN" sz="2400" b="1">
                <a:effectLst/>
                <a:latin typeface="Google Sans Text"/>
              </a:rPr>
              <a:t>Chế độ Output Compare (So sánh ngõ ra/PWM):</a:t>
            </a:r>
            <a:r>
              <a:rPr lang="vi-VN" sz="2400">
                <a:effectLst/>
                <a:latin typeface="Google Sans Text"/>
              </a:rPr>
              <a:t> Bạn đặt một giá trị vào thanh ghi CCR (ví dụ: 5000). Khi bộ đếm CNT đang đếm và vô tình bằng với CCR (CNT == CCR), phần cứng sẽ tự động đảo trạng thái chân chip từ CAO xuống THẤP (hoặc ngược lại) để tạo ra xung PWM.</a:t>
            </a:r>
          </a:p>
          <a:p>
            <a:pPr marL="342900" indent="-342900">
              <a:lnSpc>
                <a:spcPct val="150000"/>
              </a:lnSpc>
              <a:buFont typeface="Arial" panose="020B0604020202020204" pitchFamily="34" charset="0"/>
              <a:buChar char="•"/>
            </a:pPr>
            <a:r>
              <a:rPr lang="vi-VN" sz="2400" b="1">
                <a:effectLst/>
                <a:latin typeface="Google Sans Text"/>
              </a:rPr>
              <a:t>Chế độ Input Capture (Bắt tín hiệu ngõ vào):</a:t>
            </a:r>
            <a:r>
              <a:rPr lang="vi-VN" sz="2400">
                <a:effectLst/>
                <a:latin typeface="Google Sans Text"/>
              </a:rPr>
              <a:t> Khi có một xung điện từ bên ngoài kích vào chân chip, phần cứng sẽ ngay lập tức "chụp" giá trị hiện tại của thanh ghi CNT và sao chép nó vào thanh ghi CCR để phần mềm nhảy vào đọc (dùng để đo tần số/độ rộng xung).</a:t>
            </a:r>
          </a:p>
        </p:txBody>
      </p:sp>
    </p:spTree>
    <p:extLst>
      <p:ext uri="{BB962C8B-B14F-4D97-AF65-F5344CB8AC3E}">
        <p14:creationId xmlns:p14="http://schemas.microsoft.com/office/powerpoint/2010/main" val="18273934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0AAA-8D30-33ED-62DE-69675970B7F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FDD6EE-0402-7184-2605-0D72419FFFB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C540444D-BB3E-CBBE-2465-F736BE7A970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B32CE62-C90D-EF3C-DB18-B1B9C0D0D78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119E0EC-4F43-1BAA-E492-1D35DDC879D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1BE83EB-B6FE-196B-FCE0-8C5ADF35BD23}"/>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Kiến trúc Systick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1063272-C673-9CAF-93C0-49AA7A0634B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4" name="Picture 2" descr="diagram">
            <a:extLst>
              <a:ext uri="{FF2B5EF4-FFF2-40B4-BE49-F238E27FC236}">
                <a16:creationId xmlns:a16="http://schemas.microsoft.com/office/drawing/2014/main" id="{6F759256-B489-5321-0EC2-614B292BB8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8544" y="2253625"/>
            <a:ext cx="13247915" cy="772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2661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9668-7ED8-CCAD-3C16-E11182D6DC9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985687-4E58-96BA-764D-45911219B9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3CA2D20-1D0F-AA48-B90C-3DC7D44B462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B5DD902-1091-716B-7440-3F3F8CC603F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84D9F75-2106-D29F-363A-D6DB47D9E36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F82717C-4A88-5533-9491-0D440CD7A007}"/>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DCB36667-2143-9422-66E1-F75736972F5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10" name="Picture 9">
            <a:extLst>
              <a:ext uri="{FF2B5EF4-FFF2-40B4-BE49-F238E27FC236}">
                <a16:creationId xmlns:a16="http://schemas.microsoft.com/office/drawing/2014/main" id="{1EB94BA1-EA60-CF7B-45B2-F70254F897CD}"/>
              </a:ext>
            </a:extLst>
          </p:cNvPr>
          <p:cNvPicPr>
            <a:picLocks noChangeAspect="1"/>
          </p:cNvPicPr>
          <p:nvPr/>
        </p:nvPicPr>
        <p:blipFill>
          <a:blip r:embed="rId3"/>
          <a:stretch>
            <a:fillRect/>
          </a:stretch>
        </p:blipFill>
        <p:spPr>
          <a:xfrm>
            <a:off x="533400" y="2113071"/>
            <a:ext cx="14810753" cy="7562951"/>
          </a:xfrm>
          <a:prstGeom prst="rect">
            <a:avLst/>
          </a:prstGeom>
        </p:spPr>
      </p:pic>
    </p:spTree>
    <p:extLst>
      <p:ext uri="{BB962C8B-B14F-4D97-AF65-F5344CB8AC3E}">
        <p14:creationId xmlns:p14="http://schemas.microsoft.com/office/powerpoint/2010/main" val="3170704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Cấu trúc một bộ Timer </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A22811E9-47E0-093A-3F25-2A13BD4D52A7}"/>
              </a:ext>
            </a:extLst>
          </p:cNvPr>
          <p:cNvPicPr>
            <a:picLocks noChangeAspect="1"/>
          </p:cNvPicPr>
          <p:nvPr/>
        </p:nvPicPr>
        <p:blipFill>
          <a:blip r:embed="rId3"/>
          <a:stretch>
            <a:fillRect/>
          </a:stretch>
        </p:blipFill>
        <p:spPr>
          <a:xfrm>
            <a:off x="2418670" y="2247900"/>
            <a:ext cx="13428890" cy="7445032"/>
          </a:xfrm>
          <a:prstGeom prst="rect">
            <a:avLst/>
          </a:prstGeom>
        </p:spPr>
      </p:pic>
    </p:spTree>
    <p:extLst>
      <p:ext uri="{BB962C8B-B14F-4D97-AF65-F5344CB8AC3E}">
        <p14:creationId xmlns:p14="http://schemas.microsoft.com/office/powerpoint/2010/main" val="42486065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0AAA-8D30-33ED-62DE-69675970B7F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FDD6EE-0402-7184-2605-0D72419FFFB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C540444D-BB3E-CBBE-2465-F736BE7A970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B32CE62-C90D-EF3C-DB18-B1B9C0D0D78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119E0EC-4F43-1BAA-E492-1D35DDC879D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1BE83EB-B6FE-196B-FCE0-8C5ADF35BD23}"/>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Bài toán</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1063272-C673-9CAF-93C0-49AA7A0634B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8D1A15B0-597E-CA89-AFCC-4262F3983871}"/>
              </a:ext>
            </a:extLst>
          </p:cNvPr>
          <p:cNvPicPr>
            <a:picLocks noChangeAspect="1"/>
          </p:cNvPicPr>
          <p:nvPr/>
        </p:nvPicPr>
        <p:blipFill>
          <a:blip r:embed="rId3"/>
          <a:stretch>
            <a:fillRect/>
          </a:stretch>
        </p:blipFill>
        <p:spPr>
          <a:xfrm>
            <a:off x="2286000" y="2142704"/>
            <a:ext cx="12830175" cy="7379447"/>
          </a:xfrm>
          <a:prstGeom prst="rect">
            <a:avLst/>
          </a:prstGeom>
        </p:spPr>
      </p:pic>
    </p:spTree>
    <p:extLst>
      <p:ext uri="{BB962C8B-B14F-4D97-AF65-F5344CB8AC3E}">
        <p14:creationId xmlns:p14="http://schemas.microsoft.com/office/powerpoint/2010/main" val="2729658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0AAA-8D30-33ED-62DE-69675970B7F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FDD6EE-0402-7184-2605-0D72419FFFB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C540444D-BB3E-CBBE-2465-F736BE7A970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B32CE62-C90D-EF3C-DB18-B1B9C0D0D78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119E0EC-4F43-1BAA-E492-1D35DDC879D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1BE83EB-B6FE-196B-FCE0-8C5ADF35BD23}"/>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Bài toán</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1063272-C673-9CAF-93C0-49AA7A0634B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9" name="Picture 8">
            <a:extLst>
              <a:ext uri="{FF2B5EF4-FFF2-40B4-BE49-F238E27FC236}">
                <a16:creationId xmlns:a16="http://schemas.microsoft.com/office/drawing/2014/main" id="{48B373F4-A161-2691-D4BE-CA997474EB6E}"/>
              </a:ext>
            </a:extLst>
          </p:cNvPr>
          <p:cNvPicPr>
            <a:picLocks noChangeAspect="1"/>
          </p:cNvPicPr>
          <p:nvPr/>
        </p:nvPicPr>
        <p:blipFill>
          <a:blip r:embed="rId3"/>
          <a:stretch>
            <a:fillRect/>
          </a:stretch>
        </p:blipFill>
        <p:spPr>
          <a:xfrm>
            <a:off x="2822245" y="2125771"/>
            <a:ext cx="10925175" cy="7699987"/>
          </a:xfrm>
          <a:prstGeom prst="rect">
            <a:avLst/>
          </a:prstGeom>
        </p:spPr>
      </p:pic>
    </p:spTree>
    <p:extLst>
      <p:ext uri="{BB962C8B-B14F-4D97-AF65-F5344CB8AC3E}">
        <p14:creationId xmlns:p14="http://schemas.microsoft.com/office/powerpoint/2010/main" val="10874262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0AAA-8D30-33ED-62DE-69675970B7F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FDD6EE-0402-7184-2605-0D72419FFFB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C540444D-BB3E-CBBE-2465-F736BE7A970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B32CE62-C90D-EF3C-DB18-B1B9C0D0D78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119E0EC-4F43-1BAA-E492-1D35DDC879D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1BE83EB-B6FE-196B-FCE0-8C5ADF35BD23}"/>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Bài toán</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1063272-C673-9CAF-93C0-49AA7A0634B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9" name="Picture 8">
            <a:extLst>
              <a:ext uri="{FF2B5EF4-FFF2-40B4-BE49-F238E27FC236}">
                <a16:creationId xmlns:a16="http://schemas.microsoft.com/office/drawing/2014/main" id="{BCA6F4DC-1F07-9809-CBF4-F5836EA98A77}"/>
              </a:ext>
            </a:extLst>
          </p:cNvPr>
          <p:cNvPicPr>
            <a:picLocks noChangeAspect="1"/>
          </p:cNvPicPr>
          <p:nvPr/>
        </p:nvPicPr>
        <p:blipFill>
          <a:blip r:embed="rId3"/>
          <a:stretch>
            <a:fillRect/>
          </a:stretch>
        </p:blipFill>
        <p:spPr>
          <a:xfrm>
            <a:off x="1828800" y="2113071"/>
            <a:ext cx="14092237" cy="7342557"/>
          </a:xfrm>
          <a:prstGeom prst="rect">
            <a:avLst/>
          </a:prstGeom>
        </p:spPr>
      </p:pic>
    </p:spTree>
    <p:extLst>
      <p:ext uri="{BB962C8B-B14F-4D97-AF65-F5344CB8AC3E}">
        <p14:creationId xmlns:p14="http://schemas.microsoft.com/office/powerpoint/2010/main" val="12555491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0AAA-8D30-33ED-62DE-69675970B7F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FDD6EE-0402-7184-2605-0D72419FFFB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C540444D-BB3E-CBBE-2465-F736BE7A970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B32CE62-C90D-EF3C-DB18-B1B9C0D0D78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119E0EC-4F43-1BAA-E492-1D35DDC879D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1BE83EB-B6FE-196B-FCE0-8C5ADF35BD23}"/>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Bài toán</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1063272-C673-9CAF-93C0-49AA7A0634B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9" name="Picture 8">
            <a:extLst>
              <a:ext uri="{FF2B5EF4-FFF2-40B4-BE49-F238E27FC236}">
                <a16:creationId xmlns:a16="http://schemas.microsoft.com/office/drawing/2014/main" id="{561CC595-6585-6FEF-5709-358027C9F62F}"/>
              </a:ext>
            </a:extLst>
          </p:cNvPr>
          <p:cNvPicPr>
            <a:picLocks noChangeAspect="1"/>
          </p:cNvPicPr>
          <p:nvPr/>
        </p:nvPicPr>
        <p:blipFill>
          <a:blip r:embed="rId3"/>
          <a:stretch>
            <a:fillRect/>
          </a:stretch>
        </p:blipFill>
        <p:spPr>
          <a:xfrm>
            <a:off x="1447800" y="2605785"/>
            <a:ext cx="13168312" cy="7417889"/>
          </a:xfrm>
          <a:prstGeom prst="rect">
            <a:avLst/>
          </a:prstGeom>
        </p:spPr>
      </p:pic>
    </p:spTree>
    <p:extLst>
      <p:ext uri="{BB962C8B-B14F-4D97-AF65-F5344CB8AC3E}">
        <p14:creationId xmlns:p14="http://schemas.microsoft.com/office/powerpoint/2010/main" val="6830955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0AAA-8D30-33ED-62DE-69675970B7F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FDD6EE-0402-7184-2605-0D72419FFFB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C540444D-BB3E-CBBE-2465-F736BE7A970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B32CE62-C90D-EF3C-DB18-B1B9C0D0D78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119E0EC-4F43-1BAA-E492-1D35DDC879D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1BE83EB-B6FE-196B-FCE0-8C5ADF35BD23}"/>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Bài toán</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1063272-C673-9CAF-93C0-49AA7A0634B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9" name="Picture 8">
            <a:extLst>
              <a:ext uri="{FF2B5EF4-FFF2-40B4-BE49-F238E27FC236}">
                <a16:creationId xmlns:a16="http://schemas.microsoft.com/office/drawing/2014/main" id="{2566D37A-E0C5-0AF5-BF62-AF5FD49C7799}"/>
              </a:ext>
            </a:extLst>
          </p:cNvPr>
          <p:cNvPicPr>
            <a:picLocks noChangeAspect="1"/>
          </p:cNvPicPr>
          <p:nvPr/>
        </p:nvPicPr>
        <p:blipFill>
          <a:blip r:embed="rId3"/>
          <a:stretch>
            <a:fillRect/>
          </a:stretch>
        </p:blipFill>
        <p:spPr>
          <a:xfrm>
            <a:off x="3417558" y="2324100"/>
            <a:ext cx="10329862" cy="7458240"/>
          </a:xfrm>
          <a:prstGeom prst="rect">
            <a:avLst/>
          </a:prstGeom>
        </p:spPr>
      </p:pic>
    </p:spTree>
    <p:extLst>
      <p:ext uri="{BB962C8B-B14F-4D97-AF65-F5344CB8AC3E}">
        <p14:creationId xmlns:p14="http://schemas.microsoft.com/office/powerpoint/2010/main" val="14809559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0AAA-8D30-33ED-62DE-69675970B7F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FDD6EE-0402-7184-2605-0D72419FFFB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C540444D-BB3E-CBBE-2465-F736BE7A970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B32CE62-C90D-EF3C-DB18-B1B9C0D0D78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119E0EC-4F43-1BAA-E492-1D35DDC879D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1BE83EB-B6FE-196B-FCE0-8C5ADF35BD23}"/>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Bài toán</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1063272-C673-9CAF-93C0-49AA7A0634BF}"/>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9" name="Picture 8">
            <a:extLst>
              <a:ext uri="{FF2B5EF4-FFF2-40B4-BE49-F238E27FC236}">
                <a16:creationId xmlns:a16="http://schemas.microsoft.com/office/drawing/2014/main" id="{99E5BCB4-0F0F-7F34-B3ED-3BD0E6166864}"/>
              </a:ext>
            </a:extLst>
          </p:cNvPr>
          <p:cNvPicPr>
            <a:picLocks noChangeAspect="1"/>
          </p:cNvPicPr>
          <p:nvPr/>
        </p:nvPicPr>
        <p:blipFill>
          <a:blip r:embed="rId3"/>
          <a:stretch>
            <a:fillRect/>
          </a:stretch>
        </p:blipFill>
        <p:spPr>
          <a:xfrm>
            <a:off x="3124200" y="1893414"/>
            <a:ext cx="11544300" cy="8137541"/>
          </a:xfrm>
          <a:prstGeom prst="rect">
            <a:avLst/>
          </a:prstGeom>
        </p:spPr>
      </p:pic>
    </p:spTree>
    <p:extLst>
      <p:ext uri="{BB962C8B-B14F-4D97-AF65-F5344CB8AC3E}">
        <p14:creationId xmlns:p14="http://schemas.microsoft.com/office/powerpoint/2010/main" val="33577748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Ưu điểm của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81000" y="2231408"/>
            <a:ext cx="15436776" cy="7225824"/>
          </a:xfrm>
          <a:prstGeom prst="rect">
            <a:avLst/>
          </a:prstGeom>
          <a:noFill/>
        </p:spPr>
        <p:txBody>
          <a:bodyPr wrap="square">
            <a:spAutoFit/>
          </a:bodyPr>
          <a:lstStyle/>
          <a:p>
            <a:pPr>
              <a:lnSpc>
                <a:spcPct val="150000"/>
              </a:lnSpc>
            </a:pPr>
            <a:r>
              <a:rPr lang="vi-VN" sz="2400" b="1">
                <a:effectLst/>
              </a:rPr>
              <a:t>1. Ưu điểm của Timer (Tại sao nên dùng?)</a:t>
            </a:r>
          </a:p>
          <a:p>
            <a:pPr marL="342900" indent="-342900">
              <a:lnSpc>
                <a:spcPct val="150000"/>
              </a:lnSpc>
              <a:buFont typeface="Arial" panose="020B0604020202020204" pitchFamily="34" charset="0"/>
              <a:buChar char="•"/>
            </a:pPr>
            <a:r>
              <a:rPr lang="vi-VN" sz="2400" b="1">
                <a:effectLst/>
              </a:rPr>
              <a:t>Độ chính xác tuyệt đối (High Precision):</a:t>
            </a:r>
            <a:r>
              <a:rPr lang="vi-VN" sz="2400">
                <a:effectLst/>
              </a:rPr>
              <a:t> Timer hoạt động dựa trên tần số của thạch anh hệ thống (Oscillator). Nhờ vào các bộ chia xung (Prescaler), Timer có thể đo đạc các khoảng thời gian chính xác đến mức </a:t>
            </a:r>
            <a:r>
              <a:rPr lang="en-US" sz="2400">
                <a:effectLst/>
              </a:rPr>
              <a:t>1us </a:t>
            </a:r>
            <a:r>
              <a:rPr lang="vi-VN" sz="2400">
                <a:effectLst/>
              </a:rPr>
              <a:t>hoặc thậm chí vài </a:t>
            </a:r>
            <a:r>
              <a:rPr lang="en-US" sz="2400">
                <a:effectLst/>
              </a:rPr>
              <a:t>ns </a:t>
            </a:r>
            <a:r>
              <a:rPr lang="vi-VN" sz="2400">
                <a:effectLst/>
              </a:rPr>
              <a:t>điều mà các hàm delay phần mềm không bao giờ làm được do phụ thuộc vào sự tối ưu hóa của trình biên dịch (Compiler).</a:t>
            </a:r>
          </a:p>
          <a:p>
            <a:pPr marL="342900" indent="-342900">
              <a:lnSpc>
                <a:spcPct val="150000"/>
              </a:lnSpc>
              <a:buFont typeface="Arial" panose="020B0604020202020204" pitchFamily="34" charset="0"/>
              <a:buChar char="•"/>
            </a:pPr>
            <a:r>
              <a:rPr lang="vi-VN" sz="2400" b="1">
                <a:effectLst/>
              </a:rPr>
              <a:t>Không chiếm dụng CPU (Non-blocking):</a:t>
            </a:r>
            <a:r>
              <a:rPr lang="vi-VN" sz="2400">
                <a:effectLst/>
              </a:rPr>
              <a:t> Đây là ưu điểm cốt lõi. Khi cấu hình Timer, nó tự đếm độc lập ở tầng phần cứng. CPU hoàn toàn rảnh tay để chạy các thuật toán khác hoặc xử lý giao tiếp. Khi đến giờ, Timer chỉ cần kích hoạt một "Ngắt" (Interrupt) để báo hiệu.</a:t>
            </a:r>
          </a:p>
          <a:p>
            <a:pPr marL="342900" indent="-342900">
              <a:lnSpc>
                <a:spcPct val="150000"/>
              </a:lnSpc>
              <a:buFont typeface="Arial" panose="020B0604020202020204" pitchFamily="34" charset="0"/>
              <a:buChar char="•"/>
            </a:pPr>
            <a:r>
              <a:rPr lang="vi-VN" sz="2400" b="1">
                <a:effectLst/>
              </a:rPr>
              <a:t>Cực kỳ linh hoạt (Versatility):</a:t>
            </a:r>
            <a:r>
              <a:rPr lang="vi-VN" sz="2400">
                <a:effectLst/>
              </a:rPr>
              <a:t> Một bộ Timer không chỉ để định thời. </a:t>
            </a:r>
            <a:r>
              <a:rPr lang="en-US" sz="2400">
                <a:effectLst/>
              </a:rPr>
              <a:t>C</a:t>
            </a:r>
            <a:r>
              <a:rPr lang="vi-VN" sz="2400">
                <a:effectLst/>
              </a:rPr>
              <a:t>ó thể linh hoạt cấu hình nó thành bộ đếm sự kiện (Counter), bộ tạo xung điều khiển động cơ (PWM), hoặc bộ đo chu kỳ tín hiệu (Input Capture).</a:t>
            </a:r>
          </a:p>
          <a:p>
            <a:pPr marL="342900" indent="-342900">
              <a:lnSpc>
                <a:spcPct val="150000"/>
              </a:lnSpc>
              <a:buFont typeface="Arial" panose="020B0604020202020204" pitchFamily="34" charset="0"/>
              <a:buChar char="•"/>
            </a:pPr>
            <a:r>
              <a:rPr lang="vi-VN" sz="2400" b="1">
                <a:effectLst/>
              </a:rPr>
              <a:t>Hỗ trợ tiết kiệm năng lượng (Power Saving):</a:t>
            </a:r>
            <a:r>
              <a:rPr lang="vi-VN" sz="2400">
                <a:effectLst/>
              </a:rPr>
              <a:t> Thao tác delay bằng phần mềm bắt buộc CPU phải chạy ở tần số cao liên tục để đếm số vòng lặp. Với Timer, ta có thể cho CPU "ngủ sâu" (Sleep Mode) và chỉ thức dậy khi Timer đếm xong, giúp tiết kiệm đến 90% dung lượng pin.</a:t>
            </a:r>
          </a:p>
        </p:txBody>
      </p:sp>
    </p:spTree>
    <p:extLst>
      <p:ext uri="{BB962C8B-B14F-4D97-AF65-F5344CB8AC3E}">
        <p14:creationId xmlns:p14="http://schemas.microsoft.com/office/powerpoint/2010/main" val="14071526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Timer</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Nhược điểm của Timer</a:t>
            </a:r>
            <a:endParaRPr lang="en-US" sz="36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81000" y="2405554"/>
            <a:ext cx="17265576" cy="6671826"/>
          </a:xfrm>
          <a:prstGeom prst="rect">
            <a:avLst/>
          </a:prstGeom>
          <a:noFill/>
        </p:spPr>
        <p:txBody>
          <a:bodyPr wrap="square">
            <a:spAutoFit/>
          </a:bodyPr>
          <a:lstStyle/>
          <a:p>
            <a:pPr>
              <a:lnSpc>
                <a:spcPct val="150000"/>
              </a:lnSpc>
            </a:pPr>
            <a:r>
              <a:rPr lang="vi-VN" sz="2400" b="1"/>
              <a:t>2. Nhược điểm của Timer </a:t>
            </a:r>
            <a:endParaRPr lang="en-US" sz="2400" b="1"/>
          </a:p>
          <a:p>
            <a:pPr marL="342900" indent="-342900">
              <a:lnSpc>
                <a:spcPct val="150000"/>
              </a:lnSpc>
              <a:buFont typeface="Arial" panose="020B0604020202020204" pitchFamily="34" charset="0"/>
              <a:buChar char="•"/>
            </a:pPr>
            <a:r>
              <a:rPr lang="vi-VN" sz="2400" b="1"/>
              <a:t>Cấu hình phức tạp (High Complexity):</a:t>
            </a:r>
            <a:r>
              <a:rPr lang="vi-VN" sz="2400"/>
              <a:t> Để sử dụng một bộ Timer, học viên không thể chỉ viết một dòng lệnh đơn giản như delay_ms(100). Họ phải hiểu rõ kiến trúc vi điều khiển: tính toán cấu hình bộ chia tần số (Prescaler), giá trị nạp lại (Auto-reload value), cấu hình các thanh ghi điều khiển, và viết hàm phục vụ ngắt (ISR). Việc này đòi hỏi tư duy lập trình hệ thống tốt.</a:t>
            </a:r>
          </a:p>
          <a:p>
            <a:pPr marL="342900" indent="-342900">
              <a:lnSpc>
                <a:spcPct val="150000"/>
              </a:lnSpc>
              <a:buFont typeface="Arial" panose="020B0604020202020204" pitchFamily="34" charset="0"/>
              <a:buChar char="•"/>
            </a:pPr>
            <a:r>
              <a:rPr lang="vi-VN" sz="2400" b="1"/>
              <a:t>Tiêu tốn tài nguyên ngoại vi (Peripheral Resource Consumption):</a:t>
            </a:r>
            <a:r>
              <a:rPr lang="vi-VN" sz="2400"/>
              <a:t> Số lượng Timer trên một vi điều khiển là </a:t>
            </a:r>
            <a:r>
              <a:rPr lang="vi-VN" sz="2400" b="1"/>
              <a:t>hữu hạn</a:t>
            </a:r>
            <a:r>
              <a:rPr lang="vi-VN" sz="2400"/>
              <a:t> (ví dụ: chip 8-bit thường có 2-3 Timer, chip 32-bit có 8-10 Timer). Nếu sử dụng lãng phí (như dùng một Timer chỉ để nháy 1 cái LED), hệ thống sẽ không còn đủ Timer cho các tác vụ quan trọng khác như điều khiển động cơ, quét hồng ngoại, hay tạo Baudrate cho UART.</a:t>
            </a:r>
          </a:p>
          <a:p>
            <a:pPr marL="342900" indent="-342900">
              <a:lnSpc>
                <a:spcPct val="150000"/>
              </a:lnSpc>
              <a:buFont typeface="Arial" panose="020B0604020202020204" pitchFamily="34" charset="0"/>
              <a:buChar char="•"/>
            </a:pPr>
            <a:r>
              <a:rPr lang="vi-VN" sz="2400" b="1"/>
              <a:t>Nguy cơ xung đột hệ thống (Interrupt Overload):</a:t>
            </a:r>
            <a:r>
              <a:rPr lang="vi-VN" sz="2400"/>
              <a:t> Nếu cấu hình Timer tạo ngắt với tần số quá dày đặc (ví dụ vài micro-giây một lần), CPU sẽ bị kẹt liên tục trong hàm ngắt, không còn thời gian để thực hiện chương trình chính, dẫn đến hiện tượng sập hệ thống (Crash).</a:t>
            </a:r>
          </a:p>
        </p:txBody>
      </p:sp>
    </p:spTree>
    <p:extLst>
      <p:ext uri="{BB962C8B-B14F-4D97-AF65-F5344CB8AC3E}">
        <p14:creationId xmlns:p14="http://schemas.microsoft.com/office/powerpoint/2010/main" val="1477148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16630</TotalTime>
  <Words>9859</Words>
  <Application>Microsoft Office PowerPoint</Application>
  <PresentationFormat>Custom</PresentationFormat>
  <Paragraphs>562</Paragraphs>
  <Slides>70</Slides>
  <Notes>70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Arial</vt:lpstr>
      <vt:lpstr>Google Sans</vt:lpstr>
      <vt:lpstr>Calibri</vt:lpstr>
      <vt:lpstr>Google Sans Text</vt:lpstr>
      <vt:lpstr>quote-cjk-patch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dương và Trắng Bản đồ tư duy Bài thuyết trình</dc:title>
  <dc:creator>Minh Hoang Tran</dc:creator>
  <cp:lastModifiedBy>ADMIN-PC</cp:lastModifiedBy>
  <cp:revision>968</cp:revision>
  <dcterms:created xsi:type="dcterms:W3CDTF">2006-08-16T00:00:00Z</dcterms:created>
  <dcterms:modified xsi:type="dcterms:W3CDTF">2026-06-14T10:21:51Z</dcterms:modified>
  <dc:identifier>DAFizwE0log</dc:identifier>
</cp:coreProperties>
</file>